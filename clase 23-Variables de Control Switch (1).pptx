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Fira Code" panose="020B0809050000020004" pitchFamily="49" charset="0"/>
      <p:regular r:id="rId19"/>
      <p:bold r:id="rId20"/>
    </p:embeddedFont>
    <p:embeddedFont>
      <p:font typeface="Inter" panose="020B0604020202020204" charset="0"/>
      <p:regular r:id="rId21"/>
      <p:bold r:id="rId22"/>
      <p:italic r:id="rId23"/>
      <p:boldItalic r:id="rId24"/>
    </p:embeddedFont>
    <p:embeddedFont>
      <p:font typeface="Inter SemiBold" panose="020B0604020202020204" charset="0"/>
      <p:regular r:id="rId25"/>
      <p:bold r:id="rId26"/>
      <p:italic r:id="rId27"/>
      <p:boldItalic r:id="rId28"/>
    </p:embeddedFont>
    <p:embeddedFont>
      <p:font typeface="Poppins" panose="00000500000000000000" pitchFamily="2" charset="0"/>
      <p:regular r:id="rId29"/>
      <p:bold r:id="rId30"/>
      <p:italic r:id="rId31"/>
      <p:boldItalic r:id="rId32"/>
    </p:embeddedFont>
    <p:embeddedFont>
      <p:font typeface="Poppins SemiBold" panose="00000700000000000000" pitchFamily="2" charset="0"/>
      <p:regular r:id="rId33"/>
      <p:bold r:id="rId34"/>
      <p:italic r:id="rId35"/>
      <p:boldItalic r:id="rId36"/>
    </p:embeddedFont>
    <p:embeddedFont>
      <p:font typeface="Roboto" panose="02000000000000000000" pitchFamily="2" charset="0"/>
      <p:regular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930E31-A398-40EC-991E-8020D3974B90}">
  <a:tblStyle styleId="{92930E31-A398-40EC-991E-8020D3974B9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viewProps" Target="viewProp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>
          <a:extLst>
            <a:ext uri="{FF2B5EF4-FFF2-40B4-BE49-F238E27FC236}">
              <a16:creationId xmlns:a16="http://schemas.microsoft.com/office/drawing/2014/main" id="{EC1144FA-00F7-0634-915F-A924C3343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8:notes">
            <a:extLst>
              <a:ext uri="{FF2B5EF4-FFF2-40B4-BE49-F238E27FC236}">
                <a16:creationId xmlns:a16="http://schemas.microsoft.com/office/drawing/2014/main" id="{1430B39D-0AFA-2D52-EE56-7B0D264D1B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8:notes">
            <a:extLst>
              <a:ext uri="{FF2B5EF4-FFF2-40B4-BE49-F238E27FC236}">
                <a16:creationId xmlns:a16="http://schemas.microsoft.com/office/drawing/2014/main" id="{B15ED954-6762-9C53-2CC8-8288F0FB02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639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51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4624536"/>
            <a:ext cx="8572500" cy="1576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7375" y="656480"/>
            <a:ext cx="857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95275" y="1704230"/>
            <a:ext cx="11601450" cy="161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F766E"/>
                </a:solidFill>
                <a:latin typeface="Poppins"/>
                <a:ea typeface="Poppins"/>
                <a:cs typeface="Poppins"/>
                <a:sym typeface="Poppins"/>
              </a:rPr>
              <a:t>Variables de Control: El Interruptor (Switch)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338387" y="3609230"/>
            <a:ext cx="75152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Gestionando estados dinámicos y alternancia en los programas.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152650" y="4910286"/>
            <a:ext cx="79438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Objetivo Arquitectónico:</a:t>
            </a:r>
            <a:r>
              <a:rPr lang="en-US" sz="1650" b="0" i="0" u="none" strike="noStrike" cap="non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 Evolucionar del registro de eventos únicos (Banderas) a la implementación de Máquinas de Estado de dos fases (Interruptores) para construir lógica de conmutación (Toggle).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95425"/>
            <a:ext cx="5286375" cy="492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495425"/>
            <a:ext cx="5286375" cy="49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047750" y="476250"/>
            <a:ext cx="11101387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766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 Registrar Eventos a Gestionar Estados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715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1838325"/>
            <a:ext cx="46005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914400" y="2409825"/>
            <a:ext cx="483060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Límite de las Banderas (Flags)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14400" y="2924175"/>
            <a:ext cx="46005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Las banderas son excelentes como "sensores de un solo uso". Se activan al detectar una anomalía o evento clave (ej. un error de validación o encontrar un dato).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14400" y="4286250"/>
            <a:ext cx="46005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Comportamiento Monótono: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Una vez que una bandera clásica cambia de Falso a Verdadero, su trabajo termina. No está diseñada para revertirse continuamente durante el ciclo principal.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77025" y="1838325"/>
            <a:ext cx="46005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677025" y="2409825"/>
            <a:ext cx="483060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Desafío de la Alternancia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77025" y="2924175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 el software moderno, la mayoría de los componentes interactivos no son de un solo uso. Tienen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estados cíclicos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677025" y="5629275"/>
            <a:ext cx="4600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Necesitamos una estructura lógica que permita conmutar infinitamente.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762750" y="39814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867525" y="3981450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 reproductor de música: Play ↔ Pausa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762750" y="44291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867525" y="4429125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 menú en interfaz: Desplegado ↔ Colapsado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762750" y="514470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867525" y="5181600"/>
            <a:ext cx="4410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 motor de juego: Encendido ↔ Apagado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12516"/>
            <a:ext cx="5286375" cy="4030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08041"/>
            <a:ext cx="5286375" cy="173533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1143000" y="476250"/>
            <a:ext cx="11001375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766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Patrón de Diseño: Interruptor (Toggle)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715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71500" y="1495425"/>
            <a:ext cx="11049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interruptor (o switch)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 una variable de control booleana implementada para gestionar un estado que fluctúa repetidamente entre dos valores antagónicos a lo largo de la ejecución del programa.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71500" y="2512516"/>
            <a:ext cx="5550693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Fundamento Teórico: Máquina de Estados (FSM)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71500" y="3398341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 la teoría computacional, un switch es la forma más básica de una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Máquina de Estados Finitos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Representa un sistema que exactamente solo puede existir en uno de dos estados en un tiempo $t$.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677025" y="2855416"/>
            <a:ext cx="483060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Analogía del Mundo Real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677025" y="3369766"/>
            <a:ext cx="4600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Botón de Encendido Físico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677025" y="3817441"/>
            <a:ext cx="460057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 botón de encendido no sabe si la máquina está prendida o apagada. Su única función algorítmica es ordenar al circuito: </a:t>
            </a:r>
            <a:r>
              <a:rPr lang="en-US" sz="135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"Si tienes corriente, córtala. Si no tienes corriente, actívala"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09625" y="4950916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D4E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 Operación "Toggle"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09625" y="5303341"/>
            <a:ext cx="48577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Conmutar o "Togglear" significa obligar al sistema a abandonar su estado actual para transicionar matemáticamente al estado opuesto, sea cual sea el estado original.</a:t>
            </a:r>
            <a:endParaRPr/>
          </a:p>
        </p:txBody>
      </p:sp>
      <p:pic>
        <p:nvPicPr>
          <p:cNvPr id="132" name="Google Shape;13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342691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9625" y="5008066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1095375" y="476250"/>
            <a:ext cx="11051381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766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Análisis Comparativo: Bandera vs. Switch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381000" cy="381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2" name="Google Shape;142;p16"/>
          <p:cNvGraphicFramePr/>
          <p:nvPr/>
        </p:nvGraphicFramePr>
        <p:xfrm>
          <a:off x="571500" y="15906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{92930E31-A398-40EC-991E-8020D3974B90}</a:tableStyleId>
              </a:tblPr>
              <a:tblGrid>
                <a:gridCol w="552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F766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Bandera (Flag)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F766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Interruptor (Switch)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Naturaleza:</a:t>
                      </a: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Registra la ocurrencia histórica de un evento puntual.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Naturaleza:</a:t>
                      </a: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Gestiona el estado dinámico actual del sistema.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Direccionalidad:</a:t>
                      </a: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Generalmente unidireccional (Falso → Verdadero).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Direccionalidad:</a:t>
                      </a: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Bidireccional y cíclico (Falso ↔ Verdadero).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Lógica de Asignación:</a:t>
                      </a: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Idempotente. Si ocurre el error 5 veces, asignarle falla = verdadero múltiples veces no altera el resultado.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Lógica de Asignación:</a:t>
                      </a: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Conmutativa. Ejecutar la acción 2 veces seguidas anula el efecto, regresando al estado original.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Ejemplo Clásico:</a:t>
                      </a: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es_primo, se_encontro_dato, hay_error.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Ejemplo Clásico:</a:t>
                      </a: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motor_on, juego_pausado, turno_p1.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3" name="Google Shape;143;p16"/>
          <p:cNvSpPr/>
          <p:nvPr/>
        </p:nvSpPr>
        <p:spPr>
          <a:xfrm>
            <a:off x="571500" y="2214562"/>
            <a:ext cx="55245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6096000" y="2214562"/>
            <a:ext cx="55245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71500" y="3043237"/>
            <a:ext cx="55245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096000" y="3043237"/>
            <a:ext cx="55245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571500" y="3871912"/>
            <a:ext cx="55245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6096000" y="3871912"/>
            <a:ext cx="55245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571500" y="4948237"/>
            <a:ext cx="55245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096000" y="4948237"/>
            <a:ext cx="55245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71500" y="5586412"/>
            <a:ext cx="55245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096000" y="5586412"/>
            <a:ext cx="55245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19350" y="183832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29625" y="1838325"/>
            <a:ext cx="1905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321510"/>
            <a:ext cx="11049000" cy="118675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1095375" y="476250"/>
            <a:ext cx="11051381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766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Mecanismo Lógico de Conmutación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571500" y="1495425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 elegancia matemática del switch reside en que no necesitamos usar condicionales Si-Sino para consultar en qué estado estamos y poder cambiarlo. Utilizamos el operador de negación lógica (NOT / !).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3992225" y="25050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estado_actual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5211425" y="25050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6B6C2"/>
                </a:solidFill>
                <a:latin typeface="Fira Code"/>
                <a:ea typeface="Fira Code"/>
                <a:cs typeface="Fira Code"/>
                <a:sym typeface="Fira Code"/>
              </a:rPr>
              <a:t>no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5440025" y="25050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estado_actual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09625" y="5464385"/>
            <a:ext cx="1062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D4E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Resolución en Memoria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09625" y="5816810"/>
            <a:ext cx="106203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 evaluar no estado_actual, la computadora lee el valor en memoria, lo invierte en la ALU (Unidad Aritmético Lógica) y sobrescribe la variable original con el nuevo valor. Es una operación $O(1)$ de altísima eficiencia.</a:t>
            </a:r>
            <a:endParaRPr/>
          </a:p>
        </p:txBody>
      </p:sp>
      <p:pic>
        <p:nvPicPr>
          <p:cNvPr id="169" name="Google Shape;16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855" y="2636955"/>
            <a:ext cx="11051376" cy="2374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297435"/>
            <a:ext cx="386715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1000125" y="476250"/>
            <a:ext cx="11151393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766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 de Estudio: Controlador (Pseudocódigo)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571500" y="1495425"/>
            <a:ext cx="406050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Problema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571500" y="2009775"/>
            <a:ext cx="38671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Controlar un motor mediante consola.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 tecla 'E' alterna el encendido y el apagado. La tecla 'V' ajusta la velocidad (solo si está encendido).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09625" y="3440310"/>
            <a:ext cx="3438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D4E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Puntos Clave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172497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Si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75545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180117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"E"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183927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entonces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190785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motor_on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99167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6B6C2"/>
                </a:solidFill>
                <a:latin typeface="Fira Code"/>
                <a:ea typeface="Fira Code"/>
                <a:cs typeface="Fira Code"/>
                <a:sym typeface="Fira Code"/>
              </a:rPr>
              <a:t>no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201453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motor_on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208311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1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// Conmuta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216693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Si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219741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motor_on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228885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falso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234219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entonces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241077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vel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247173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Finsi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251745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Finsi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256317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1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// 3. Lógica dependiente del estado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283749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Si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286797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291369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"V"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295179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entonces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302037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Si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305085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motor_on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312705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entonces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319563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6B6C2"/>
                </a:solidFill>
                <a:latin typeface="Fira Code"/>
                <a:ea typeface="Fira Code"/>
                <a:cs typeface="Fira Code"/>
                <a:sym typeface="Fira Code"/>
              </a:rPr>
              <a:t>lea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325659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Sino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329469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6B6C2"/>
                </a:solidFill>
                <a:latin typeface="Fira Code"/>
                <a:ea typeface="Fira Code"/>
                <a:cs typeface="Fira Code"/>
                <a:sym typeface="Fira Code"/>
              </a:rPr>
              <a:t>imprima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335565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"Encienda el motor"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351567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Finsi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356139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Finsi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360711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finmientras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895350" y="379273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1000125" y="3792727"/>
            <a:ext cx="3867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Uso de no motor_on para conmutar.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895350" y="415468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1000125" y="4154685"/>
            <a:ext cx="32480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Anidación de condicionales.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895350" y="450711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1000125" y="4507110"/>
            <a:ext cx="32480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Regla de seguridad estricta: Al apagar, la velocidad vuelve a cero.</a:t>
            </a:r>
            <a:endParaRPr/>
          </a:p>
        </p:txBody>
      </p:sp>
      <p:pic>
        <p:nvPicPr>
          <p:cNvPr id="217" name="Google Shape;21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1152" y="1638300"/>
            <a:ext cx="6067425" cy="4418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023145"/>
            <a:ext cx="3867150" cy="162282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9"/>
          <p:cNvSpPr txBox="1"/>
          <p:nvPr/>
        </p:nvSpPr>
        <p:spPr>
          <a:xfrm>
            <a:off x="1000125" y="476250"/>
            <a:ext cx="11151393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766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Implementación de la Lógica en Java</a:t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/>
          <p:nvPr/>
        </p:nvSpPr>
        <p:spPr>
          <a:xfrm>
            <a:off x="571500" y="1495425"/>
            <a:ext cx="406050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Sintaxis en Lenguaje Real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571500" y="2009775"/>
            <a:ext cx="38671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 lógica de conmutación se traduce de manera directa utilizando el operador lógico de negación !.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809625" y="3166020"/>
            <a:ext cx="3438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D4E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Operador NOT (!)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809625" y="3518445"/>
            <a:ext cx="3438525" cy="984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 expresión var = !var es el estándar en la industria del desarrollo de software para realizar un toggle de una variable booleana, ahorrando líneas de código.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196119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214407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"E"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220503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motorOn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228885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motorOn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235743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1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// Inversión (!)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248697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267747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else if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289845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"V"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295941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320325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"Velocidad: "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349281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else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36909375" y="163830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"Encienda motor."</a:t>
            </a:r>
            <a:endParaRPr/>
          </a:p>
        </p:txBody>
      </p:sp>
      <p:pic>
        <p:nvPicPr>
          <p:cNvPr id="242" name="Google Shape;24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4407" y="1314450"/>
            <a:ext cx="5362575" cy="399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1500"/>
            <a:ext cx="5286375" cy="430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51500"/>
            <a:ext cx="5286375" cy="430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0"/>
          <p:cNvSpPr txBox="1"/>
          <p:nvPr/>
        </p:nvSpPr>
        <p:spPr>
          <a:xfrm>
            <a:off x="1190625" y="476250"/>
            <a:ext cx="10951368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766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Reto Práctico: El Reproductor Multimedia</a:t>
            </a:r>
            <a:endParaRPr/>
          </a:p>
        </p:txBody>
      </p:sp>
      <p:sp>
        <p:nvSpPr>
          <p:cNvPr id="251" name="Google Shape;251;p20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715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0"/>
          <p:cNvSpPr txBox="1"/>
          <p:nvPr/>
        </p:nvSpPr>
        <p:spPr>
          <a:xfrm>
            <a:off x="571500" y="1495425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Ahora aplicarán el concepto de Máquina de Estados creando un sistema de control con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dos interruptores independientes simultáneos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254" name="Google Shape;25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794396"/>
            <a:ext cx="46005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 txBox="1"/>
          <p:nvPr/>
        </p:nvSpPr>
        <p:spPr>
          <a:xfrm>
            <a:off x="914400" y="3365896"/>
            <a:ext cx="483060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Requerimientos del Sistema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6677025" y="2794396"/>
            <a:ext cx="483060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Visualización de Estados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6677025" y="3308746"/>
            <a:ext cx="46005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 cada ciclo, el programa debe limpiar pantalla o imprimir el estado general combinado. Ejemplo de salida esperada: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6819900" y="4322117"/>
            <a:ext cx="44577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7F3D0"/>
                </a:solidFill>
                <a:latin typeface="Fira Code"/>
                <a:ea typeface="Fira Code"/>
                <a:cs typeface="Fira Code"/>
                <a:sym typeface="Fira Code"/>
              </a:rPr>
              <a:t>&gt; [EN REPRODUCCIÓN] Vol: MUTEADO </a:t>
            </a:r>
            <a:endParaRPr sz="1050" b="0" i="0" u="none" strike="noStrike" cap="none">
              <a:solidFill>
                <a:srgbClr val="A7F3D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7F3D0"/>
                </a:solidFill>
                <a:latin typeface="Fira Code"/>
                <a:ea typeface="Fira Code"/>
                <a:cs typeface="Fira Code"/>
                <a:sym typeface="Fira Code"/>
              </a:rPr>
              <a:t>Presione opción: P </a:t>
            </a:r>
            <a:endParaRPr sz="1050" b="0" i="0" u="none" strike="noStrike" cap="none">
              <a:solidFill>
                <a:srgbClr val="A7F3D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7F3D0"/>
                </a:solidFill>
                <a:latin typeface="Fira Code"/>
                <a:ea typeface="Fira Code"/>
                <a:cs typeface="Fira Code"/>
                <a:sym typeface="Fira Code"/>
              </a:rPr>
              <a:t>&gt; [EN PAUSA] Vol: MUTEADO </a:t>
            </a:r>
            <a:endParaRPr sz="1050" b="0" i="0" u="none" strike="noStrike" cap="none">
              <a:solidFill>
                <a:srgbClr val="A7F3D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7F3D0"/>
                </a:solidFill>
                <a:latin typeface="Fira Code"/>
                <a:ea typeface="Fira Code"/>
                <a:cs typeface="Fira Code"/>
                <a:sym typeface="Fira Code"/>
              </a:rPr>
              <a:t>Presione opción: M </a:t>
            </a:r>
            <a:endParaRPr sz="1050" b="0" i="0" u="none" strike="noStrike" cap="none">
              <a:solidFill>
                <a:srgbClr val="A7F3D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7F3D0"/>
                </a:solidFill>
                <a:latin typeface="Fira Code"/>
                <a:ea typeface="Fira Code"/>
                <a:cs typeface="Fira Code"/>
                <a:sym typeface="Fira Code"/>
              </a:rPr>
              <a:t>&gt; [EN PAUSA] Vol: ACTIVO</a:t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6677025" y="4322117"/>
            <a:ext cx="28575" cy="723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809625" y="3880246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914400" y="3880246"/>
            <a:ext cx="46005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Crear un programa interactivo con un bucle infinito hasta que se ingrese 'Q' (Quit).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809625" y="463272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914400" y="4632721"/>
            <a:ext cx="46005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Tendrá dos switches booleanos inicializados en falso: en_reproduccion y modo_mute.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809625" y="539472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914400" y="5394721"/>
            <a:ext cx="46005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 ingresar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'P'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la reproducción alterna (Play ↔ Pausa).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809625" y="6147196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914400" y="6147196"/>
            <a:ext cx="46005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 ingresar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'M'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el sonido alterna (Mute ↔ Unmute).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60304"/>
            <a:ext cx="3867150" cy="152206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057275" y="476250"/>
            <a:ext cx="11091386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766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Mecanismo "Toggle" (Conmutador)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6673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1400175"/>
            <a:ext cx="406050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 Inversión Booleana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1847850"/>
            <a:ext cx="3867150" cy="173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interruptor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(switch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lógico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 es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variable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fluctúa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repetidamente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entre dos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valores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antagónicos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En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lugar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usar largos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condicionales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if/else para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preguntar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"¿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qué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estado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estoy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?",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usamos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operador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negación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Lógica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NOT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/ !).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4603179"/>
            <a:ext cx="34385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1D4E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Ventaja</a:t>
            </a:r>
            <a:r>
              <a:rPr lang="en-US" sz="1350" b="0" i="0" u="none" strike="noStrike" cap="none" dirty="0">
                <a:solidFill>
                  <a:srgbClr val="1D4E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350" b="0" i="0" u="none" strike="noStrike" cap="none" dirty="0" err="1">
                <a:solidFill>
                  <a:srgbClr val="1D4E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Operativa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809625" y="4925094"/>
            <a:ext cx="34385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instrucción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estado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= !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estado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;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ordena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al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sistema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leer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valor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memoria,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invertirlo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instantáneamente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 auto-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sobrescribirlo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Es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mucho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más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rápido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procesar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3CB9D56-EB2A-4680-23F6-B0179E6927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0132" y="1587246"/>
            <a:ext cx="6020372" cy="45965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971550" y="476250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766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 1: El Bombillo Interactivo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66737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400175"/>
            <a:ext cx="14763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571500" y="1733550"/>
            <a:ext cx="406050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Entrada del Usuario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71500" y="2181225"/>
            <a:ext cx="3867150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Reto: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Crear un bucle infinito que simule una habitación oscura. El usuario puede presionar la tecla 'P' para conmutar la luz del bombillo.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66725" y="348388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71500" y="3481982"/>
            <a:ext cx="38671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Variable luzOn inicializada en Falso.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466725" y="3916233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71500" y="3914328"/>
            <a:ext cx="38671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 ingresa 'P', el estado se invierte con !luzOn.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466725" y="4638049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71500" y="4636144"/>
            <a:ext cx="38671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Imprimir el estado gráficamente dependiendo del valor actual de la variable.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238315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"P"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244411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1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// Ejecuta la conmutación (Toggle)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271081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luzOn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277939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luzOn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283273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307657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"💡 LUZ ENCENDIDA (Día)"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329755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else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349567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"🌑 LUZ APAGADA (Noche)"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B0EEA69-46D7-DD71-FF2A-4795CFF145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7805" y="1442172"/>
            <a:ext cx="5912169" cy="43563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767732"/>
            <a:ext cx="3867150" cy="152206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1019175" y="476250"/>
            <a:ext cx="1113139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766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 2: El Pomodoro (Switch Temporizado)</a:t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66737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400175"/>
            <a:ext cx="175260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/>
          <p:nvPr/>
        </p:nvSpPr>
        <p:spPr>
          <a:xfrm>
            <a:off x="571500" y="1733550"/>
            <a:ext cx="406050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Estados por Tiempo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571500" y="2181225"/>
            <a:ext cx="3867150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Reto: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No dependemos del usuario. El programa alternará automáticamente entre 2 fases: "Tiempo de Estudio" y "Tiempo de Descanso" usando un bucle for.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809625" y="3910607"/>
            <a:ext cx="34385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4530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 Magia del Automata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809625" y="4232523"/>
            <a:ext cx="34385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 colocar estudioActivo = !estudioActivo; al 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final de cada iteración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del ciclo for, forzamos a que la siguiente vuelta ejecute matemáticamente el comportamiento contrario.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206311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"] TRABAJO: 25 min..."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225361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1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// Thread.sleep(1500000); -&gt; Simula 25 mins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260413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else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280225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"☕ ["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293179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"] DESCANSO: 5 min..."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312229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1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// Thread.sleep(300000); -&gt; Simula 5 mins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345757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1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// Preparamos el interruptor para el siguiente ciclo.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386905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1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// Si era true, ahora será false (y viceversa).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423481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estudioActivo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436435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estudioActivo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6155AC-2620-0DE3-C4DD-7C63436A8B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4077" y="1488792"/>
            <a:ext cx="5153744" cy="38010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17241"/>
            <a:ext cx="5334000" cy="4175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356371"/>
            <a:ext cx="53340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/>
          <p:nvPr/>
        </p:nvSpPr>
        <p:spPr>
          <a:xfrm>
            <a:off x="971550" y="476250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766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Aritmética Modular para Sistemas Multi-estado</a:t>
            </a:r>
            <a:endParaRPr/>
          </a:p>
        </p:txBody>
      </p:sp>
      <p:sp>
        <p:nvSpPr>
          <p:cNvPr id="202" name="Google Shape;202;p17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66737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"/>
          <p:cNvSpPr txBox="1"/>
          <p:nvPr/>
        </p:nvSpPr>
        <p:spPr>
          <a:xfrm>
            <a:off x="571500" y="1400175"/>
            <a:ext cx="11049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¿Qué pasa si un sistema tiene 3 estados (Ej. un Semáforo)? Una variable booleana ya no sirve. Usamos un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Switch Numérico Entero (0, 1, 2)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Para que los números regresen a cero sin usar condicionales if/else, usamos el Operador Módulo (%).</a:t>
            </a:r>
            <a:endParaRPr/>
          </a:p>
        </p:txBody>
      </p:sp>
      <p:pic>
        <p:nvPicPr>
          <p:cNvPr id="205" name="Google Shape;20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512516"/>
            <a:ext cx="47434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 txBox="1"/>
          <p:nvPr/>
        </p:nvSpPr>
        <p:spPr>
          <a:xfrm>
            <a:off x="866775" y="2960191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Operador Resíduo (%)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866774" y="3407866"/>
            <a:ext cx="4980621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Módulo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% b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devuelve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resíduo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dividir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entre b.</a:t>
            </a:r>
            <a:endParaRPr dirty="0"/>
          </a:p>
        </p:txBody>
      </p:sp>
      <p:sp>
        <p:nvSpPr>
          <p:cNvPr id="208" name="Google Shape;208;p17"/>
          <p:cNvSpPr txBox="1"/>
          <p:nvPr/>
        </p:nvSpPr>
        <p:spPr>
          <a:xfrm>
            <a:off x="6286500" y="2217241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 Fórmula del Ciclo Infinito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6286500" y="2664916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 sumar 1 al estado actual y aplicar el módulo basado en el total de fases, creamos un reloj circular inquebrantable.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6286500" y="3994546"/>
            <a:ext cx="5334000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Esto elimina la necesidad de escribir: if (estado == 3) { estado = 0; }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762000" y="393736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866775" y="3935462"/>
            <a:ext cx="47434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0 % 3 = 0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762000" y="436971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866775" y="4367807"/>
            <a:ext cx="47434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1 % 3 = 1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762000" y="4802058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866775" y="4800153"/>
            <a:ext cx="47434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2 % 3 = 2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762000" y="5234404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866775" y="5232499"/>
            <a:ext cx="47434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3 % 3 = 0 (¡Se reinicia!)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762000" y="5666749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866775" y="5664844"/>
            <a:ext cx="47434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4 % 3 = 1</a:t>
            </a:r>
            <a:endParaRPr/>
          </a:p>
        </p:txBody>
      </p:sp>
      <p:pic>
        <p:nvPicPr>
          <p:cNvPr id="221" name="Google Shape;22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67600" y="3499246"/>
            <a:ext cx="301942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8"/>
          <p:cNvSpPr txBox="1"/>
          <p:nvPr/>
        </p:nvSpPr>
        <p:spPr>
          <a:xfrm>
            <a:off x="933450" y="476250"/>
            <a:ext cx="1122140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766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 3: El Semáforo (Switch Multi-estado)</a:t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66737"/>
            <a:ext cx="2190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400175"/>
            <a:ext cx="14954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8"/>
          <p:cNvSpPr txBox="1"/>
          <p:nvPr/>
        </p:nvSpPr>
        <p:spPr>
          <a:xfrm>
            <a:off x="571500" y="1733550"/>
            <a:ext cx="406050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Rotación de 3 Fases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571500" y="2181225"/>
            <a:ext cx="386715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Reto: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Simular el ciclo constante de un semáforo de 3 colores en orden: Rojo → Verde → Amarillo → (repite a Rojo).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571500" y="4489549"/>
            <a:ext cx="386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 este ejercicio, Total Fases = 3.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466725" y="319441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571500" y="3192512"/>
            <a:ext cx="38671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Estado 0 = Rojo.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466725" y="362676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8" name="Google Shape;238;p18"/>
          <p:cNvSpPr txBox="1"/>
          <p:nvPr/>
        </p:nvSpPr>
        <p:spPr>
          <a:xfrm>
            <a:off x="571500" y="3624857"/>
            <a:ext cx="38671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Estado 1 = Verde.</a:t>
            </a:r>
            <a:endParaRPr/>
          </a:p>
        </p:txBody>
      </p:sp>
      <p:sp>
        <p:nvSpPr>
          <p:cNvPr id="239" name="Google Shape;239;p18"/>
          <p:cNvSpPr txBox="1"/>
          <p:nvPr/>
        </p:nvSpPr>
        <p:spPr>
          <a:xfrm>
            <a:off x="466725" y="4059108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571500" y="4057203"/>
            <a:ext cx="38671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Estado 2 = Amarillo.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231457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else if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268795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"🟢 VERDE - Avance"</a:t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287083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else if</a:t>
            </a:r>
            <a:endParaRPr/>
          </a:p>
        </p:txBody>
      </p:sp>
      <p:sp>
        <p:nvSpPr>
          <p:cNvPr id="253" name="Google Shape;253;p18"/>
          <p:cNvSpPr txBox="1"/>
          <p:nvPr/>
        </p:nvSpPr>
        <p:spPr>
          <a:xfrm>
            <a:off x="324421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"🟡 AMARILLO - Precaución"</a:t>
            </a:r>
            <a:endParaRPr/>
          </a:p>
        </p:txBody>
      </p:sp>
      <p:sp>
        <p:nvSpPr>
          <p:cNvPr id="254" name="Google Shape;254;p18"/>
          <p:cNvSpPr txBox="1"/>
          <p:nvPr/>
        </p:nvSpPr>
        <p:spPr>
          <a:xfrm>
            <a:off x="348043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1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// EL SWITCH MATEMÁTICO: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367093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1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// Transición limpia usando operador módulo (%).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404431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1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// El valor rotará eternamente: 0, 1, 2, 0, 1, 2...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444055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faseSemaforo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45624750" y="159067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faseSemaforo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A2F53AE-603C-1AB3-610D-06DE42F837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0348" y="1394192"/>
            <a:ext cx="5931952" cy="42877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9650" y="1400175"/>
            <a:ext cx="6800850" cy="49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9"/>
          <p:cNvSpPr txBox="1"/>
          <p:nvPr/>
        </p:nvSpPr>
        <p:spPr>
          <a:xfrm>
            <a:off x="1143000" y="476250"/>
            <a:ext cx="11001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766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Práctica: Reto 1 (Switch Booleano)</a:t>
            </a: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66737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400175"/>
            <a:ext cx="19716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9"/>
          <p:cNvSpPr txBox="1"/>
          <p:nvPr/>
        </p:nvSpPr>
        <p:spPr>
          <a:xfrm>
            <a:off x="571500" y="1733550"/>
            <a:ext cx="406050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Controlador de Inventario RPG</a:t>
            </a:r>
            <a:endParaRPr/>
          </a:p>
        </p:txBody>
      </p:sp>
      <p:sp>
        <p:nvSpPr>
          <p:cNvPr id="270" name="Google Shape;270;p19"/>
          <p:cNvSpPr txBox="1"/>
          <p:nvPr/>
        </p:nvSpPr>
        <p:spPr>
          <a:xfrm>
            <a:off x="571500" y="2181225"/>
            <a:ext cx="386715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Basándote en el caso de estudio del "Bombillo", crea el menú de un videojuego que permite alternar la visualización del inventario.</a:t>
            </a:r>
            <a:endParaRPr/>
          </a:p>
        </p:txBody>
      </p:sp>
      <p:sp>
        <p:nvSpPr>
          <p:cNvPr id="272" name="Google Shape;272;p19"/>
          <p:cNvSpPr txBox="1"/>
          <p:nvPr/>
        </p:nvSpPr>
        <p:spPr>
          <a:xfrm>
            <a:off x="5067300" y="1647825"/>
            <a:ext cx="662082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766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Requerimientos Lógicos:</a:t>
            </a:r>
            <a:endParaRPr/>
          </a:p>
        </p:txBody>
      </p:sp>
      <p:sp>
        <p:nvSpPr>
          <p:cNvPr id="273" name="Google Shape;273;p19"/>
          <p:cNvSpPr txBox="1"/>
          <p:nvPr/>
        </p:nvSpPr>
        <p:spPr>
          <a:xfrm>
            <a:off x="4962525" y="204978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5067300" y="2047875"/>
            <a:ext cx="63055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Crea una variable inventarioAbierto inicializada en false.</a:t>
            </a:r>
            <a:endParaRPr/>
          </a:p>
        </p:txBody>
      </p:sp>
      <p:sp>
        <p:nvSpPr>
          <p:cNvPr id="275" name="Google Shape;275;p19"/>
          <p:cNvSpPr txBox="1"/>
          <p:nvPr/>
        </p:nvSpPr>
        <p:spPr>
          <a:xfrm>
            <a:off x="4962525" y="241545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5067300" y="2413545"/>
            <a:ext cx="63055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Usa un bucle infinito (while(true)) donde el jugador ingresa caracteres.</a:t>
            </a:r>
            <a:endParaRPr/>
          </a:p>
        </p:txBody>
      </p:sp>
      <p:sp>
        <p:nvSpPr>
          <p:cNvPr id="277" name="Google Shape;277;p19"/>
          <p:cNvSpPr txBox="1"/>
          <p:nvPr/>
        </p:nvSpPr>
        <p:spPr>
          <a:xfrm>
            <a:off x="4962525" y="2781121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8" name="Google Shape;278;p19"/>
          <p:cNvSpPr txBox="1"/>
          <p:nvPr/>
        </p:nvSpPr>
        <p:spPr>
          <a:xfrm>
            <a:off x="5067300" y="2779216"/>
            <a:ext cx="63055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 ingresa la tecla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'I'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(Inventory), el estado de la variable debe conmutarse usando la negación lógica (!).</a:t>
            </a:r>
            <a:endParaRPr/>
          </a:p>
        </p:txBody>
      </p:sp>
      <p:sp>
        <p:nvSpPr>
          <p:cNvPr id="279" name="Google Shape;279;p19"/>
          <p:cNvSpPr txBox="1"/>
          <p:nvPr/>
        </p:nvSpPr>
        <p:spPr>
          <a:xfrm>
            <a:off x="4962525" y="343626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0" name="Google Shape;280;p19"/>
          <p:cNvSpPr txBox="1"/>
          <p:nvPr/>
        </p:nvSpPr>
        <p:spPr>
          <a:xfrm>
            <a:off x="5067300" y="3434357"/>
            <a:ext cx="655320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 la variable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está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True,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imprime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"&gt;&gt;&gt; Mochila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Abierta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[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Pociones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Oro]".</a:t>
            </a:r>
            <a:endParaRPr dirty="0"/>
          </a:p>
        </p:txBody>
      </p:sp>
      <p:sp>
        <p:nvSpPr>
          <p:cNvPr id="281" name="Google Shape;281;p19"/>
          <p:cNvSpPr txBox="1"/>
          <p:nvPr/>
        </p:nvSpPr>
        <p:spPr>
          <a:xfrm>
            <a:off x="4962525" y="4091404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2" name="Google Shape;282;p19"/>
          <p:cNvSpPr txBox="1"/>
          <p:nvPr/>
        </p:nvSpPr>
        <p:spPr>
          <a:xfrm>
            <a:off x="5067300" y="4089499"/>
            <a:ext cx="63055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 la variable está en False, imprime "--- Pantalla de Juego Normal ---".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9650" y="1400175"/>
            <a:ext cx="6800850" cy="49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0"/>
          <p:cNvSpPr txBox="1"/>
          <p:nvPr/>
        </p:nvSpPr>
        <p:spPr>
          <a:xfrm>
            <a:off x="1057275" y="476250"/>
            <a:ext cx="11091386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766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Práctica: Reto 2 (Switch Aritmético)</a:t>
            </a:r>
            <a:endParaRPr/>
          </a:p>
        </p:txBody>
      </p:sp>
      <p:sp>
        <p:nvSpPr>
          <p:cNvPr id="290" name="Google Shape;290;p20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6673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400175"/>
            <a:ext cx="14954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0"/>
          <p:cNvSpPr txBox="1"/>
          <p:nvPr/>
        </p:nvSpPr>
        <p:spPr>
          <a:xfrm>
            <a:off x="571500" y="1733550"/>
            <a:ext cx="406050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Ventilador de 4 Velocidades</a:t>
            </a:r>
            <a:endParaRPr/>
          </a:p>
        </p:txBody>
      </p:sp>
      <p:sp>
        <p:nvSpPr>
          <p:cNvPr id="294" name="Google Shape;294;p20"/>
          <p:cNvSpPr txBox="1"/>
          <p:nvPr/>
        </p:nvSpPr>
        <p:spPr>
          <a:xfrm>
            <a:off x="571500" y="2181225"/>
            <a:ext cx="386715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Basándote en el "Semáforo", programa el controlador de un ventilador de pedestal que tiene un solo botón físico para cambiar velocidades.</a:t>
            </a:r>
            <a:endParaRPr/>
          </a:p>
        </p:txBody>
      </p:sp>
      <p:sp>
        <p:nvSpPr>
          <p:cNvPr id="296" name="Google Shape;296;p20"/>
          <p:cNvSpPr txBox="1"/>
          <p:nvPr/>
        </p:nvSpPr>
        <p:spPr>
          <a:xfrm>
            <a:off x="5067300" y="1647825"/>
            <a:ext cx="662082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5C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Requerimientos Lógicos:</a:t>
            </a:r>
            <a:endParaRPr/>
          </a:p>
        </p:txBody>
      </p:sp>
      <p:sp>
        <p:nvSpPr>
          <p:cNvPr id="297" name="Google Shape;297;p20"/>
          <p:cNvSpPr txBox="1"/>
          <p:nvPr/>
        </p:nvSpPr>
        <p:spPr>
          <a:xfrm>
            <a:off x="4962525" y="204978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8" name="Google Shape;298;p20"/>
          <p:cNvSpPr txBox="1"/>
          <p:nvPr/>
        </p:nvSpPr>
        <p:spPr>
          <a:xfrm>
            <a:off x="5067300" y="2047875"/>
            <a:ext cx="63055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sistema tiene 4 fases (Total = 4). Usa una variable entera velocidad que inicia en 0.</a:t>
            </a:r>
            <a:endParaRPr/>
          </a:p>
        </p:txBody>
      </p:sp>
      <p:sp>
        <p:nvSpPr>
          <p:cNvPr id="299" name="Google Shape;299;p20"/>
          <p:cNvSpPr txBox="1"/>
          <p:nvPr/>
        </p:nvSpPr>
        <p:spPr>
          <a:xfrm>
            <a:off x="4962525" y="2704921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0" name="Google Shape;300;p20"/>
          <p:cNvSpPr txBox="1"/>
          <p:nvPr/>
        </p:nvSpPr>
        <p:spPr>
          <a:xfrm>
            <a:off x="5067300" y="2703016"/>
            <a:ext cx="63055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Los estados son: 0 (Apagado), 1 (Bajo), 2 (Medio), 3 (Alto).</a:t>
            </a:r>
            <a:endParaRPr/>
          </a:p>
        </p:txBody>
      </p:sp>
      <p:sp>
        <p:nvSpPr>
          <p:cNvPr id="301" name="Google Shape;301;p20"/>
          <p:cNvSpPr txBox="1"/>
          <p:nvPr/>
        </p:nvSpPr>
        <p:spPr>
          <a:xfrm>
            <a:off x="4962525" y="307059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2" name="Google Shape;302;p20"/>
          <p:cNvSpPr txBox="1"/>
          <p:nvPr/>
        </p:nvSpPr>
        <p:spPr>
          <a:xfrm>
            <a:off x="5067300" y="3068687"/>
            <a:ext cx="63055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Dentro de un bucle, si el usuario ingresa la letra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'B'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(Presionar Botón), la velocidad debe avanzar.</a:t>
            </a:r>
            <a:endParaRPr/>
          </a:p>
        </p:txBody>
      </p:sp>
      <p:sp>
        <p:nvSpPr>
          <p:cNvPr id="303" name="Google Shape;303;p20"/>
          <p:cNvSpPr txBox="1"/>
          <p:nvPr/>
        </p:nvSpPr>
        <p:spPr>
          <a:xfrm>
            <a:off x="4962525" y="3725733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4" name="Google Shape;304;p20"/>
          <p:cNvSpPr txBox="1"/>
          <p:nvPr/>
        </p:nvSpPr>
        <p:spPr>
          <a:xfrm>
            <a:off x="5067300" y="3723828"/>
            <a:ext cx="630555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Aplica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obligatoriamente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operador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módulo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(%)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lograr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al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presionar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botón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estando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Alto (3),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ventilador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apague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(0).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Está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prohibido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usar `if(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velocidad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== 4)`.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>
          <a:extLst>
            <a:ext uri="{FF2B5EF4-FFF2-40B4-BE49-F238E27FC236}">
              <a16:creationId xmlns:a16="http://schemas.microsoft.com/office/drawing/2014/main" id="{A2672BAB-40AD-4C0D-5324-CED92A6C1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>
            <a:extLst>
              <a:ext uri="{FF2B5EF4-FFF2-40B4-BE49-F238E27FC236}">
                <a16:creationId xmlns:a16="http://schemas.microsoft.com/office/drawing/2014/main" id="{EAD49AC6-CEB6-4866-0F5B-31E934C8B869}"/>
              </a:ext>
            </a:extLst>
          </p:cNvPr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31AA1BA-E5D0-9D54-0462-D0385589AB4D}"/>
              </a:ext>
            </a:extLst>
          </p:cNvPr>
          <p:cNvSpPr txBox="1"/>
          <p:nvPr/>
        </p:nvSpPr>
        <p:spPr>
          <a:xfrm>
            <a:off x="571500" y="2250984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b="0" i="0" dirty="0">
                <a:solidFill>
                  <a:srgbClr val="64686D"/>
                </a:solidFill>
                <a:effectLst/>
                <a:latin typeface="Roboto" panose="02000000000000000000" pitchFamily="2" charset="0"/>
              </a:rPr>
              <a:t> Vamos a realizar el Test </a:t>
            </a:r>
            <a:r>
              <a:rPr lang="es-CO" sz="2800" b="0" i="0" dirty="0" err="1">
                <a:solidFill>
                  <a:srgbClr val="64686D"/>
                </a:solidFill>
                <a:effectLst/>
                <a:latin typeface="Roboto" panose="02000000000000000000" pitchFamily="2" charset="0"/>
              </a:rPr>
              <a:t>Ciclicas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1534181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1801</Words>
  <Application>Microsoft Office PowerPoint</Application>
  <PresentationFormat>Panorámica</PresentationFormat>
  <Paragraphs>218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5" baseType="lpstr">
      <vt:lpstr>Poppins</vt:lpstr>
      <vt:lpstr>Arial</vt:lpstr>
      <vt:lpstr>Fira Code</vt:lpstr>
      <vt:lpstr>Poppins SemiBold</vt:lpstr>
      <vt:lpstr>Roboto</vt:lpstr>
      <vt:lpstr>Inter</vt:lpstr>
      <vt:lpstr>Inter SemiBold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Sebastian Montoya Villada</cp:lastModifiedBy>
  <cp:revision>1</cp:revision>
  <dcterms:modified xsi:type="dcterms:W3CDTF">2026-04-21T19:59:55Z</dcterms:modified>
</cp:coreProperties>
</file>