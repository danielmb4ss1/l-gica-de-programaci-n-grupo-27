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76" r:id="rId2"/>
    <p:sldId id="277" r:id="rId3"/>
    <p:sldId id="257" r:id="rId4"/>
    <p:sldId id="258" r:id="rId5"/>
    <p:sldId id="259" r:id="rId6"/>
    <p:sldId id="278" r:id="rId7"/>
    <p:sldId id="260" r:id="rId8"/>
    <p:sldId id="261" r:id="rId9"/>
    <p:sldId id="262" r:id="rId10"/>
    <p:sldId id="279" r:id="rId11"/>
    <p:sldId id="280" r:id="rId12"/>
    <p:sldId id="281" r:id="rId13"/>
    <p:sldId id="282" r:id="rId14"/>
    <p:sldId id="263" r:id="rId15"/>
    <p:sldId id="264" r:id="rId16"/>
    <p:sldId id="269" r:id="rId17"/>
    <p:sldId id="265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embeddedFontLs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Merriweather" panose="00000500000000000000" pitchFamily="2" charset="0"/>
      <p:regular r:id="rId30"/>
      <p:bold r:id="rId31"/>
      <p:italic r:id="rId32"/>
      <p:boldItalic r:id="rId33"/>
    </p:embeddedFont>
    <p:embeddedFont>
      <p:font typeface="Open Sans" panose="020B0606030504020204" pitchFamily="34" charset="0"/>
      <p:regular r:id="rId34"/>
      <p:bold r:id="rId35"/>
      <p:italic r:id="rId36"/>
      <p:boldItalic r:id="rId37"/>
    </p:embeddedFont>
    <p:embeddedFont>
      <p:font typeface="Poppins" panose="00000500000000000000" pitchFamily="2" charset="0"/>
      <p:regular r:id="rId38"/>
      <p:bold r:id="rId39"/>
      <p:italic r:id="rId40"/>
      <p:boldItalic r:id="rId41"/>
    </p:embeddedFont>
    <p:embeddedFont>
      <p:font typeface="Poppins SemiBold" panose="00000700000000000000" pitchFamily="2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FC8A4D5-C982-40C6-A5DC-845BEBC6CBD0}">
  <a:tblStyle styleId="{FFC8A4D5-C982-40C6-A5DC-845BEBC6CBD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88" y="174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font" Target="fonts/font2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595437" y="2149822"/>
            <a:ext cx="90011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Ciclos Anidados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524500" y="3353692"/>
            <a:ext cx="1143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772792"/>
            <a:ext cx="85725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Comprendiendo la iteración en múltiples niveles a través de analogías simples y un caso práctico.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1780282" y="1857375"/>
            <a:ext cx="8631435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Un </a:t>
            </a:r>
            <a:r>
              <a:rPr lang="en-US" sz="3000" b="0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ciclo</a:t>
            </a:r>
            <a:r>
              <a:rPr lang="en-US" sz="30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000" b="0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anidado</a:t>
            </a:r>
            <a:r>
              <a:rPr lang="en-US" sz="30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es </a:t>
            </a:r>
            <a:r>
              <a:rPr lang="en-US" sz="3000" b="0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una</a:t>
            </a:r>
            <a:r>
              <a:rPr lang="en-US" sz="30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000" b="0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estructura</a:t>
            </a:r>
            <a:r>
              <a:rPr lang="en-US" sz="30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000" b="0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donde</a:t>
            </a:r>
            <a:r>
              <a:rPr lang="en-US" sz="30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un </a:t>
            </a:r>
            <a:r>
              <a:rPr lang="en-US" sz="3000" b="0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ciclo</a:t>
            </a:r>
            <a:r>
              <a:rPr lang="en-US" sz="30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000" b="0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está</a:t>
            </a:r>
            <a:r>
              <a:rPr lang="en-US" sz="30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000" b="0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completamente</a:t>
            </a:r>
            <a:r>
              <a:rPr lang="en-US" sz="30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000" b="0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contenido</a:t>
            </a:r>
            <a:r>
              <a:rPr lang="en-US" sz="30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000" b="0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dentro</a:t>
            </a:r>
            <a:r>
              <a:rPr lang="en-US" sz="30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de </a:t>
            </a:r>
            <a:r>
              <a:rPr lang="en-US" sz="3000" b="0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otro</a:t>
            </a:r>
            <a:r>
              <a:rPr lang="en-US" sz="30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. Por </a:t>
            </a:r>
            <a:r>
              <a:rPr lang="en-US" sz="3000" b="0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cada</a:t>
            </a:r>
            <a:r>
              <a:rPr lang="en-US" sz="30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000" b="0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iteración</a:t>
            </a:r>
            <a:r>
              <a:rPr lang="en-US" sz="30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del </a:t>
            </a:r>
            <a:r>
              <a:rPr lang="en-US" sz="3000" b="0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ciclo</a:t>
            </a:r>
            <a:r>
              <a:rPr lang="en-US" sz="30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000" b="0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externo</a:t>
            </a:r>
            <a:r>
              <a:rPr lang="en-US" sz="30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, </a:t>
            </a:r>
            <a:r>
              <a:rPr lang="en-US" sz="3000" b="0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el</a:t>
            </a:r>
            <a:r>
              <a:rPr lang="en-US" sz="30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000" b="0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ciclo</a:t>
            </a:r>
            <a:r>
              <a:rPr lang="en-US" sz="30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000" b="0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interno</a:t>
            </a:r>
            <a:r>
              <a:rPr lang="en-US" sz="30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se </a:t>
            </a:r>
            <a:r>
              <a:rPr lang="en-US" sz="3000" b="0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ejecuta</a:t>
            </a:r>
            <a:r>
              <a:rPr lang="en-US" sz="30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000" b="0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completamente</a:t>
            </a:r>
            <a:r>
              <a:rPr lang="en-US" sz="30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000" b="0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desde</a:t>
            </a:r>
            <a:r>
              <a:rPr lang="en-US" sz="30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000" b="0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el</a:t>
            </a:r>
            <a:r>
              <a:rPr lang="en-US" sz="30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principio hasta </a:t>
            </a:r>
            <a:r>
              <a:rPr lang="en-US" sz="3000" b="0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el</a:t>
            </a:r>
            <a:r>
              <a:rPr lang="en-US" sz="30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final.</a:t>
            </a:r>
            <a:endParaRPr dirty="0"/>
          </a:p>
        </p:txBody>
      </p:sp>
      <p:sp>
        <p:nvSpPr>
          <p:cNvPr id="92" name="Google Shape;92;p14"/>
          <p:cNvSpPr txBox="1"/>
          <p:nvPr/>
        </p:nvSpPr>
        <p:spPr>
          <a:xfrm>
            <a:off x="1113532" y="2238375"/>
            <a:ext cx="457200" cy="155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93C5FD"/>
                </a:solidFill>
                <a:latin typeface="Open Sans"/>
                <a:ea typeface="Open Sans"/>
                <a:cs typeface="Open Sans"/>
                <a:sym typeface="Open Sans"/>
              </a:rPr>
              <a:t>"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10621272" y="4714875"/>
            <a:ext cx="457200" cy="155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93C5FD"/>
                </a:solidFill>
                <a:latin typeface="Open Sans"/>
                <a:ea typeface="Open Sans"/>
                <a:cs typeface="Open Sans"/>
                <a:sym typeface="Open Sans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95450"/>
            <a:ext cx="538162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695450"/>
            <a:ext cx="538162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00550"/>
            <a:ext cx="538162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4400550"/>
            <a:ext cx="5381625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381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Ruta de Aprendizaje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733425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114300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Dominar los bucles anidados requiere comprender cómo interactúan dos ciclos de forma jerárquica.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19150" y="2638425"/>
            <a:ext cx="513064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El Concepto Teórico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19150" y="3086100"/>
            <a:ext cx="48863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¿Qué significa poner un bucle dentro de otro? Jerarquía y dependencias.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486525" y="2638425"/>
            <a:ext cx="513064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Analogías Cotidianas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486525" y="3086100"/>
            <a:ext cx="48863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reloj y la cuadrícula: visualizando el flujo en el mundo real.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19150" y="5343525"/>
            <a:ext cx="513064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Flujo de Ejecución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19150" y="5791200"/>
            <a:ext cx="48863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Anatomía, sintaxis y la prueba de escritorio de un doble bucle.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486525" y="5343525"/>
            <a:ext cx="513064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Casos de Estudio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486525" y="5791200"/>
            <a:ext cx="48863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Implementación práctica: Generación de las tablas de multiplicar.</a:t>
            </a:r>
            <a:endParaRPr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20764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86525" y="20764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9150" y="47815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86525" y="4781550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38275"/>
            <a:ext cx="5334000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38275"/>
            <a:ext cx="5334000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1. El Concepto: ¿Qué es un Bucle Anidado?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914400" y="1781175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Definición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14400" y="2228850"/>
            <a:ext cx="46482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 bucle anidado es simplemente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 bucle colocado dentro del bloque de instrucciones de otro bucle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14400" y="2914650"/>
            <a:ext cx="464820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Mientras que un bucle normal ejecuta una acción varias veces en una línea (1D), un bucle anidado nos permite repetir acciones en dos dimensiones (2D), como filas y columnas.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677025" y="1781175"/>
            <a:ext cx="483060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8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 Jerarquía Estricta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296150" y="2371725"/>
            <a:ext cx="398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Bucle Externo (Padre):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Inicia el proceso. Por cada paso que da, invoca al bucle interno.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296150" y="3028950"/>
            <a:ext cx="398145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Bucle Interno (Hijo):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Debe completar </a:t>
            </a:r>
            <a:r>
              <a:rPr lang="en-US" sz="1425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todas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sus iteraciones (desde su inicio hasta su fin) antes de que el bucle externo pueda avanzar al siguiente paso.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058025" y="2295525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058025" y="295275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1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133600"/>
            <a:ext cx="5334000" cy="2814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4250" y="2764631"/>
            <a:ext cx="3238500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2. Analogías: El Mecanismo de un Reloj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158115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 forma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más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natural de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entender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bucle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anidado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mirar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reloj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digital.</a:t>
            </a:r>
            <a:endParaRPr dirty="0"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2133600"/>
            <a:ext cx="56007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Horas y </a:t>
            </a:r>
            <a:r>
              <a:rPr lang="en-US" sz="1650" b="1" i="0" u="none" strike="noStrike" cap="none" dirty="0" err="1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Minutos</a:t>
            </a:r>
            <a:endParaRPr dirty="0"/>
          </a:p>
        </p:txBody>
      </p:sp>
      <p:sp>
        <p:nvSpPr>
          <p:cNvPr id="138" name="Google Shape;138;p16"/>
          <p:cNvSpPr txBox="1"/>
          <p:nvPr/>
        </p:nvSpPr>
        <p:spPr>
          <a:xfrm>
            <a:off x="571500" y="2562225"/>
            <a:ext cx="5334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Imagina que las horas son el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bucle externo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los minutos son el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bucle interno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048500" y="4107656"/>
            <a:ext cx="3810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Bucle Externo</a:t>
            </a: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1" i="0" u="none" strike="noStrike" cap="none">
                <a:solidFill>
                  <a:srgbClr val="F472B6"/>
                </a:solidFill>
                <a:latin typeface="Lato"/>
                <a:ea typeface="Lato"/>
                <a:cs typeface="Lato"/>
                <a:sym typeface="Lato"/>
              </a:rPr>
              <a:t>Bucle Interno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09625" y="3248025"/>
            <a:ext cx="5095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bucle de las </a:t>
            </a:r>
            <a:r>
              <a:rPr lang="en-US" sz="142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horas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empieza en 1.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09625" y="3633787"/>
            <a:ext cx="5095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 que el reloj pase a las 2, el bucle de los </a:t>
            </a:r>
            <a:r>
              <a:rPr lang="en-US" sz="142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minutos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debe contar desde 0 hasta 59.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09625" y="4291012"/>
            <a:ext cx="5095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 cada </a:t>
            </a:r>
            <a:r>
              <a:rPr lang="en-US" sz="142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1 iteración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del ciclo externo (horas), el ciclo interno ejecuta </a:t>
            </a:r>
            <a:r>
              <a:rPr lang="en-US" sz="142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60 iteraciones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completas (minutos).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3171825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71500" y="355758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71500" y="4214812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/>
      <p:bldP spid="137" grpId="0"/>
      <p:bldP spid="138" grpId="0"/>
      <p:bldP spid="140" grpId="0"/>
      <p:bldP spid="141" grpId="0"/>
      <p:bldP spid="142" grpId="0"/>
      <p:bldP spid="143" grpId="0"/>
      <p:bldP spid="144" grpId="0"/>
      <p:bldP spid="1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/>
        </p:nvSpPr>
        <p:spPr>
          <a:xfrm>
            <a:off x="771525" y="581025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Consideraciones Clave</a:t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771525" y="1247775"/>
            <a:ext cx="1064895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1247775" y="2498675"/>
            <a:ext cx="101727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El </a:t>
            </a:r>
            <a:r>
              <a:rPr lang="en-US" sz="1800" b="1" i="0" u="none" strike="noStrike" cap="none" dirty="0" err="1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poder</a:t>
            </a:r>
            <a:r>
              <a:rPr lang="en-US" sz="1800" b="1" i="0" u="none" strike="noStrike" cap="none" dirty="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 de la </a:t>
            </a:r>
            <a:r>
              <a:rPr lang="en-US" sz="1800" b="1" i="0" u="none" strike="noStrike" cap="none" dirty="0" err="1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Indentación</a:t>
            </a:r>
            <a:r>
              <a:rPr lang="en-US" sz="1800" b="1" i="0" u="none" strike="noStrike" cap="none" dirty="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Es fundamental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uso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tabulación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espacios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 la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izquierda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)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código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para saber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visualmente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dónde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comienza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y termina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ciclo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interno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respecto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al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externo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115" name="Google Shape;115;p16"/>
          <p:cNvSpPr txBox="1"/>
          <p:nvPr/>
        </p:nvSpPr>
        <p:spPr>
          <a:xfrm>
            <a:off x="1247775" y="3468141"/>
            <a:ext cx="10172700" cy="750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Combinación</a:t>
            </a:r>
            <a:r>
              <a:rPr lang="en-US" sz="1800" b="1" i="0" u="none" strike="noStrike" cap="none" dirty="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800" b="1" i="0" u="none" strike="noStrike" cap="none" dirty="0" err="1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estructuras</a:t>
            </a:r>
            <a:r>
              <a:rPr lang="en-US" sz="1800" b="1" i="0" u="none" strike="noStrike" cap="none" dirty="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No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estás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limitado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 un solo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tipo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Puedes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combinar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un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ciclo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for (para)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dentro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de un while (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mientras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), o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viceversa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116" name="Google Shape;116;p16"/>
          <p:cNvSpPr txBox="1"/>
          <p:nvPr/>
        </p:nvSpPr>
        <p:spPr>
          <a:xfrm>
            <a:off x="1247775" y="4456658"/>
            <a:ext cx="101727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Ejecución</a:t>
            </a:r>
            <a:r>
              <a:rPr lang="en-US" sz="1800" b="1" i="0" u="none" strike="noStrike" cap="none" dirty="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1" i="0" u="none" strike="noStrike" cap="none" dirty="0" err="1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exhaustiva</a:t>
            </a:r>
            <a:r>
              <a:rPr lang="en-US" sz="1800" b="1" i="0" u="none" strike="noStrike" cap="none" dirty="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El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ciclo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interno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se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reinicia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y se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ejecuta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1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1800" b="0" i="1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1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su</a:t>
            </a:r>
            <a:r>
              <a:rPr lang="en-US" sz="1800" b="0" i="1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1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totalidad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cada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vez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que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ciclo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externo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da un nuevo paso.</a:t>
            </a:r>
            <a:endParaRPr dirty="0"/>
          </a:p>
        </p:txBody>
      </p:sp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2532012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3501479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4489995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115" grpId="0"/>
      <p:bldP spid="1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33600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33600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2. Analogías: La Cuadrícula (Filas y Columnas)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571500" y="158115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Este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concepto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 la base para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trabajar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posteriormente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 Matrices (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Arreglos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Bidimensionales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  <p:sp>
        <p:nvSpPr>
          <p:cNvPr id="155" name="Google Shape;155;p17"/>
          <p:cNvSpPr txBox="1"/>
          <p:nvPr/>
        </p:nvSpPr>
        <p:spPr>
          <a:xfrm>
            <a:off x="914400" y="2476500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Lectura de un Libro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14400" y="2924175"/>
            <a:ext cx="46482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Cuando lees una página, realizas un proceso anidado: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14400" y="3338512"/>
            <a:ext cx="46482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Bucle Externo: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Bajas línea por línea (Filas).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14400" y="3752850"/>
            <a:ext cx="46482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Bucle Interno: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 una misma línea, lees palabra por palabra de izquierda a derecha (Columnas).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914400" y="4438650"/>
            <a:ext cx="46482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Solo pasas a la siguiente línea cuando terminaste todas las palabras de la actual.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7038975" y="2476500"/>
            <a:ext cx="40205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Visualización (Filas x Columnas)</a:t>
            </a:r>
            <a:endParaRPr/>
          </a:p>
        </p:txBody>
      </p:sp>
      <p:graphicFrame>
        <p:nvGraphicFramePr>
          <p:cNvPr id="161" name="Google Shape;161;p17"/>
          <p:cNvGraphicFramePr/>
          <p:nvPr/>
        </p:nvGraphicFramePr>
        <p:xfrm>
          <a:off x="6629400" y="3000375"/>
          <a:ext cx="4638675" cy="1423975"/>
        </p:xfrm>
        <a:graphic>
          <a:graphicData uri="http://schemas.openxmlformats.org/drawingml/2006/table">
            <a:tbl>
              <a:tblPr firstRow="1" bandRow="1">
                <a:noFill/>
                <a:tableStyleId>{FFC8A4D5-C982-40C6-A5DC-845BEBC6CBD0}</a:tableStyleId>
              </a:tblPr>
              <a:tblGrid>
                <a:gridCol w="1546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6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F1, C1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F1, C2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F1, C3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F2, C1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F2, C2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F2, C3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F3, C1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F3, C2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F3, C3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2" name="Google Shape;162;p17"/>
          <p:cNvSpPr txBox="1"/>
          <p:nvPr/>
        </p:nvSpPr>
        <p:spPr>
          <a:xfrm>
            <a:off x="7058025" y="4567237"/>
            <a:ext cx="3790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El bucle interno llena la fila (columnas). El externo cambia de fila.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/>
      <p:bldP spid="156" grpId="0"/>
      <p:bldP spid="157" grpId="0"/>
      <p:bldP spid="158" grpId="0"/>
      <p:bldP spid="159" grpId="0"/>
      <p:bldP spid="160" grpId="0"/>
      <p:bldP spid="16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0175" y="1862137"/>
            <a:ext cx="939165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3. Anatomía y Sintaxis (Logicode)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571500" y="1438275"/>
            <a:ext cx="10658475" cy="28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 convención universal en programación, el bucle externo utiliza la variable </a:t>
            </a:r>
            <a:r>
              <a:rPr lang="en-US" sz="1425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como contador, y el bucle interno utiliza la variable </a:t>
            </a:r>
            <a:r>
              <a:rPr lang="en-US" sz="1425" b="1" i="0" u="none" strike="noStrike" cap="none">
                <a:solidFill>
                  <a:srgbClr val="F472B6"/>
                </a:solidFill>
                <a:latin typeface="Lato"/>
                <a:ea typeface="Lato"/>
                <a:cs typeface="Lato"/>
                <a:sym typeface="Lato"/>
              </a:rPr>
              <a:t>j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/>
        </p:nvSpPr>
        <p:spPr>
          <a:xfrm>
            <a:off x="571500" y="459581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3. Mecánica: Prueba de Escritorio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71500" y="1154906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571500" y="1564481"/>
            <a:ext cx="110490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Analicemos paso a paso cómo cambian las variables i y j en el código anterior.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571500" y="5984081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Observación: 'i' se mantiene estático mientras 'j' realiza un ciclo completo.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71500" y="2135981"/>
            <a:ext cx="11049000" cy="37052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0" name="Google Shape;180;p19"/>
          <p:cNvGraphicFramePr/>
          <p:nvPr/>
        </p:nvGraphicFramePr>
        <p:xfrm>
          <a:off x="571500" y="2135981"/>
          <a:ext cx="11039475" cy="3705275"/>
        </p:xfrm>
        <a:graphic>
          <a:graphicData uri="http://schemas.openxmlformats.org/drawingml/2006/table">
            <a:tbl>
              <a:tblPr firstRow="1" bandRow="1">
                <a:noFill/>
                <a:tableStyleId>{FFC8A4D5-C982-40C6-A5DC-845BEBC6CBD0}</a:tableStyleId>
              </a:tblPr>
              <a:tblGrid>
                <a:gridCol w="362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9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0369A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Bucle Externo (i)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BE185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Bucle Interno (j)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Acción Ejecutada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 =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 =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"i vale: 1, j vale: 1"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 = 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"i vale: 1, j vale: 2"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 = 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"i vale: 1, j vale: 3"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 = 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 =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"i vale: 2, j vale: 1"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 = 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"i vale: 2, j vale: 2"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 = 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"i vale: 2, j vale: 3"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1" name="Google Shape;181;p19"/>
          <p:cNvSpPr/>
          <p:nvPr/>
        </p:nvSpPr>
        <p:spPr>
          <a:xfrm>
            <a:off x="576262" y="2674143"/>
            <a:ext cx="36279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4194720" y="2140743"/>
            <a:ext cx="9525" cy="5429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4204245" y="2674143"/>
            <a:ext cx="35697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7764512" y="2140743"/>
            <a:ext cx="9525" cy="5429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7774037" y="2674143"/>
            <a:ext cx="3841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11606212" y="2140743"/>
            <a:ext cx="9525" cy="5429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576262" y="4241006"/>
            <a:ext cx="3627983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4194720" y="2683668"/>
            <a:ext cx="9525" cy="15763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4204245" y="3198018"/>
            <a:ext cx="35697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7764512" y="2683668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7774037" y="3198018"/>
            <a:ext cx="3841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11606212" y="2683668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4204245" y="3721893"/>
            <a:ext cx="35697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7764512" y="3207543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7774037" y="3721893"/>
            <a:ext cx="3841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11606212" y="3207543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4204245" y="4241006"/>
            <a:ext cx="3569791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7764512" y="3731418"/>
            <a:ext cx="9525" cy="52863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7774037" y="4241006"/>
            <a:ext cx="3841700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11606212" y="3731418"/>
            <a:ext cx="9525" cy="52863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576262" y="5826918"/>
            <a:ext cx="36279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4194720" y="4260056"/>
            <a:ext cx="9525" cy="15763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4204245" y="4779168"/>
            <a:ext cx="35697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7764512" y="4260056"/>
            <a:ext cx="9525" cy="52863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7774037" y="4779168"/>
            <a:ext cx="3841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11606212" y="4260056"/>
            <a:ext cx="9525" cy="52863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4204245" y="5303043"/>
            <a:ext cx="35697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7764512" y="4788693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7774037" y="5303043"/>
            <a:ext cx="3841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11606212" y="4788693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4204245" y="5826918"/>
            <a:ext cx="35697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7764512" y="5312568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7774037" y="5826918"/>
            <a:ext cx="3841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11606212" y="5312568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/>
        </p:nvSpPr>
        <p:spPr>
          <a:xfrm>
            <a:off x="1595437" y="2043261"/>
            <a:ext cx="90011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Caso de Estudio: La Universidad</a:t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5524500" y="3064222"/>
            <a:ext cx="1143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1809750" y="3483322"/>
            <a:ext cx="8572500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 necesita un algoritmo para calcular e imprimir la nota definitiva de cada estudiante en una asignatura. Hay </a:t>
            </a:r>
            <a:r>
              <a:rPr lang="en-US" sz="19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5 grupos</a:t>
            </a:r>
            <a:r>
              <a:rPr lang="en-US" sz="19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un número </a:t>
            </a:r>
            <a:r>
              <a:rPr lang="en-US" sz="19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variable de estudiantes</a:t>
            </a:r>
            <a:r>
              <a:rPr lang="en-US" sz="19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por grupo, y </a:t>
            </a:r>
            <a:r>
              <a:rPr lang="en-US" sz="19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3 notas</a:t>
            </a:r>
            <a:r>
              <a:rPr lang="en-US" sz="19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por cada estudiante.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1810047"/>
            <a:ext cx="5133975" cy="4304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810047"/>
            <a:ext cx="5133975" cy="430470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771525" y="581025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Segunda Analogía: El Profesor en el Edificio</a:t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771525" y="1247775"/>
            <a:ext cx="1064895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953214" y="3162597"/>
            <a:ext cx="477059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D4ED8"/>
                </a:solidFill>
                <a:latin typeface="Merriweather"/>
                <a:ea typeface="Merriweather"/>
                <a:cs typeface="Merriweather"/>
                <a:sym typeface="Merriweather"/>
              </a:rPr>
              <a:t>Ciclo Externo (Los Grupos)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1066800" y="3905547"/>
            <a:ext cx="454342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Imagina a un profesor en un pasillo con 5 salones (grupos). El profesor camina y entra al Salón 1, luego al Salón 2, y así hasta el Salón 5. Este es el recorrido principal.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6468189" y="3162597"/>
            <a:ext cx="477059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D4ED8"/>
                </a:solidFill>
                <a:latin typeface="Merriweather"/>
                <a:ea typeface="Merriweather"/>
                <a:cs typeface="Merriweather"/>
                <a:sym typeface="Merriweather"/>
              </a:rPr>
              <a:t>Ciclo Interno (Los Estudiantes)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6581775" y="3905547"/>
            <a:ext cx="4543425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Una vez que el profesor entra a un salón, no puede salir inmediatamente. Debe ir puesto por puesto preguntando las 3 notas a </a:t>
            </a:r>
            <a:r>
              <a:rPr lang="en-US" sz="1650" b="0" i="1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cada estudiante de ese salón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 Al terminar con todos, sale y va al siguiente salón.</a:t>
            </a:r>
            <a:endParaRPr/>
          </a:p>
        </p:txBody>
      </p:sp>
      <p:pic>
        <p:nvPicPr>
          <p:cNvPr id="139" name="Google Shape;13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8475" y="2305347"/>
            <a:ext cx="6000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20112" y="2305347"/>
            <a:ext cx="666750" cy="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/>
        </p:nvSpPr>
        <p:spPr>
          <a:xfrm>
            <a:off x="771525" y="581025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Análisis y Reglas de Negocio</a:t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771525" y="1247775"/>
            <a:ext cx="1064895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1247775" y="2206228"/>
            <a:ext cx="101727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Límite del ciclo externo: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Está fijo en 5, porque existen exactamente 5 grupos.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1247775" y="2810023"/>
            <a:ext cx="101727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Límite del ciclo interno: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Es dinámico. Se debe preguntar cuántos estudiantes hay cada vez que entramos a un nuevo grupo.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1247775" y="3779490"/>
            <a:ext cx="101727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Captura de datos: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Por cada estudiante (dentro del ciclo interno), se deben leer exactamente 3 notas (números reales).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1247775" y="4748956"/>
            <a:ext cx="101727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Cálculo y Salida: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Inmediatamente después de pedir las 3 notas, se calcula el promedio y se imprime en pantalla antes de pasar al siguiente estudiante.</a:t>
            </a:r>
            <a:endParaRPr/>
          </a:p>
        </p:txBody>
      </p:sp>
      <p:pic>
        <p:nvPicPr>
          <p:cNvPr id="151" name="Google Shape;15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2239565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2843361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3812827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4782294"/>
            <a:ext cx="23812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/>
      <p:bldP spid="148" grpId="0"/>
      <p:bldP spid="149" grpId="0"/>
      <p:bldP spid="1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921692"/>
            <a:ext cx="10648950" cy="589091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 txBox="1"/>
          <p:nvPr/>
        </p:nvSpPr>
        <p:spPr>
          <a:xfrm>
            <a:off x="771525" y="45392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El Algoritmo Resultante</a:t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771525" y="712142"/>
            <a:ext cx="1064895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483643"/>
            <a:ext cx="5334000" cy="1581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571500" y="378618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¿Por qué son importantes? (Casos de Uso)</a:t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571500" y="1073943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571500" y="1340643"/>
            <a:ext cx="5334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Sin bucles anidados, estaríamos limitados a procesar datos en una sola dimensión. Son el motor fundamental de algoritmos complejos.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866775" y="2731293"/>
            <a:ext cx="503062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Rendimiento (Complejidad)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866775" y="3131343"/>
            <a:ext cx="47910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 el bucle externo corre N veces y el interno M veces, el código interior se ejecuta </a:t>
            </a:r>
            <a:r>
              <a:rPr lang="en-US" sz="12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 * M veces</a:t>
            </a: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En grandes volúmenes de datos, esto puede volver un programa lento. Úsalos con sabiduría.</a:t>
            </a:r>
            <a:endParaRPr/>
          </a:p>
        </p:txBody>
      </p:sp>
      <p:pic>
        <p:nvPicPr>
          <p:cNvPr id="225" name="Google Shape;22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775" y="2778918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/>
          <p:nvPr/>
        </p:nvSpPr>
        <p:spPr>
          <a:xfrm>
            <a:off x="6286500" y="1340643"/>
            <a:ext cx="5334000" cy="1547812"/>
          </a:xfrm>
          <a:prstGeom prst="roundRect">
            <a:avLst>
              <a:gd name="adj" fmla="val 492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6858000" y="1531143"/>
            <a:ext cx="4572000" cy="1166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Combinatoria y Fuerza Bruta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Generar todas las combinaciones posibles de múltiples conjuntos de datos (ej. claves, dados, opciones).</a:t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6286500" y="3078956"/>
            <a:ext cx="5334000" cy="1547812"/>
          </a:xfrm>
          <a:prstGeom prst="roundRect">
            <a:avLst>
              <a:gd name="adj" fmla="val 492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6858000" y="3269456"/>
            <a:ext cx="4572000" cy="1166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Procesamiento de Matrices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Cualquier cuadrícula de datos (imágenes, tableros) requiere un doble bucle para recorrer coordenadas (f, c).</a:t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6286500" y="4817268"/>
            <a:ext cx="5334000" cy="1547812"/>
          </a:xfrm>
          <a:prstGeom prst="roundRect">
            <a:avLst>
              <a:gd name="adj" fmla="val 492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6858000" y="5007768"/>
            <a:ext cx="4572000" cy="1166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Patrones Visuales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Imprimir triángulos, cuadrados o formas geométricas mediante caracteres en la consola.</a:t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6286500" y="2878931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6286500" y="4617243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6286500" y="6355556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6038" y="1630361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42088" y="3378993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42088" y="5099049"/>
            <a:ext cx="1809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" grpId="0"/>
      <p:bldP spid="223" grpId="0"/>
      <p:bldP spid="224" grpId="0"/>
      <p:bldP spid="226" grpId="0" animBg="1"/>
      <p:bldP spid="227" grpId="0"/>
      <p:bldP spid="228" grpId="0" animBg="1"/>
      <p:bldP spid="229" grpId="0"/>
      <p:bldP spid="230" grpId="0" animBg="1"/>
      <p:bldP spid="231" grpId="0"/>
      <p:bldP spid="232" grpId="0" animBg="1"/>
      <p:bldP spid="233" grpId="0" animBg="1"/>
      <p:bldP spid="23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76437"/>
            <a:ext cx="5334000" cy="456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76437"/>
            <a:ext cx="5334000" cy="456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3500437"/>
            <a:ext cx="4648200" cy="938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3509962"/>
            <a:ext cx="4648200" cy="11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571500" y="319087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Variaciones del Bucle Anidado</a:t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571500" y="1014412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571500" y="142398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 relación entre el bucle externo y el interno define el comportamiento del patrón.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798195" y="2357437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Bucles Independientes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914400" y="2805112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límite del bucle interno es fijo o no tiene relación con el bucle externo. Siempre hace la misma cantidad de iteraciones.</a:t>
            </a:r>
            <a:endParaRPr/>
          </a:p>
        </p:txBody>
      </p:sp>
      <p:pic>
        <p:nvPicPr>
          <p:cNvPr id="251" name="Google Shape;25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4581525"/>
            <a:ext cx="4648200" cy="12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 txBox="1"/>
          <p:nvPr/>
        </p:nvSpPr>
        <p:spPr>
          <a:xfrm>
            <a:off x="6513195" y="2357437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Bucles Dependientes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6629400" y="2805112"/>
            <a:ext cx="464820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límite del bucle interno </a:t>
            </a:r>
            <a:r>
              <a:rPr lang="en-US" sz="12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depende de la variable i</a:t>
            </a: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del bucle externo. Sus iteraciones cambian en cada paso.</a:t>
            </a:r>
            <a:endParaRPr/>
          </a:p>
        </p:txBody>
      </p:sp>
      <p:pic>
        <p:nvPicPr>
          <p:cNvPr id="254" name="Google Shape;254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9400" y="4776787"/>
            <a:ext cx="4648200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" grpId="0"/>
      <p:bldP spid="250" grpId="0"/>
      <p:bldP spid="252" grpId="0"/>
      <p:bldP spid="25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6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Prueba de Escritorio: El Triángulo</a:t>
            </a:r>
            <a:endParaRPr/>
          </a:p>
        </p:txBody>
      </p:sp>
      <p:sp>
        <p:nvSpPr>
          <p:cNvPr id="317" name="Google Shape;317;p26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 txBox="1"/>
          <p:nvPr/>
        </p:nvSpPr>
        <p:spPr>
          <a:xfrm>
            <a:off x="571500" y="1581150"/>
            <a:ext cx="110490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Veamos en cámara lenta cómo la condición j &lt;= i transforma el patrón.</a:t>
            </a:r>
            <a:endParaRPr/>
          </a:p>
        </p:txBody>
      </p:sp>
      <p:sp>
        <p:nvSpPr>
          <p:cNvPr id="319" name="Google Shape;319;p26"/>
          <p:cNvSpPr txBox="1"/>
          <p:nvPr/>
        </p:nvSpPr>
        <p:spPr>
          <a:xfrm>
            <a:off x="571500" y="5495925"/>
            <a:ext cx="11049000" cy="28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Nota como el salto de línea imprimaln("") se ejecuta 4 veces en total (una vez por cada ciclo externo).</a:t>
            </a:r>
            <a:endParaRPr/>
          </a:p>
        </p:txBody>
      </p:sp>
      <p:sp>
        <p:nvSpPr>
          <p:cNvPr id="320" name="Google Shape;320;p26"/>
          <p:cNvSpPr/>
          <p:nvPr/>
        </p:nvSpPr>
        <p:spPr>
          <a:xfrm>
            <a:off x="571500" y="2152650"/>
            <a:ext cx="11049000" cy="31051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1" name="Google Shape;321;p26"/>
          <p:cNvGraphicFramePr/>
          <p:nvPr/>
        </p:nvGraphicFramePr>
        <p:xfrm>
          <a:off x="571500" y="2152650"/>
          <a:ext cx="11039475" cy="3105125"/>
        </p:xfrm>
        <a:graphic>
          <a:graphicData uri="http://schemas.openxmlformats.org/drawingml/2006/table">
            <a:tbl>
              <a:tblPr firstRow="1" bandRow="1">
                <a:noFill/>
                <a:tableStyleId>{FFC8A4D5-C982-40C6-A5DC-845BEBC6CBD0}</a:tableStyleId>
              </a:tblPr>
              <a:tblGrid>
                <a:gridCol w="220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5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>
                          <a:solidFill>
                            <a:srgbClr val="0369A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Bucle Externo (i)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>
                          <a:solidFill>
                            <a:srgbClr val="BE185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Límite Bucle Interno (j &lt;= 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Salida Impresa (Consola)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 =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 va de 1 hasta 1 (1 iteración)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 = 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 va de 1 hasta 2 (2 iteraciones)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 *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 = 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 va de 1 hasta 3 (3 iteraciones)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 * *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 = 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 va de 1 hasta 4 (4 iteraciones)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 * * *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2" name="Google Shape;322;p26"/>
          <p:cNvSpPr/>
          <p:nvPr/>
        </p:nvSpPr>
        <p:spPr>
          <a:xfrm>
            <a:off x="576262" y="2690812"/>
            <a:ext cx="22078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2774602" y="2157412"/>
            <a:ext cx="9525" cy="5429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6"/>
          <p:cNvSpPr/>
          <p:nvPr/>
        </p:nvSpPr>
        <p:spPr>
          <a:xfrm>
            <a:off x="2784127" y="2690812"/>
            <a:ext cx="44157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6"/>
          <p:cNvSpPr/>
          <p:nvPr/>
        </p:nvSpPr>
        <p:spPr>
          <a:xfrm>
            <a:off x="7190333" y="2157412"/>
            <a:ext cx="9525" cy="5429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6"/>
          <p:cNvSpPr/>
          <p:nvPr/>
        </p:nvSpPr>
        <p:spPr>
          <a:xfrm>
            <a:off x="7199858" y="2690812"/>
            <a:ext cx="44158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6"/>
          <p:cNvSpPr/>
          <p:nvPr/>
        </p:nvSpPr>
        <p:spPr>
          <a:xfrm>
            <a:off x="11606212" y="2157412"/>
            <a:ext cx="9525" cy="5429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6"/>
          <p:cNvSpPr/>
          <p:nvPr/>
        </p:nvSpPr>
        <p:spPr>
          <a:xfrm>
            <a:off x="576262" y="3328987"/>
            <a:ext cx="22078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6"/>
          <p:cNvSpPr/>
          <p:nvPr/>
        </p:nvSpPr>
        <p:spPr>
          <a:xfrm>
            <a:off x="2774602" y="2700337"/>
            <a:ext cx="9525" cy="6381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6"/>
          <p:cNvSpPr/>
          <p:nvPr/>
        </p:nvSpPr>
        <p:spPr>
          <a:xfrm>
            <a:off x="2784127" y="3328987"/>
            <a:ext cx="44157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6"/>
          <p:cNvSpPr/>
          <p:nvPr/>
        </p:nvSpPr>
        <p:spPr>
          <a:xfrm>
            <a:off x="7190333" y="2700337"/>
            <a:ext cx="9525" cy="6381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6"/>
          <p:cNvSpPr/>
          <p:nvPr/>
        </p:nvSpPr>
        <p:spPr>
          <a:xfrm>
            <a:off x="7199858" y="3328987"/>
            <a:ext cx="44158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6"/>
          <p:cNvSpPr/>
          <p:nvPr/>
        </p:nvSpPr>
        <p:spPr>
          <a:xfrm>
            <a:off x="11606212" y="2700337"/>
            <a:ext cx="9525" cy="6381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576262" y="3967162"/>
            <a:ext cx="22078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6"/>
          <p:cNvSpPr/>
          <p:nvPr/>
        </p:nvSpPr>
        <p:spPr>
          <a:xfrm>
            <a:off x="2774602" y="3338512"/>
            <a:ext cx="9525" cy="6381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6"/>
          <p:cNvSpPr/>
          <p:nvPr/>
        </p:nvSpPr>
        <p:spPr>
          <a:xfrm>
            <a:off x="2784127" y="3967162"/>
            <a:ext cx="44157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6"/>
          <p:cNvSpPr/>
          <p:nvPr/>
        </p:nvSpPr>
        <p:spPr>
          <a:xfrm>
            <a:off x="7190333" y="3338512"/>
            <a:ext cx="9525" cy="6381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6"/>
          <p:cNvSpPr/>
          <p:nvPr/>
        </p:nvSpPr>
        <p:spPr>
          <a:xfrm>
            <a:off x="7199858" y="3967162"/>
            <a:ext cx="44158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6"/>
          <p:cNvSpPr/>
          <p:nvPr/>
        </p:nvSpPr>
        <p:spPr>
          <a:xfrm>
            <a:off x="11606212" y="3338512"/>
            <a:ext cx="9525" cy="6381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6"/>
          <p:cNvSpPr/>
          <p:nvPr/>
        </p:nvSpPr>
        <p:spPr>
          <a:xfrm>
            <a:off x="576262" y="4605337"/>
            <a:ext cx="22078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6"/>
          <p:cNvSpPr/>
          <p:nvPr/>
        </p:nvSpPr>
        <p:spPr>
          <a:xfrm>
            <a:off x="2774602" y="3976687"/>
            <a:ext cx="9525" cy="6381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6"/>
          <p:cNvSpPr/>
          <p:nvPr/>
        </p:nvSpPr>
        <p:spPr>
          <a:xfrm>
            <a:off x="2784127" y="4605337"/>
            <a:ext cx="44157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6"/>
          <p:cNvSpPr/>
          <p:nvPr/>
        </p:nvSpPr>
        <p:spPr>
          <a:xfrm>
            <a:off x="7190333" y="3976687"/>
            <a:ext cx="9525" cy="6381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7199858" y="4605337"/>
            <a:ext cx="44158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11606212" y="3976687"/>
            <a:ext cx="9525" cy="6381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6"/>
          <p:cNvSpPr/>
          <p:nvPr/>
        </p:nvSpPr>
        <p:spPr>
          <a:xfrm>
            <a:off x="576262" y="5243512"/>
            <a:ext cx="22078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6"/>
          <p:cNvSpPr/>
          <p:nvPr/>
        </p:nvSpPr>
        <p:spPr>
          <a:xfrm>
            <a:off x="2774602" y="4614862"/>
            <a:ext cx="9525" cy="6381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6"/>
          <p:cNvSpPr/>
          <p:nvPr/>
        </p:nvSpPr>
        <p:spPr>
          <a:xfrm>
            <a:off x="2784127" y="5243512"/>
            <a:ext cx="44157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7190333" y="4614862"/>
            <a:ext cx="9525" cy="6381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6"/>
          <p:cNvSpPr/>
          <p:nvPr/>
        </p:nvSpPr>
        <p:spPr>
          <a:xfrm>
            <a:off x="7199858" y="5243512"/>
            <a:ext cx="44158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6"/>
          <p:cNvSpPr/>
          <p:nvPr/>
        </p:nvSpPr>
        <p:spPr>
          <a:xfrm>
            <a:off x="11606212" y="4614862"/>
            <a:ext cx="9525" cy="6381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228850"/>
            <a:ext cx="5334000" cy="38766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Caso de Estudio 1: Las Tablas de Multiplicar</a:t>
            </a:r>
            <a:endParaRPr/>
          </a:p>
        </p:txBody>
      </p:sp>
      <p:sp>
        <p:nvSpPr>
          <p:cNvPr id="261" name="Google Shape;261;p22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571500" y="158115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Requisito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Imprimir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las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tablas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multiplicar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desde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tabla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del 1 hasta la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tabla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del 10.</a:t>
            </a:r>
            <a:endParaRPr dirty="0"/>
          </a:p>
        </p:txBody>
      </p:sp>
      <p:sp>
        <p:nvSpPr>
          <p:cNvPr id="263" name="Google Shape;263;p22"/>
          <p:cNvSpPr txBox="1"/>
          <p:nvPr/>
        </p:nvSpPr>
        <p:spPr>
          <a:xfrm>
            <a:off x="571500" y="2133600"/>
            <a:ext cx="56007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Análisis</a:t>
            </a:r>
            <a:r>
              <a:rPr lang="en-US" sz="1800" b="1" i="0" u="none" strike="noStrike" cap="none" dirty="0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del </a:t>
            </a:r>
            <a:r>
              <a:rPr lang="en-US" sz="1800" b="1" i="0" u="none" strike="noStrike" cap="none" dirty="0" err="1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Problema</a:t>
            </a:r>
            <a:endParaRPr dirty="0"/>
          </a:p>
        </p:txBody>
      </p:sp>
      <p:sp>
        <p:nvSpPr>
          <p:cNvPr id="264" name="Google Shape;264;p22"/>
          <p:cNvSpPr txBox="1"/>
          <p:nvPr/>
        </p:nvSpPr>
        <p:spPr>
          <a:xfrm>
            <a:off x="571500" y="2581275"/>
            <a:ext cx="53340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 intentamos hacer esto con un solo bucle, tendríamos que escribir 10 bucles separados (uno para la tabla del 1, otro para la del 2...).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571500" y="3538537"/>
            <a:ext cx="5334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Usando un doble bucle: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1190625" y="3962400"/>
            <a:ext cx="4714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Bucle Externo (i):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Define </a:t>
            </a:r>
            <a:r>
              <a:rPr lang="en-US" sz="1425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qué tabla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estamos calculando (1 al 10).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1190625" y="4619625"/>
            <a:ext cx="4714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Bucle Interno (j):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Define el </a:t>
            </a:r>
            <a:r>
              <a:rPr lang="en-US" sz="1425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multiplicador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actual (1 al 10).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952500" y="388620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" grpId="0"/>
      <p:bldP spid="263" grpId="0"/>
      <p:bldP spid="264" grpId="0"/>
      <p:bldP spid="265" grpId="0"/>
      <p:bldP spid="266" grpId="0"/>
      <p:bldP spid="267" grpId="0"/>
      <p:bldP spid="26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586412"/>
            <a:ext cx="11049000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47925"/>
            <a:ext cx="5381625" cy="2852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447925"/>
            <a:ext cx="5381625" cy="2852737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7"/>
          <p:cNvSpPr txBox="1"/>
          <p:nvPr/>
        </p:nvSpPr>
        <p:spPr>
          <a:xfrm>
            <a:off x="571500" y="47625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Combinatoria</a:t>
            </a:r>
            <a:endParaRPr dirty="0"/>
          </a:p>
        </p:txBody>
      </p:sp>
      <p:sp>
        <p:nvSpPr>
          <p:cNvPr id="360" name="Google Shape;360;p27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7"/>
          <p:cNvSpPr txBox="1"/>
          <p:nvPr/>
        </p:nvSpPr>
        <p:spPr>
          <a:xfrm>
            <a:off x="571500" y="1581150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Además de dibujar figuras, los bucles anidados sirven para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combinar conjuntos de datos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sistemáticamente (Fuerza Bruta).</a:t>
            </a:r>
            <a:endParaRPr/>
          </a:p>
        </p:txBody>
      </p:sp>
      <p:sp>
        <p:nvSpPr>
          <p:cNvPr id="362" name="Google Shape;362;p27"/>
          <p:cNvSpPr txBox="1"/>
          <p:nvPr/>
        </p:nvSpPr>
        <p:spPr>
          <a:xfrm>
            <a:off x="866775" y="5834062"/>
            <a:ext cx="105060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Regla Multiplicativa: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Si el bucle A tiene </a:t>
            </a:r>
            <a:r>
              <a:rPr lang="en-US" sz="135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pasos y el bucle B tiene </a:t>
            </a:r>
            <a:r>
              <a:rPr lang="en-US" sz="135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pasos, generarán exactamente </a:t>
            </a:r>
            <a:r>
              <a:rPr lang="en-US" sz="135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N * M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combinaciones únicas.</a:t>
            </a:r>
            <a:endParaRPr/>
          </a:p>
        </p:txBody>
      </p:sp>
      <p:pic>
        <p:nvPicPr>
          <p:cNvPr id="363" name="Google Shape;363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2790825"/>
            <a:ext cx="48863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7"/>
          <p:cNvSpPr txBox="1"/>
          <p:nvPr/>
        </p:nvSpPr>
        <p:spPr>
          <a:xfrm>
            <a:off x="696991" y="3552825"/>
            <a:ext cx="513064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Candado Numérico</a:t>
            </a:r>
            <a:endParaRPr/>
          </a:p>
        </p:txBody>
      </p:sp>
      <p:sp>
        <p:nvSpPr>
          <p:cNvPr id="365" name="Google Shape;365;p27"/>
          <p:cNvSpPr txBox="1"/>
          <p:nvPr/>
        </p:nvSpPr>
        <p:spPr>
          <a:xfrm>
            <a:off x="819150" y="4000500"/>
            <a:ext cx="488632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 candado de 3 ruedas tiene dígitos del 0 al 9. Para probar todas las combinaciones (000 a 999), usaríamos 3 bucles anidados: Rueda 1, Rueda 2 y Rueda 3.</a:t>
            </a:r>
            <a:endParaRPr/>
          </a:p>
        </p:txBody>
      </p:sp>
      <p:pic>
        <p:nvPicPr>
          <p:cNvPr id="366" name="Google Shape;366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86525" y="2790825"/>
            <a:ext cx="48863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7"/>
          <p:cNvSpPr txBox="1"/>
          <p:nvPr/>
        </p:nvSpPr>
        <p:spPr>
          <a:xfrm>
            <a:off x="6364366" y="3552825"/>
            <a:ext cx="513064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Combinar Ropa</a:t>
            </a:r>
            <a:endParaRPr/>
          </a:p>
        </p:txBody>
      </p:sp>
      <p:sp>
        <p:nvSpPr>
          <p:cNvPr id="368" name="Google Shape;368;p27"/>
          <p:cNvSpPr txBox="1"/>
          <p:nvPr/>
        </p:nvSpPr>
        <p:spPr>
          <a:xfrm>
            <a:off x="6486525" y="4000500"/>
            <a:ext cx="488632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 tienes 3 camisas y 2 pantalones, el bucle externo escoge la camisa, y el interno prueba esa camisa con los 2 pantalones antes de cambiar de camisa.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133600"/>
            <a:ext cx="5334000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8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Caso de Estudio 4: Lanzamiento de Dos Dados</a:t>
            </a:r>
            <a:endParaRPr/>
          </a:p>
        </p:txBody>
      </p:sp>
      <p:sp>
        <p:nvSpPr>
          <p:cNvPr id="375" name="Google Shape;375;p28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8"/>
          <p:cNvSpPr txBox="1"/>
          <p:nvPr/>
        </p:nvSpPr>
        <p:spPr>
          <a:xfrm>
            <a:off x="571500" y="158115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Simular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lanzamiento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dos dados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tradicionales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(6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caras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 y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mostrar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todas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las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posibles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combinaciones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resultantes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377" name="Google Shape;377;p28"/>
          <p:cNvSpPr txBox="1"/>
          <p:nvPr/>
        </p:nvSpPr>
        <p:spPr>
          <a:xfrm>
            <a:off x="571500" y="2133600"/>
            <a:ext cx="5600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Estructura</a:t>
            </a:r>
            <a:r>
              <a:rPr lang="en-US" sz="1500" b="1" i="0" u="none" strike="noStrike" cap="none" dirty="0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1500" b="1" i="0" u="none" strike="noStrike" cap="none" dirty="0" err="1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Lógica</a:t>
            </a:r>
            <a:r>
              <a:rPr lang="en-US" sz="1500" b="1" i="0" u="none" strike="noStrike" cap="none" dirty="0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</a:t>
            </a:r>
            <a:endParaRPr dirty="0"/>
          </a:p>
        </p:txBody>
      </p:sp>
      <p:sp>
        <p:nvSpPr>
          <p:cNvPr id="378" name="Google Shape;378;p28"/>
          <p:cNvSpPr txBox="1"/>
          <p:nvPr/>
        </p:nvSpPr>
        <p:spPr>
          <a:xfrm>
            <a:off x="571500" y="3952875"/>
            <a:ext cx="5334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código generará un total de </a:t>
            </a:r>
            <a:r>
              <a:rPr lang="en-US" sz="14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36 combinaciones</a:t>
            </a: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(6 x 6), empezando desde (1, 1) hasta terminar en (6, 6).</a:t>
            </a:r>
            <a:endParaRPr/>
          </a:p>
        </p:txBody>
      </p:sp>
      <p:sp>
        <p:nvSpPr>
          <p:cNvPr id="379" name="Google Shape;379;p28"/>
          <p:cNvSpPr txBox="1"/>
          <p:nvPr/>
        </p:nvSpPr>
        <p:spPr>
          <a:xfrm>
            <a:off x="1190625" y="2562225"/>
            <a:ext cx="4714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Dado 1 (Bucle Externo):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Iterará desde el número 1 hasta el 6.</a:t>
            </a:r>
            <a:endParaRPr/>
          </a:p>
        </p:txBody>
      </p:sp>
      <p:sp>
        <p:nvSpPr>
          <p:cNvPr id="380" name="Google Shape;380;p28"/>
          <p:cNvSpPr txBox="1"/>
          <p:nvPr/>
        </p:nvSpPr>
        <p:spPr>
          <a:xfrm>
            <a:off x="1190625" y="3219450"/>
            <a:ext cx="4714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Dado 2 (Bucle Interno):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Iterará desde el número 1 hasta el 6.</a:t>
            </a:r>
            <a:endParaRPr/>
          </a:p>
        </p:txBody>
      </p:sp>
      <p:sp>
        <p:nvSpPr>
          <p:cNvPr id="381" name="Google Shape;381;p28"/>
          <p:cNvSpPr txBox="1"/>
          <p:nvPr/>
        </p:nvSpPr>
        <p:spPr>
          <a:xfrm>
            <a:off x="952500" y="2486025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82" name="Google Shape;382;p28"/>
          <p:cNvSpPr txBox="1"/>
          <p:nvPr/>
        </p:nvSpPr>
        <p:spPr>
          <a:xfrm>
            <a:off x="952500" y="314325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" grpId="0"/>
      <p:bldP spid="377" grpId="0"/>
      <p:bldP spid="378" grpId="0"/>
      <p:bldP spid="379" grpId="0"/>
      <p:bldP spid="380" grpId="0"/>
      <p:bldP spid="38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110162"/>
            <a:ext cx="11049000" cy="576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33600"/>
            <a:ext cx="5334000" cy="2738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133600"/>
            <a:ext cx="5334000" cy="2738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86525" y="2333625"/>
            <a:ext cx="4933950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9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Caso de Estudio 5: Condicionales Internos (Filtros)</a:t>
            </a:r>
            <a:endParaRPr/>
          </a:p>
        </p:txBody>
      </p:sp>
      <p:sp>
        <p:nvSpPr>
          <p:cNvPr id="392" name="Google Shape;392;p29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9"/>
          <p:cNvSpPr txBox="1"/>
          <p:nvPr/>
        </p:nvSpPr>
        <p:spPr>
          <a:xfrm>
            <a:off x="571500" y="158115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¿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Qué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pasa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solo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queremos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ver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las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combinaciones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dados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sumen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exactamente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7?</a:t>
            </a:r>
            <a:endParaRPr dirty="0"/>
          </a:p>
        </p:txBody>
      </p:sp>
      <p:sp>
        <p:nvSpPr>
          <p:cNvPr id="394" name="Google Shape;394;p29"/>
          <p:cNvSpPr txBox="1"/>
          <p:nvPr/>
        </p:nvSpPr>
        <p:spPr>
          <a:xfrm>
            <a:off x="866775" y="5262562"/>
            <a:ext cx="105060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Salida esperada: [1,6], [2,5], [3,4], [4,3], [5,2], [6,1]. El bucle evaluó 36 veces, pero solo imprimió 6.</a:t>
            </a:r>
            <a:endParaRPr/>
          </a:p>
        </p:txBody>
      </p:sp>
      <p:sp>
        <p:nvSpPr>
          <p:cNvPr id="395" name="Google Shape;395;p29"/>
          <p:cNvSpPr txBox="1"/>
          <p:nvPr/>
        </p:nvSpPr>
        <p:spPr>
          <a:xfrm>
            <a:off x="914400" y="2476500"/>
            <a:ext cx="488061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 Estrategia del Filtrado</a:t>
            </a:r>
            <a:endParaRPr/>
          </a:p>
        </p:txBody>
      </p:sp>
      <p:sp>
        <p:nvSpPr>
          <p:cNvPr id="396" name="Google Shape;396;p29"/>
          <p:cNvSpPr txBox="1"/>
          <p:nvPr/>
        </p:nvSpPr>
        <p:spPr>
          <a:xfrm>
            <a:off x="914400" y="2876550"/>
            <a:ext cx="46482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Mantenemos exactamente la misma estructura anidada generadora (para revisar las 36 combinaciones).</a:t>
            </a:r>
            <a:endParaRPr/>
          </a:p>
        </p:txBody>
      </p:sp>
      <p:sp>
        <p:nvSpPr>
          <p:cNvPr id="397" name="Google Shape;397;p29"/>
          <p:cNvSpPr txBox="1"/>
          <p:nvPr/>
        </p:nvSpPr>
        <p:spPr>
          <a:xfrm>
            <a:off x="914400" y="3562350"/>
            <a:ext cx="46482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Pero, en lugar de imprimir siempre, añadimos una instrucción SI (condición) en lo más profundo del bucle interno para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filtrar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qué datos salen a la pantalla.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" grpId="0"/>
      <p:bldP spid="394" grpId="0"/>
      <p:bldP spid="395" grpId="0"/>
      <p:bldP spid="396" grpId="0"/>
      <p:bldP spid="39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33600"/>
            <a:ext cx="3492549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133600"/>
            <a:ext cx="3492549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133600"/>
            <a:ext cx="3492549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0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Peligros Frecuentes: Errores de Anidación</a:t>
            </a:r>
            <a:endParaRPr/>
          </a:p>
        </p:txBody>
      </p:sp>
      <p:sp>
        <p:nvSpPr>
          <p:cNvPr id="406" name="Google Shape;406;p30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0"/>
          <p:cNvSpPr txBox="1"/>
          <p:nvPr/>
        </p:nvSpPr>
        <p:spPr>
          <a:xfrm>
            <a:off x="571500" y="158115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Los bucles dobles son potentes, pero propensos a errores lógicos difíciles de detectar si no se prueban.</a:t>
            </a:r>
            <a:endParaRPr/>
          </a:p>
        </p:txBody>
      </p:sp>
      <p:sp>
        <p:nvSpPr>
          <p:cNvPr id="408" name="Google Shape;408;p30"/>
          <p:cNvSpPr txBox="1"/>
          <p:nvPr/>
        </p:nvSpPr>
        <p:spPr>
          <a:xfrm>
            <a:off x="857250" y="2476500"/>
            <a:ext cx="3107107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91C1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Reusar la misma variable</a:t>
            </a:r>
            <a:endParaRPr/>
          </a:p>
        </p:txBody>
      </p:sp>
      <p:sp>
        <p:nvSpPr>
          <p:cNvPr id="409" name="Google Shape;409;p30"/>
          <p:cNvSpPr txBox="1"/>
          <p:nvPr/>
        </p:nvSpPr>
        <p:spPr>
          <a:xfrm>
            <a:off x="857250" y="3257550"/>
            <a:ext cx="2959149" cy="1366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Usar la letra i tanto para el bucle externo como para el interno. Esto corrompe el contador y causa bucles infinitos o terminaciones prematuras de la ejecución.</a:t>
            </a:r>
            <a:endParaRPr/>
          </a:p>
        </p:txBody>
      </p:sp>
      <p:pic>
        <p:nvPicPr>
          <p:cNvPr id="410" name="Google Shape;410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8199" y="5093494"/>
            <a:ext cx="2959149" cy="366712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0"/>
          <p:cNvSpPr txBox="1"/>
          <p:nvPr/>
        </p:nvSpPr>
        <p:spPr>
          <a:xfrm>
            <a:off x="4635549" y="2476500"/>
            <a:ext cx="3107107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4530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Mala anidación (Llaves)</a:t>
            </a:r>
            <a:endParaRPr/>
          </a:p>
        </p:txBody>
      </p:sp>
      <p:sp>
        <p:nvSpPr>
          <p:cNvPr id="412" name="Google Shape;412;p30"/>
          <p:cNvSpPr txBox="1"/>
          <p:nvPr/>
        </p:nvSpPr>
        <p:spPr>
          <a:xfrm>
            <a:off x="4635549" y="3257550"/>
            <a:ext cx="2959149" cy="1366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Olvidar cerrar (finpara) el bucle interno antes de cerrar el externo, o colocar instrucciones (como saltos de línea) en el nivel jerárquico equivocado.</a:t>
            </a:r>
            <a:endParaRPr/>
          </a:p>
        </p:txBody>
      </p:sp>
      <p:sp>
        <p:nvSpPr>
          <p:cNvPr id="413" name="Google Shape;413;p30"/>
          <p:cNvSpPr txBox="1"/>
          <p:nvPr/>
        </p:nvSpPr>
        <p:spPr>
          <a:xfrm>
            <a:off x="8413849" y="2476500"/>
            <a:ext cx="3107107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Condicionales Ineficientes</a:t>
            </a:r>
            <a:endParaRPr/>
          </a:p>
        </p:txBody>
      </p:sp>
      <p:sp>
        <p:nvSpPr>
          <p:cNvPr id="414" name="Google Shape;414;p30"/>
          <p:cNvSpPr txBox="1"/>
          <p:nvPr/>
        </p:nvSpPr>
        <p:spPr>
          <a:xfrm>
            <a:off x="8413849" y="3257550"/>
            <a:ext cx="2959149" cy="1366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Colocar un SI dentro del bucle interno que solo depende del externo. Evaluará lo mismo decenas de veces sin necesidad en lugar de hacerlo afuera.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" grpId="0"/>
      <p:bldP spid="409" grpId="0"/>
      <p:bldP spid="411" grpId="0"/>
      <p:bldP spid="412" grpId="0"/>
      <p:bldP spid="413" grpId="0"/>
      <p:bldP spid="4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1"/>
          <p:cNvSpPr txBox="1"/>
          <p:nvPr/>
        </p:nvSpPr>
        <p:spPr>
          <a:xfrm>
            <a:off x="2890599" y="633412"/>
            <a:ext cx="641080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Checklist</a:t>
            </a:r>
            <a:endParaRPr dirty="0"/>
          </a:p>
        </p:txBody>
      </p:sp>
      <p:sp>
        <p:nvSpPr>
          <p:cNvPr id="424" name="Google Shape;424;p31"/>
          <p:cNvSpPr/>
          <p:nvPr/>
        </p:nvSpPr>
        <p:spPr>
          <a:xfrm>
            <a:off x="5557599" y="1538287"/>
            <a:ext cx="1143000" cy="57150"/>
          </a:xfrm>
          <a:prstGeom prst="rect">
            <a:avLst/>
          </a:prstGeom>
          <a:solidFill>
            <a:srgbClr val="003B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1"/>
          <p:cNvSpPr/>
          <p:nvPr/>
        </p:nvSpPr>
        <p:spPr>
          <a:xfrm>
            <a:off x="2319099" y="1881187"/>
            <a:ext cx="7620000" cy="1276350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1"/>
          <p:cNvSpPr txBox="1"/>
          <p:nvPr/>
        </p:nvSpPr>
        <p:spPr>
          <a:xfrm>
            <a:off x="2890599" y="2071687"/>
            <a:ext cx="6858000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Variables Únicas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¿El bucle externo e interno tienen contadores diferentes (ej. `i` y `j`)?</a:t>
            </a:r>
            <a:endParaRPr/>
          </a:p>
        </p:txBody>
      </p:sp>
      <p:sp>
        <p:nvSpPr>
          <p:cNvPr id="427" name="Google Shape;427;p31"/>
          <p:cNvSpPr/>
          <p:nvPr/>
        </p:nvSpPr>
        <p:spPr>
          <a:xfrm>
            <a:off x="2319099" y="3348037"/>
            <a:ext cx="7620000" cy="1547812"/>
          </a:xfrm>
          <a:prstGeom prst="roundRect">
            <a:avLst>
              <a:gd name="adj" fmla="val 492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1"/>
          <p:cNvSpPr txBox="1"/>
          <p:nvPr/>
        </p:nvSpPr>
        <p:spPr>
          <a:xfrm>
            <a:off x="2890599" y="3538537"/>
            <a:ext cx="6858000" cy="1166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Límites Correctos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¿El límite del bucle interno es estático (cuadrado) o dinámico/dependiente (triángulo)?</a:t>
            </a:r>
            <a:endParaRPr/>
          </a:p>
        </p:txBody>
      </p:sp>
      <p:sp>
        <p:nvSpPr>
          <p:cNvPr id="429" name="Google Shape;429;p31"/>
          <p:cNvSpPr/>
          <p:nvPr/>
        </p:nvSpPr>
        <p:spPr>
          <a:xfrm>
            <a:off x="2319099" y="5086350"/>
            <a:ext cx="7620000" cy="1547812"/>
          </a:xfrm>
          <a:prstGeom prst="roundRect">
            <a:avLst>
              <a:gd name="adj" fmla="val 492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1"/>
          <p:cNvSpPr txBox="1"/>
          <p:nvPr/>
        </p:nvSpPr>
        <p:spPr>
          <a:xfrm>
            <a:off x="2890599" y="5276850"/>
            <a:ext cx="68580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Ubicación de Salidas y Cálculos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¿Estoy imprimiendo / saltando línea / reiniciando contadores en el nivel jerárquico que corresponde?</a:t>
            </a:r>
            <a:endParaRPr/>
          </a:p>
        </p:txBody>
      </p:sp>
      <p:sp>
        <p:nvSpPr>
          <p:cNvPr id="431" name="Google Shape;431;p31"/>
          <p:cNvSpPr/>
          <p:nvPr/>
        </p:nvSpPr>
        <p:spPr>
          <a:xfrm>
            <a:off x="2319099" y="3148012"/>
            <a:ext cx="7620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1"/>
          <p:cNvSpPr/>
          <p:nvPr/>
        </p:nvSpPr>
        <p:spPr>
          <a:xfrm>
            <a:off x="2319099" y="4886325"/>
            <a:ext cx="7620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1"/>
          <p:cNvSpPr/>
          <p:nvPr/>
        </p:nvSpPr>
        <p:spPr>
          <a:xfrm>
            <a:off x="2319099" y="6624637"/>
            <a:ext cx="7620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4" name="Google Shape;434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9136" y="2134727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454" y="3620627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73289" y="5372538"/>
            <a:ext cx="16192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2"/>
          <p:cNvSpPr txBox="1"/>
          <p:nvPr/>
        </p:nvSpPr>
        <p:spPr>
          <a:xfrm>
            <a:off x="546100" y="1914525"/>
            <a:ext cx="498062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Misión Práctica:</a:t>
            </a:r>
            <a:endParaRPr/>
          </a:p>
        </p:txBody>
      </p:sp>
      <p:sp>
        <p:nvSpPr>
          <p:cNvPr id="442" name="Google Shape;442;p32"/>
          <p:cNvSpPr txBox="1"/>
          <p:nvPr/>
        </p:nvSpPr>
        <p:spPr>
          <a:xfrm>
            <a:off x="546100" y="2667000"/>
            <a:ext cx="4743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9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Figura</a:t>
            </a:r>
            <a:r>
              <a:rPr lang="en-US" sz="21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 b="0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triangulo</a:t>
            </a:r>
            <a:endParaRPr dirty="0"/>
          </a:p>
        </p:txBody>
      </p:sp>
      <p:sp>
        <p:nvSpPr>
          <p:cNvPr id="443" name="Google Shape;443;p32"/>
          <p:cNvSpPr txBox="1"/>
          <p:nvPr/>
        </p:nvSpPr>
        <p:spPr>
          <a:xfrm>
            <a:off x="565150" y="3387923"/>
            <a:ext cx="47434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9575" tIns="0" rIns="0" bIns="0" anchor="t" anchorCtr="0">
            <a:spAutoFit/>
          </a:bodyPr>
          <a:lstStyle/>
          <a:p>
            <a:r>
              <a:rPr lang="es-419" sz="2000" dirty="0"/>
              <a:t>Frase encriptada - (1392)</a:t>
            </a:r>
          </a:p>
        </p:txBody>
      </p:sp>
      <p:pic>
        <p:nvPicPr>
          <p:cNvPr id="444" name="Google Shape;444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400" y="431800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2"/>
          <p:cNvSpPr txBox="1"/>
          <p:nvPr/>
        </p:nvSpPr>
        <p:spPr>
          <a:xfrm>
            <a:off x="1073150" y="403225"/>
            <a:ext cx="33337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001F5C"/>
                </a:solidFill>
                <a:latin typeface="Lato"/>
                <a:ea typeface="Lato"/>
                <a:cs typeface="Lato"/>
                <a:sym typeface="Lato"/>
              </a:rPr>
              <a:t>Institución</a:t>
            </a:r>
            <a:r>
              <a:rPr lang="en-US" sz="1200" b="1" i="0" u="none" strike="noStrike" cap="none" dirty="0">
                <a:solidFill>
                  <a:srgbClr val="001F5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1" i="0" u="none" strike="noStrike" cap="none" dirty="0" err="1">
                <a:solidFill>
                  <a:srgbClr val="001F5C"/>
                </a:solidFill>
                <a:latin typeface="Lato"/>
                <a:ea typeface="Lato"/>
                <a:cs typeface="Lato"/>
                <a:sym typeface="Lato"/>
              </a:rPr>
              <a:t>Universitaria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Reacreditada</a:t>
            </a:r>
            <a:r>
              <a:rPr lang="en-US" sz="1200" b="0" i="0" u="none" strike="noStrike" cap="none" dirty="0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200" b="0" i="0" u="none" strike="noStrike" cap="none" dirty="0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 Alta Calidad</a:t>
            </a:r>
            <a:endParaRPr dirty="0"/>
          </a:p>
        </p:txBody>
      </p:sp>
      <p:sp>
        <p:nvSpPr>
          <p:cNvPr id="446" name="Google Shape;446;p32"/>
          <p:cNvSpPr txBox="1"/>
          <p:nvPr/>
        </p:nvSpPr>
        <p:spPr>
          <a:xfrm>
            <a:off x="4787900" y="407987"/>
            <a:ext cx="476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1F5C"/>
                </a:solidFill>
                <a:latin typeface="Lato"/>
                <a:ea typeface="Lato"/>
                <a:cs typeface="Lato"/>
                <a:sym typeface="Lato"/>
              </a:rPr>
              <a:t>80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>
                <a:solidFill>
                  <a:srgbClr val="001F5C"/>
                </a:solidFill>
                <a:latin typeface="Lato"/>
                <a:ea typeface="Lato"/>
                <a:cs typeface="Lato"/>
                <a:sym typeface="Lato"/>
              </a:rPr>
              <a:t>Años</a:t>
            </a:r>
            <a:endParaRPr/>
          </a:p>
        </p:txBody>
      </p:sp>
      <p:sp>
        <p:nvSpPr>
          <p:cNvPr id="447" name="Google Shape;447;p32"/>
          <p:cNvSpPr/>
          <p:nvPr/>
        </p:nvSpPr>
        <p:spPr>
          <a:xfrm>
            <a:off x="4645025" y="407987"/>
            <a:ext cx="19050" cy="571500"/>
          </a:xfrm>
          <a:prstGeom prst="rect">
            <a:avLst/>
          </a:prstGeom>
          <a:solidFill>
            <a:srgbClr val="001F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8" name="Google Shape;448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6100" y="274320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6100" y="3429000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1945</Words>
  <Application>Microsoft Office PowerPoint</Application>
  <PresentationFormat>Widescreen</PresentationFormat>
  <Paragraphs>169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Merriweather</vt:lpstr>
      <vt:lpstr>Lato</vt:lpstr>
      <vt:lpstr>Poppins</vt:lpstr>
      <vt:lpstr>Calibri</vt:lpstr>
      <vt:lpstr>Poppins SemiBold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SEBASTIAN MONTOYA VILLADA</cp:lastModifiedBy>
  <cp:revision>4</cp:revision>
  <dcterms:modified xsi:type="dcterms:W3CDTF">2026-04-20T03:03:04Z</dcterms:modified>
</cp:coreProperties>
</file>