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8"/>
  </p:notesMasterIdLst>
  <p:sldIdLst>
    <p:sldId id="256" r:id="rId2"/>
    <p:sldId id="257" r:id="rId3"/>
    <p:sldId id="258" r:id="rId4"/>
    <p:sldId id="259" r:id="rId5"/>
    <p:sldId id="260" r:id="rId6"/>
    <p:sldId id="261" r:id="rId7"/>
    <p:sldId id="262" r:id="rId8"/>
    <p:sldId id="263" r:id="rId9"/>
    <p:sldId id="265" r:id="rId10"/>
    <p:sldId id="267" r:id="rId11"/>
    <p:sldId id="268" r:id="rId12"/>
    <p:sldId id="269" r:id="rId13"/>
    <p:sldId id="270" r:id="rId14"/>
    <p:sldId id="271" r:id="rId15"/>
    <p:sldId id="272" r:id="rId16"/>
    <p:sldId id="554" r:id="rId17"/>
  </p:sldIdLst>
  <p:sldSz cx="12192000" cy="6858000"/>
  <p:notesSz cx="6858000" cy="9144000"/>
  <p:embeddedFontLst>
    <p:embeddedFont>
      <p:font typeface="Inter" panose="020B0604020202020204" charset="0"/>
      <p:regular r:id="rId19"/>
      <p:bold r:id="rId20"/>
      <p:italic r:id="rId21"/>
      <p:boldItalic r:id="rId22"/>
    </p:embeddedFont>
    <p:embeddedFont>
      <p:font typeface="Inter Medium" panose="020B0604020202020204" charset="0"/>
      <p:regular r:id="rId23"/>
      <p:bold r:id="rId24"/>
      <p:italic r:id="rId25"/>
      <p:boldItalic r:id="rId26"/>
    </p:embeddedFont>
    <p:embeddedFont>
      <p:font typeface="Inter SemiBold" panose="020B0604020202020204" charset="0"/>
      <p:regular r:id="rId27"/>
      <p:bold r:id="rId28"/>
      <p:italic r:id="rId29"/>
      <p:boldItalic r:id="rId30"/>
    </p:embeddedFont>
    <p:embeddedFont>
      <p:font typeface="Merriweather" panose="00000500000000000000" pitchFamily="2" charset="0"/>
      <p:regular r:id="rId31"/>
      <p:bold r:id="rId32"/>
      <p:italic r:id="rId33"/>
      <p:boldItalic r:id="rId34"/>
    </p:embeddedFont>
    <p:embeddedFont>
      <p:font typeface="Merriweather Black" panose="00000A00000000000000" pitchFamily="2" charset="0"/>
      <p:bold r:id="rId35"/>
      <p:boldItalic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100" d="100"/>
          <a:sy n="100" d="100"/>
        </p:scale>
        <p:origin x="2574" y="121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9" Type="http://schemas.openxmlformats.org/officeDocument/2006/relationships/theme" Target="theme/theme1.xml"/><Relationship Id="rId21" Type="http://schemas.openxmlformats.org/officeDocument/2006/relationships/font" Target="fonts/font3.fntdata"/><Relationship Id="rId34" Type="http://schemas.openxmlformats.org/officeDocument/2006/relationships/font" Target="fonts/font1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33" Type="http://schemas.openxmlformats.org/officeDocument/2006/relationships/font" Target="fonts/font15.fntdata"/><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font" Target="fonts/font14.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36" Type="http://schemas.openxmlformats.org/officeDocument/2006/relationships/font" Target="fonts/font18.fntdata"/><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font" Target="fonts/font1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font" Target="fonts/font12.fntdata"/><Relationship Id="rId35" Type="http://schemas.openxmlformats.org/officeDocument/2006/relationships/font" Target="fonts/font17.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7" name="Google Shape;10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8" name="Google Shape;128;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8" name="Google Shape;168;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1" name="Google Shape;191;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1" name="Google Shape;211;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9" name="Google Shape;239;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2" name="Google Shape;9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0" name="Google Shape;110;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8" name="Google Shape;118;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8" name="Google Shape;138;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0" name="Google Shape;170;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6" name="Google Shape;196;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a:extLst>
            <a:ext uri="{FF2B5EF4-FFF2-40B4-BE49-F238E27FC236}">
              <a16:creationId xmlns:a16="http://schemas.microsoft.com/office/drawing/2014/main" id="{D980908B-599A-0990-8A5B-BF16D55DB669}"/>
            </a:ext>
          </a:extLst>
        </p:cNvPr>
        <p:cNvGrpSpPr/>
        <p:nvPr/>
      </p:nvGrpSpPr>
      <p:grpSpPr>
        <a:xfrm>
          <a:off x="0" y="0"/>
          <a:ext cx="0" cy="0"/>
          <a:chOff x="0" y="0"/>
          <a:chExt cx="0" cy="0"/>
        </a:xfrm>
      </p:grpSpPr>
      <p:sp>
        <p:nvSpPr>
          <p:cNvPr id="169" name="Google Shape;169;p6:notes">
            <a:extLst>
              <a:ext uri="{FF2B5EF4-FFF2-40B4-BE49-F238E27FC236}">
                <a16:creationId xmlns:a16="http://schemas.microsoft.com/office/drawing/2014/main" id="{F07BD81E-8F19-B563-E680-D8414589E0A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0" name="Google Shape;170;p6:notes">
            <a:extLst>
              <a:ext uri="{FF2B5EF4-FFF2-40B4-BE49-F238E27FC236}">
                <a16:creationId xmlns:a16="http://schemas.microsoft.com/office/drawing/2014/main" id="{B8C33A51-9A39-A94E-A91F-6D49475C8E3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580264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png"/><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24.png"/><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27.png"/><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85" name="Google Shape;85;p13"/>
          <p:cNvSpPr/>
          <p:nvPr/>
        </p:nvSpPr>
        <p:spPr>
          <a:xfrm>
            <a:off x="4476750" y="2221259"/>
            <a:ext cx="762000" cy="57150"/>
          </a:xfrm>
          <a:prstGeom prst="roundRect">
            <a:avLst>
              <a:gd name="adj" fmla="val 50000"/>
            </a:avLst>
          </a:prstGeom>
          <a:solidFill>
            <a:srgbClr val="3B82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6" name="Google Shape;86;p13"/>
          <p:cNvSpPr txBox="1"/>
          <p:nvPr/>
        </p:nvSpPr>
        <p:spPr>
          <a:xfrm>
            <a:off x="357187" y="2564159"/>
            <a:ext cx="9001125" cy="132576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4350" b="0" i="0" u="none" strike="noStrike" cap="none">
                <a:solidFill>
                  <a:srgbClr val="1E3A8A"/>
                </a:solidFill>
                <a:latin typeface="Merriweather Black"/>
                <a:ea typeface="Merriweather Black"/>
                <a:cs typeface="Merriweather Black"/>
                <a:sym typeface="Merriweather Black"/>
              </a:rPr>
              <a:t>Tipos de Variables de Control:</a:t>
            </a:r>
            <a:br>
              <a:rPr lang="en-US" sz="1800" b="0" i="0" u="none" strike="noStrike" cap="none">
                <a:solidFill>
                  <a:schemeClr val="dk1"/>
                </a:solidFill>
                <a:latin typeface="Calibri"/>
                <a:ea typeface="Calibri"/>
                <a:cs typeface="Calibri"/>
                <a:sym typeface="Calibri"/>
              </a:rPr>
            </a:br>
            <a:r>
              <a:rPr lang="en-US" sz="4350" b="0" i="0" u="none" strike="noStrike" cap="none">
                <a:solidFill>
                  <a:srgbClr val="1E3A8A"/>
                </a:solidFill>
                <a:latin typeface="Merriweather Black"/>
                <a:ea typeface="Merriweather Black"/>
                <a:cs typeface="Merriweather Black"/>
                <a:sym typeface="Merriweather Black"/>
              </a:rPr>
              <a:t> Centinelas y Banderas</a:t>
            </a:r>
            <a:endParaRPr/>
          </a:p>
        </p:txBody>
      </p:sp>
      <p:sp>
        <p:nvSpPr>
          <p:cNvPr id="87" name="Google Shape;87;p13"/>
          <p:cNvSpPr txBox="1"/>
          <p:nvPr/>
        </p:nvSpPr>
        <p:spPr>
          <a:xfrm>
            <a:off x="571500" y="4128045"/>
            <a:ext cx="8572500" cy="443198"/>
          </a:xfrm>
          <a:prstGeom prst="rect">
            <a:avLst/>
          </a:prstGeom>
          <a:noFill/>
          <a:ln>
            <a:noFill/>
          </a:ln>
        </p:spPr>
        <p:txBody>
          <a:bodyPr spcFirstLastPara="1" wrap="square" lIns="0" tIns="0" rIns="0" bIns="0" anchor="t" anchorCtr="0">
            <a:spAutoFit/>
          </a:bodyPr>
          <a:lstStyle/>
          <a:p>
            <a:pPr marL="0" marR="0" lvl="0" indent="0" algn="ctr" rtl="0">
              <a:lnSpc>
                <a:spcPct val="159944"/>
              </a:lnSpc>
              <a:spcBef>
                <a:spcPts val="0"/>
              </a:spcBef>
              <a:spcAft>
                <a:spcPts val="0"/>
              </a:spcAft>
              <a:buNone/>
            </a:pPr>
            <a:r>
              <a:rPr lang="en-US" sz="1800" b="0" i="0" u="none" strike="noStrike" cap="none" dirty="0" err="1">
                <a:solidFill>
                  <a:srgbClr val="334155"/>
                </a:solidFill>
                <a:latin typeface="Inter"/>
                <a:ea typeface="Inter"/>
                <a:cs typeface="Inter"/>
                <a:sym typeface="Inter"/>
              </a:rPr>
              <a:t>Técnicas</a:t>
            </a:r>
            <a:r>
              <a:rPr lang="en-US" sz="1800" b="0" i="0" u="none" strike="noStrike" cap="none" dirty="0">
                <a:solidFill>
                  <a:srgbClr val="334155"/>
                </a:solidFill>
                <a:latin typeface="Inter"/>
                <a:ea typeface="Inter"/>
                <a:cs typeface="Inter"/>
                <a:sym typeface="Inter"/>
              </a:rPr>
              <a:t> s para </a:t>
            </a:r>
            <a:r>
              <a:rPr lang="en-US" sz="1800" b="0" i="0" u="none" strike="noStrike" cap="none" dirty="0" err="1">
                <a:solidFill>
                  <a:srgbClr val="334155"/>
                </a:solidFill>
                <a:latin typeface="Inter"/>
                <a:ea typeface="Inter"/>
                <a:cs typeface="Inter"/>
                <a:sym typeface="Inter"/>
              </a:rPr>
              <a:t>detener</a:t>
            </a:r>
            <a:r>
              <a:rPr lang="en-US" sz="1800" b="0" i="0" u="none" strike="noStrike" cap="none" dirty="0">
                <a:solidFill>
                  <a:srgbClr val="334155"/>
                </a:solidFill>
                <a:latin typeface="Inter"/>
                <a:ea typeface="Inter"/>
                <a:cs typeface="Inter"/>
                <a:sym typeface="Inter"/>
              </a:rPr>
              <a:t> </a:t>
            </a:r>
            <a:r>
              <a:rPr lang="en-US" sz="1800" b="0" i="0" u="none" strike="noStrike" cap="none" dirty="0" err="1">
                <a:solidFill>
                  <a:srgbClr val="334155"/>
                </a:solidFill>
                <a:latin typeface="Inter"/>
                <a:ea typeface="Inter"/>
                <a:cs typeface="Inter"/>
                <a:sym typeface="Inter"/>
              </a:rPr>
              <a:t>bucles</a:t>
            </a:r>
            <a:r>
              <a:rPr lang="en-US" sz="1800" b="0" i="0" u="none" strike="noStrike" cap="none" dirty="0">
                <a:solidFill>
                  <a:srgbClr val="334155"/>
                </a:solidFill>
                <a:latin typeface="Inter"/>
                <a:ea typeface="Inter"/>
                <a:cs typeface="Inter"/>
                <a:sym typeface="Inter"/>
              </a:rPr>
              <a:t> 'MIENTRAS' </a:t>
            </a:r>
            <a:r>
              <a:rPr lang="en-US" sz="1800" b="0" i="0" u="none" strike="noStrike" cap="none" dirty="0" err="1">
                <a:solidFill>
                  <a:srgbClr val="334155"/>
                </a:solidFill>
                <a:latin typeface="Inter"/>
                <a:ea typeface="Inter"/>
                <a:cs typeface="Inter"/>
                <a:sym typeface="Inter"/>
              </a:rPr>
              <a:t>en</a:t>
            </a:r>
            <a:r>
              <a:rPr lang="en-US" sz="1800" b="0" i="0" u="none" strike="noStrike" cap="none" dirty="0">
                <a:solidFill>
                  <a:srgbClr val="334155"/>
                </a:solidFill>
                <a:latin typeface="Inter"/>
                <a:ea typeface="Inter"/>
                <a:cs typeface="Inter"/>
                <a:sym typeface="Inter"/>
              </a:rPr>
              <a:t> </a:t>
            </a:r>
            <a:r>
              <a:rPr lang="en-US" sz="1800" b="0" i="0" u="none" strike="noStrike" cap="none" dirty="0" err="1">
                <a:solidFill>
                  <a:srgbClr val="334155"/>
                </a:solidFill>
                <a:latin typeface="Inter"/>
                <a:ea typeface="Inter"/>
                <a:cs typeface="Inter"/>
                <a:sym typeface="Inter"/>
              </a:rPr>
              <a:t>Logicode</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1"/>
        <p:cNvGrpSpPr/>
        <p:nvPr/>
      </p:nvGrpSpPr>
      <p:grpSpPr>
        <a:xfrm>
          <a:off x="0" y="0"/>
          <a:ext cx="0" cy="0"/>
          <a:chOff x="0" y="0"/>
          <a:chExt cx="0" cy="0"/>
        </a:xfrm>
      </p:grpSpPr>
      <p:pic>
        <p:nvPicPr>
          <p:cNvPr id="92" name="Google Shape;92;p14"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93" name="Google Shape;93;p14"/>
          <p:cNvSpPr txBox="1"/>
          <p:nvPr/>
        </p:nvSpPr>
        <p:spPr>
          <a:xfrm>
            <a:off x="571500" y="476250"/>
            <a:ext cx="11601450" cy="4476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i="0" u="none" strike="noStrike" cap="none">
                <a:solidFill>
                  <a:srgbClr val="1E3A8A"/>
                </a:solidFill>
                <a:latin typeface="Merriweather"/>
                <a:ea typeface="Merriweather"/>
                <a:cs typeface="Merriweather"/>
                <a:sym typeface="Merriweather"/>
              </a:rPr>
              <a:t>El Enfoque de Hoy: ¿Quién Detiene el Bucle?</a:t>
            </a:r>
            <a:endParaRPr/>
          </a:p>
        </p:txBody>
      </p:sp>
      <p:sp>
        <p:nvSpPr>
          <p:cNvPr id="94" name="Google Shape;94;p14"/>
          <p:cNvSpPr/>
          <p:nvPr/>
        </p:nvSpPr>
        <p:spPr>
          <a:xfrm>
            <a:off x="571500" y="1047750"/>
            <a:ext cx="11049000"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5" name="Google Shape;95;p14"/>
          <p:cNvSpPr txBox="1"/>
          <p:nvPr/>
        </p:nvSpPr>
        <p:spPr>
          <a:xfrm>
            <a:off x="871318" y="1839812"/>
            <a:ext cx="8286750" cy="578941"/>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1" i="0" u="none" strike="noStrike" cap="none">
                <a:solidFill>
                  <a:srgbClr val="334155"/>
                </a:solidFill>
                <a:latin typeface="Inter"/>
                <a:ea typeface="Inter"/>
                <a:cs typeface="Inter"/>
                <a:sym typeface="Inter"/>
              </a:rPr>
              <a:t>1. El Dilema del Control:</a:t>
            </a:r>
            <a:r>
              <a:rPr lang="en-US" sz="1425" b="0" i="0" u="none" strike="noStrike" cap="none">
                <a:solidFill>
                  <a:srgbClr val="334155"/>
                </a:solidFill>
                <a:latin typeface="Inter"/>
                <a:ea typeface="Inter"/>
                <a:cs typeface="Inter"/>
                <a:sym typeface="Inter"/>
              </a:rPr>
              <a:t> Repasaremos brevemente por qué necesitamos diferentes formas de detener un bucle iterativo.</a:t>
            </a:r>
            <a:endParaRPr/>
          </a:p>
        </p:txBody>
      </p:sp>
      <p:sp>
        <p:nvSpPr>
          <p:cNvPr id="96" name="Google Shape;96;p14"/>
          <p:cNvSpPr txBox="1"/>
          <p:nvPr/>
        </p:nvSpPr>
        <p:spPr>
          <a:xfrm>
            <a:off x="871318" y="2656879"/>
            <a:ext cx="8286750" cy="578941"/>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1" i="0" u="none" strike="noStrike" cap="none">
                <a:solidFill>
                  <a:srgbClr val="334155"/>
                </a:solidFill>
                <a:latin typeface="Inter"/>
                <a:ea typeface="Inter"/>
                <a:cs typeface="Inter"/>
                <a:sym typeface="Inter"/>
              </a:rPr>
              <a:t>2. Estrategia 1: El Centinela.</a:t>
            </a:r>
            <a:r>
              <a:rPr lang="en-US" sz="1425" b="0" i="0" u="none" strike="noStrike" cap="none">
                <a:solidFill>
                  <a:srgbClr val="334155"/>
                </a:solidFill>
                <a:latin typeface="Inter"/>
                <a:ea typeface="Inter"/>
                <a:cs typeface="Inter"/>
                <a:sym typeface="Inter"/>
              </a:rPr>
              <a:t> Formalizaremos la técnica donde el </a:t>
            </a:r>
            <a:r>
              <a:rPr lang="en-US" sz="1425" b="0" i="0" u="none" strike="noStrike" cap="none">
                <a:solidFill>
                  <a:srgbClr val="2563EB"/>
                </a:solidFill>
                <a:latin typeface="Inter SemiBold"/>
                <a:ea typeface="Inter SemiBold"/>
                <a:cs typeface="Inter SemiBold"/>
                <a:sym typeface="Inter SemiBold"/>
              </a:rPr>
              <a:t>usuario</a:t>
            </a:r>
            <a:r>
              <a:rPr lang="en-US" sz="1425" b="0" i="0" u="none" strike="noStrike" cap="none">
                <a:solidFill>
                  <a:srgbClr val="334155"/>
                </a:solidFill>
                <a:latin typeface="Inter"/>
                <a:ea typeface="Inter"/>
                <a:cs typeface="Inter"/>
                <a:sym typeface="Inter"/>
              </a:rPr>
              <a:t> tiene el control total de la parada.</a:t>
            </a:r>
            <a:endParaRPr/>
          </a:p>
        </p:txBody>
      </p:sp>
      <p:sp>
        <p:nvSpPr>
          <p:cNvPr id="97" name="Google Shape;97;p14"/>
          <p:cNvSpPr txBox="1"/>
          <p:nvPr/>
        </p:nvSpPr>
        <p:spPr>
          <a:xfrm>
            <a:off x="871318" y="3473945"/>
            <a:ext cx="8286750" cy="578941"/>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1" i="0" u="none" strike="noStrike" cap="none">
                <a:solidFill>
                  <a:srgbClr val="334155"/>
                </a:solidFill>
                <a:latin typeface="Inter"/>
                <a:ea typeface="Inter"/>
                <a:cs typeface="Inter"/>
                <a:sym typeface="Inter"/>
              </a:rPr>
              <a:t>3. Estrategia 2: La Bandera (Flag).</a:t>
            </a:r>
            <a:r>
              <a:rPr lang="en-US" sz="1425" b="0" i="0" u="none" strike="noStrike" cap="none">
                <a:solidFill>
                  <a:srgbClr val="334155"/>
                </a:solidFill>
                <a:latin typeface="Inter"/>
                <a:ea typeface="Inter"/>
                <a:cs typeface="Inter"/>
                <a:sym typeface="Inter"/>
              </a:rPr>
              <a:t> Introduciremos una nueva y potente técnica donde el </a:t>
            </a:r>
            <a:r>
              <a:rPr lang="en-US" sz="1425" b="0" i="0" u="none" strike="noStrike" cap="none">
                <a:solidFill>
                  <a:srgbClr val="2563EB"/>
                </a:solidFill>
                <a:latin typeface="Inter SemiBold"/>
                <a:ea typeface="Inter SemiBold"/>
                <a:cs typeface="Inter SemiBold"/>
                <a:sym typeface="Inter SemiBold"/>
              </a:rPr>
              <a:t>programa</a:t>
            </a:r>
            <a:r>
              <a:rPr lang="en-US" sz="1425" b="0" i="0" u="none" strike="noStrike" cap="none">
                <a:solidFill>
                  <a:srgbClr val="334155"/>
                </a:solidFill>
                <a:latin typeface="Inter"/>
                <a:ea typeface="Inter"/>
                <a:cs typeface="Inter"/>
                <a:sym typeface="Inter"/>
              </a:rPr>
              <a:t> toma el control.</a:t>
            </a:r>
            <a:endParaRPr/>
          </a:p>
        </p:txBody>
      </p:sp>
      <p:sp>
        <p:nvSpPr>
          <p:cNvPr id="98" name="Google Shape;98;p14"/>
          <p:cNvSpPr txBox="1"/>
          <p:nvPr/>
        </p:nvSpPr>
        <p:spPr>
          <a:xfrm>
            <a:off x="871318" y="4291012"/>
            <a:ext cx="8286750" cy="578941"/>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1" i="0" u="none" strike="noStrike" cap="none">
                <a:solidFill>
                  <a:srgbClr val="334155"/>
                </a:solidFill>
                <a:latin typeface="Inter"/>
                <a:ea typeface="Inter"/>
                <a:cs typeface="Inter"/>
                <a:sym typeface="Inter"/>
              </a:rPr>
              <a:t>4. Centinela vs. Bandera:</a:t>
            </a:r>
            <a:r>
              <a:rPr lang="en-US" sz="1425" b="0" i="0" u="none" strike="noStrike" cap="none">
                <a:solidFill>
                  <a:srgbClr val="334155"/>
                </a:solidFill>
                <a:latin typeface="Inter"/>
                <a:ea typeface="Inter"/>
                <a:cs typeface="Inter"/>
                <a:sym typeface="Inter"/>
              </a:rPr>
              <a:t> La comparación clave para saber cuál técnica elegir en cada situación.</a:t>
            </a:r>
            <a:endParaRPr/>
          </a:p>
        </p:txBody>
      </p:sp>
      <p:sp>
        <p:nvSpPr>
          <p:cNvPr id="99" name="Google Shape;99;p14"/>
          <p:cNvSpPr txBox="1"/>
          <p:nvPr/>
        </p:nvSpPr>
        <p:spPr>
          <a:xfrm>
            <a:off x="871318" y="5108078"/>
            <a:ext cx="8286750" cy="578941"/>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1" i="0" u="none" strike="noStrike" cap="none">
                <a:solidFill>
                  <a:srgbClr val="334155"/>
                </a:solidFill>
                <a:latin typeface="Inter"/>
                <a:ea typeface="Inter"/>
                <a:cs typeface="Inter"/>
                <a:sym typeface="Inter"/>
              </a:rPr>
              <a:t>5. Caso de Estudio:</a:t>
            </a:r>
            <a:r>
              <a:rPr lang="en-US" sz="1425" b="0" i="0" u="none" strike="noStrike" cap="none">
                <a:solidFill>
                  <a:srgbClr val="334155"/>
                </a:solidFill>
                <a:latin typeface="Inter"/>
                <a:ea typeface="Inter"/>
                <a:cs typeface="Inter"/>
                <a:sym typeface="Inter"/>
              </a:rPr>
              <a:t> Analizaremos un problema donde una bandera es la única solución lógica y lo programaremos en Logicode.</a:t>
            </a:r>
            <a:endParaRPr/>
          </a:p>
        </p:txBody>
      </p:sp>
      <p:pic>
        <p:nvPicPr>
          <p:cNvPr id="100" name="Google Shape;100;p14" descr="image.png"/>
          <p:cNvPicPr preferRelativeResize="0"/>
          <p:nvPr/>
        </p:nvPicPr>
        <p:blipFill rotWithShape="1">
          <a:blip r:embed="rId4">
            <a:alphaModFix/>
          </a:blip>
          <a:srcRect/>
          <a:stretch/>
        </p:blipFill>
        <p:spPr>
          <a:xfrm>
            <a:off x="571500" y="1938783"/>
            <a:ext cx="95250" cy="190500"/>
          </a:xfrm>
          <a:prstGeom prst="rect">
            <a:avLst/>
          </a:prstGeom>
          <a:noFill/>
          <a:ln>
            <a:noFill/>
          </a:ln>
        </p:spPr>
      </p:pic>
      <p:pic>
        <p:nvPicPr>
          <p:cNvPr id="101" name="Google Shape;101;p14" descr="image.png"/>
          <p:cNvPicPr preferRelativeResize="0"/>
          <p:nvPr/>
        </p:nvPicPr>
        <p:blipFill rotWithShape="1">
          <a:blip r:embed="rId4">
            <a:alphaModFix/>
          </a:blip>
          <a:srcRect/>
          <a:stretch/>
        </p:blipFill>
        <p:spPr>
          <a:xfrm>
            <a:off x="571500" y="2755850"/>
            <a:ext cx="95250" cy="190500"/>
          </a:xfrm>
          <a:prstGeom prst="rect">
            <a:avLst/>
          </a:prstGeom>
          <a:noFill/>
          <a:ln>
            <a:noFill/>
          </a:ln>
        </p:spPr>
      </p:pic>
      <p:pic>
        <p:nvPicPr>
          <p:cNvPr id="102" name="Google Shape;102;p14" descr="image.png"/>
          <p:cNvPicPr preferRelativeResize="0"/>
          <p:nvPr/>
        </p:nvPicPr>
        <p:blipFill rotWithShape="1">
          <a:blip r:embed="rId4">
            <a:alphaModFix/>
          </a:blip>
          <a:srcRect/>
          <a:stretch/>
        </p:blipFill>
        <p:spPr>
          <a:xfrm>
            <a:off x="571500" y="3572916"/>
            <a:ext cx="95250" cy="190500"/>
          </a:xfrm>
          <a:prstGeom prst="rect">
            <a:avLst/>
          </a:prstGeom>
          <a:noFill/>
          <a:ln>
            <a:noFill/>
          </a:ln>
        </p:spPr>
      </p:pic>
      <p:pic>
        <p:nvPicPr>
          <p:cNvPr id="103" name="Google Shape;103;p14" descr="image.png"/>
          <p:cNvPicPr preferRelativeResize="0"/>
          <p:nvPr/>
        </p:nvPicPr>
        <p:blipFill rotWithShape="1">
          <a:blip r:embed="rId4">
            <a:alphaModFix/>
          </a:blip>
          <a:srcRect/>
          <a:stretch/>
        </p:blipFill>
        <p:spPr>
          <a:xfrm>
            <a:off x="571500" y="4389983"/>
            <a:ext cx="95250" cy="190500"/>
          </a:xfrm>
          <a:prstGeom prst="rect">
            <a:avLst/>
          </a:prstGeom>
          <a:noFill/>
          <a:ln>
            <a:noFill/>
          </a:ln>
        </p:spPr>
      </p:pic>
      <p:pic>
        <p:nvPicPr>
          <p:cNvPr id="104" name="Google Shape;104;p14" descr="image.png"/>
          <p:cNvPicPr preferRelativeResize="0"/>
          <p:nvPr/>
        </p:nvPicPr>
        <p:blipFill rotWithShape="1">
          <a:blip r:embed="rId4">
            <a:alphaModFix/>
          </a:blip>
          <a:srcRect/>
          <a:stretch/>
        </p:blipFill>
        <p:spPr>
          <a:xfrm>
            <a:off x="571500" y="5207049"/>
            <a:ext cx="95250" cy="1905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8"/>
        <p:cNvGrpSpPr/>
        <p:nvPr/>
      </p:nvGrpSpPr>
      <p:grpSpPr>
        <a:xfrm>
          <a:off x="0" y="0"/>
          <a:ext cx="0" cy="0"/>
          <a:chOff x="0" y="0"/>
          <a:chExt cx="0" cy="0"/>
        </a:xfrm>
      </p:grpSpPr>
      <p:pic>
        <p:nvPicPr>
          <p:cNvPr id="109" name="Google Shape;109;p15"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10" name="Google Shape;110;p15" descr="image.png"/>
          <p:cNvPicPr preferRelativeResize="0"/>
          <p:nvPr/>
        </p:nvPicPr>
        <p:blipFill rotWithShape="1">
          <a:blip r:embed="rId4">
            <a:alphaModFix/>
          </a:blip>
          <a:srcRect/>
          <a:stretch/>
        </p:blipFill>
        <p:spPr>
          <a:xfrm>
            <a:off x="571500" y="4838253"/>
            <a:ext cx="11049000" cy="1543050"/>
          </a:xfrm>
          <a:prstGeom prst="rect">
            <a:avLst/>
          </a:prstGeom>
          <a:noFill/>
          <a:ln>
            <a:noFill/>
          </a:ln>
        </p:spPr>
      </p:pic>
      <p:pic>
        <p:nvPicPr>
          <p:cNvPr id="111" name="Google Shape;111;p15" descr="image.png"/>
          <p:cNvPicPr preferRelativeResize="0"/>
          <p:nvPr/>
        </p:nvPicPr>
        <p:blipFill rotWithShape="1">
          <a:blip r:embed="rId5">
            <a:alphaModFix/>
          </a:blip>
          <a:srcRect/>
          <a:stretch/>
        </p:blipFill>
        <p:spPr>
          <a:xfrm>
            <a:off x="571500" y="2217241"/>
            <a:ext cx="5334000" cy="2430512"/>
          </a:xfrm>
          <a:prstGeom prst="rect">
            <a:avLst/>
          </a:prstGeom>
          <a:noFill/>
          <a:ln>
            <a:noFill/>
          </a:ln>
        </p:spPr>
      </p:pic>
      <p:pic>
        <p:nvPicPr>
          <p:cNvPr id="112" name="Google Shape;112;p15" descr="image.png"/>
          <p:cNvPicPr preferRelativeResize="0"/>
          <p:nvPr/>
        </p:nvPicPr>
        <p:blipFill rotWithShape="1">
          <a:blip r:embed="rId6">
            <a:alphaModFix/>
          </a:blip>
          <a:srcRect/>
          <a:stretch/>
        </p:blipFill>
        <p:spPr>
          <a:xfrm>
            <a:off x="6286500" y="2217241"/>
            <a:ext cx="5334000" cy="2430512"/>
          </a:xfrm>
          <a:prstGeom prst="rect">
            <a:avLst/>
          </a:prstGeom>
          <a:noFill/>
          <a:ln>
            <a:noFill/>
          </a:ln>
        </p:spPr>
      </p:pic>
      <p:pic>
        <p:nvPicPr>
          <p:cNvPr id="113" name="Google Shape;113;p15" descr="image.png"/>
          <p:cNvPicPr preferRelativeResize="0"/>
          <p:nvPr/>
        </p:nvPicPr>
        <p:blipFill rotWithShape="1">
          <a:blip r:embed="rId7">
            <a:alphaModFix/>
          </a:blip>
          <a:srcRect/>
          <a:stretch/>
        </p:blipFill>
        <p:spPr>
          <a:xfrm>
            <a:off x="866775" y="3961953"/>
            <a:ext cx="4743450" cy="390525"/>
          </a:xfrm>
          <a:prstGeom prst="rect">
            <a:avLst/>
          </a:prstGeom>
          <a:noFill/>
          <a:ln>
            <a:noFill/>
          </a:ln>
        </p:spPr>
      </p:pic>
      <p:pic>
        <p:nvPicPr>
          <p:cNvPr id="114" name="Google Shape;114;p15" descr="image.png"/>
          <p:cNvPicPr preferRelativeResize="0"/>
          <p:nvPr/>
        </p:nvPicPr>
        <p:blipFill rotWithShape="1">
          <a:blip r:embed="rId8">
            <a:alphaModFix/>
          </a:blip>
          <a:srcRect/>
          <a:stretch/>
        </p:blipFill>
        <p:spPr>
          <a:xfrm>
            <a:off x="6581775" y="3672482"/>
            <a:ext cx="4743450" cy="390525"/>
          </a:xfrm>
          <a:prstGeom prst="rect">
            <a:avLst/>
          </a:prstGeom>
          <a:noFill/>
          <a:ln>
            <a:noFill/>
          </a:ln>
        </p:spPr>
      </p:pic>
      <p:sp>
        <p:nvSpPr>
          <p:cNvPr id="115" name="Google Shape;115;p15"/>
          <p:cNvSpPr txBox="1"/>
          <p:nvPr/>
        </p:nvSpPr>
        <p:spPr>
          <a:xfrm>
            <a:off x="571500" y="476250"/>
            <a:ext cx="11601450" cy="4476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i="0" u="none" strike="noStrike" cap="none">
                <a:solidFill>
                  <a:srgbClr val="1E3A8A"/>
                </a:solidFill>
                <a:latin typeface="Merriweather"/>
                <a:ea typeface="Merriweather"/>
                <a:cs typeface="Merriweather"/>
                <a:sym typeface="Merriweather"/>
              </a:rPr>
              <a:t>El Dilema del Control en los Bucles</a:t>
            </a:r>
            <a:endParaRPr/>
          </a:p>
        </p:txBody>
      </p:sp>
      <p:sp>
        <p:nvSpPr>
          <p:cNvPr id="116" name="Google Shape;116;p15"/>
          <p:cNvSpPr/>
          <p:nvPr/>
        </p:nvSpPr>
        <p:spPr>
          <a:xfrm>
            <a:off x="571500" y="1047750"/>
            <a:ext cx="11049000"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7" name="Google Shape;117;p15"/>
          <p:cNvSpPr txBox="1"/>
          <p:nvPr/>
        </p:nvSpPr>
        <p:spPr>
          <a:xfrm>
            <a:off x="571500" y="1304925"/>
            <a:ext cx="11049000" cy="578941"/>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334155"/>
                </a:solidFill>
                <a:latin typeface="Inter"/>
                <a:ea typeface="Inter"/>
                <a:cs typeface="Inter"/>
                <a:sym typeface="Inter"/>
              </a:rPr>
              <a:t>Ya sabemos que un bucle `MIENTRAS` se repite hasta que su condición se vuelve falsa. La pregunta importante es: </a:t>
            </a:r>
            <a:r>
              <a:rPr lang="en-US" sz="1425" b="1" i="0" u="none" strike="noStrike" cap="none">
                <a:solidFill>
                  <a:srgbClr val="334155"/>
                </a:solidFill>
                <a:latin typeface="Inter"/>
                <a:ea typeface="Inter"/>
                <a:cs typeface="Inter"/>
                <a:sym typeface="Inter"/>
              </a:rPr>
              <a:t>¿Quién o qué provoca que esa condición cambie?</a:t>
            </a:r>
            <a:endParaRPr/>
          </a:p>
        </p:txBody>
      </p:sp>
      <p:sp>
        <p:nvSpPr>
          <p:cNvPr id="118" name="Google Shape;118;p15"/>
          <p:cNvSpPr txBox="1"/>
          <p:nvPr/>
        </p:nvSpPr>
        <p:spPr>
          <a:xfrm>
            <a:off x="505301" y="5038278"/>
            <a:ext cx="11181397" cy="2952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i="0" u="none" strike="noStrike" cap="none">
                <a:solidFill>
                  <a:srgbClr val="166534"/>
                </a:solidFill>
                <a:latin typeface="Merriweather"/>
                <a:ea typeface="Merriweather"/>
                <a:cs typeface="Merriweather"/>
                <a:sym typeface="Merriweather"/>
              </a:rPr>
              <a:t>El Nuevo Desafío:</a:t>
            </a:r>
            <a:endParaRPr/>
          </a:p>
        </p:txBody>
      </p:sp>
      <p:sp>
        <p:nvSpPr>
          <p:cNvPr id="119" name="Google Shape;119;p15"/>
          <p:cNvSpPr txBox="1"/>
          <p:nvPr/>
        </p:nvSpPr>
        <p:spPr>
          <a:xfrm>
            <a:off x="771525" y="5428803"/>
            <a:ext cx="10648950" cy="6096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166534"/>
                </a:solidFill>
                <a:latin typeface="Inter"/>
                <a:ea typeface="Inter"/>
                <a:cs typeface="Inter"/>
                <a:sym typeface="Inter"/>
              </a:rPr>
              <a:t>¿Cómo detenemos un bucle cuando la condición de parada es un </a:t>
            </a:r>
            <a:r>
              <a:rPr lang="en-US" sz="1500" b="1" i="0" u="none" strike="noStrike" cap="none">
                <a:solidFill>
                  <a:srgbClr val="166534"/>
                </a:solidFill>
                <a:latin typeface="Inter"/>
                <a:ea typeface="Inter"/>
                <a:cs typeface="Inter"/>
                <a:sym typeface="Inter"/>
              </a:rPr>
              <a:t>evento interno</a:t>
            </a:r>
            <a:r>
              <a:rPr lang="en-US" sz="1500" b="0" i="0" u="none" strike="noStrike" cap="none">
                <a:solidFill>
                  <a:srgbClr val="166534"/>
                </a:solidFill>
                <a:latin typeface="Inter"/>
                <a:ea typeface="Inter"/>
                <a:cs typeface="Inter"/>
                <a:sym typeface="Inter"/>
              </a:rPr>
              <a:t> que el propio programa debe detectar durante su ejecución?</a:t>
            </a:r>
            <a:endParaRPr/>
          </a:p>
        </p:txBody>
      </p:sp>
      <p:sp>
        <p:nvSpPr>
          <p:cNvPr id="120" name="Google Shape;120;p15"/>
          <p:cNvSpPr txBox="1"/>
          <p:nvPr/>
        </p:nvSpPr>
        <p:spPr>
          <a:xfrm>
            <a:off x="866775" y="2512516"/>
            <a:ext cx="4980622" cy="295275"/>
          </a:xfrm>
          <a:prstGeom prst="rect">
            <a:avLst/>
          </a:prstGeom>
          <a:noFill/>
          <a:ln>
            <a:noFill/>
          </a:ln>
        </p:spPr>
        <p:txBody>
          <a:bodyPr spcFirstLastPara="1" wrap="square" lIns="295275" tIns="0" rIns="0" bIns="0" anchor="t" anchorCtr="0">
            <a:spAutoFit/>
          </a:bodyPr>
          <a:lstStyle/>
          <a:p>
            <a:pPr marL="0" marR="0" lvl="0" indent="0" algn="l" rtl="0">
              <a:spcBef>
                <a:spcPts val="0"/>
              </a:spcBef>
              <a:spcAft>
                <a:spcPts val="0"/>
              </a:spcAft>
              <a:buNone/>
            </a:pPr>
            <a:r>
              <a:rPr lang="en-US" sz="1800" b="1" i="0" u="none" strike="noStrike" cap="none">
                <a:solidFill>
                  <a:srgbClr val="475569"/>
                </a:solidFill>
                <a:latin typeface="Merriweather"/>
                <a:ea typeface="Merriweather"/>
                <a:cs typeface="Merriweather"/>
                <a:sym typeface="Merriweather"/>
              </a:rPr>
              <a:t>Control por Conteo</a:t>
            </a:r>
            <a:endParaRPr/>
          </a:p>
        </p:txBody>
      </p:sp>
      <p:sp>
        <p:nvSpPr>
          <p:cNvPr id="121" name="Google Shape;121;p15"/>
          <p:cNvSpPr txBox="1"/>
          <p:nvPr/>
        </p:nvSpPr>
        <p:spPr>
          <a:xfrm>
            <a:off x="866775" y="2950666"/>
            <a:ext cx="4743450" cy="868412"/>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dirty="0">
                <a:solidFill>
                  <a:srgbClr val="334155"/>
                </a:solidFill>
                <a:latin typeface="Inter"/>
                <a:ea typeface="Inter"/>
                <a:cs typeface="Inter"/>
                <a:sym typeface="Inter"/>
              </a:rPr>
              <a:t>El </a:t>
            </a:r>
            <a:r>
              <a:rPr lang="en-US" sz="1425" b="0" i="0" u="none" strike="noStrike" cap="none" dirty="0" err="1">
                <a:solidFill>
                  <a:srgbClr val="334155"/>
                </a:solidFill>
                <a:latin typeface="Inter"/>
                <a:ea typeface="Inter"/>
                <a:cs typeface="Inter"/>
                <a:sym typeface="Inter"/>
              </a:rPr>
              <a:t>bucle</a:t>
            </a:r>
            <a:r>
              <a:rPr lang="en-US" sz="1425" b="0" i="0" u="none" strike="noStrike" cap="none" dirty="0">
                <a:solidFill>
                  <a:srgbClr val="334155"/>
                </a:solidFill>
                <a:latin typeface="Inter"/>
                <a:ea typeface="Inter"/>
                <a:cs typeface="Inter"/>
                <a:sym typeface="Inter"/>
              </a:rPr>
              <a:t> se </a:t>
            </a:r>
            <a:r>
              <a:rPr lang="en-US" sz="1425" b="0" i="0" u="none" strike="noStrike" cap="none" dirty="0" err="1">
                <a:solidFill>
                  <a:srgbClr val="334155"/>
                </a:solidFill>
                <a:latin typeface="Inter"/>
                <a:ea typeface="Inter"/>
                <a:cs typeface="Inter"/>
                <a:sym typeface="Inter"/>
              </a:rPr>
              <a:t>detiene</a:t>
            </a:r>
            <a:r>
              <a:rPr lang="en-US" sz="1425" b="0" i="0" u="none" strike="noStrike" cap="none" dirty="0">
                <a:solidFill>
                  <a:srgbClr val="334155"/>
                </a:solidFill>
                <a:latin typeface="Inter"/>
                <a:ea typeface="Inter"/>
                <a:cs typeface="Inter"/>
                <a:sym typeface="Inter"/>
              </a:rPr>
              <a:t> </a:t>
            </a:r>
            <a:r>
              <a:rPr lang="en-US" sz="1425" b="0" i="0" u="none" strike="noStrike" cap="none" dirty="0" err="1">
                <a:solidFill>
                  <a:srgbClr val="334155"/>
                </a:solidFill>
                <a:latin typeface="Inter"/>
                <a:ea typeface="Inter"/>
                <a:cs typeface="Inter"/>
                <a:sym typeface="Inter"/>
              </a:rPr>
              <a:t>después</a:t>
            </a:r>
            <a:r>
              <a:rPr lang="en-US" sz="1425" b="0" i="0" u="none" strike="noStrike" cap="none" dirty="0">
                <a:solidFill>
                  <a:srgbClr val="334155"/>
                </a:solidFill>
                <a:latin typeface="Inter"/>
                <a:ea typeface="Inter"/>
                <a:cs typeface="Inter"/>
                <a:sym typeface="Inter"/>
              </a:rPr>
              <a:t> de un </a:t>
            </a:r>
            <a:r>
              <a:rPr lang="en-US" sz="1425" b="0" i="0" u="none" strike="noStrike" cap="none" dirty="0" err="1">
                <a:solidFill>
                  <a:srgbClr val="334155"/>
                </a:solidFill>
                <a:latin typeface="Inter"/>
                <a:ea typeface="Inter"/>
                <a:cs typeface="Inter"/>
                <a:sym typeface="Inter"/>
              </a:rPr>
              <a:t>número</a:t>
            </a:r>
            <a:r>
              <a:rPr lang="en-US" sz="1425" b="0" i="0" u="none" strike="noStrike" cap="none" dirty="0">
                <a:solidFill>
                  <a:srgbClr val="334155"/>
                </a:solidFill>
                <a:latin typeface="Inter"/>
                <a:ea typeface="Inter"/>
                <a:cs typeface="Inter"/>
                <a:sym typeface="Inter"/>
              </a:rPr>
              <a:t> </a:t>
            </a:r>
            <a:r>
              <a:rPr lang="en-US" sz="1425" b="0" i="0" u="none" strike="noStrike" cap="none" dirty="0" err="1">
                <a:solidFill>
                  <a:srgbClr val="334155"/>
                </a:solidFill>
                <a:latin typeface="Inter"/>
                <a:ea typeface="Inter"/>
                <a:cs typeface="Inter"/>
                <a:sym typeface="Inter"/>
              </a:rPr>
              <a:t>predecible</a:t>
            </a:r>
            <a:r>
              <a:rPr lang="en-US" sz="1425" b="0" i="0" u="none" strike="noStrike" cap="none" dirty="0">
                <a:solidFill>
                  <a:srgbClr val="334155"/>
                </a:solidFill>
                <a:latin typeface="Inter"/>
                <a:ea typeface="Inter"/>
                <a:cs typeface="Inter"/>
                <a:sym typeface="Inter"/>
              </a:rPr>
              <a:t> de pasos. El control es </a:t>
            </a:r>
            <a:r>
              <a:rPr lang="en-US" sz="1425" b="1" i="0" u="none" strike="noStrike" cap="none" dirty="0" err="1">
                <a:solidFill>
                  <a:srgbClr val="334155"/>
                </a:solidFill>
                <a:latin typeface="Inter"/>
                <a:ea typeface="Inter"/>
                <a:cs typeface="Inter"/>
                <a:sym typeface="Inter"/>
              </a:rPr>
              <a:t>rígido</a:t>
            </a:r>
            <a:r>
              <a:rPr lang="en-US" sz="1425" b="1" i="0" u="none" strike="noStrike" cap="none" dirty="0">
                <a:solidFill>
                  <a:srgbClr val="334155"/>
                </a:solidFill>
                <a:latin typeface="Inter"/>
                <a:ea typeface="Inter"/>
                <a:cs typeface="Inter"/>
                <a:sym typeface="Inter"/>
              </a:rPr>
              <a:t> y </a:t>
            </a:r>
            <a:r>
              <a:rPr lang="en-US" sz="1425" b="1" i="0" u="none" strike="noStrike" cap="none" dirty="0" err="1">
                <a:solidFill>
                  <a:srgbClr val="334155"/>
                </a:solidFill>
                <a:latin typeface="Inter"/>
                <a:ea typeface="Inter"/>
                <a:cs typeface="Inter"/>
                <a:sym typeface="Inter"/>
              </a:rPr>
              <a:t>definido</a:t>
            </a:r>
            <a:r>
              <a:rPr lang="en-US" sz="1425" b="0" i="0" u="none" strike="noStrike" cap="none" dirty="0">
                <a:solidFill>
                  <a:srgbClr val="334155"/>
                </a:solidFill>
                <a:latin typeface="Inter"/>
                <a:ea typeface="Inter"/>
                <a:cs typeface="Inter"/>
                <a:sym typeface="Inter"/>
              </a:rPr>
              <a:t> </a:t>
            </a:r>
            <a:r>
              <a:rPr lang="en-US" sz="1425" b="0" i="0" u="none" strike="noStrike" cap="none" dirty="0" err="1">
                <a:solidFill>
                  <a:srgbClr val="334155"/>
                </a:solidFill>
                <a:latin typeface="Inter"/>
                <a:ea typeface="Inter"/>
                <a:cs typeface="Inter"/>
                <a:sym typeface="Inter"/>
              </a:rPr>
              <a:t>por</a:t>
            </a:r>
            <a:r>
              <a:rPr lang="en-US" sz="1425" b="0" i="0" u="none" strike="noStrike" cap="none" dirty="0">
                <a:solidFill>
                  <a:srgbClr val="334155"/>
                </a:solidFill>
                <a:latin typeface="Inter"/>
                <a:ea typeface="Inter"/>
                <a:cs typeface="Inter"/>
                <a:sym typeface="Inter"/>
              </a:rPr>
              <a:t> </a:t>
            </a:r>
            <a:r>
              <a:rPr lang="en-US" sz="1425" b="0" i="0" u="none" strike="noStrike" cap="none" dirty="0" err="1">
                <a:solidFill>
                  <a:srgbClr val="334155"/>
                </a:solidFill>
                <a:latin typeface="Inter"/>
                <a:ea typeface="Inter"/>
                <a:cs typeface="Inter"/>
                <a:sym typeface="Inter"/>
              </a:rPr>
              <a:t>una</a:t>
            </a:r>
            <a:r>
              <a:rPr lang="en-US" sz="1425" b="0" i="0" u="none" strike="noStrike" cap="none" dirty="0">
                <a:solidFill>
                  <a:srgbClr val="334155"/>
                </a:solidFill>
                <a:latin typeface="Inter"/>
                <a:ea typeface="Inter"/>
                <a:cs typeface="Inter"/>
                <a:sym typeface="Inter"/>
              </a:rPr>
              <a:t> variable incremental.</a:t>
            </a:r>
            <a:endParaRPr dirty="0"/>
          </a:p>
        </p:txBody>
      </p:sp>
      <p:sp>
        <p:nvSpPr>
          <p:cNvPr id="122" name="Google Shape;122;p15"/>
          <p:cNvSpPr txBox="1"/>
          <p:nvPr/>
        </p:nvSpPr>
        <p:spPr>
          <a:xfrm>
            <a:off x="6581775" y="2512516"/>
            <a:ext cx="4980622" cy="295275"/>
          </a:xfrm>
          <a:prstGeom prst="rect">
            <a:avLst/>
          </a:prstGeom>
          <a:noFill/>
          <a:ln>
            <a:noFill/>
          </a:ln>
        </p:spPr>
        <p:txBody>
          <a:bodyPr spcFirstLastPara="1" wrap="square" lIns="381000" tIns="0" rIns="0" bIns="0" anchor="t" anchorCtr="0">
            <a:spAutoFit/>
          </a:bodyPr>
          <a:lstStyle/>
          <a:p>
            <a:pPr marL="0" marR="0" lvl="0" indent="0" algn="l" rtl="0">
              <a:spcBef>
                <a:spcPts val="0"/>
              </a:spcBef>
              <a:spcAft>
                <a:spcPts val="0"/>
              </a:spcAft>
              <a:buNone/>
            </a:pPr>
            <a:r>
              <a:rPr lang="en-US" sz="1800" b="1" i="0" u="none" strike="noStrike" cap="none">
                <a:solidFill>
                  <a:srgbClr val="475569"/>
                </a:solidFill>
                <a:latin typeface="Merriweather"/>
                <a:ea typeface="Merriweather"/>
                <a:cs typeface="Merriweather"/>
                <a:sym typeface="Merriweather"/>
              </a:rPr>
              <a:t>Control por Centinela</a:t>
            </a:r>
            <a:endParaRPr/>
          </a:p>
        </p:txBody>
      </p:sp>
      <p:sp>
        <p:nvSpPr>
          <p:cNvPr id="123" name="Google Shape;123;p15"/>
          <p:cNvSpPr txBox="1"/>
          <p:nvPr/>
        </p:nvSpPr>
        <p:spPr>
          <a:xfrm>
            <a:off x="6581775" y="2950666"/>
            <a:ext cx="4743450" cy="578941"/>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334155"/>
                </a:solidFill>
                <a:latin typeface="Inter"/>
                <a:ea typeface="Inter"/>
                <a:cs typeface="Inter"/>
                <a:sym typeface="Inter"/>
              </a:rPr>
              <a:t>El bucle se detiene cuando el </a:t>
            </a:r>
            <a:r>
              <a:rPr lang="en-US" sz="1425" b="1" i="0" u="none" strike="noStrike" cap="none">
                <a:solidFill>
                  <a:srgbClr val="334155"/>
                </a:solidFill>
                <a:latin typeface="Inter"/>
                <a:ea typeface="Inter"/>
                <a:cs typeface="Inter"/>
                <a:sym typeface="Inter"/>
              </a:rPr>
              <a:t>usuario</a:t>
            </a:r>
            <a:r>
              <a:rPr lang="en-US" sz="1425" b="0" i="0" u="none" strike="noStrike" cap="none">
                <a:solidFill>
                  <a:srgbClr val="334155"/>
                </a:solidFill>
                <a:latin typeface="Inter"/>
                <a:ea typeface="Inter"/>
                <a:cs typeface="Inter"/>
                <a:sym typeface="Inter"/>
              </a:rPr>
              <a:t> ingresa un valor especial. El control es externo y flexible.</a:t>
            </a:r>
            <a:endParaRPr/>
          </a:p>
        </p:txBody>
      </p:sp>
      <p:pic>
        <p:nvPicPr>
          <p:cNvPr id="124" name="Google Shape;124;p15" descr="image.png"/>
          <p:cNvPicPr preferRelativeResize="0"/>
          <p:nvPr/>
        </p:nvPicPr>
        <p:blipFill rotWithShape="1">
          <a:blip r:embed="rId9">
            <a:alphaModFix/>
          </a:blip>
          <a:srcRect/>
          <a:stretch/>
        </p:blipFill>
        <p:spPr>
          <a:xfrm>
            <a:off x="866775" y="2541091"/>
            <a:ext cx="200025" cy="228600"/>
          </a:xfrm>
          <a:prstGeom prst="rect">
            <a:avLst/>
          </a:prstGeom>
          <a:noFill/>
          <a:ln>
            <a:noFill/>
          </a:ln>
        </p:spPr>
      </p:pic>
      <p:pic>
        <p:nvPicPr>
          <p:cNvPr id="125" name="Google Shape;125;p15" descr="image.png"/>
          <p:cNvPicPr preferRelativeResize="0"/>
          <p:nvPr/>
        </p:nvPicPr>
        <p:blipFill rotWithShape="1">
          <a:blip r:embed="rId10">
            <a:alphaModFix/>
          </a:blip>
          <a:srcRect/>
          <a:stretch/>
        </p:blipFill>
        <p:spPr>
          <a:xfrm>
            <a:off x="6581775" y="2541091"/>
            <a:ext cx="285750" cy="2286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1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p:bldP spid="119" grpId="0"/>
      <p:bldP spid="120" grpId="0"/>
      <p:bldP spid="121" grpId="0"/>
      <p:bldP spid="122" grpId="0"/>
      <p:bldP spid="123"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29"/>
        <p:cNvGrpSpPr/>
        <p:nvPr/>
      </p:nvGrpSpPr>
      <p:grpSpPr>
        <a:xfrm>
          <a:off x="0" y="0"/>
          <a:ext cx="0" cy="0"/>
          <a:chOff x="0" y="0"/>
          <a:chExt cx="0" cy="0"/>
        </a:xfrm>
      </p:grpSpPr>
      <p:pic>
        <p:nvPicPr>
          <p:cNvPr id="130" name="Google Shape;130;p16"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31" name="Google Shape;131;p16" descr="image.png"/>
          <p:cNvPicPr preferRelativeResize="0"/>
          <p:nvPr/>
        </p:nvPicPr>
        <p:blipFill rotWithShape="1">
          <a:blip r:embed="rId4">
            <a:alphaModFix/>
          </a:blip>
          <a:srcRect/>
          <a:stretch/>
        </p:blipFill>
        <p:spPr>
          <a:xfrm>
            <a:off x="6286500" y="1304925"/>
            <a:ext cx="5334000" cy="4146649"/>
          </a:xfrm>
          <a:prstGeom prst="rect">
            <a:avLst/>
          </a:prstGeom>
          <a:noFill/>
          <a:ln>
            <a:noFill/>
          </a:ln>
        </p:spPr>
      </p:pic>
      <p:sp>
        <p:nvSpPr>
          <p:cNvPr id="132" name="Google Shape;132;p16"/>
          <p:cNvSpPr txBox="1"/>
          <p:nvPr/>
        </p:nvSpPr>
        <p:spPr>
          <a:xfrm>
            <a:off x="571500" y="476250"/>
            <a:ext cx="11601450" cy="4476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i="0" u="none" strike="noStrike" cap="none">
                <a:solidFill>
                  <a:srgbClr val="1E3A8A"/>
                </a:solidFill>
                <a:latin typeface="Merriweather"/>
                <a:ea typeface="Merriweather"/>
                <a:cs typeface="Merriweather"/>
                <a:sym typeface="Merriweather"/>
              </a:rPr>
              <a:t>Estrategia 1: El Centinela</a:t>
            </a:r>
            <a:endParaRPr/>
          </a:p>
        </p:txBody>
      </p:sp>
      <p:sp>
        <p:nvSpPr>
          <p:cNvPr id="133" name="Google Shape;133;p16"/>
          <p:cNvSpPr/>
          <p:nvPr/>
        </p:nvSpPr>
        <p:spPr>
          <a:xfrm>
            <a:off x="571500" y="1047750"/>
            <a:ext cx="11049000"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4" name="Google Shape;134;p16"/>
          <p:cNvSpPr txBox="1"/>
          <p:nvPr/>
        </p:nvSpPr>
        <p:spPr>
          <a:xfrm>
            <a:off x="571500" y="1304925"/>
            <a:ext cx="5600700" cy="2952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1E3A8A"/>
                </a:solidFill>
                <a:latin typeface="Merriweather"/>
                <a:ea typeface="Merriweather"/>
                <a:cs typeface="Merriweather"/>
                <a:sym typeface="Merriweather"/>
              </a:rPr>
              <a:t>(Cuando el Usuario Manda)</a:t>
            </a:r>
            <a:endParaRPr/>
          </a:p>
        </p:txBody>
      </p:sp>
      <p:sp>
        <p:nvSpPr>
          <p:cNvPr id="135" name="Google Shape;135;p16"/>
          <p:cNvSpPr txBox="1"/>
          <p:nvPr/>
        </p:nvSpPr>
        <p:spPr>
          <a:xfrm>
            <a:off x="571500" y="1790700"/>
            <a:ext cx="5334000" cy="868412"/>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334155"/>
                </a:solidFill>
                <a:latin typeface="Inter"/>
                <a:ea typeface="Inter"/>
                <a:cs typeface="Inter"/>
                <a:sym typeface="Inter"/>
              </a:rPr>
              <a:t>Un centinela es simplemente un </a:t>
            </a:r>
            <a:r>
              <a:rPr lang="en-US" sz="1425" b="1" i="0" u="none" strike="noStrike" cap="none">
                <a:solidFill>
                  <a:srgbClr val="334155"/>
                </a:solidFill>
                <a:latin typeface="Inter"/>
                <a:ea typeface="Inter"/>
                <a:cs typeface="Inter"/>
                <a:sym typeface="Inter"/>
              </a:rPr>
              <a:t>valor especial</a:t>
            </a:r>
            <a:r>
              <a:rPr lang="en-US" sz="1425" b="0" i="0" u="none" strike="noStrike" cap="none">
                <a:solidFill>
                  <a:srgbClr val="334155"/>
                </a:solidFill>
                <a:latin typeface="Inter"/>
                <a:ea typeface="Inter"/>
                <a:cs typeface="Inter"/>
                <a:sym typeface="Inter"/>
              </a:rPr>
              <a:t> (numérico o texto) que el usuario ingresa, el cual no podría ser un dato válido para el proceso.</a:t>
            </a:r>
            <a:endParaRPr/>
          </a:p>
        </p:txBody>
      </p:sp>
      <p:pic>
        <p:nvPicPr>
          <p:cNvPr id="136" name="Google Shape;136;p16" descr="image.png"/>
          <p:cNvPicPr preferRelativeResize="0"/>
          <p:nvPr/>
        </p:nvPicPr>
        <p:blipFill rotWithShape="1">
          <a:blip r:embed="rId5">
            <a:alphaModFix/>
          </a:blip>
          <a:srcRect/>
          <a:stretch/>
        </p:blipFill>
        <p:spPr>
          <a:xfrm>
            <a:off x="6677025" y="1695450"/>
            <a:ext cx="4552950" cy="571500"/>
          </a:xfrm>
          <a:prstGeom prst="rect">
            <a:avLst/>
          </a:prstGeom>
          <a:noFill/>
          <a:ln>
            <a:noFill/>
          </a:ln>
        </p:spPr>
      </p:pic>
      <p:sp>
        <p:nvSpPr>
          <p:cNvPr id="137" name="Google Shape;137;p16"/>
          <p:cNvSpPr txBox="1"/>
          <p:nvPr/>
        </p:nvSpPr>
        <p:spPr>
          <a:xfrm>
            <a:off x="6563201" y="2457450"/>
            <a:ext cx="4780597" cy="2952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i="0" u="none" strike="noStrike" cap="none">
                <a:solidFill>
                  <a:srgbClr val="0F172A"/>
                </a:solidFill>
                <a:latin typeface="Merriweather"/>
                <a:ea typeface="Merriweather"/>
                <a:cs typeface="Merriweather"/>
                <a:sym typeface="Merriweather"/>
              </a:rPr>
              <a:t>Analogía: El "Adiós"</a:t>
            </a:r>
            <a:endParaRPr/>
          </a:p>
        </p:txBody>
      </p:sp>
      <p:sp>
        <p:nvSpPr>
          <p:cNvPr id="138" name="Google Shape;138;p16"/>
          <p:cNvSpPr txBox="1"/>
          <p:nvPr/>
        </p:nvSpPr>
        <p:spPr>
          <a:xfrm>
            <a:off x="6677025" y="2895600"/>
            <a:ext cx="4552950" cy="578941"/>
          </a:xfrm>
          <a:prstGeom prst="rect">
            <a:avLst/>
          </a:prstGeom>
          <a:noFill/>
          <a:ln>
            <a:noFill/>
          </a:ln>
        </p:spPr>
        <p:txBody>
          <a:bodyPr spcFirstLastPara="1" wrap="square" lIns="0" tIns="0" rIns="0" bIns="0" anchor="t" anchorCtr="0">
            <a:spAutoFit/>
          </a:bodyPr>
          <a:lstStyle/>
          <a:p>
            <a:pPr marL="0" marR="0" lvl="0" indent="0" algn="ctr" rtl="0">
              <a:lnSpc>
                <a:spcPct val="159929"/>
              </a:lnSpc>
              <a:spcBef>
                <a:spcPts val="0"/>
              </a:spcBef>
              <a:spcAft>
                <a:spcPts val="0"/>
              </a:spcAft>
              <a:buNone/>
            </a:pPr>
            <a:r>
              <a:rPr lang="en-US" sz="1425" b="0" i="0" u="none" strike="noStrike" cap="none">
                <a:solidFill>
                  <a:srgbClr val="334155"/>
                </a:solidFill>
                <a:latin typeface="Inter"/>
                <a:ea typeface="Inter"/>
                <a:cs typeface="Inter"/>
                <a:sym typeface="Inter"/>
              </a:rPr>
              <a:t>Un centinela es como la palabra "adiós" en una conversación con un chatbot de soporte técnico.</a:t>
            </a:r>
            <a:endParaRPr/>
          </a:p>
        </p:txBody>
      </p:sp>
      <p:sp>
        <p:nvSpPr>
          <p:cNvPr id="139" name="Google Shape;139;p16"/>
          <p:cNvSpPr txBox="1"/>
          <p:nvPr/>
        </p:nvSpPr>
        <p:spPr>
          <a:xfrm>
            <a:off x="6677025" y="3760291"/>
            <a:ext cx="4552950" cy="1157882"/>
          </a:xfrm>
          <a:prstGeom prst="rect">
            <a:avLst/>
          </a:prstGeom>
          <a:noFill/>
          <a:ln>
            <a:noFill/>
          </a:ln>
        </p:spPr>
        <p:txBody>
          <a:bodyPr spcFirstLastPara="1" wrap="square" lIns="0" tIns="0" rIns="0" bIns="0" anchor="t" anchorCtr="0">
            <a:spAutoFit/>
          </a:bodyPr>
          <a:lstStyle/>
          <a:p>
            <a:pPr marL="0" marR="0" lvl="0" indent="0" algn="ctr" rtl="0">
              <a:lnSpc>
                <a:spcPct val="159929"/>
              </a:lnSpc>
              <a:spcBef>
                <a:spcPts val="0"/>
              </a:spcBef>
              <a:spcAft>
                <a:spcPts val="0"/>
              </a:spcAft>
              <a:buNone/>
            </a:pPr>
            <a:r>
              <a:rPr lang="en-US" sz="1425" b="0" i="0" u="none" strike="noStrike" cap="none">
                <a:solidFill>
                  <a:srgbClr val="1E3A8A"/>
                </a:solidFill>
                <a:latin typeface="Inter SemiBold"/>
                <a:ea typeface="Inter SemiBold"/>
                <a:cs typeface="Inter SemiBold"/>
                <a:sym typeface="Inter SemiBold"/>
              </a:rPr>
              <a:t>El chatbot (bucle) seguirá respondiendo `MIENTRAS` no escuche la palabra clave (centinela) que le indica que la conversación ha terminado.</a:t>
            </a:r>
            <a:endParaRPr/>
          </a:p>
        </p:txBody>
      </p:sp>
      <p:sp>
        <p:nvSpPr>
          <p:cNvPr id="140" name="Google Shape;140;p16"/>
          <p:cNvSpPr txBox="1"/>
          <p:nvPr/>
        </p:nvSpPr>
        <p:spPr>
          <a:xfrm>
            <a:off x="857250" y="2849612"/>
            <a:ext cx="5048250" cy="578941"/>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1" i="0" u="none" strike="noStrike" cap="none">
                <a:solidFill>
                  <a:srgbClr val="334155"/>
                </a:solidFill>
                <a:latin typeface="Inter"/>
                <a:ea typeface="Inter"/>
                <a:cs typeface="Inter"/>
                <a:sym typeface="Inter"/>
              </a:rPr>
              <a:t>Propósito:</a:t>
            </a:r>
            <a:r>
              <a:rPr lang="en-US" sz="1425" b="0" i="0" u="none" strike="noStrike" cap="none">
                <a:solidFill>
                  <a:srgbClr val="334155"/>
                </a:solidFill>
                <a:latin typeface="Inter"/>
                <a:ea typeface="Inter"/>
                <a:cs typeface="Inter"/>
                <a:sym typeface="Inter"/>
              </a:rPr>
              <a:t> Permitir al usuario terminar una entrada de datos de longitud variable en cualquier momento.</a:t>
            </a:r>
            <a:endParaRPr/>
          </a:p>
        </p:txBody>
      </p:sp>
      <p:sp>
        <p:nvSpPr>
          <p:cNvPr id="141" name="Google Shape;141;p16"/>
          <p:cNvSpPr txBox="1"/>
          <p:nvPr/>
        </p:nvSpPr>
        <p:spPr>
          <a:xfrm>
            <a:off x="857250" y="3571428"/>
            <a:ext cx="5048250" cy="578941"/>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1" i="0" u="none" strike="noStrike" cap="none">
                <a:solidFill>
                  <a:srgbClr val="334155"/>
                </a:solidFill>
                <a:latin typeface="Inter"/>
                <a:ea typeface="Inter"/>
                <a:cs typeface="Inter"/>
                <a:sym typeface="Inter"/>
              </a:rPr>
              <a:t>Control:</a:t>
            </a:r>
            <a:r>
              <a:rPr lang="en-US" sz="1425" b="0" i="0" u="none" strike="noStrike" cap="none">
                <a:solidFill>
                  <a:srgbClr val="334155"/>
                </a:solidFill>
                <a:latin typeface="Inter"/>
                <a:ea typeface="Inter"/>
                <a:cs typeface="Inter"/>
                <a:sym typeface="Inter"/>
              </a:rPr>
              <a:t> El usuario tiene el 100% del control sobre la parada del bucle.</a:t>
            </a:r>
            <a:endParaRPr/>
          </a:p>
        </p:txBody>
      </p:sp>
      <p:sp>
        <p:nvSpPr>
          <p:cNvPr id="142" name="Google Shape;142;p16"/>
          <p:cNvSpPr txBox="1"/>
          <p:nvPr/>
        </p:nvSpPr>
        <p:spPr>
          <a:xfrm>
            <a:off x="857250" y="4293244"/>
            <a:ext cx="5048250" cy="578941"/>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1" i="0" u="none" strike="noStrike" cap="none">
                <a:solidFill>
                  <a:srgbClr val="334155"/>
                </a:solidFill>
                <a:latin typeface="Inter"/>
                <a:ea typeface="Inter"/>
                <a:cs typeface="Inter"/>
                <a:sym typeface="Inter"/>
              </a:rPr>
              <a:t>Ejemplo:</a:t>
            </a:r>
            <a:r>
              <a:rPr lang="en-US" sz="1425" b="0" i="0" u="none" strike="noStrike" cap="none">
                <a:solidFill>
                  <a:srgbClr val="334155"/>
                </a:solidFill>
                <a:latin typeface="Inter"/>
                <a:ea typeface="Inter"/>
                <a:cs typeface="Inter"/>
                <a:sym typeface="Inter"/>
              </a:rPr>
              <a:t> Ingresar el valor -1 para dejar de añadir edades a un cálculo de promedios.</a:t>
            </a:r>
            <a:endParaRPr/>
          </a:p>
        </p:txBody>
      </p:sp>
      <p:pic>
        <p:nvPicPr>
          <p:cNvPr id="143" name="Google Shape;143;p16" descr="image.png"/>
          <p:cNvPicPr preferRelativeResize="0"/>
          <p:nvPr/>
        </p:nvPicPr>
        <p:blipFill rotWithShape="1">
          <a:blip r:embed="rId6">
            <a:alphaModFix/>
          </a:blip>
          <a:srcRect/>
          <a:stretch/>
        </p:blipFill>
        <p:spPr>
          <a:xfrm>
            <a:off x="571500" y="2868662"/>
            <a:ext cx="95250" cy="190500"/>
          </a:xfrm>
          <a:prstGeom prst="rect">
            <a:avLst/>
          </a:prstGeom>
          <a:noFill/>
          <a:ln>
            <a:noFill/>
          </a:ln>
        </p:spPr>
      </p:pic>
      <p:pic>
        <p:nvPicPr>
          <p:cNvPr id="144" name="Google Shape;144;p16" descr="image.png"/>
          <p:cNvPicPr preferRelativeResize="0"/>
          <p:nvPr/>
        </p:nvPicPr>
        <p:blipFill rotWithShape="1">
          <a:blip r:embed="rId6">
            <a:alphaModFix/>
          </a:blip>
          <a:srcRect/>
          <a:stretch/>
        </p:blipFill>
        <p:spPr>
          <a:xfrm>
            <a:off x="571500" y="3590478"/>
            <a:ext cx="95250" cy="190500"/>
          </a:xfrm>
          <a:prstGeom prst="rect">
            <a:avLst/>
          </a:prstGeom>
          <a:noFill/>
          <a:ln>
            <a:noFill/>
          </a:ln>
        </p:spPr>
      </p:pic>
      <p:pic>
        <p:nvPicPr>
          <p:cNvPr id="145" name="Google Shape;145;p16" descr="image.png"/>
          <p:cNvPicPr preferRelativeResize="0"/>
          <p:nvPr/>
        </p:nvPicPr>
        <p:blipFill rotWithShape="1">
          <a:blip r:embed="rId6">
            <a:alphaModFix/>
          </a:blip>
          <a:srcRect/>
          <a:stretch/>
        </p:blipFill>
        <p:spPr>
          <a:xfrm>
            <a:off x="571500" y="4312294"/>
            <a:ext cx="95250" cy="1905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3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3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3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 grpId="0"/>
      <p:bldP spid="137" grpId="0"/>
      <p:bldP spid="138" grpId="0"/>
      <p:bldP spid="139" grpId="0"/>
      <p:bldP spid="140" grpId="0"/>
      <p:bldP spid="141" grpId="0"/>
      <p:bldP spid="142"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49"/>
        <p:cNvGrpSpPr/>
        <p:nvPr/>
      </p:nvGrpSpPr>
      <p:grpSpPr>
        <a:xfrm>
          <a:off x="0" y="0"/>
          <a:ext cx="0" cy="0"/>
          <a:chOff x="0" y="0"/>
          <a:chExt cx="0" cy="0"/>
        </a:xfrm>
      </p:grpSpPr>
      <p:pic>
        <p:nvPicPr>
          <p:cNvPr id="150" name="Google Shape;150;p17"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51" name="Google Shape;151;p17" descr="image.png"/>
          <p:cNvPicPr preferRelativeResize="0"/>
          <p:nvPr/>
        </p:nvPicPr>
        <p:blipFill rotWithShape="1">
          <a:blip r:embed="rId4">
            <a:alphaModFix/>
          </a:blip>
          <a:srcRect/>
          <a:stretch/>
        </p:blipFill>
        <p:spPr>
          <a:xfrm>
            <a:off x="6286500" y="1304925"/>
            <a:ext cx="5334000" cy="4436119"/>
          </a:xfrm>
          <a:prstGeom prst="rect">
            <a:avLst/>
          </a:prstGeom>
          <a:noFill/>
          <a:ln>
            <a:noFill/>
          </a:ln>
        </p:spPr>
      </p:pic>
      <p:sp>
        <p:nvSpPr>
          <p:cNvPr id="152" name="Google Shape;152;p17"/>
          <p:cNvSpPr txBox="1"/>
          <p:nvPr/>
        </p:nvSpPr>
        <p:spPr>
          <a:xfrm>
            <a:off x="571500" y="476250"/>
            <a:ext cx="11601450" cy="4476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i="0" u="none" strike="noStrike" cap="none">
                <a:solidFill>
                  <a:srgbClr val="1E3A8A"/>
                </a:solidFill>
                <a:latin typeface="Merriweather"/>
                <a:ea typeface="Merriweather"/>
                <a:cs typeface="Merriweather"/>
                <a:sym typeface="Merriweather"/>
              </a:rPr>
              <a:t>Estrategia 2: La Bandera (Flag)</a:t>
            </a:r>
            <a:endParaRPr/>
          </a:p>
        </p:txBody>
      </p:sp>
      <p:sp>
        <p:nvSpPr>
          <p:cNvPr id="153" name="Google Shape;153;p17"/>
          <p:cNvSpPr/>
          <p:nvPr/>
        </p:nvSpPr>
        <p:spPr>
          <a:xfrm>
            <a:off x="571500" y="1047750"/>
            <a:ext cx="11049000"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4" name="Google Shape;154;p17"/>
          <p:cNvSpPr txBox="1"/>
          <p:nvPr/>
        </p:nvSpPr>
        <p:spPr>
          <a:xfrm>
            <a:off x="571500" y="1304925"/>
            <a:ext cx="5600700" cy="2952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1E3A8A"/>
                </a:solidFill>
                <a:latin typeface="Merriweather"/>
                <a:ea typeface="Merriweather"/>
                <a:cs typeface="Merriweather"/>
                <a:sym typeface="Merriweather"/>
              </a:rPr>
              <a:t>(Cuando el Programa Decide)</a:t>
            </a:r>
            <a:endParaRPr/>
          </a:p>
        </p:txBody>
      </p:sp>
      <p:sp>
        <p:nvSpPr>
          <p:cNvPr id="155" name="Google Shape;155;p17"/>
          <p:cNvSpPr txBox="1"/>
          <p:nvPr/>
        </p:nvSpPr>
        <p:spPr>
          <a:xfrm>
            <a:off x="571500" y="1790700"/>
            <a:ext cx="5334000" cy="868412"/>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334155"/>
                </a:solidFill>
                <a:latin typeface="Inter"/>
                <a:ea typeface="Inter"/>
                <a:cs typeface="Inter"/>
                <a:sym typeface="Inter"/>
              </a:rPr>
              <a:t>Aquí está nuestra nueva herramienta. Una bandera (o "flag") es una variable lógica (boleano) que el programa usa como un </a:t>
            </a:r>
            <a:r>
              <a:rPr lang="en-US" sz="1425" b="1" i="0" u="none" strike="noStrike" cap="none">
                <a:solidFill>
                  <a:srgbClr val="334155"/>
                </a:solidFill>
                <a:latin typeface="Inter"/>
                <a:ea typeface="Inter"/>
                <a:cs typeface="Inter"/>
                <a:sym typeface="Inter"/>
              </a:rPr>
              <a:t>interruptor interno</a:t>
            </a:r>
            <a:r>
              <a:rPr lang="en-US" sz="1425" b="0" i="0" u="none" strike="noStrike" cap="none">
                <a:solidFill>
                  <a:srgbClr val="334155"/>
                </a:solidFill>
                <a:latin typeface="Inter"/>
                <a:ea typeface="Inter"/>
                <a:cs typeface="Inter"/>
                <a:sym typeface="Inter"/>
              </a:rPr>
              <a:t> para recordar si algo importante sucedió.</a:t>
            </a:r>
            <a:endParaRPr/>
          </a:p>
        </p:txBody>
      </p:sp>
      <p:pic>
        <p:nvPicPr>
          <p:cNvPr id="156" name="Google Shape;156;p17" descr="image.png"/>
          <p:cNvPicPr preferRelativeResize="0"/>
          <p:nvPr/>
        </p:nvPicPr>
        <p:blipFill rotWithShape="1">
          <a:blip r:embed="rId5">
            <a:alphaModFix/>
          </a:blip>
          <a:srcRect/>
          <a:stretch/>
        </p:blipFill>
        <p:spPr>
          <a:xfrm>
            <a:off x="6677025" y="1695450"/>
            <a:ext cx="4552950" cy="571500"/>
          </a:xfrm>
          <a:prstGeom prst="rect">
            <a:avLst/>
          </a:prstGeom>
          <a:noFill/>
          <a:ln>
            <a:noFill/>
          </a:ln>
        </p:spPr>
      </p:pic>
      <p:sp>
        <p:nvSpPr>
          <p:cNvPr id="157" name="Google Shape;157;p17"/>
          <p:cNvSpPr txBox="1"/>
          <p:nvPr/>
        </p:nvSpPr>
        <p:spPr>
          <a:xfrm>
            <a:off x="6563201" y="2457450"/>
            <a:ext cx="4780597" cy="2952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i="0" u="none" strike="noStrike" cap="none">
                <a:solidFill>
                  <a:srgbClr val="0F172A"/>
                </a:solidFill>
                <a:latin typeface="Merriweather"/>
                <a:ea typeface="Merriweather"/>
                <a:cs typeface="Merriweather"/>
                <a:sym typeface="Merriweather"/>
              </a:rPr>
              <a:t>Analogía: El Sensor</a:t>
            </a:r>
            <a:endParaRPr/>
          </a:p>
        </p:txBody>
      </p:sp>
      <p:sp>
        <p:nvSpPr>
          <p:cNvPr id="158" name="Google Shape;158;p17"/>
          <p:cNvSpPr txBox="1"/>
          <p:nvPr/>
        </p:nvSpPr>
        <p:spPr>
          <a:xfrm>
            <a:off x="6677025" y="2895600"/>
            <a:ext cx="4552950" cy="578941"/>
          </a:xfrm>
          <a:prstGeom prst="rect">
            <a:avLst/>
          </a:prstGeom>
          <a:noFill/>
          <a:ln>
            <a:noFill/>
          </a:ln>
        </p:spPr>
        <p:txBody>
          <a:bodyPr spcFirstLastPara="1" wrap="square" lIns="0" tIns="0" rIns="0" bIns="0" anchor="t" anchorCtr="0">
            <a:spAutoFit/>
          </a:bodyPr>
          <a:lstStyle/>
          <a:p>
            <a:pPr marL="0" marR="0" lvl="0" indent="0" algn="ctr" rtl="0">
              <a:lnSpc>
                <a:spcPct val="159929"/>
              </a:lnSpc>
              <a:spcBef>
                <a:spcPts val="0"/>
              </a:spcBef>
              <a:spcAft>
                <a:spcPts val="0"/>
              </a:spcAft>
              <a:buNone/>
            </a:pPr>
            <a:r>
              <a:rPr lang="en-US" sz="1425" b="0" i="0" u="none" strike="noStrike" cap="none">
                <a:solidFill>
                  <a:srgbClr val="334155"/>
                </a:solidFill>
                <a:latin typeface="Inter"/>
                <a:ea typeface="Inter"/>
                <a:cs typeface="Inter"/>
                <a:sym typeface="Inter"/>
              </a:rPr>
              <a:t>Una bandera es como el sensor de una alarma de incendios.</a:t>
            </a:r>
            <a:endParaRPr/>
          </a:p>
        </p:txBody>
      </p:sp>
      <p:sp>
        <p:nvSpPr>
          <p:cNvPr id="159" name="Google Shape;159;p17"/>
          <p:cNvSpPr txBox="1"/>
          <p:nvPr/>
        </p:nvSpPr>
        <p:spPr>
          <a:xfrm>
            <a:off x="6677025" y="3760291"/>
            <a:ext cx="4552950" cy="1447353"/>
          </a:xfrm>
          <a:prstGeom prst="rect">
            <a:avLst/>
          </a:prstGeom>
          <a:noFill/>
          <a:ln>
            <a:noFill/>
          </a:ln>
        </p:spPr>
        <p:txBody>
          <a:bodyPr spcFirstLastPara="1" wrap="square" lIns="0" tIns="0" rIns="0" bIns="0" anchor="t" anchorCtr="0">
            <a:spAutoFit/>
          </a:bodyPr>
          <a:lstStyle/>
          <a:p>
            <a:pPr marL="0" marR="0" lvl="0" indent="0" algn="ctr" rtl="0">
              <a:lnSpc>
                <a:spcPct val="159929"/>
              </a:lnSpc>
              <a:spcBef>
                <a:spcPts val="0"/>
              </a:spcBef>
              <a:spcAft>
                <a:spcPts val="0"/>
              </a:spcAft>
              <a:buNone/>
            </a:pPr>
            <a:r>
              <a:rPr lang="en-US" sz="1425" b="0" i="0" u="none" strike="noStrike" cap="none">
                <a:solidFill>
                  <a:srgbClr val="1E3A8A"/>
                </a:solidFill>
                <a:latin typeface="Inter SemiBold"/>
                <a:ea typeface="Inter SemiBold"/>
                <a:cs typeface="Inter SemiBold"/>
                <a:sym typeface="Inter SemiBold"/>
              </a:rPr>
              <a:t>El sistema está "normal" (bandera=`falso`). `MIENTRAS` el sensor no detecte humo, todo sigue igual. Apenas lo detecta, el estado cambia (bandera=`verdadero`) y el ciclo se detiene para activar la alarma.</a:t>
            </a:r>
            <a:endParaRPr/>
          </a:p>
        </p:txBody>
      </p:sp>
      <p:sp>
        <p:nvSpPr>
          <p:cNvPr id="160" name="Google Shape;160;p17"/>
          <p:cNvSpPr txBox="1"/>
          <p:nvPr/>
        </p:nvSpPr>
        <p:spPr>
          <a:xfrm>
            <a:off x="857250" y="2849612"/>
            <a:ext cx="5048250" cy="868412"/>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1" i="0" u="none" strike="noStrike" cap="none">
                <a:solidFill>
                  <a:srgbClr val="334155"/>
                </a:solidFill>
                <a:latin typeface="Inter"/>
                <a:ea typeface="Inter"/>
                <a:cs typeface="Inter"/>
                <a:sym typeface="Inter"/>
              </a:rPr>
              <a:t>Propósito:</a:t>
            </a:r>
            <a:r>
              <a:rPr lang="en-US" sz="1425" b="0" i="0" u="none" strike="noStrike" cap="none">
                <a:solidFill>
                  <a:srgbClr val="334155"/>
                </a:solidFill>
                <a:latin typeface="Inter"/>
                <a:ea typeface="Inter"/>
                <a:cs typeface="Inter"/>
                <a:sym typeface="Inter"/>
              </a:rPr>
              <a:t> Detener un bucle tan pronto como se cumple una condición o evento interno, sin necesidad de dar más vueltas inútiles.</a:t>
            </a:r>
            <a:endParaRPr/>
          </a:p>
        </p:txBody>
      </p:sp>
      <p:sp>
        <p:nvSpPr>
          <p:cNvPr id="161" name="Google Shape;161;p17"/>
          <p:cNvSpPr txBox="1"/>
          <p:nvPr/>
        </p:nvSpPr>
        <p:spPr>
          <a:xfrm>
            <a:off x="857250" y="3860899"/>
            <a:ext cx="5048250" cy="578941"/>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1" i="0" u="none" strike="noStrike" cap="none">
                <a:solidFill>
                  <a:srgbClr val="334155"/>
                </a:solidFill>
                <a:latin typeface="Inter"/>
                <a:ea typeface="Inter"/>
                <a:cs typeface="Inter"/>
                <a:sym typeface="Inter"/>
              </a:rPr>
              <a:t>Control:</a:t>
            </a:r>
            <a:r>
              <a:rPr lang="en-US" sz="1425" b="0" i="0" u="none" strike="noStrike" cap="none">
                <a:solidFill>
                  <a:srgbClr val="334155"/>
                </a:solidFill>
                <a:latin typeface="Inter"/>
                <a:ea typeface="Inter"/>
                <a:cs typeface="Inter"/>
                <a:sym typeface="Inter"/>
              </a:rPr>
              <a:t> El programa tiene el 100% del control. La parada es automática tras una evaluación.</a:t>
            </a:r>
            <a:endParaRPr/>
          </a:p>
        </p:txBody>
      </p:sp>
      <p:sp>
        <p:nvSpPr>
          <p:cNvPr id="162" name="Google Shape;162;p17"/>
          <p:cNvSpPr txBox="1"/>
          <p:nvPr/>
        </p:nvSpPr>
        <p:spPr>
          <a:xfrm>
            <a:off x="857250" y="4582715"/>
            <a:ext cx="5048250" cy="578941"/>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1" i="0" u="none" strike="noStrike" cap="none">
                <a:solidFill>
                  <a:srgbClr val="334155"/>
                </a:solidFill>
                <a:latin typeface="Inter"/>
                <a:ea typeface="Inter"/>
                <a:cs typeface="Inter"/>
                <a:sym typeface="Inter"/>
              </a:rPr>
              <a:t>Ejemplo:</a:t>
            </a:r>
            <a:r>
              <a:rPr lang="en-US" sz="1425" b="0" i="0" u="none" strike="noStrike" cap="none">
                <a:solidFill>
                  <a:srgbClr val="334155"/>
                </a:solidFill>
                <a:latin typeface="Inter"/>
                <a:ea typeface="Inter"/>
                <a:cs typeface="Inter"/>
                <a:sym typeface="Inter"/>
              </a:rPr>
              <a:t> Dejar de buscar en una base de datos en el instante en que se encuentra el registro deseado.</a:t>
            </a:r>
            <a:endParaRPr/>
          </a:p>
        </p:txBody>
      </p:sp>
      <p:pic>
        <p:nvPicPr>
          <p:cNvPr id="163" name="Google Shape;163;p17" descr="image.png"/>
          <p:cNvPicPr preferRelativeResize="0"/>
          <p:nvPr/>
        </p:nvPicPr>
        <p:blipFill rotWithShape="1">
          <a:blip r:embed="rId6">
            <a:alphaModFix/>
          </a:blip>
          <a:srcRect/>
          <a:stretch/>
        </p:blipFill>
        <p:spPr>
          <a:xfrm>
            <a:off x="571500" y="2868662"/>
            <a:ext cx="95250" cy="190500"/>
          </a:xfrm>
          <a:prstGeom prst="rect">
            <a:avLst/>
          </a:prstGeom>
          <a:noFill/>
          <a:ln>
            <a:noFill/>
          </a:ln>
        </p:spPr>
      </p:pic>
      <p:pic>
        <p:nvPicPr>
          <p:cNvPr id="164" name="Google Shape;164;p17" descr="image.png"/>
          <p:cNvPicPr preferRelativeResize="0"/>
          <p:nvPr/>
        </p:nvPicPr>
        <p:blipFill rotWithShape="1">
          <a:blip r:embed="rId6">
            <a:alphaModFix/>
          </a:blip>
          <a:srcRect/>
          <a:stretch/>
        </p:blipFill>
        <p:spPr>
          <a:xfrm>
            <a:off x="571500" y="3879949"/>
            <a:ext cx="95250" cy="190500"/>
          </a:xfrm>
          <a:prstGeom prst="rect">
            <a:avLst/>
          </a:prstGeom>
          <a:noFill/>
          <a:ln>
            <a:noFill/>
          </a:ln>
        </p:spPr>
      </p:pic>
      <p:pic>
        <p:nvPicPr>
          <p:cNvPr id="165" name="Google Shape;165;p17" descr="image.png"/>
          <p:cNvPicPr preferRelativeResize="0"/>
          <p:nvPr/>
        </p:nvPicPr>
        <p:blipFill rotWithShape="1">
          <a:blip r:embed="rId6">
            <a:alphaModFix/>
          </a:blip>
          <a:srcRect/>
          <a:stretch/>
        </p:blipFill>
        <p:spPr>
          <a:xfrm>
            <a:off x="571500" y="4601765"/>
            <a:ext cx="95250" cy="1905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6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5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5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5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 grpId="0"/>
      <p:bldP spid="155" grpId="0"/>
      <p:bldP spid="157" grpId="0"/>
      <p:bldP spid="158" grpId="0"/>
      <p:bldP spid="159" grpId="0"/>
      <p:bldP spid="160" grpId="0"/>
      <p:bldP spid="161" grpId="0"/>
      <p:bldP spid="162"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69"/>
        <p:cNvGrpSpPr/>
        <p:nvPr/>
      </p:nvGrpSpPr>
      <p:grpSpPr>
        <a:xfrm>
          <a:off x="0" y="0"/>
          <a:ext cx="0" cy="0"/>
          <a:chOff x="0" y="0"/>
          <a:chExt cx="0" cy="0"/>
        </a:xfrm>
      </p:grpSpPr>
      <p:pic>
        <p:nvPicPr>
          <p:cNvPr id="170" name="Google Shape;170;p18"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71" name="Google Shape;171;p18" descr="image.png"/>
          <p:cNvPicPr preferRelativeResize="0"/>
          <p:nvPr/>
        </p:nvPicPr>
        <p:blipFill rotWithShape="1">
          <a:blip r:embed="rId4">
            <a:alphaModFix/>
          </a:blip>
          <a:srcRect/>
          <a:stretch/>
        </p:blipFill>
        <p:spPr>
          <a:xfrm>
            <a:off x="571500" y="1304925"/>
            <a:ext cx="5334000" cy="5076825"/>
          </a:xfrm>
          <a:prstGeom prst="rect">
            <a:avLst/>
          </a:prstGeom>
          <a:noFill/>
          <a:ln>
            <a:noFill/>
          </a:ln>
        </p:spPr>
      </p:pic>
      <p:pic>
        <p:nvPicPr>
          <p:cNvPr id="172" name="Google Shape;172;p18" descr="image.png"/>
          <p:cNvPicPr preferRelativeResize="0"/>
          <p:nvPr/>
        </p:nvPicPr>
        <p:blipFill rotWithShape="1">
          <a:blip r:embed="rId5">
            <a:alphaModFix/>
          </a:blip>
          <a:srcRect/>
          <a:stretch/>
        </p:blipFill>
        <p:spPr>
          <a:xfrm>
            <a:off x="6286500" y="1304925"/>
            <a:ext cx="5334000" cy="5076825"/>
          </a:xfrm>
          <a:prstGeom prst="rect">
            <a:avLst/>
          </a:prstGeom>
          <a:noFill/>
          <a:ln>
            <a:noFill/>
          </a:ln>
        </p:spPr>
      </p:pic>
      <p:sp>
        <p:nvSpPr>
          <p:cNvPr id="173" name="Google Shape;173;p18"/>
          <p:cNvSpPr txBox="1"/>
          <p:nvPr/>
        </p:nvSpPr>
        <p:spPr>
          <a:xfrm>
            <a:off x="571500" y="476250"/>
            <a:ext cx="11601450" cy="4476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i="0" u="none" strike="noStrike" cap="none">
                <a:solidFill>
                  <a:srgbClr val="1E3A8A"/>
                </a:solidFill>
                <a:latin typeface="Merriweather"/>
                <a:ea typeface="Merriweather"/>
                <a:cs typeface="Merriweather"/>
                <a:sym typeface="Merriweather"/>
              </a:rPr>
              <a:t>Centinela vs. Bandera: ¿Cuándo Usar Cada Uno?</a:t>
            </a:r>
            <a:endParaRPr/>
          </a:p>
        </p:txBody>
      </p:sp>
      <p:sp>
        <p:nvSpPr>
          <p:cNvPr id="174" name="Google Shape;174;p18"/>
          <p:cNvSpPr/>
          <p:nvPr/>
        </p:nvSpPr>
        <p:spPr>
          <a:xfrm>
            <a:off x="571500" y="1047750"/>
            <a:ext cx="11049000"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5" name="Google Shape;175;p18"/>
          <p:cNvSpPr txBox="1"/>
          <p:nvPr/>
        </p:nvSpPr>
        <p:spPr>
          <a:xfrm>
            <a:off x="748188" y="1638300"/>
            <a:ext cx="4980622" cy="2952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i="0" u="none" strike="noStrike" cap="none">
                <a:solidFill>
                  <a:srgbClr val="1E3A8A"/>
                </a:solidFill>
                <a:latin typeface="Merriweather"/>
                <a:ea typeface="Merriweather"/>
                <a:cs typeface="Merriweather"/>
                <a:sym typeface="Merriweather"/>
              </a:rPr>
              <a:t>Usa un CENTINELA cuando...</a:t>
            </a:r>
            <a:endParaRPr/>
          </a:p>
        </p:txBody>
      </p:sp>
      <p:sp>
        <p:nvSpPr>
          <p:cNvPr id="176" name="Google Shape;176;p18"/>
          <p:cNvSpPr txBox="1"/>
          <p:nvPr/>
        </p:nvSpPr>
        <p:spPr>
          <a:xfrm>
            <a:off x="6463188" y="1638300"/>
            <a:ext cx="4980622" cy="2952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i="0" u="none" strike="noStrike" cap="none">
                <a:solidFill>
                  <a:srgbClr val="991B1B"/>
                </a:solidFill>
                <a:latin typeface="Merriweather"/>
                <a:ea typeface="Merriweather"/>
                <a:cs typeface="Merriweather"/>
                <a:sym typeface="Merriweather"/>
              </a:rPr>
              <a:t>Usa una BANDERA cuando...</a:t>
            </a:r>
            <a:endParaRPr/>
          </a:p>
        </p:txBody>
      </p:sp>
      <p:sp>
        <p:nvSpPr>
          <p:cNvPr id="177" name="Google Shape;177;p18"/>
          <p:cNvSpPr txBox="1"/>
          <p:nvPr/>
        </p:nvSpPr>
        <p:spPr>
          <a:xfrm>
            <a:off x="1152525" y="2124075"/>
            <a:ext cx="4457700" cy="289470"/>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334155"/>
                </a:solidFill>
                <a:latin typeface="Inter"/>
                <a:ea typeface="Inter"/>
                <a:cs typeface="Inter"/>
                <a:sym typeface="Inter"/>
              </a:rPr>
              <a:t>La decisión de parar la toma netamente el </a:t>
            </a:r>
            <a:r>
              <a:rPr lang="en-US" sz="1425" b="1" i="0" u="none" strike="noStrike" cap="none">
                <a:solidFill>
                  <a:srgbClr val="334155"/>
                </a:solidFill>
                <a:latin typeface="Inter"/>
                <a:ea typeface="Inter"/>
                <a:cs typeface="Inter"/>
                <a:sym typeface="Inter"/>
              </a:rPr>
              <a:t>usuario</a:t>
            </a:r>
            <a:r>
              <a:rPr lang="en-US" sz="1425" b="0" i="0" u="none" strike="noStrike" cap="none">
                <a:solidFill>
                  <a:srgbClr val="334155"/>
                </a:solidFill>
                <a:latin typeface="Inter"/>
                <a:ea typeface="Inter"/>
                <a:cs typeface="Inter"/>
                <a:sym typeface="Inter"/>
              </a:rPr>
              <a:t>.</a:t>
            </a:r>
            <a:endParaRPr/>
          </a:p>
        </p:txBody>
      </p:sp>
      <p:sp>
        <p:nvSpPr>
          <p:cNvPr id="178" name="Google Shape;178;p18"/>
          <p:cNvSpPr txBox="1"/>
          <p:nvPr/>
        </p:nvSpPr>
        <p:spPr>
          <a:xfrm>
            <a:off x="1152525" y="2556420"/>
            <a:ext cx="4457700" cy="868412"/>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334155"/>
                </a:solidFill>
                <a:latin typeface="Inter"/>
                <a:ea typeface="Inter"/>
                <a:cs typeface="Inter"/>
                <a:sym typeface="Inter"/>
              </a:rPr>
              <a:t>Necesitas procesar una cantidad desconocida de datos que el usuario ingresará uno por uno manualmente.</a:t>
            </a:r>
            <a:endParaRPr/>
          </a:p>
        </p:txBody>
      </p:sp>
      <p:sp>
        <p:nvSpPr>
          <p:cNvPr id="179" name="Google Shape;179;p18"/>
          <p:cNvSpPr txBox="1"/>
          <p:nvPr/>
        </p:nvSpPr>
        <p:spPr>
          <a:xfrm>
            <a:off x="1152525" y="3567707"/>
            <a:ext cx="4457700" cy="578941"/>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334155"/>
                </a:solidFill>
                <a:latin typeface="Inter"/>
                <a:ea typeface="Inter"/>
                <a:cs typeface="Inter"/>
                <a:sym typeface="Inter"/>
              </a:rPr>
              <a:t>El bucle debe terminar solo cuando se introduce una señal específica y obvia (ej. 0, -1, "FIN", "salir").</a:t>
            </a:r>
            <a:endParaRPr/>
          </a:p>
        </p:txBody>
      </p:sp>
      <p:sp>
        <p:nvSpPr>
          <p:cNvPr id="180" name="Google Shape;180;p18"/>
          <p:cNvSpPr txBox="1"/>
          <p:nvPr/>
        </p:nvSpPr>
        <p:spPr>
          <a:xfrm>
            <a:off x="6867525" y="2044154"/>
            <a:ext cx="4457700" cy="578941"/>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334155"/>
                </a:solidFill>
                <a:latin typeface="Inter"/>
                <a:ea typeface="Inter"/>
                <a:cs typeface="Inter"/>
                <a:sym typeface="Inter"/>
              </a:rPr>
              <a:t>La decisión de parar la toma el </a:t>
            </a:r>
            <a:r>
              <a:rPr lang="en-US" sz="1425" b="1" i="0" u="none" strike="noStrike" cap="none">
                <a:solidFill>
                  <a:srgbClr val="334155"/>
                </a:solidFill>
                <a:latin typeface="Inter"/>
                <a:ea typeface="Inter"/>
                <a:cs typeface="Inter"/>
                <a:sym typeface="Inter"/>
              </a:rPr>
              <a:t>programa</a:t>
            </a:r>
            <a:r>
              <a:rPr lang="en-US" sz="1425" b="0" i="0" u="none" strike="noStrike" cap="none">
                <a:solidFill>
                  <a:srgbClr val="334155"/>
                </a:solidFill>
                <a:latin typeface="Inter"/>
                <a:ea typeface="Inter"/>
                <a:cs typeface="Inter"/>
                <a:sym typeface="Inter"/>
              </a:rPr>
              <a:t> basado en una evaluación de una condición interna.</a:t>
            </a:r>
            <a:endParaRPr/>
          </a:p>
        </p:txBody>
      </p:sp>
      <p:sp>
        <p:nvSpPr>
          <p:cNvPr id="181" name="Google Shape;181;p18"/>
          <p:cNvSpPr txBox="1"/>
          <p:nvPr/>
        </p:nvSpPr>
        <p:spPr>
          <a:xfrm>
            <a:off x="6867525" y="2765970"/>
            <a:ext cx="4457700" cy="868412"/>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334155"/>
                </a:solidFill>
                <a:latin typeface="Inter"/>
                <a:ea typeface="Inter"/>
                <a:cs typeface="Inter"/>
                <a:sym typeface="Inter"/>
              </a:rPr>
              <a:t>Necesitas detener un bucle inmediatamente después de que un evento ocurra, para optimizar procesos.</a:t>
            </a:r>
            <a:endParaRPr/>
          </a:p>
        </p:txBody>
      </p:sp>
      <p:sp>
        <p:nvSpPr>
          <p:cNvPr id="182" name="Google Shape;182;p18"/>
          <p:cNvSpPr txBox="1"/>
          <p:nvPr/>
        </p:nvSpPr>
        <p:spPr>
          <a:xfrm>
            <a:off x="6867525" y="3777257"/>
            <a:ext cx="4457700" cy="578941"/>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334155"/>
                </a:solidFill>
                <a:latin typeface="Inter"/>
                <a:ea typeface="Inter"/>
                <a:cs typeface="Inter"/>
                <a:sym typeface="Inter"/>
              </a:rPr>
              <a:t>El estado del bucle depende de si algo "ha sido encontrado" o si un error "ha ocurrido".</a:t>
            </a:r>
            <a:endParaRPr/>
          </a:p>
        </p:txBody>
      </p:sp>
      <p:pic>
        <p:nvPicPr>
          <p:cNvPr id="183" name="Google Shape;183;p18" descr="image.png"/>
          <p:cNvPicPr preferRelativeResize="0"/>
          <p:nvPr/>
        </p:nvPicPr>
        <p:blipFill rotWithShape="1">
          <a:blip r:embed="rId6">
            <a:alphaModFix/>
          </a:blip>
          <a:srcRect/>
          <a:stretch/>
        </p:blipFill>
        <p:spPr>
          <a:xfrm>
            <a:off x="866775" y="2143125"/>
            <a:ext cx="95250" cy="190500"/>
          </a:xfrm>
          <a:prstGeom prst="rect">
            <a:avLst/>
          </a:prstGeom>
          <a:noFill/>
          <a:ln>
            <a:noFill/>
          </a:ln>
        </p:spPr>
      </p:pic>
      <p:pic>
        <p:nvPicPr>
          <p:cNvPr id="184" name="Google Shape;184;p18" descr="image.png"/>
          <p:cNvPicPr preferRelativeResize="0"/>
          <p:nvPr/>
        </p:nvPicPr>
        <p:blipFill rotWithShape="1">
          <a:blip r:embed="rId6">
            <a:alphaModFix/>
          </a:blip>
          <a:srcRect/>
          <a:stretch/>
        </p:blipFill>
        <p:spPr>
          <a:xfrm>
            <a:off x="866775" y="2575470"/>
            <a:ext cx="95250" cy="190500"/>
          </a:xfrm>
          <a:prstGeom prst="rect">
            <a:avLst/>
          </a:prstGeom>
          <a:noFill/>
          <a:ln>
            <a:noFill/>
          </a:ln>
        </p:spPr>
      </p:pic>
      <p:pic>
        <p:nvPicPr>
          <p:cNvPr id="185" name="Google Shape;185;p18" descr="image.png"/>
          <p:cNvPicPr preferRelativeResize="0"/>
          <p:nvPr/>
        </p:nvPicPr>
        <p:blipFill rotWithShape="1">
          <a:blip r:embed="rId6">
            <a:alphaModFix/>
          </a:blip>
          <a:srcRect/>
          <a:stretch/>
        </p:blipFill>
        <p:spPr>
          <a:xfrm>
            <a:off x="866775" y="3586757"/>
            <a:ext cx="95250" cy="190500"/>
          </a:xfrm>
          <a:prstGeom prst="rect">
            <a:avLst/>
          </a:prstGeom>
          <a:noFill/>
          <a:ln>
            <a:noFill/>
          </a:ln>
        </p:spPr>
      </p:pic>
      <p:pic>
        <p:nvPicPr>
          <p:cNvPr id="186" name="Google Shape;186;p18" descr="image.png"/>
          <p:cNvPicPr preferRelativeResize="0"/>
          <p:nvPr/>
        </p:nvPicPr>
        <p:blipFill rotWithShape="1">
          <a:blip r:embed="rId6">
            <a:alphaModFix/>
          </a:blip>
          <a:srcRect/>
          <a:stretch/>
        </p:blipFill>
        <p:spPr>
          <a:xfrm>
            <a:off x="6581775" y="2143125"/>
            <a:ext cx="95250" cy="190500"/>
          </a:xfrm>
          <a:prstGeom prst="rect">
            <a:avLst/>
          </a:prstGeom>
          <a:noFill/>
          <a:ln>
            <a:noFill/>
          </a:ln>
        </p:spPr>
      </p:pic>
      <p:pic>
        <p:nvPicPr>
          <p:cNvPr id="187" name="Google Shape;187;p18" descr="image.png"/>
          <p:cNvPicPr preferRelativeResize="0"/>
          <p:nvPr/>
        </p:nvPicPr>
        <p:blipFill rotWithShape="1">
          <a:blip r:embed="rId6">
            <a:alphaModFix/>
          </a:blip>
          <a:srcRect/>
          <a:stretch/>
        </p:blipFill>
        <p:spPr>
          <a:xfrm>
            <a:off x="6581775" y="2864941"/>
            <a:ext cx="95250" cy="190500"/>
          </a:xfrm>
          <a:prstGeom prst="rect">
            <a:avLst/>
          </a:prstGeom>
          <a:noFill/>
          <a:ln>
            <a:noFill/>
          </a:ln>
        </p:spPr>
      </p:pic>
      <p:pic>
        <p:nvPicPr>
          <p:cNvPr id="188" name="Google Shape;188;p18" descr="image.png"/>
          <p:cNvPicPr preferRelativeResize="0"/>
          <p:nvPr/>
        </p:nvPicPr>
        <p:blipFill rotWithShape="1">
          <a:blip r:embed="rId6">
            <a:alphaModFix/>
          </a:blip>
          <a:srcRect/>
          <a:stretch/>
        </p:blipFill>
        <p:spPr>
          <a:xfrm>
            <a:off x="6581775" y="3876228"/>
            <a:ext cx="95250" cy="1905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7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8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8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8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7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7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8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8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8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8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87"/>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8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5" grpId="0"/>
      <p:bldP spid="176" grpId="0"/>
      <p:bldP spid="177" grpId="0"/>
      <p:bldP spid="178" grpId="0"/>
      <p:bldP spid="179" grpId="0"/>
      <p:bldP spid="180" grpId="0"/>
      <p:bldP spid="181" grpId="0"/>
      <p:bldP spid="182"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92"/>
        <p:cNvGrpSpPr/>
        <p:nvPr/>
      </p:nvGrpSpPr>
      <p:grpSpPr>
        <a:xfrm>
          <a:off x="0" y="0"/>
          <a:ext cx="0" cy="0"/>
          <a:chOff x="0" y="0"/>
          <a:chExt cx="0" cy="0"/>
        </a:xfrm>
      </p:grpSpPr>
      <p:pic>
        <p:nvPicPr>
          <p:cNvPr id="193" name="Google Shape;193;p19"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94" name="Google Shape;194;p19" descr="image.png"/>
          <p:cNvPicPr preferRelativeResize="0"/>
          <p:nvPr/>
        </p:nvPicPr>
        <p:blipFill rotWithShape="1">
          <a:blip r:embed="rId4">
            <a:alphaModFix/>
          </a:blip>
          <a:srcRect/>
          <a:stretch/>
        </p:blipFill>
        <p:spPr>
          <a:xfrm>
            <a:off x="571500" y="2264866"/>
            <a:ext cx="11049000" cy="1746646"/>
          </a:xfrm>
          <a:prstGeom prst="rect">
            <a:avLst/>
          </a:prstGeom>
          <a:noFill/>
          <a:ln>
            <a:noFill/>
          </a:ln>
        </p:spPr>
      </p:pic>
      <p:sp>
        <p:nvSpPr>
          <p:cNvPr id="195" name="Google Shape;195;p19"/>
          <p:cNvSpPr txBox="1"/>
          <p:nvPr/>
        </p:nvSpPr>
        <p:spPr>
          <a:xfrm>
            <a:off x="571500" y="476250"/>
            <a:ext cx="11601450" cy="4476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i="0" u="none" strike="noStrike" cap="none">
                <a:solidFill>
                  <a:srgbClr val="1E3A8A"/>
                </a:solidFill>
                <a:latin typeface="Merriweather"/>
                <a:ea typeface="Merriweather"/>
                <a:cs typeface="Merriweather"/>
                <a:sym typeface="Merriweather"/>
              </a:rPr>
              <a:t>Caso de Estudio: Control de Calidad</a:t>
            </a:r>
            <a:endParaRPr/>
          </a:p>
        </p:txBody>
      </p:sp>
      <p:sp>
        <p:nvSpPr>
          <p:cNvPr id="196" name="Google Shape;196;p19"/>
          <p:cNvSpPr/>
          <p:nvPr/>
        </p:nvSpPr>
        <p:spPr>
          <a:xfrm>
            <a:off x="571500" y="1047750"/>
            <a:ext cx="11049000"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97" name="Google Shape;197;p19"/>
          <p:cNvSpPr txBox="1"/>
          <p:nvPr/>
        </p:nvSpPr>
        <p:spPr>
          <a:xfrm>
            <a:off x="571500" y="1304925"/>
            <a:ext cx="11049000" cy="578941"/>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334155"/>
                </a:solidFill>
                <a:latin typeface="Inter"/>
                <a:ea typeface="Inter"/>
                <a:cs typeface="Inter"/>
                <a:sym typeface="Inter"/>
              </a:rPr>
              <a:t>Imaginemos que estamos programando un robot para una línea de ensamblaje. Su tarea es revisar una caja que contiene exactamente 5 productos.</a:t>
            </a:r>
            <a:endParaRPr/>
          </a:p>
        </p:txBody>
      </p:sp>
      <p:sp>
        <p:nvSpPr>
          <p:cNvPr id="198" name="Google Shape;198;p19"/>
          <p:cNvSpPr txBox="1"/>
          <p:nvPr/>
        </p:nvSpPr>
        <p:spPr>
          <a:xfrm>
            <a:off x="571500" y="4440138"/>
            <a:ext cx="11601450" cy="2952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0F172A"/>
                </a:solidFill>
                <a:latin typeface="Merriweather"/>
                <a:ea typeface="Merriweather"/>
                <a:cs typeface="Merriweather"/>
                <a:sym typeface="Merriweather"/>
              </a:rPr>
              <a:t>Análisis del Problema:</a:t>
            </a:r>
            <a:endParaRPr/>
          </a:p>
        </p:txBody>
      </p:sp>
      <p:sp>
        <p:nvSpPr>
          <p:cNvPr id="199" name="Google Shape;199;p19"/>
          <p:cNvSpPr txBox="1"/>
          <p:nvPr/>
        </p:nvSpPr>
        <p:spPr>
          <a:xfrm>
            <a:off x="653891" y="2502991"/>
            <a:ext cx="10941367" cy="3143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950" b="1" i="0" u="none" strike="noStrike" cap="none">
                <a:solidFill>
                  <a:srgbClr val="1D4ED8"/>
                </a:solidFill>
                <a:latin typeface="Merriweather"/>
                <a:ea typeface="Merriweather"/>
                <a:cs typeface="Merriweather"/>
                <a:sym typeface="Merriweather"/>
              </a:rPr>
              <a:t>Regla de Negocio:</a:t>
            </a:r>
            <a:endParaRPr/>
          </a:p>
        </p:txBody>
      </p:sp>
      <p:sp>
        <p:nvSpPr>
          <p:cNvPr id="200" name="Google Shape;200;p19"/>
          <p:cNvSpPr txBox="1"/>
          <p:nvPr/>
        </p:nvSpPr>
        <p:spPr>
          <a:xfrm>
            <a:off x="914400" y="2960191"/>
            <a:ext cx="10420350" cy="670321"/>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650" b="0" i="0" u="none" strike="noStrike" cap="none">
                <a:solidFill>
                  <a:srgbClr val="1E3A8A"/>
                </a:solidFill>
                <a:latin typeface="Inter Medium"/>
                <a:ea typeface="Inter Medium"/>
                <a:cs typeface="Inter Medium"/>
                <a:sym typeface="Inter Medium"/>
              </a:rPr>
              <a:t>"Si se encuentra un solo producto defectuoso, la revisión se detiene inmediatamente y la caja entera se rechaza."</a:t>
            </a:r>
            <a:endParaRPr/>
          </a:p>
        </p:txBody>
      </p:sp>
      <p:sp>
        <p:nvSpPr>
          <p:cNvPr id="201" name="Google Shape;201;p19"/>
          <p:cNvSpPr txBox="1"/>
          <p:nvPr/>
        </p:nvSpPr>
        <p:spPr>
          <a:xfrm>
            <a:off x="857250" y="4878288"/>
            <a:ext cx="10763250" cy="289470"/>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1" i="0" u="none" strike="noStrike" cap="none">
                <a:solidFill>
                  <a:srgbClr val="334155"/>
                </a:solidFill>
                <a:latin typeface="Inter"/>
                <a:ea typeface="Inter"/>
                <a:cs typeface="Inter"/>
                <a:sym typeface="Inter"/>
              </a:rPr>
              <a:t>¿El usuario controla la parada?</a:t>
            </a:r>
            <a:r>
              <a:rPr lang="en-US" sz="1425" b="0" i="0" u="none" strike="noStrike" cap="none">
                <a:solidFill>
                  <a:srgbClr val="334155"/>
                </a:solidFill>
                <a:latin typeface="Inter"/>
                <a:ea typeface="Inter"/>
                <a:cs typeface="Inter"/>
                <a:sym typeface="Inter"/>
              </a:rPr>
              <a:t> No. El robot (el programa) debe tomar la decisión automáticamente.</a:t>
            </a:r>
            <a:endParaRPr/>
          </a:p>
        </p:txBody>
      </p:sp>
      <p:sp>
        <p:nvSpPr>
          <p:cNvPr id="202" name="Google Shape;202;p19"/>
          <p:cNvSpPr txBox="1"/>
          <p:nvPr/>
        </p:nvSpPr>
        <p:spPr>
          <a:xfrm>
            <a:off x="857250" y="5310633"/>
            <a:ext cx="10763250" cy="289470"/>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1" i="0" u="none" strike="noStrike" cap="none">
                <a:solidFill>
                  <a:srgbClr val="334155"/>
                </a:solidFill>
                <a:latin typeface="Inter"/>
                <a:ea typeface="Inter"/>
                <a:cs typeface="Inter"/>
                <a:sym typeface="Inter"/>
              </a:rPr>
              <a:t>¿Cuál es el "evento"?</a:t>
            </a:r>
            <a:r>
              <a:rPr lang="en-US" sz="1425" b="0" i="0" u="none" strike="noStrike" cap="none">
                <a:solidFill>
                  <a:srgbClr val="334155"/>
                </a:solidFill>
                <a:latin typeface="Inter"/>
                <a:ea typeface="Inter"/>
                <a:cs typeface="Inter"/>
                <a:sym typeface="Inter"/>
              </a:rPr>
              <a:t> Encontrar un producto defectuoso (simulado con un `0` en la entrada).</a:t>
            </a:r>
            <a:endParaRPr/>
          </a:p>
        </p:txBody>
      </p:sp>
      <p:sp>
        <p:nvSpPr>
          <p:cNvPr id="203" name="Google Shape;203;p19"/>
          <p:cNvSpPr txBox="1"/>
          <p:nvPr/>
        </p:nvSpPr>
        <p:spPr>
          <a:xfrm>
            <a:off x="857250" y="5742979"/>
            <a:ext cx="10763250" cy="289470"/>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1" i="0" u="none" strike="noStrike" cap="none">
                <a:solidFill>
                  <a:srgbClr val="334155"/>
                </a:solidFill>
                <a:latin typeface="Inter"/>
                <a:ea typeface="Inter"/>
                <a:cs typeface="Inter"/>
                <a:sym typeface="Inter"/>
              </a:rPr>
              <a:t>¿Necesitamos seguir revisando si ya encontramos uno malo?</a:t>
            </a:r>
            <a:r>
              <a:rPr lang="en-US" sz="1425" b="0" i="0" u="none" strike="noStrike" cap="none">
                <a:solidFill>
                  <a:srgbClr val="334155"/>
                </a:solidFill>
                <a:latin typeface="Inter"/>
                <a:ea typeface="Inter"/>
                <a:cs typeface="Inter"/>
                <a:sym typeface="Inter"/>
              </a:rPr>
              <a:t> No, sería ineficiente. La caja ya está reprobada.</a:t>
            </a:r>
            <a:endParaRPr/>
          </a:p>
        </p:txBody>
      </p:sp>
      <p:sp>
        <p:nvSpPr>
          <p:cNvPr id="204" name="Google Shape;204;p19"/>
          <p:cNvSpPr txBox="1"/>
          <p:nvPr/>
        </p:nvSpPr>
        <p:spPr>
          <a:xfrm>
            <a:off x="857250" y="6175325"/>
            <a:ext cx="10763250" cy="289470"/>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1" i="0" u="none" strike="noStrike" cap="none">
                <a:solidFill>
                  <a:srgbClr val="334155"/>
                </a:solidFill>
                <a:latin typeface="Inter"/>
                <a:ea typeface="Inter"/>
                <a:cs typeface="Inter"/>
                <a:sym typeface="Inter"/>
              </a:rPr>
              <a:t>Conclusión:</a:t>
            </a:r>
            <a:r>
              <a:rPr lang="en-US" sz="1425" b="0" i="0" u="none" strike="noStrike" cap="none">
                <a:solidFill>
                  <a:srgbClr val="334155"/>
                </a:solidFill>
                <a:latin typeface="Inter"/>
                <a:ea typeface="Inter"/>
                <a:cs typeface="Inter"/>
                <a:sym typeface="Inter"/>
              </a:rPr>
              <a:t> Este es un escenario 100% diseñado para usar una </a:t>
            </a:r>
            <a:r>
              <a:rPr lang="en-US" sz="1425" b="1" i="0" u="none" strike="noStrike" cap="none">
                <a:solidFill>
                  <a:srgbClr val="334155"/>
                </a:solidFill>
                <a:latin typeface="Inter"/>
                <a:ea typeface="Inter"/>
                <a:cs typeface="Inter"/>
                <a:sym typeface="Inter"/>
              </a:rPr>
              <a:t>Bandera (Flag)</a:t>
            </a:r>
            <a:r>
              <a:rPr lang="en-US" sz="1425" b="0" i="0" u="none" strike="noStrike" cap="none">
                <a:solidFill>
                  <a:srgbClr val="334155"/>
                </a:solidFill>
                <a:latin typeface="Inter"/>
                <a:ea typeface="Inter"/>
                <a:cs typeface="Inter"/>
                <a:sym typeface="Inter"/>
              </a:rPr>
              <a:t>.</a:t>
            </a:r>
            <a:endParaRPr/>
          </a:p>
        </p:txBody>
      </p:sp>
      <p:pic>
        <p:nvPicPr>
          <p:cNvPr id="205" name="Google Shape;205;p19" descr="image.png"/>
          <p:cNvPicPr preferRelativeResize="0"/>
          <p:nvPr/>
        </p:nvPicPr>
        <p:blipFill rotWithShape="1">
          <a:blip r:embed="rId5">
            <a:alphaModFix/>
          </a:blip>
          <a:srcRect/>
          <a:stretch/>
        </p:blipFill>
        <p:spPr>
          <a:xfrm>
            <a:off x="571500" y="4897338"/>
            <a:ext cx="95250" cy="190500"/>
          </a:xfrm>
          <a:prstGeom prst="rect">
            <a:avLst/>
          </a:prstGeom>
          <a:noFill/>
          <a:ln>
            <a:noFill/>
          </a:ln>
        </p:spPr>
      </p:pic>
      <p:pic>
        <p:nvPicPr>
          <p:cNvPr id="206" name="Google Shape;206;p19" descr="image.png"/>
          <p:cNvPicPr preferRelativeResize="0"/>
          <p:nvPr/>
        </p:nvPicPr>
        <p:blipFill rotWithShape="1">
          <a:blip r:embed="rId5">
            <a:alphaModFix/>
          </a:blip>
          <a:srcRect/>
          <a:stretch/>
        </p:blipFill>
        <p:spPr>
          <a:xfrm>
            <a:off x="571500" y="5329683"/>
            <a:ext cx="95250" cy="190500"/>
          </a:xfrm>
          <a:prstGeom prst="rect">
            <a:avLst/>
          </a:prstGeom>
          <a:noFill/>
          <a:ln>
            <a:noFill/>
          </a:ln>
        </p:spPr>
      </p:pic>
      <p:pic>
        <p:nvPicPr>
          <p:cNvPr id="207" name="Google Shape;207;p19" descr="image.png"/>
          <p:cNvPicPr preferRelativeResize="0"/>
          <p:nvPr/>
        </p:nvPicPr>
        <p:blipFill rotWithShape="1">
          <a:blip r:embed="rId5">
            <a:alphaModFix/>
          </a:blip>
          <a:srcRect/>
          <a:stretch/>
        </p:blipFill>
        <p:spPr>
          <a:xfrm>
            <a:off x="571500" y="5762029"/>
            <a:ext cx="95250" cy="190500"/>
          </a:xfrm>
          <a:prstGeom prst="rect">
            <a:avLst/>
          </a:prstGeom>
          <a:noFill/>
          <a:ln>
            <a:noFill/>
          </a:ln>
        </p:spPr>
      </p:pic>
      <p:pic>
        <p:nvPicPr>
          <p:cNvPr id="208" name="Google Shape;208;p19" descr="image.png"/>
          <p:cNvPicPr preferRelativeResize="0"/>
          <p:nvPr/>
        </p:nvPicPr>
        <p:blipFill rotWithShape="1">
          <a:blip r:embed="rId5">
            <a:alphaModFix/>
          </a:blip>
          <a:srcRect/>
          <a:stretch/>
        </p:blipFill>
        <p:spPr>
          <a:xfrm>
            <a:off x="571500" y="6194375"/>
            <a:ext cx="95250" cy="1905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0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0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0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0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0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0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0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07"/>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0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7" grpId="0"/>
      <p:bldP spid="199" grpId="0"/>
      <p:bldP spid="200" grpId="0"/>
      <p:bldP spid="201" grpId="0"/>
      <p:bldP spid="202" grpId="0"/>
      <p:bldP spid="203" grpId="0"/>
      <p:bldP spid="204"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12"/>
        <p:cNvGrpSpPr/>
        <p:nvPr/>
      </p:nvGrpSpPr>
      <p:grpSpPr>
        <a:xfrm>
          <a:off x="0" y="0"/>
          <a:ext cx="0" cy="0"/>
          <a:chOff x="0" y="0"/>
          <a:chExt cx="0" cy="0"/>
        </a:xfrm>
      </p:grpSpPr>
      <p:pic>
        <p:nvPicPr>
          <p:cNvPr id="213" name="Google Shape;213;p20"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14" name="Google Shape;214;p20" descr="image.png"/>
          <p:cNvPicPr preferRelativeResize="0"/>
          <p:nvPr/>
        </p:nvPicPr>
        <p:blipFill rotWithShape="1">
          <a:blip r:embed="rId4">
            <a:alphaModFix/>
          </a:blip>
          <a:srcRect/>
          <a:stretch/>
        </p:blipFill>
        <p:spPr>
          <a:xfrm>
            <a:off x="571500" y="1304925"/>
            <a:ext cx="11049000" cy="5447749"/>
          </a:xfrm>
          <a:prstGeom prst="rect">
            <a:avLst/>
          </a:prstGeom>
          <a:noFill/>
          <a:ln>
            <a:noFill/>
          </a:ln>
        </p:spPr>
      </p:pic>
      <p:sp>
        <p:nvSpPr>
          <p:cNvPr id="215" name="Google Shape;215;p20"/>
          <p:cNvSpPr txBox="1"/>
          <p:nvPr/>
        </p:nvSpPr>
        <p:spPr>
          <a:xfrm>
            <a:off x="571500" y="476250"/>
            <a:ext cx="11601450" cy="4154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i="0" u="none" strike="noStrike" cap="none" dirty="0" err="1">
                <a:solidFill>
                  <a:srgbClr val="1E3A8A"/>
                </a:solidFill>
                <a:latin typeface="Merriweather"/>
                <a:ea typeface="Merriweather"/>
                <a:cs typeface="Merriweather"/>
                <a:sym typeface="Merriweather"/>
              </a:rPr>
              <a:t>Solución</a:t>
            </a:r>
            <a:r>
              <a:rPr lang="en-US" sz="2700" b="1" i="0" u="none" strike="noStrike" cap="none" dirty="0">
                <a:solidFill>
                  <a:srgbClr val="1E3A8A"/>
                </a:solidFill>
                <a:latin typeface="Merriweather"/>
                <a:ea typeface="Merriweather"/>
                <a:cs typeface="Merriweather"/>
                <a:sym typeface="Merriweather"/>
              </a:rPr>
              <a:t> </a:t>
            </a:r>
            <a:r>
              <a:rPr lang="en-US" sz="2700" b="1" i="0" u="none" strike="noStrike" cap="none" dirty="0" err="1">
                <a:solidFill>
                  <a:srgbClr val="1E3A8A"/>
                </a:solidFill>
                <a:latin typeface="Merriweather"/>
                <a:ea typeface="Merriweather"/>
                <a:cs typeface="Merriweather"/>
                <a:sym typeface="Merriweather"/>
              </a:rPr>
              <a:t>en</a:t>
            </a:r>
            <a:r>
              <a:rPr lang="en-US" sz="2700" b="1" i="0" u="none" strike="noStrike" cap="none" dirty="0">
                <a:solidFill>
                  <a:srgbClr val="1E3A8A"/>
                </a:solidFill>
                <a:latin typeface="Merriweather"/>
                <a:ea typeface="Merriweather"/>
                <a:cs typeface="Merriweather"/>
                <a:sym typeface="Merriweather"/>
              </a:rPr>
              <a:t> </a:t>
            </a:r>
            <a:r>
              <a:rPr lang="en-US" sz="2700" b="1" i="0" u="none" strike="noStrike" cap="none" dirty="0" err="1">
                <a:solidFill>
                  <a:srgbClr val="1E3A8A"/>
                </a:solidFill>
                <a:latin typeface="Merriweather"/>
                <a:ea typeface="Merriweather"/>
                <a:cs typeface="Merriweather"/>
                <a:sym typeface="Merriweather"/>
              </a:rPr>
              <a:t>Logicode</a:t>
            </a:r>
            <a:endParaRPr dirty="0"/>
          </a:p>
        </p:txBody>
      </p:sp>
      <p:sp>
        <p:nvSpPr>
          <p:cNvPr id="216" name="Google Shape;216;p20"/>
          <p:cNvSpPr/>
          <p:nvPr/>
        </p:nvSpPr>
        <p:spPr>
          <a:xfrm>
            <a:off x="571500" y="1047750"/>
            <a:ext cx="11049000"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40"/>
        <p:cNvGrpSpPr/>
        <p:nvPr/>
      </p:nvGrpSpPr>
      <p:grpSpPr>
        <a:xfrm>
          <a:off x="0" y="0"/>
          <a:ext cx="0" cy="0"/>
          <a:chOff x="0" y="0"/>
          <a:chExt cx="0" cy="0"/>
        </a:xfrm>
      </p:grpSpPr>
      <p:pic>
        <p:nvPicPr>
          <p:cNvPr id="241" name="Google Shape;241;p22"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42" name="Google Shape;242;p22" descr="image.png"/>
          <p:cNvPicPr preferRelativeResize="0"/>
          <p:nvPr/>
        </p:nvPicPr>
        <p:blipFill rotWithShape="1">
          <a:blip r:embed="rId4">
            <a:alphaModFix/>
          </a:blip>
          <a:srcRect/>
          <a:stretch/>
        </p:blipFill>
        <p:spPr>
          <a:xfrm>
            <a:off x="571500" y="1429791"/>
            <a:ext cx="11049000" cy="762000"/>
          </a:xfrm>
          <a:prstGeom prst="rect">
            <a:avLst/>
          </a:prstGeom>
          <a:noFill/>
          <a:ln>
            <a:noFill/>
          </a:ln>
        </p:spPr>
      </p:pic>
      <p:sp>
        <p:nvSpPr>
          <p:cNvPr id="243" name="Google Shape;243;p22"/>
          <p:cNvSpPr txBox="1"/>
          <p:nvPr/>
        </p:nvSpPr>
        <p:spPr>
          <a:xfrm>
            <a:off x="295275" y="2477541"/>
            <a:ext cx="11601450" cy="762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800" b="1" i="0" u="none" strike="noStrike" cap="none">
                <a:solidFill>
                  <a:srgbClr val="0F172A"/>
                </a:solidFill>
                <a:latin typeface="Merriweather"/>
                <a:ea typeface="Merriweather"/>
                <a:cs typeface="Merriweather"/>
                <a:sym typeface="Merriweather"/>
              </a:rPr>
              <a:t>Control Total</a:t>
            </a:r>
            <a:endParaRPr/>
          </a:p>
        </p:txBody>
      </p:sp>
      <p:sp>
        <p:nvSpPr>
          <p:cNvPr id="244" name="Google Shape;244;p22"/>
          <p:cNvSpPr txBox="1"/>
          <p:nvPr/>
        </p:nvSpPr>
        <p:spPr>
          <a:xfrm>
            <a:off x="2286000" y="3430041"/>
            <a:ext cx="7620000" cy="1188541"/>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950" b="0" i="0" u="none" strike="noStrike" cap="none">
                <a:solidFill>
                  <a:srgbClr val="475569"/>
                </a:solidFill>
                <a:latin typeface="Inter"/>
                <a:ea typeface="Inter"/>
                <a:cs typeface="Inter"/>
                <a:sym typeface="Inter"/>
              </a:rPr>
              <a:t>Ya sea que cedas el control al usuario con un </a:t>
            </a:r>
            <a:r>
              <a:rPr lang="en-US" sz="1950" b="1" i="0" u="none" strike="noStrike" cap="none">
                <a:solidFill>
                  <a:srgbClr val="475569"/>
                </a:solidFill>
                <a:latin typeface="Inter"/>
                <a:ea typeface="Inter"/>
                <a:cs typeface="Inter"/>
                <a:sym typeface="Inter"/>
              </a:rPr>
              <a:t>Centinela</a:t>
            </a:r>
            <a:r>
              <a:rPr lang="en-US" sz="1950" b="0" i="0" u="none" strike="noStrike" cap="none">
                <a:solidFill>
                  <a:srgbClr val="475569"/>
                </a:solidFill>
                <a:latin typeface="Inter"/>
                <a:ea typeface="Inter"/>
                <a:cs typeface="Inter"/>
                <a:sym typeface="Inter"/>
              </a:rPr>
              <a:t>, o que dotes de inteligencia a tu programa con una </a:t>
            </a:r>
            <a:r>
              <a:rPr lang="en-US" sz="1950" b="1" i="0" u="none" strike="noStrike" cap="none">
                <a:solidFill>
                  <a:srgbClr val="475569"/>
                </a:solidFill>
                <a:latin typeface="Inter"/>
                <a:ea typeface="Inter"/>
                <a:cs typeface="Inter"/>
                <a:sym typeface="Inter"/>
              </a:rPr>
              <a:t>Bandera</a:t>
            </a:r>
            <a:r>
              <a:rPr lang="en-US" sz="1950" b="0" i="0" u="none" strike="noStrike" cap="none">
                <a:solidFill>
                  <a:srgbClr val="475569"/>
                </a:solidFill>
                <a:latin typeface="Inter"/>
                <a:ea typeface="Inter"/>
                <a:cs typeface="Inter"/>
                <a:sym typeface="Inter"/>
              </a:rPr>
              <a:t>, ahora dominas las paradas dinámicas en Logicode.</a:t>
            </a:r>
            <a:endParaRPr/>
          </a:p>
        </p:txBody>
      </p:sp>
      <p:sp>
        <p:nvSpPr>
          <p:cNvPr id="245" name="Google Shape;245;p22"/>
          <p:cNvSpPr/>
          <p:nvPr/>
        </p:nvSpPr>
        <p:spPr>
          <a:xfrm>
            <a:off x="5619750" y="4999583"/>
            <a:ext cx="952500" cy="47625"/>
          </a:xfrm>
          <a:prstGeom prst="roundRect">
            <a:avLst>
              <a:gd name="adj" fmla="val 50000"/>
            </a:avLst>
          </a:prstGeom>
          <a:solidFill>
            <a:srgbClr val="3B82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4"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95" name="Google Shape;95;p14" descr="image.png"/>
          <p:cNvPicPr preferRelativeResize="0"/>
          <p:nvPr/>
        </p:nvPicPr>
        <p:blipFill rotWithShape="1">
          <a:blip r:embed="rId4">
            <a:alphaModFix/>
          </a:blip>
          <a:srcRect/>
          <a:stretch/>
        </p:blipFill>
        <p:spPr>
          <a:xfrm>
            <a:off x="1676400" y="2841130"/>
            <a:ext cx="8839200" cy="2081807"/>
          </a:xfrm>
          <a:prstGeom prst="rect">
            <a:avLst/>
          </a:prstGeom>
          <a:noFill/>
          <a:ln>
            <a:noFill/>
          </a:ln>
        </p:spPr>
      </p:pic>
      <p:sp>
        <p:nvSpPr>
          <p:cNvPr id="96" name="Google Shape;96;p14"/>
          <p:cNvSpPr txBox="1"/>
          <p:nvPr/>
        </p:nvSpPr>
        <p:spPr>
          <a:xfrm>
            <a:off x="571500" y="476250"/>
            <a:ext cx="11601450" cy="419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1" i="0" u="none" strike="noStrike" cap="none">
                <a:solidFill>
                  <a:srgbClr val="1E3A8A"/>
                </a:solidFill>
                <a:latin typeface="Merriweather"/>
                <a:ea typeface="Merriweather"/>
                <a:cs typeface="Merriweather"/>
                <a:sym typeface="Merriweather"/>
              </a:rPr>
              <a:t>Reto Práctico: Inicio de Sesión</a:t>
            </a:r>
            <a:endParaRPr/>
          </a:p>
        </p:txBody>
      </p:sp>
      <p:sp>
        <p:nvSpPr>
          <p:cNvPr id="97" name="Google Shape;97;p14"/>
          <p:cNvSpPr/>
          <p:nvPr/>
        </p:nvSpPr>
        <p:spPr>
          <a:xfrm>
            <a:off x="571500" y="1019175"/>
            <a:ext cx="11049000"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8" name="Google Shape;98;p14"/>
          <p:cNvSpPr txBox="1"/>
          <p:nvPr/>
        </p:nvSpPr>
        <p:spPr>
          <a:xfrm>
            <a:off x="857250" y="2000547"/>
            <a:ext cx="10477500" cy="33516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650" b="0" i="0" u="none" strike="noStrike" cap="none">
                <a:solidFill>
                  <a:srgbClr val="334155"/>
                </a:solidFill>
                <a:latin typeface="Inter"/>
                <a:ea typeface="Inter"/>
                <a:cs typeface="Inter"/>
                <a:sym typeface="Inter"/>
              </a:rPr>
              <a:t>Diseñemos un algoritmo que simule un inicio de sesión bancario. Las reglas del sistema son las siguientes:</a:t>
            </a:r>
            <a:endParaRPr/>
          </a:p>
        </p:txBody>
      </p:sp>
      <p:sp>
        <p:nvSpPr>
          <p:cNvPr id="99" name="Google Shape;99;p14"/>
          <p:cNvSpPr txBox="1"/>
          <p:nvPr/>
        </p:nvSpPr>
        <p:spPr>
          <a:xfrm>
            <a:off x="1609725" y="5179516"/>
            <a:ext cx="8972550" cy="3351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1" i="0" u="none" strike="noStrike" cap="none">
                <a:solidFill>
                  <a:srgbClr val="1E3A8A"/>
                </a:solidFill>
                <a:latin typeface="Inter"/>
                <a:ea typeface="Inter"/>
                <a:cs typeface="Inter"/>
                <a:sym typeface="Inter"/>
              </a:rPr>
              <a:t>Pregunta Analítica: ¿Qué variables de control se necesitan para resolver este problema?</a:t>
            </a:r>
            <a:endParaRPr/>
          </a:p>
        </p:txBody>
      </p:sp>
      <p:sp>
        <p:nvSpPr>
          <p:cNvPr id="100" name="Google Shape;100;p14"/>
          <p:cNvSpPr txBox="1"/>
          <p:nvPr/>
        </p:nvSpPr>
        <p:spPr>
          <a:xfrm>
            <a:off x="2143125" y="3088780"/>
            <a:ext cx="8124825" cy="289470"/>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dirty="0">
                <a:solidFill>
                  <a:srgbClr val="334155"/>
                </a:solidFill>
                <a:latin typeface="Inter"/>
                <a:ea typeface="Inter"/>
                <a:cs typeface="Inter"/>
                <a:sym typeface="Inter"/>
              </a:rPr>
              <a:t>El </a:t>
            </a:r>
            <a:r>
              <a:rPr lang="en-US" sz="1425" b="0" i="0" u="none" strike="noStrike" cap="none" dirty="0" err="1">
                <a:solidFill>
                  <a:srgbClr val="334155"/>
                </a:solidFill>
                <a:latin typeface="Inter"/>
                <a:ea typeface="Inter"/>
                <a:cs typeface="Inter"/>
                <a:sym typeface="Inter"/>
              </a:rPr>
              <a:t>usuario</a:t>
            </a:r>
            <a:r>
              <a:rPr lang="en-US" sz="1425" b="0" i="0" u="none" strike="noStrike" cap="none" dirty="0">
                <a:solidFill>
                  <a:srgbClr val="334155"/>
                </a:solidFill>
                <a:latin typeface="Inter"/>
                <a:ea typeface="Inter"/>
                <a:cs typeface="Inter"/>
                <a:sym typeface="Inter"/>
              </a:rPr>
              <a:t> </a:t>
            </a:r>
            <a:r>
              <a:rPr lang="en-US" sz="1425" b="0" i="0" u="none" strike="noStrike" cap="none" dirty="0" err="1">
                <a:solidFill>
                  <a:srgbClr val="334155"/>
                </a:solidFill>
                <a:latin typeface="Inter"/>
                <a:ea typeface="Inter"/>
                <a:cs typeface="Inter"/>
                <a:sym typeface="Inter"/>
              </a:rPr>
              <a:t>tiene</a:t>
            </a:r>
            <a:r>
              <a:rPr lang="en-US" sz="1425" b="0" i="0" u="none" strike="noStrike" cap="none" dirty="0">
                <a:solidFill>
                  <a:srgbClr val="334155"/>
                </a:solidFill>
                <a:latin typeface="Inter"/>
                <a:ea typeface="Inter"/>
                <a:cs typeface="Inter"/>
                <a:sym typeface="Inter"/>
              </a:rPr>
              <a:t> un </a:t>
            </a:r>
            <a:r>
              <a:rPr lang="en-US" sz="1425" b="1" i="0" u="none" strike="noStrike" cap="none" dirty="0" err="1">
                <a:solidFill>
                  <a:srgbClr val="334155"/>
                </a:solidFill>
                <a:latin typeface="Inter"/>
                <a:ea typeface="Inter"/>
                <a:cs typeface="Inter"/>
                <a:sym typeface="Inter"/>
              </a:rPr>
              <a:t>máximo</a:t>
            </a:r>
            <a:r>
              <a:rPr lang="en-US" sz="1425" b="1" i="0" u="none" strike="noStrike" cap="none" dirty="0">
                <a:solidFill>
                  <a:srgbClr val="334155"/>
                </a:solidFill>
                <a:latin typeface="Inter"/>
                <a:ea typeface="Inter"/>
                <a:cs typeface="Inter"/>
                <a:sym typeface="Inter"/>
              </a:rPr>
              <a:t> de 3 </a:t>
            </a:r>
            <a:r>
              <a:rPr lang="en-US" sz="1425" b="1" i="0" u="none" strike="noStrike" cap="none" dirty="0" err="1">
                <a:solidFill>
                  <a:srgbClr val="334155"/>
                </a:solidFill>
                <a:latin typeface="Inter"/>
                <a:ea typeface="Inter"/>
                <a:cs typeface="Inter"/>
                <a:sym typeface="Inter"/>
              </a:rPr>
              <a:t>intentos</a:t>
            </a:r>
            <a:r>
              <a:rPr lang="en-US" sz="1425" b="0" i="0" u="none" strike="noStrike" cap="none" dirty="0">
                <a:solidFill>
                  <a:srgbClr val="334155"/>
                </a:solidFill>
                <a:latin typeface="Inter"/>
                <a:ea typeface="Inter"/>
                <a:cs typeface="Inter"/>
                <a:sym typeface="Inter"/>
              </a:rPr>
              <a:t> para </a:t>
            </a:r>
            <a:r>
              <a:rPr lang="en-US" sz="1425" b="0" i="0" u="none" strike="noStrike" cap="none" dirty="0" err="1">
                <a:solidFill>
                  <a:srgbClr val="334155"/>
                </a:solidFill>
                <a:latin typeface="Inter"/>
                <a:ea typeface="Inter"/>
                <a:cs typeface="Inter"/>
                <a:sym typeface="Inter"/>
              </a:rPr>
              <a:t>ingresar</a:t>
            </a:r>
            <a:r>
              <a:rPr lang="en-US" sz="1425" b="0" i="0" u="none" strike="noStrike" cap="none" dirty="0">
                <a:solidFill>
                  <a:srgbClr val="334155"/>
                </a:solidFill>
                <a:latin typeface="Inter"/>
                <a:ea typeface="Inter"/>
                <a:cs typeface="Inter"/>
                <a:sym typeface="Inter"/>
              </a:rPr>
              <a:t> la </a:t>
            </a:r>
            <a:r>
              <a:rPr lang="en-US" sz="1425" b="0" i="0" u="none" strike="noStrike" cap="none" dirty="0" err="1">
                <a:solidFill>
                  <a:srgbClr val="334155"/>
                </a:solidFill>
                <a:latin typeface="Inter"/>
                <a:ea typeface="Inter"/>
                <a:cs typeface="Inter"/>
                <a:sym typeface="Inter"/>
              </a:rPr>
              <a:t>contraseña</a:t>
            </a:r>
            <a:r>
              <a:rPr lang="en-US" sz="1425" b="0" i="0" u="none" strike="noStrike" cap="none" dirty="0">
                <a:solidFill>
                  <a:srgbClr val="334155"/>
                </a:solidFill>
                <a:latin typeface="Inter"/>
                <a:ea typeface="Inter"/>
                <a:cs typeface="Inter"/>
                <a:sym typeface="Inter"/>
              </a:rPr>
              <a:t> </a:t>
            </a:r>
            <a:r>
              <a:rPr lang="en-US" sz="1425" b="0" i="0" u="none" strike="noStrike" cap="none" dirty="0" err="1">
                <a:solidFill>
                  <a:srgbClr val="334155"/>
                </a:solidFill>
                <a:latin typeface="Inter"/>
                <a:ea typeface="Inter"/>
                <a:cs typeface="Inter"/>
                <a:sym typeface="Inter"/>
              </a:rPr>
              <a:t>correcta</a:t>
            </a:r>
            <a:r>
              <a:rPr lang="en-US" sz="1425" b="0" i="0" u="none" strike="noStrike" cap="none" dirty="0">
                <a:solidFill>
                  <a:srgbClr val="334155"/>
                </a:solidFill>
                <a:latin typeface="Inter"/>
                <a:ea typeface="Inter"/>
                <a:cs typeface="Inter"/>
                <a:sym typeface="Inter"/>
              </a:rPr>
              <a:t>.</a:t>
            </a:r>
            <a:endParaRPr dirty="0"/>
          </a:p>
        </p:txBody>
      </p:sp>
      <p:sp>
        <p:nvSpPr>
          <p:cNvPr id="101" name="Google Shape;101;p14"/>
          <p:cNvSpPr txBox="1"/>
          <p:nvPr/>
        </p:nvSpPr>
        <p:spPr>
          <a:xfrm>
            <a:off x="2143125" y="3521126"/>
            <a:ext cx="8124825" cy="289470"/>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334155"/>
                </a:solidFill>
                <a:latin typeface="Inter"/>
                <a:ea typeface="Inter"/>
                <a:cs typeface="Inter"/>
                <a:sym typeface="Inter"/>
              </a:rPr>
              <a:t>La contraseña correcta está predefinida como </a:t>
            </a:r>
            <a:r>
              <a:rPr lang="en-US" sz="1425" b="1" i="0" u="none" strike="noStrike" cap="none">
                <a:solidFill>
                  <a:srgbClr val="334155"/>
                </a:solidFill>
                <a:latin typeface="Inter"/>
                <a:ea typeface="Inter"/>
                <a:cs typeface="Inter"/>
                <a:sym typeface="Inter"/>
              </a:rPr>
              <a:t>"ITM2025"</a:t>
            </a:r>
            <a:r>
              <a:rPr lang="en-US" sz="1425" b="0" i="0" u="none" strike="noStrike" cap="none">
                <a:solidFill>
                  <a:srgbClr val="334155"/>
                </a:solidFill>
                <a:latin typeface="Inter"/>
                <a:ea typeface="Inter"/>
                <a:cs typeface="Inter"/>
                <a:sym typeface="Inter"/>
              </a:rPr>
              <a:t>.</a:t>
            </a:r>
            <a:endParaRPr/>
          </a:p>
        </p:txBody>
      </p:sp>
      <p:sp>
        <p:nvSpPr>
          <p:cNvPr id="102" name="Google Shape;102;p14"/>
          <p:cNvSpPr txBox="1"/>
          <p:nvPr/>
        </p:nvSpPr>
        <p:spPr>
          <a:xfrm>
            <a:off x="2143125" y="3953472"/>
            <a:ext cx="8124825" cy="289470"/>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334155"/>
                </a:solidFill>
                <a:latin typeface="Inter"/>
                <a:ea typeface="Inter"/>
                <a:cs typeface="Inter"/>
                <a:sym typeface="Inter"/>
              </a:rPr>
              <a:t>Si el usuario acierta, el programa debe mostrar "Bienvenido" y </a:t>
            </a:r>
            <a:r>
              <a:rPr lang="en-US" sz="1425" b="1" i="0" u="none" strike="noStrike" cap="none">
                <a:solidFill>
                  <a:srgbClr val="334155"/>
                </a:solidFill>
                <a:latin typeface="Inter"/>
                <a:ea typeface="Inter"/>
                <a:cs typeface="Inter"/>
                <a:sym typeface="Inter"/>
              </a:rPr>
              <a:t>terminar inmediatamente</a:t>
            </a:r>
            <a:r>
              <a:rPr lang="en-US" sz="1425" b="0" i="0" u="none" strike="noStrike" cap="none">
                <a:solidFill>
                  <a:srgbClr val="334155"/>
                </a:solidFill>
                <a:latin typeface="Inter"/>
                <a:ea typeface="Inter"/>
                <a:cs typeface="Inter"/>
                <a:sym typeface="Inter"/>
              </a:rPr>
              <a:t>.</a:t>
            </a:r>
            <a:endParaRPr/>
          </a:p>
        </p:txBody>
      </p:sp>
      <p:sp>
        <p:nvSpPr>
          <p:cNvPr id="103" name="Google Shape;103;p14"/>
          <p:cNvSpPr txBox="1"/>
          <p:nvPr/>
        </p:nvSpPr>
        <p:spPr>
          <a:xfrm>
            <a:off x="2143125" y="4385817"/>
            <a:ext cx="8124825" cy="289470"/>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334155"/>
                </a:solidFill>
                <a:latin typeface="Inter"/>
                <a:ea typeface="Inter"/>
                <a:cs typeface="Inter"/>
                <a:sym typeface="Inter"/>
              </a:rPr>
              <a:t>Si agota los 3 intentos sin éxito, debe mostrar "Cuenta bloqueada" y terminar.</a:t>
            </a:r>
            <a:endParaRPr/>
          </a:p>
        </p:txBody>
      </p:sp>
      <p:sp>
        <p:nvSpPr>
          <p:cNvPr id="104" name="Google Shape;104;p14"/>
          <p:cNvSpPr txBox="1"/>
          <p:nvPr/>
        </p:nvSpPr>
        <p:spPr>
          <a:xfrm>
            <a:off x="1952625" y="3050680"/>
            <a:ext cx="133350" cy="361950"/>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0" i="0" u="none" strike="noStrike" cap="none">
                <a:solidFill>
                  <a:srgbClr val="1E3A8A"/>
                </a:solidFill>
                <a:latin typeface="Inter"/>
                <a:ea typeface="Inter"/>
                <a:cs typeface="Inter"/>
                <a:sym typeface="Inter"/>
              </a:rPr>
              <a:t>•</a:t>
            </a:r>
            <a:endParaRPr/>
          </a:p>
        </p:txBody>
      </p:sp>
      <p:sp>
        <p:nvSpPr>
          <p:cNvPr id="105" name="Google Shape;105;p14"/>
          <p:cNvSpPr txBox="1"/>
          <p:nvPr/>
        </p:nvSpPr>
        <p:spPr>
          <a:xfrm>
            <a:off x="1952625" y="3483026"/>
            <a:ext cx="133350" cy="361950"/>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0" i="0" u="none" strike="noStrike" cap="none">
                <a:solidFill>
                  <a:srgbClr val="1E3A8A"/>
                </a:solidFill>
                <a:latin typeface="Inter"/>
                <a:ea typeface="Inter"/>
                <a:cs typeface="Inter"/>
                <a:sym typeface="Inter"/>
              </a:rPr>
              <a:t>•</a:t>
            </a:r>
            <a:endParaRPr/>
          </a:p>
        </p:txBody>
      </p:sp>
      <p:sp>
        <p:nvSpPr>
          <p:cNvPr id="106" name="Google Shape;106;p14"/>
          <p:cNvSpPr txBox="1"/>
          <p:nvPr/>
        </p:nvSpPr>
        <p:spPr>
          <a:xfrm>
            <a:off x="1952625" y="3915372"/>
            <a:ext cx="133350" cy="361950"/>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0" i="0" u="none" strike="noStrike" cap="none">
                <a:solidFill>
                  <a:srgbClr val="1E3A8A"/>
                </a:solidFill>
                <a:latin typeface="Inter"/>
                <a:ea typeface="Inter"/>
                <a:cs typeface="Inter"/>
                <a:sym typeface="Inter"/>
              </a:rPr>
              <a:t>•</a:t>
            </a:r>
            <a:endParaRPr/>
          </a:p>
        </p:txBody>
      </p:sp>
      <p:sp>
        <p:nvSpPr>
          <p:cNvPr id="107" name="Google Shape;107;p14"/>
          <p:cNvSpPr txBox="1"/>
          <p:nvPr/>
        </p:nvSpPr>
        <p:spPr>
          <a:xfrm>
            <a:off x="1952625" y="4347717"/>
            <a:ext cx="133350" cy="361950"/>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0" i="0" u="none" strike="noStrike" cap="none">
                <a:solidFill>
                  <a:srgbClr val="1E3A8A"/>
                </a:solidFill>
                <a:latin typeface="Inter"/>
                <a:ea typeface="Inter"/>
                <a:cs typeface="Inter"/>
                <a:sym typeface="Inter"/>
              </a:rPr>
              <a: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pic>
        <p:nvPicPr>
          <p:cNvPr id="112" name="Google Shape;112;p15"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13" name="Google Shape;113;p15" descr="image.png"/>
          <p:cNvPicPr preferRelativeResize="0"/>
          <p:nvPr/>
        </p:nvPicPr>
        <p:blipFill rotWithShape="1">
          <a:blip r:embed="rId4">
            <a:alphaModFix/>
          </a:blip>
          <a:srcRect/>
          <a:stretch/>
        </p:blipFill>
        <p:spPr>
          <a:xfrm>
            <a:off x="1012874" y="1276350"/>
            <a:ext cx="10607626" cy="5433939"/>
          </a:xfrm>
          <a:prstGeom prst="rect">
            <a:avLst/>
          </a:prstGeom>
          <a:noFill/>
          <a:ln>
            <a:noFill/>
          </a:ln>
        </p:spPr>
      </p:pic>
      <p:sp>
        <p:nvSpPr>
          <p:cNvPr id="114" name="Google Shape;114;p15"/>
          <p:cNvSpPr txBox="1"/>
          <p:nvPr/>
        </p:nvSpPr>
        <p:spPr>
          <a:xfrm>
            <a:off x="571500" y="476250"/>
            <a:ext cx="11601450" cy="419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1" i="0" u="none" strike="noStrike" cap="none">
                <a:solidFill>
                  <a:srgbClr val="1E3A8A"/>
                </a:solidFill>
                <a:latin typeface="Merriweather"/>
                <a:ea typeface="Merriweather"/>
                <a:cs typeface="Merriweather"/>
                <a:sym typeface="Merriweather"/>
              </a:rPr>
              <a:t>Solución del Reto en Logicode</a:t>
            </a:r>
            <a:endParaRPr/>
          </a:p>
        </p:txBody>
      </p:sp>
      <p:sp>
        <p:nvSpPr>
          <p:cNvPr id="115" name="Google Shape;115;p15"/>
          <p:cNvSpPr/>
          <p:nvPr/>
        </p:nvSpPr>
        <p:spPr>
          <a:xfrm>
            <a:off x="571500" y="1019175"/>
            <a:ext cx="11049000"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pic>
        <p:nvPicPr>
          <p:cNvPr id="120" name="Google Shape;120;p16"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21" name="Google Shape;121;p16" descr="image.png"/>
          <p:cNvPicPr preferRelativeResize="0"/>
          <p:nvPr/>
        </p:nvPicPr>
        <p:blipFill rotWithShape="1">
          <a:blip r:embed="rId4">
            <a:alphaModFix/>
          </a:blip>
          <a:srcRect/>
          <a:stretch/>
        </p:blipFill>
        <p:spPr>
          <a:xfrm>
            <a:off x="6286500" y="2598241"/>
            <a:ext cx="5502226" cy="1771650"/>
          </a:xfrm>
          <a:prstGeom prst="rect">
            <a:avLst/>
          </a:prstGeom>
          <a:noFill/>
          <a:ln>
            <a:noFill/>
          </a:ln>
        </p:spPr>
      </p:pic>
      <p:sp>
        <p:nvSpPr>
          <p:cNvPr id="122" name="Google Shape;122;p16"/>
          <p:cNvSpPr txBox="1"/>
          <p:nvPr/>
        </p:nvSpPr>
        <p:spPr>
          <a:xfrm>
            <a:off x="571500" y="476250"/>
            <a:ext cx="11601450" cy="419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1" i="0" u="none" strike="noStrike" cap="none">
                <a:solidFill>
                  <a:srgbClr val="1E3A8A"/>
                </a:solidFill>
                <a:latin typeface="Merriweather"/>
                <a:ea typeface="Merriweather"/>
                <a:cs typeface="Merriweather"/>
                <a:sym typeface="Merriweather"/>
              </a:rPr>
              <a:t>Otra Aplicación Práctica: Menús Interactivos</a:t>
            </a:r>
            <a:endParaRPr/>
          </a:p>
        </p:txBody>
      </p:sp>
      <p:sp>
        <p:nvSpPr>
          <p:cNvPr id="123" name="Google Shape;123;p16"/>
          <p:cNvSpPr/>
          <p:nvPr/>
        </p:nvSpPr>
        <p:spPr>
          <a:xfrm>
            <a:off x="571500" y="1019175"/>
            <a:ext cx="11049000"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4" name="Google Shape;124;p16"/>
          <p:cNvSpPr txBox="1"/>
          <p:nvPr/>
        </p:nvSpPr>
        <p:spPr>
          <a:xfrm>
            <a:off x="571500" y="1276350"/>
            <a:ext cx="11049000" cy="578941"/>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334155"/>
                </a:solidFill>
                <a:latin typeface="Inter"/>
                <a:ea typeface="Inter"/>
                <a:cs typeface="Inter"/>
                <a:sym typeface="Inter"/>
              </a:rPr>
              <a:t>Una de las aplicaciones más comunes para un bucle controlado por una bandera es la creación de interfaces de texto. El menú debe repetirse constantemente hasta que el usuario elija explícitamente la opción de salida.</a:t>
            </a:r>
            <a:endParaRPr/>
          </a:p>
        </p:txBody>
      </p:sp>
      <p:sp>
        <p:nvSpPr>
          <p:cNvPr id="125" name="Google Shape;125;p16"/>
          <p:cNvSpPr txBox="1"/>
          <p:nvPr/>
        </p:nvSpPr>
        <p:spPr>
          <a:xfrm>
            <a:off x="571500" y="2188666"/>
            <a:ext cx="5600700" cy="266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1" i="0" u="none" strike="noStrike" cap="none">
                <a:solidFill>
                  <a:srgbClr val="0F172A"/>
                </a:solidFill>
                <a:latin typeface="Merriweather"/>
                <a:ea typeface="Merriweather"/>
                <a:cs typeface="Merriweather"/>
                <a:sym typeface="Merriweather"/>
              </a:rPr>
              <a:t>Lógica Estructural</a:t>
            </a:r>
            <a:endParaRPr/>
          </a:p>
        </p:txBody>
      </p:sp>
      <p:sp>
        <p:nvSpPr>
          <p:cNvPr id="126" name="Google Shape;126;p16"/>
          <p:cNvSpPr txBox="1"/>
          <p:nvPr/>
        </p:nvSpPr>
        <p:spPr>
          <a:xfrm>
            <a:off x="6286500" y="2188666"/>
            <a:ext cx="5600700" cy="266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1" i="0" u="none" strike="noStrike" cap="none">
                <a:solidFill>
                  <a:srgbClr val="0F172A"/>
                </a:solidFill>
                <a:latin typeface="Merriweather"/>
                <a:ea typeface="Merriweather"/>
                <a:cs typeface="Merriweather"/>
                <a:sym typeface="Merriweather"/>
              </a:rPr>
              <a:t>Ejemplo Visual</a:t>
            </a:r>
            <a:endParaRPr/>
          </a:p>
        </p:txBody>
      </p:sp>
      <p:sp>
        <p:nvSpPr>
          <p:cNvPr id="127" name="Google Shape;127;p16"/>
          <p:cNvSpPr txBox="1"/>
          <p:nvPr/>
        </p:nvSpPr>
        <p:spPr>
          <a:xfrm>
            <a:off x="6486525" y="3493591"/>
            <a:ext cx="685800" cy="2095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i="0" u="none" strike="noStrike" cap="none" dirty="0">
                <a:solidFill>
                  <a:srgbClr val="DC2626"/>
                </a:solidFill>
                <a:latin typeface="Arial"/>
                <a:ea typeface="Arial"/>
                <a:cs typeface="Arial"/>
                <a:sym typeface="Arial"/>
              </a:rPr>
              <a:t>4. </a:t>
            </a:r>
            <a:r>
              <a:rPr lang="en-US" sz="1350" b="1" i="0" u="none" strike="noStrike" cap="none" dirty="0" err="1">
                <a:solidFill>
                  <a:srgbClr val="DC2626"/>
                </a:solidFill>
                <a:latin typeface="Arial"/>
                <a:ea typeface="Arial"/>
                <a:cs typeface="Arial"/>
                <a:sym typeface="Arial"/>
              </a:rPr>
              <a:t>Salir</a:t>
            </a:r>
            <a:endParaRPr dirty="0"/>
          </a:p>
        </p:txBody>
      </p:sp>
      <p:sp>
        <p:nvSpPr>
          <p:cNvPr id="128" name="Google Shape;128;p16"/>
          <p:cNvSpPr txBox="1"/>
          <p:nvPr/>
        </p:nvSpPr>
        <p:spPr>
          <a:xfrm>
            <a:off x="762000" y="2598241"/>
            <a:ext cx="5143500" cy="578941"/>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334155"/>
                </a:solidFill>
                <a:latin typeface="Inter"/>
                <a:ea typeface="Inter"/>
                <a:cs typeface="Inter"/>
                <a:sym typeface="Inter"/>
              </a:rPr>
              <a:t>El bucle se encarga de mostrar el menú de opciones de forma repetitiva.</a:t>
            </a:r>
            <a:endParaRPr/>
          </a:p>
        </p:txBody>
      </p:sp>
      <p:sp>
        <p:nvSpPr>
          <p:cNvPr id="129" name="Google Shape;129;p16"/>
          <p:cNvSpPr txBox="1"/>
          <p:nvPr/>
        </p:nvSpPr>
        <p:spPr>
          <a:xfrm>
            <a:off x="762000" y="3320057"/>
            <a:ext cx="5143500" cy="578941"/>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334155"/>
                </a:solidFill>
                <a:latin typeface="Inter"/>
                <a:ea typeface="Inter"/>
                <a:cs typeface="Inter"/>
                <a:sym typeface="Inter"/>
              </a:rPr>
              <a:t>Una bandera lógica (ej. finalizar) controla si el bucle debe continuar su ejecución.</a:t>
            </a:r>
            <a:endParaRPr/>
          </a:p>
        </p:txBody>
      </p:sp>
      <p:sp>
        <p:nvSpPr>
          <p:cNvPr id="130" name="Google Shape;130;p16"/>
          <p:cNvSpPr txBox="1"/>
          <p:nvPr/>
        </p:nvSpPr>
        <p:spPr>
          <a:xfrm>
            <a:off x="762000" y="4041874"/>
            <a:ext cx="5143500" cy="289470"/>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334155"/>
                </a:solidFill>
                <a:latin typeface="Inter"/>
                <a:ea typeface="Inter"/>
                <a:cs typeface="Inter"/>
                <a:sym typeface="Inter"/>
              </a:rPr>
              <a:t>Inicialmente, la bandera finalizar se establece en falso.</a:t>
            </a:r>
            <a:endParaRPr/>
          </a:p>
        </p:txBody>
      </p:sp>
      <p:sp>
        <p:nvSpPr>
          <p:cNvPr id="131" name="Google Shape;131;p16"/>
          <p:cNvSpPr txBox="1"/>
          <p:nvPr/>
        </p:nvSpPr>
        <p:spPr>
          <a:xfrm>
            <a:off x="762000" y="4474219"/>
            <a:ext cx="5143500" cy="868412"/>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334155"/>
                </a:solidFill>
                <a:latin typeface="Inter"/>
                <a:ea typeface="Inter"/>
                <a:cs typeface="Inter"/>
                <a:sym typeface="Inter"/>
              </a:rPr>
              <a:t>Cuando el usuario selecciona la opción correspondiente a "Salir", el programa cambia la bandera a verdadero, y el bucle termina orgánicamente.</a:t>
            </a:r>
            <a:endParaRPr/>
          </a:p>
        </p:txBody>
      </p:sp>
      <p:sp>
        <p:nvSpPr>
          <p:cNvPr id="132" name="Google Shape;132;p16"/>
          <p:cNvSpPr txBox="1"/>
          <p:nvPr/>
        </p:nvSpPr>
        <p:spPr>
          <a:xfrm>
            <a:off x="571500" y="2560141"/>
            <a:ext cx="133350" cy="361950"/>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0" i="0" u="none" strike="noStrike" cap="none">
                <a:solidFill>
                  <a:srgbClr val="1E3A8A"/>
                </a:solidFill>
                <a:latin typeface="Inter"/>
                <a:ea typeface="Inter"/>
                <a:cs typeface="Inter"/>
                <a:sym typeface="Inter"/>
              </a:rPr>
              <a:t>•</a:t>
            </a:r>
            <a:endParaRPr/>
          </a:p>
        </p:txBody>
      </p:sp>
      <p:sp>
        <p:nvSpPr>
          <p:cNvPr id="133" name="Google Shape;133;p16"/>
          <p:cNvSpPr txBox="1"/>
          <p:nvPr/>
        </p:nvSpPr>
        <p:spPr>
          <a:xfrm>
            <a:off x="571500" y="3281957"/>
            <a:ext cx="133350" cy="361950"/>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0" i="0" u="none" strike="noStrike" cap="none">
                <a:solidFill>
                  <a:srgbClr val="1E3A8A"/>
                </a:solidFill>
                <a:latin typeface="Inter"/>
                <a:ea typeface="Inter"/>
                <a:cs typeface="Inter"/>
                <a:sym typeface="Inter"/>
              </a:rPr>
              <a:t>•</a:t>
            </a:r>
            <a:endParaRPr/>
          </a:p>
        </p:txBody>
      </p:sp>
      <p:sp>
        <p:nvSpPr>
          <p:cNvPr id="134" name="Google Shape;134;p16"/>
          <p:cNvSpPr txBox="1"/>
          <p:nvPr/>
        </p:nvSpPr>
        <p:spPr>
          <a:xfrm>
            <a:off x="571500" y="4003774"/>
            <a:ext cx="133350" cy="361950"/>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0" i="0" u="none" strike="noStrike" cap="none">
                <a:solidFill>
                  <a:srgbClr val="1E3A8A"/>
                </a:solidFill>
                <a:latin typeface="Inter"/>
                <a:ea typeface="Inter"/>
                <a:cs typeface="Inter"/>
                <a:sym typeface="Inter"/>
              </a:rPr>
              <a:t>•</a:t>
            </a:r>
            <a:endParaRPr/>
          </a:p>
        </p:txBody>
      </p:sp>
      <p:sp>
        <p:nvSpPr>
          <p:cNvPr id="135" name="Google Shape;135;p16"/>
          <p:cNvSpPr txBox="1"/>
          <p:nvPr/>
        </p:nvSpPr>
        <p:spPr>
          <a:xfrm>
            <a:off x="571500" y="4436119"/>
            <a:ext cx="133350" cy="361950"/>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0" i="0" u="none" strike="noStrike" cap="none">
                <a:solidFill>
                  <a:srgbClr val="1E3A8A"/>
                </a:solidFill>
                <a:latin typeface="Inter"/>
                <a:ea typeface="Inter"/>
                <a:cs typeface="Inter"/>
                <a:sym typeface="Inter"/>
              </a:rPr>
              <a:t>•</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2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2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 grpId="0"/>
      <p:bldP spid="127" grpId="0"/>
      <p:bldP spid="128" grpId="0"/>
      <p:bldP spid="129" grpId="0"/>
      <p:bldP spid="130" grpId="0"/>
      <p:bldP spid="131" grpId="0"/>
      <p:bldP spid="132" grpId="0"/>
      <p:bldP spid="133" grpId="0"/>
      <p:bldP spid="134" grpId="0"/>
      <p:bldP spid="13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pic>
        <p:nvPicPr>
          <p:cNvPr id="140" name="Google Shape;140;p17"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41" name="Google Shape;141;p17" descr="image.png"/>
          <p:cNvPicPr preferRelativeResize="0"/>
          <p:nvPr/>
        </p:nvPicPr>
        <p:blipFill rotWithShape="1">
          <a:blip r:embed="rId4">
            <a:alphaModFix/>
          </a:blip>
          <a:srcRect/>
          <a:stretch/>
        </p:blipFill>
        <p:spPr>
          <a:xfrm>
            <a:off x="571500" y="2188666"/>
            <a:ext cx="5334000" cy="3649265"/>
          </a:xfrm>
          <a:prstGeom prst="rect">
            <a:avLst/>
          </a:prstGeom>
          <a:noFill/>
          <a:ln>
            <a:noFill/>
          </a:ln>
        </p:spPr>
      </p:pic>
      <p:pic>
        <p:nvPicPr>
          <p:cNvPr id="142" name="Google Shape;142;p17" descr="image.png"/>
          <p:cNvPicPr preferRelativeResize="0"/>
          <p:nvPr/>
        </p:nvPicPr>
        <p:blipFill rotWithShape="1">
          <a:blip r:embed="rId5">
            <a:alphaModFix/>
          </a:blip>
          <a:srcRect/>
          <a:stretch/>
        </p:blipFill>
        <p:spPr>
          <a:xfrm>
            <a:off x="6286500" y="2188666"/>
            <a:ext cx="5334000" cy="3093094"/>
          </a:xfrm>
          <a:prstGeom prst="rect">
            <a:avLst/>
          </a:prstGeom>
          <a:noFill/>
          <a:ln>
            <a:noFill/>
          </a:ln>
        </p:spPr>
      </p:pic>
      <p:sp>
        <p:nvSpPr>
          <p:cNvPr id="143" name="Google Shape;143;p17"/>
          <p:cNvSpPr txBox="1"/>
          <p:nvPr/>
        </p:nvSpPr>
        <p:spPr>
          <a:xfrm>
            <a:off x="571500" y="476250"/>
            <a:ext cx="11601450" cy="419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1" i="0" u="none" strike="noStrike" cap="none">
                <a:solidFill>
                  <a:srgbClr val="1E3A8A"/>
                </a:solidFill>
                <a:latin typeface="Merriweather"/>
                <a:ea typeface="Merriweather"/>
                <a:cs typeface="Merriweather"/>
                <a:sym typeface="Merriweather"/>
              </a:rPr>
              <a:t>Aplicación Avanzada: Sistema de Caja Registradora</a:t>
            </a:r>
            <a:endParaRPr/>
          </a:p>
        </p:txBody>
      </p:sp>
      <p:sp>
        <p:nvSpPr>
          <p:cNvPr id="144" name="Google Shape;144;p17"/>
          <p:cNvSpPr/>
          <p:nvPr/>
        </p:nvSpPr>
        <p:spPr>
          <a:xfrm>
            <a:off x="571500" y="1019175"/>
            <a:ext cx="11049000"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5" name="Google Shape;145;p17"/>
          <p:cNvSpPr txBox="1"/>
          <p:nvPr/>
        </p:nvSpPr>
        <p:spPr>
          <a:xfrm>
            <a:off x="571500" y="1276350"/>
            <a:ext cx="11049000" cy="578941"/>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334155"/>
                </a:solidFill>
                <a:latin typeface="Inter"/>
                <a:ea typeface="Inter"/>
                <a:cs typeface="Inter"/>
                <a:sym typeface="Inter"/>
              </a:rPr>
              <a:t>Construyamos un programa robusto que simule la caja de un minimercado. Este ejercicio integra banderas, acumuladores y sentencias condicionales.</a:t>
            </a:r>
            <a:endParaRPr/>
          </a:p>
        </p:txBody>
      </p:sp>
      <p:sp>
        <p:nvSpPr>
          <p:cNvPr id="146" name="Google Shape;146;p17"/>
          <p:cNvSpPr txBox="1"/>
          <p:nvPr/>
        </p:nvSpPr>
        <p:spPr>
          <a:xfrm>
            <a:off x="819150" y="2436316"/>
            <a:ext cx="5080635" cy="266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1" i="0" u="none" strike="noStrike" cap="none">
                <a:solidFill>
                  <a:srgbClr val="0F172A"/>
                </a:solidFill>
                <a:latin typeface="Merriweather"/>
                <a:ea typeface="Merriweather"/>
                <a:cs typeface="Merriweather"/>
                <a:sym typeface="Merriweather"/>
              </a:rPr>
              <a:t>Reglas del Sistema</a:t>
            </a:r>
            <a:endParaRPr/>
          </a:p>
        </p:txBody>
      </p:sp>
      <p:sp>
        <p:nvSpPr>
          <p:cNvPr id="147" name="Google Shape;147;p17"/>
          <p:cNvSpPr txBox="1"/>
          <p:nvPr/>
        </p:nvSpPr>
        <p:spPr>
          <a:xfrm>
            <a:off x="6534150" y="2436316"/>
            <a:ext cx="5080635" cy="266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1" i="0" u="none" strike="noStrike" cap="none">
                <a:solidFill>
                  <a:srgbClr val="0F172A"/>
                </a:solidFill>
                <a:latin typeface="Merriweather"/>
                <a:ea typeface="Merriweather"/>
                <a:cs typeface="Merriweather"/>
                <a:sym typeface="Merriweather"/>
              </a:rPr>
              <a:t>Flujo del Programa</a:t>
            </a:r>
            <a:endParaRPr/>
          </a:p>
        </p:txBody>
      </p:sp>
      <p:sp>
        <p:nvSpPr>
          <p:cNvPr id="148" name="Google Shape;148;p17"/>
          <p:cNvSpPr txBox="1"/>
          <p:nvPr/>
        </p:nvSpPr>
        <p:spPr>
          <a:xfrm>
            <a:off x="6634162" y="2936439"/>
            <a:ext cx="180975" cy="2857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25" b="0" i="0" u="none" strike="noStrike" cap="none">
                <a:solidFill>
                  <a:srgbClr val="334155"/>
                </a:solidFill>
                <a:latin typeface="Arial"/>
                <a:ea typeface="Arial"/>
                <a:cs typeface="Arial"/>
                <a:sym typeface="Arial"/>
              </a:rPr>
              <a:t>1.</a:t>
            </a:r>
            <a:endParaRPr/>
          </a:p>
        </p:txBody>
      </p:sp>
      <p:sp>
        <p:nvSpPr>
          <p:cNvPr id="149" name="Google Shape;149;p17"/>
          <p:cNvSpPr txBox="1"/>
          <p:nvPr/>
        </p:nvSpPr>
        <p:spPr>
          <a:xfrm>
            <a:off x="6724650" y="2855416"/>
            <a:ext cx="4648200" cy="289470"/>
          </a:xfrm>
          <a:prstGeom prst="rect">
            <a:avLst/>
          </a:prstGeom>
          <a:noFill/>
          <a:ln>
            <a:noFill/>
          </a:ln>
        </p:spPr>
        <p:txBody>
          <a:bodyPr spcFirstLastPara="1" wrap="square" lIns="180975"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334155"/>
                </a:solidFill>
                <a:latin typeface="Arial"/>
                <a:ea typeface="Arial"/>
                <a:cs typeface="Arial"/>
                <a:sym typeface="Arial"/>
              </a:rPr>
              <a:t>Mostrar Menú (1. Agregar / 2. Pagar)</a:t>
            </a:r>
            <a:endParaRPr/>
          </a:p>
        </p:txBody>
      </p:sp>
      <p:sp>
        <p:nvSpPr>
          <p:cNvPr id="150" name="Google Shape;150;p17"/>
          <p:cNvSpPr txBox="1"/>
          <p:nvPr/>
        </p:nvSpPr>
        <p:spPr>
          <a:xfrm>
            <a:off x="6634162" y="3225910"/>
            <a:ext cx="180975" cy="2857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25" b="0" i="0" u="none" strike="noStrike" cap="none">
                <a:solidFill>
                  <a:srgbClr val="334155"/>
                </a:solidFill>
                <a:latin typeface="Arial"/>
                <a:ea typeface="Arial"/>
                <a:cs typeface="Arial"/>
                <a:sym typeface="Arial"/>
              </a:rPr>
              <a:t>2.</a:t>
            </a:r>
            <a:endParaRPr/>
          </a:p>
        </p:txBody>
      </p:sp>
      <p:sp>
        <p:nvSpPr>
          <p:cNvPr id="151" name="Google Shape;151;p17"/>
          <p:cNvSpPr txBox="1"/>
          <p:nvPr/>
        </p:nvSpPr>
        <p:spPr>
          <a:xfrm>
            <a:off x="6724650" y="3144887"/>
            <a:ext cx="4648200" cy="578941"/>
          </a:xfrm>
          <a:prstGeom prst="rect">
            <a:avLst/>
          </a:prstGeom>
          <a:noFill/>
          <a:ln>
            <a:noFill/>
          </a:ln>
        </p:spPr>
        <p:txBody>
          <a:bodyPr spcFirstLastPara="1" wrap="square" lIns="180975"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334155"/>
                </a:solidFill>
                <a:latin typeface="Arial"/>
                <a:ea typeface="Arial"/>
                <a:cs typeface="Arial"/>
                <a:sym typeface="Arial"/>
              </a:rPr>
              <a:t>Usuario agrega producto (precio se suma al subtotal)</a:t>
            </a:r>
            <a:endParaRPr/>
          </a:p>
        </p:txBody>
      </p:sp>
      <p:sp>
        <p:nvSpPr>
          <p:cNvPr id="152" name="Google Shape;152;p17"/>
          <p:cNvSpPr txBox="1"/>
          <p:nvPr/>
        </p:nvSpPr>
        <p:spPr>
          <a:xfrm>
            <a:off x="6634162" y="3588365"/>
            <a:ext cx="180975" cy="2857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25" b="0" i="0" u="none" strike="noStrike" cap="none">
                <a:solidFill>
                  <a:srgbClr val="334155"/>
                </a:solidFill>
                <a:latin typeface="Arial"/>
                <a:ea typeface="Arial"/>
                <a:cs typeface="Arial"/>
                <a:sym typeface="Arial"/>
              </a:rPr>
              <a:t>3.</a:t>
            </a:r>
            <a:endParaRPr/>
          </a:p>
        </p:txBody>
      </p:sp>
      <p:sp>
        <p:nvSpPr>
          <p:cNvPr id="153" name="Google Shape;153;p17"/>
          <p:cNvSpPr txBox="1"/>
          <p:nvPr/>
        </p:nvSpPr>
        <p:spPr>
          <a:xfrm>
            <a:off x="6724650" y="3507342"/>
            <a:ext cx="4648200" cy="289470"/>
          </a:xfrm>
          <a:prstGeom prst="rect">
            <a:avLst/>
          </a:prstGeom>
          <a:noFill/>
          <a:ln>
            <a:noFill/>
          </a:ln>
        </p:spPr>
        <p:txBody>
          <a:bodyPr spcFirstLastPara="1" wrap="square" lIns="180975"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334155"/>
                </a:solidFill>
                <a:latin typeface="Arial"/>
                <a:ea typeface="Arial"/>
                <a:cs typeface="Arial"/>
                <a:sym typeface="Arial"/>
              </a:rPr>
              <a:t>Repetir pasos 1 y 2...</a:t>
            </a:r>
            <a:endParaRPr/>
          </a:p>
        </p:txBody>
      </p:sp>
      <p:sp>
        <p:nvSpPr>
          <p:cNvPr id="154" name="Google Shape;154;p17"/>
          <p:cNvSpPr txBox="1"/>
          <p:nvPr/>
        </p:nvSpPr>
        <p:spPr>
          <a:xfrm>
            <a:off x="6634162" y="3877836"/>
            <a:ext cx="180975" cy="2857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25" b="0" i="0" u="none" strike="noStrike" cap="none">
                <a:solidFill>
                  <a:srgbClr val="334155"/>
                </a:solidFill>
                <a:latin typeface="Arial"/>
                <a:ea typeface="Arial"/>
                <a:cs typeface="Arial"/>
                <a:sym typeface="Arial"/>
              </a:rPr>
              <a:t>4.</a:t>
            </a:r>
            <a:endParaRPr/>
          </a:p>
        </p:txBody>
      </p:sp>
      <p:sp>
        <p:nvSpPr>
          <p:cNvPr id="155" name="Google Shape;155;p17"/>
          <p:cNvSpPr txBox="1"/>
          <p:nvPr/>
        </p:nvSpPr>
        <p:spPr>
          <a:xfrm>
            <a:off x="6724650" y="3796813"/>
            <a:ext cx="4648200" cy="289470"/>
          </a:xfrm>
          <a:prstGeom prst="rect">
            <a:avLst/>
          </a:prstGeom>
          <a:noFill/>
          <a:ln>
            <a:noFill/>
          </a:ln>
        </p:spPr>
        <p:txBody>
          <a:bodyPr spcFirstLastPara="1" wrap="square" lIns="180975"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334155"/>
                </a:solidFill>
                <a:latin typeface="Arial"/>
                <a:ea typeface="Arial"/>
                <a:cs typeface="Arial"/>
                <a:sym typeface="Arial"/>
              </a:rPr>
              <a:t>Usuario elige "Pagar" (Bandera = verdadero)</a:t>
            </a:r>
            <a:endParaRPr/>
          </a:p>
        </p:txBody>
      </p:sp>
      <p:sp>
        <p:nvSpPr>
          <p:cNvPr id="156" name="Google Shape;156;p17"/>
          <p:cNvSpPr txBox="1"/>
          <p:nvPr/>
        </p:nvSpPr>
        <p:spPr>
          <a:xfrm>
            <a:off x="6634162" y="4167306"/>
            <a:ext cx="180975" cy="2857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25" b="0" i="0" u="none" strike="noStrike" cap="none">
                <a:solidFill>
                  <a:srgbClr val="334155"/>
                </a:solidFill>
                <a:latin typeface="Arial"/>
                <a:ea typeface="Arial"/>
                <a:cs typeface="Arial"/>
                <a:sym typeface="Arial"/>
              </a:rPr>
              <a:t>5.</a:t>
            </a:r>
            <a:endParaRPr/>
          </a:p>
        </p:txBody>
      </p:sp>
      <p:sp>
        <p:nvSpPr>
          <p:cNvPr id="157" name="Google Shape;157;p17"/>
          <p:cNvSpPr txBox="1"/>
          <p:nvPr/>
        </p:nvSpPr>
        <p:spPr>
          <a:xfrm>
            <a:off x="6724650" y="4086283"/>
            <a:ext cx="4648200" cy="289470"/>
          </a:xfrm>
          <a:prstGeom prst="rect">
            <a:avLst/>
          </a:prstGeom>
          <a:noFill/>
          <a:ln>
            <a:noFill/>
          </a:ln>
        </p:spPr>
        <p:txBody>
          <a:bodyPr spcFirstLastPara="1" wrap="square" lIns="180975"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334155"/>
                </a:solidFill>
                <a:latin typeface="Arial"/>
                <a:ea typeface="Arial"/>
                <a:cs typeface="Arial"/>
                <a:sym typeface="Arial"/>
              </a:rPr>
              <a:t>Verificar si aplica el descuento condicional</a:t>
            </a:r>
            <a:endParaRPr/>
          </a:p>
        </p:txBody>
      </p:sp>
      <p:sp>
        <p:nvSpPr>
          <p:cNvPr id="158" name="Google Shape;158;p17"/>
          <p:cNvSpPr txBox="1"/>
          <p:nvPr/>
        </p:nvSpPr>
        <p:spPr>
          <a:xfrm>
            <a:off x="6634162" y="4456777"/>
            <a:ext cx="180975" cy="2857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25" b="0" i="0" u="none" strike="noStrike" cap="none">
                <a:solidFill>
                  <a:srgbClr val="334155"/>
                </a:solidFill>
                <a:latin typeface="Arial"/>
                <a:ea typeface="Arial"/>
                <a:cs typeface="Arial"/>
                <a:sym typeface="Arial"/>
              </a:rPr>
              <a:t>6.</a:t>
            </a:r>
            <a:endParaRPr/>
          </a:p>
        </p:txBody>
      </p:sp>
      <p:sp>
        <p:nvSpPr>
          <p:cNvPr id="159" name="Google Shape;159;p17"/>
          <p:cNvSpPr txBox="1"/>
          <p:nvPr/>
        </p:nvSpPr>
        <p:spPr>
          <a:xfrm>
            <a:off x="6724650" y="4375754"/>
            <a:ext cx="4648200" cy="289470"/>
          </a:xfrm>
          <a:prstGeom prst="rect">
            <a:avLst/>
          </a:prstGeom>
          <a:noFill/>
          <a:ln>
            <a:noFill/>
          </a:ln>
        </p:spPr>
        <p:txBody>
          <a:bodyPr spcFirstLastPara="1" wrap="square" lIns="180975"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334155"/>
                </a:solidFill>
                <a:latin typeface="Arial"/>
                <a:ea typeface="Arial"/>
                <a:cs typeface="Arial"/>
                <a:sym typeface="Arial"/>
              </a:rPr>
              <a:t>Mostrar factura total y terminar programa</a:t>
            </a:r>
            <a:endParaRPr/>
          </a:p>
        </p:txBody>
      </p:sp>
      <p:sp>
        <p:nvSpPr>
          <p:cNvPr id="160" name="Google Shape;160;p17"/>
          <p:cNvSpPr txBox="1"/>
          <p:nvPr/>
        </p:nvSpPr>
        <p:spPr>
          <a:xfrm>
            <a:off x="1009650" y="2845891"/>
            <a:ext cx="4648200" cy="578941"/>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334155"/>
                </a:solidFill>
                <a:latin typeface="Inter"/>
                <a:ea typeface="Inter"/>
                <a:cs typeface="Inter"/>
                <a:sym typeface="Inter"/>
              </a:rPr>
              <a:t>El programa mostrará un menú con dos opciones: agregar producto o pagar.</a:t>
            </a:r>
            <a:endParaRPr/>
          </a:p>
        </p:txBody>
      </p:sp>
      <p:sp>
        <p:nvSpPr>
          <p:cNvPr id="161" name="Google Shape;161;p17"/>
          <p:cNvSpPr txBox="1"/>
          <p:nvPr/>
        </p:nvSpPr>
        <p:spPr>
          <a:xfrm>
            <a:off x="1009650" y="3567707"/>
            <a:ext cx="4648200" cy="578941"/>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334155"/>
                </a:solidFill>
                <a:latin typeface="Inter"/>
                <a:ea typeface="Inter"/>
                <a:cs typeface="Inter"/>
                <a:sym typeface="Inter"/>
              </a:rPr>
              <a:t>Un </a:t>
            </a:r>
            <a:r>
              <a:rPr lang="en-US" sz="1425" b="1" i="0" u="none" strike="noStrike" cap="none">
                <a:solidFill>
                  <a:srgbClr val="334155"/>
                </a:solidFill>
                <a:latin typeface="Inter"/>
                <a:ea typeface="Inter"/>
                <a:cs typeface="Inter"/>
                <a:sym typeface="Inter"/>
              </a:rPr>
              <a:t>acumulador</a:t>
            </a:r>
            <a:r>
              <a:rPr lang="en-US" sz="1425" b="0" i="0" u="none" strike="noStrike" cap="none">
                <a:solidFill>
                  <a:srgbClr val="334155"/>
                </a:solidFill>
                <a:latin typeface="Inter"/>
                <a:ea typeface="Inter"/>
                <a:cs typeface="Inter"/>
                <a:sym typeface="Inter"/>
              </a:rPr>
              <a:t> llevará la cuenta matemática del subtotal.</a:t>
            </a:r>
            <a:endParaRPr/>
          </a:p>
        </p:txBody>
      </p:sp>
      <p:sp>
        <p:nvSpPr>
          <p:cNvPr id="162" name="Google Shape;162;p17"/>
          <p:cNvSpPr txBox="1"/>
          <p:nvPr/>
        </p:nvSpPr>
        <p:spPr>
          <a:xfrm>
            <a:off x="1009650" y="4289524"/>
            <a:ext cx="4648200" cy="578941"/>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1" i="0" u="none" strike="noStrike" cap="none">
                <a:solidFill>
                  <a:srgbClr val="334155"/>
                </a:solidFill>
                <a:latin typeface="Inter"/>
                <a:ea typeface="Inter"/>
                <a:cs typeface="Inter"/>
                <a:sym typeface="Inter"/>
              </a:rPr>
              <a:t>Condición comercial:</a:t>
            </a:r>
            <a:r>
              <a:rPr lang="en-US" sz="1425" b="0" i="0" u="none" strike="noStrike" cap="none">
                <a:solidFill>
                  <a:srgbClr val="334155"/>
                </a:solidFill>
                <a:latin typeface="Inter"/>
                <a:ea typeface="Inter"/>
                <a:cs typeface="Inter"/>
                <a:sym typeface="Inter"/>
              </a:rPr>
              <a:t> Si la compra supera los $100.000, se aplicará un 10% de descuento.</a:t>
            </a:r>
            <a:endParaRPr/>
          </a:p>
        </p:txBody>
      </p:sp>
      <p:sp>
        <p:nvSpPr>
          <p:cNvPr id="163" name="Google Shape;163;p17"/>
          <p:cNvSpPr txBox="1"/>
          <p:nvPr/>
        </p:nvSpPr>
        <p:spPr>
          <a:xfrm>
            <a:off x="1009650" y="5011340"/>
            <a:ext cx="4648200" cy="578941"/>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334155"/>
                </a:solidFill>
                <a:latin typeface="Inter"/>
                <a:ea typeface="Inter"/>
                <a:cs typeface="Inter"/>
                <a:sym typeface="Inter"/>
              </a:rPr>
              <a:t>El bucle del menú se controlará con una </a:t>
            </a:r>
            <a:r>
              <a:rPr lang="en-US" sz="1425" b="1" i="0" u="none" strike="noStrike" cap="none">
                <a:solidFill>
                  <a:srgbClr val="334155"/>
                </a:solidFill>
                <a:latin typeface="Inter"/>
                <a:ea typeface="Inter"/>
                <a:cs typeface="Inter"/>
                <a:sym typeface="Inter"/>
              </a:rPr>
              <a:t>bandera</a:t>
            </a:r>
            <a:r>
              <a:rPr lang="en-US" sz="1425" b="0" i="0" u="none" strike="noStrike" cap="none">
                <a:solidFill>
                  <a:srgbClr val="334155"/>
                </a:solidFill>
                <a:latin typeface="Inter"/>
                <a:ea typeface="Inter"/>
                <a:cs typeface="Inter"/>
                <a:sym typeface="Inter"/>
              </a:rPr>
              <a:t> que se activará exclusivamente al elegir "Pagar".</a:t>
            </a:r>
            <a:endParaRPr/>
          </a:p>
        </p:txBody>
      </p:sp>
      <p:sp>
        <p:nvSpPr>
          <p:cNvPr id="164" name="Google Shape;164;p17"/>
          <p:cNvSpPr txBox="1"/>
          <p:nvPr/>
        </p:nvSpPr>
        <p:spPr>
          <a:xfrm>
            <a:off x="819150" y="2807791"/>
            <a:ext cx="133350" cy="361950"/>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0" i="0" u="none" strike="noStrike" cap="none">
                <a:solidFill>
                  <a:srgbClr val="1E3A8A"/>
                </a:solidFill>
                <a:latin typeface="Inter"/>
                <a:ea typeface="Inter"/>
                <a:cs typeface="Inter"/>
                <a:sym typeface="Inter"/>
              </a:rPr>
              <a:t>•</a:t>
            </a:r>
            <a:endParaRPr/>
          </a:p>
        </p:txBody>
      </p:sp>
      <p:sp>
        <p:nvSpPr>
          <p:cNvPr id="165" name="Google Shape;165;p17"/>
          <p:cNvSpPr txBox="1"/>
          <p:nvPr/>
        </p:nvSpPr>
        <p:spPr>
          <a:xfrm>
            <a:off x="819150" y="3529607"/>
            <a:ext cx="133350" cy="361950"/>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0" i="0" u="none" strike="noStrike" cap="none">
                <a:solidFill>
                  <a:srgbClr val="1E3A8A"/>
                </a:solidFill>
                <a:latin typeface="Inter"/>
                <a:ea typeface="Inter"/>
                <a:cs typeface="Inter"/>
                <a:sym typeface="Inter"/>
              </a:rPr>
              <a:t>•</a:t>
            </a:r>
            <a:endParaRPr/>
          </a:p>
        </p:txBody>
      </p:sp>
      <p:sp>
        <p:nvSpPr>
          <p:cNvPr id="166" name="Google Shape;166;p17"/>
          <p:cNvSpPr txBox="1"/>
          <p:nvPr/>
        </p:nvSpPr>
        <p:spPr>
          <a:xfrm>
            <a:off x="819150" y="4251424"/>
            <a:ext cx="133350" cy="361950"/>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0" i="0" u="none" strike="noStrike" cap="none">
                <a:solidFill>
                  <a:srgbClr val="1E3A8A"/>
                </a:solidFill>
                <a:latin typeface="Inter"/>
                <a:ea typeface="Inter"/>
                <a:cs typeface="Inter"/>
                <a:sym typeface="Inter"/>
              </a:rPr>
              <a:t>•</a:t>
            </a:r>
            <a:endParaRPr/>
          </a:p>
        </p:txBody>
      </p:sp>
      <p:sp>
        <p:nvSpPr>
          <p:cNvPr id="167" name="Google Shape;167;p17"/>
          <p:cNvSpPr txBox="1"/>
          <p:nvPr/>
        </p:nvSpPr>
        <p:spPr>
          <a:xfrm>
            <a:off x="819150" y="4973240"/>
            <a:ext cx="133350" cy="361950"/>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0" i="0" u="none" strike="noStrike" cap="none">
                <a:solidFill>
                  <a:srgbClr val="1E3A8A"/>
                </a:solidFill>
                <a:latin typeface="Inter"/>
                <a:ea typeface="Inter"/>
                <a:cs typeface="Inter"/>
                <a:sym typeface="Inter"/>
              </a:rPr>
              <a:t>•</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6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6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4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4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4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4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5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5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5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5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54"/>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55"/>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56"/>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5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58"/>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6" grpId="0"/>
      <p:bldP spid="147" grpId="0"/>
      <p:bldP spid="148" grpId="0"/>
      <p:bldP spid="149" grpId="0"/>
      <p:bldP spid="150" grpId="0"/>
      <p:bldP spid="151" grpId="0"/>
      <p:bldP spid="152" grpId="0"/>
      <p:bldP spid="153" grpId="0"/>
      <p:bldP spid="154" grpId="0"/>
      <p:bldP spid="155" grpId="0"/>
      <p:bldP spid="156" grpId="0"/>
      <p:bldP spid="157" grpId="0"/>
      <p:bldP spid="158" grpId="0"/>
      <p:bldP spid="159" grpId="0"/>
      <p:bldP spid="160" grpId="0"/>
      <p:bldP spid="161" grpId="0"/>
      <p:bldP spid="162" grpId="0"/>
      <p:bldP spid="163" grpId="0"/>
      <p:bldP spid="164" grpId="0"/>
      <p:bldP spid="165" grpId="0"/>
      <p:bldP spid="166" grpId="0"/>
      <p:bldP spid="16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pic>
        <p:nvPicPr>
          <p:cNvPr id="172" name="Google Shape;172;p18"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73" name="Google Shape;173;p18" descr="image.png"/>
          <p:cNvPicPr preferRelativeResize="0"/>
          <p:nvPr/>
        </p:nvPicPr>
        <p:blipFill rotWithShape="1">
          <a:blip r:embed="rId4">
            <a:alphaModFix/>
          </a:blip>
          <a:srcRect/>
          <a:stretch/>
        </p:blipFill>
        <p:spPr>
          <a:xfrm>
            <a:off x="571500" y="1708695"/>
            <a:ext cx="11049000" cy="2146696"/>
          </a:xfrm>
          <a:prstGeom prst="rect">
            <a:avLst/>
          </a:prstGeom>
          <a:noFill/>
          <a:ln>
            <a:noFill/>
          </a:ln>
        </p:spPr>
      </p:pic>
      <p:sp>
        <p:nvSpPr>
          <p:cNvPr id="174" name="Google Shape;174;p18"/>
          <p:cNvSpPr txBox="1"/>
          <p:nvPr/>
        </p:nvSpPr>
        <p:spPr>
          <a:xfrm>
            <a:off x="571500" y="476250"/>
            <a:ext cx="11601450" cy="419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1" i="0" u="none" strike="noStrike" cap="none">
                <a:solidFill>
                  <a:srgbClr val="1E3A8A"/>
                </a:solidFill>
                <a:latin typeface="Merriweather"/>
                <a:ea typeface="Merriweather"/>
                <a:cs typeface="Merriweather"/>
                <a:sym typeface="Merriweather"/>
              </a:rPr>
              <a:t>Análisis y Diseño del Sistema de Caja</a:t>
            </a:r>
            <a:endParaRPr/>
          </a:p>
        </p:txBody>
      </p:sp>
      <p:sp>
        <p:nvSpPr>
          <p:cNvPr id="175" name="Google Shape;175;p18"/>
          <p:cNvSpPr/>
          <p:nvPr/>
        </p:nvSpPr>
        <p:spPr>
          <a:xfrm>
            <a:off x="571500" y="1019175"/>
            <a:ext cx="11049000"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6" name="Google Shape;176;p18"/>
          <p:cNvSpPr txBox="1"/>
          <p:nvPr/>
        </p:nvSpPr>
        <p:spPr>
          <a:xfrm>
            <a:off x="571500" y="1276350"/>
            <a:ext cx="11049000" cy="289470"/>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334155"/>
                </a:solidFill>
                <a:latin typeface="Inter"/>
                <a:ea typeface="Inter"/>
                <a:cs typeface="Inter"/>
                <a:sym typeface="Inter"/>
              </a:rPr>
              <a:t>Para garantizar una construcción algorítmica limpia, clasificaremos las variables requeridas por su propósito.</a:t>
            </a:r>
            <a:endParaRPr/>
          </a:p>
        </p:txBody>
      </p:sp>
      <p:sp>
        <p:nvSpPr>
          <p:cNvPr id="177" name="Google Shape;177;p18"/>
          <p:cNvSpPr txBox="1"/>
          <p:nvPr/>
        </p:nvSpPr>
        <p:spPr>
          <a:xfrm>
            <a:off x="571500" y="4141142"/>
            <a:ext cx="11601450" cy="266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1" i="0" u="none" strike="noStrike" cap="none">
                <a:solidFill>
                  <a:srgbClr val="0F172A"/>
                </a:solidFill>
                <a:latin typeface="Merriweather"/>
                <a:ea typeface="Merriweather"/>
                <a:cs typeface="Merriweather"/>
                <a:sym typeface="Merriweather"/>
              </a:rPr>
              <a:t>Lógica Estructural</a:t>
            </a:r>
            <a:endParaRPr/>
          </a:p>
        </p:txBody>
      </p:sp>
      <p:sp>
        <p:nvSpPr>
          <p:cNvPr id="178" name="Google Shape;178;p18"/>
          <p:cNvSpPr txBox="1"/>
          <p:nvPr/>
        </p:nvSpPr>
        <p:spPr>
          <a:xfrm>
            <a:off x="571500" y="4550717"/>
            <a:ext cx="11049000" cy="578941"/>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334155"/>
                </a:solidFill>
                <a:latin typeface="Inter"/>
                <a:ea typeface="Inter"/>
                <a:cs typeface="Inter"/>
                <a:sym typeface="Inter"/>
              </a:rPr>
              <a:t>El bucle principal se ejecutará con la condición mientras (finalizarCompra == falso). Utilizaremos la estructura segun (opcion) para manejar las decisiones del usuario sin usar funciones separadas.</a:t>
            </a:r>
            <a:endParaRPr/>
          </a:p>
        </p:txBody>
      </p:sp>
      <p:sp>
        <p:nvSpPr>
          <p:cNvPr id="179" name="Google Shape;179;p18"/>
          <p:cNvSpPr txBox="1"/>
          <p:nvPr/>
        </p:nvSpPr>
        <p:spPr>
          <a:xfrm>
            <a:off x="819150" y="1956345"/>
            <a:ext cx="3493717" cy="219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i="0" u="none" strike="noStrike" cap="none">
                <a:solidFill>
                  <a:srgbClr val="1E3A8A"/>
                </a:solidFill>
                <a:latin typeface="Merriweather"/>
                <a:ea typeface="Merriweather"/>
                <a:cs typeface="Merriweather"/>
                <a:sym typeface="Merriweather"/>
              </a:rPr>
              <a:t>Acumuladores y Cálculos:</a:t>
            </a:r>
            <a:endParaRPr/>
          </a:p>
        </p:txBody>
      </p:sp>
      <p:sp>
        <p:nvSpPr>
          <p:cNvPr id="180" name="Google Shape;180;p18"/>
          <p:cNvSpPr txBox="1"/>
          <p:nvPr/>
        </p:nvSpPr>
        <p:spPr>
          <a:xfrm>
            <a:off x="4432250" y="1956345"/>
            <a:ext cx="3493717" cy="219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i="0" u="none" strike="noStrike" cap="none">
                <a:solidFill>
                  <a:srgbClr val="1E3A8A"/>
                </a:solidFill>
                <a:latin typeface="Merriweather"/>
                <a:ea typeface="Merriweather"/>
                <a:cs typeface="Merriweather"/>
                <a:sym typeface="Merriweather"/>
              </a:rPr>
              <a:t>Variables de Entrada:</a:t>
            </a:r>
            <a:endParaRPr/>
          </a:p>
        </p:txBody>
      </p:sp>
      <p:sp>
        <p:nvSpPr>
          <p:cNvPr id="181" name="Google Shape;181;p18"/>
          <p:cNvSpPr txBox="1"/>
          <p:nvPr/>
        </p:nvSpPr>
        <p:spPr>
          <a:xfrm>
            <a:off x="8045350" y="1956345"/>
            <a:ext cx="3493874" cy="219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i="0" u="none" strike="noStrike" cap="none">
                <a:solidFill>
                  <a:srgbClr val="1E3A8A"/>
                </a:solidFill>
                <a:latin typeface="Merriweather"/>
                <a:ea typeface="Merriweather"/>
                <a:cs typeface="Merriweather"/>
                <a:sym typeface="Merriweather"/>
              </a:rPr>
              <a:t>Variable de Control:</a:t>
            </a:r>
            <a:endParaRPr/>
          </a:p>
        </p:txBody>
      </p:sp>
      <p:sp>
        <p:nvSpPr>
          <p:cNvPr id="182" name="Google Shape;182;p18"/>
          <p:cNvSpPr txBox="1"/>
          <p:nvPr/>
        </p:nvSpPr>
        <p:spPr>
          <a:xfrm>
            <a:off x="1009650" y="2318295"/>
            <a:ext cx="3136850" cy="49708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334155"/>
                </a:solidFill>
                <a:latin typeface="Inter"/>
                <a:ea typeface="Inter"/>
                <a:cs typeface="Inter"/>
                <a:sym typeface="Inter"/>
              </a:rPr>
              <a:t>subtotal: Suma el precio de cada producto.</a:t>
            </a:r>
            <a:endParaRPr/>
          </a:p>
        </p:txBody>
      </p:sp>
      <p:sp>
        <p:nvSpPr>
          <p:cNvPr id="183" name="Google Shape;183;p18"/>
          <p:cNvSpPr txBox="1"/>
          <p:nvPr/>
        </p:nvSpPr>
        <p:spPr>
          <a:xfrm>
            <a:off x="1009650" y="2958256"/>
            <a:ext cx="3136850" cy="25330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334155"/>
                </a:solidFill>
                <a:latin typeface="Inter"/>
                <a:ea typeface="Inter"/>
                <a:cs typeface="Inter"/>
                <a:sym typeface="Inter"/>
              </a:rPr>
              <a:t>descuento: Almacena el valor a deducir.</a:t>
            </a:r>
            <a:endParaRPr/>
          </a:p>
        </p:txBody>
      </p:sp>
      <p:sp>
        <p:nvSpPr>
          <p:cNvPr id="184" name="Google Shape;184;p18"/>
          <p:cNvSpPr txBox="1"/>
          <p:nvPr/>
        </p:nvSpPr>
        <p:spPr>
          <a:xfrm>
            <a:off x="1009650" y="3354437"/>
            <a:ext cx="3136850" cy="25330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334155"/>
                </a:solidFill>
                <a:latin typeface="Inter"/>
                <a:ea typeface="Inter"/>
                <a:cs typeface="Inter"/>
                <a:sym typeface="Inter"/>
              </a:rPr>
              <a:t>totalPagar: Resultado final matemático.</a:t>
            </a:r>
            <a:endParaRPr/>
          </a:p>
        </p:txBody>
      </p:sp>
      <p:sp>
        <p:nvSpPr>
          <p:cNvPr id="185" name="Google Shape;185;p18"/>
          <p:cNvSpPr txBox="1"/>
          <p:nvPr/>
        </p:nvSpPr>
        <p:spPr>
          <a:xfrm>
            <a:off x="4622750" y="2318295"/>
            <a:ext cx="3136850" cy="49708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334155"/>
                </a:solidFill>
                <a:latin typeface="Inter"/>
                <a:ea typeface="Inter"/>
                <a:cs typeface="Inter"/>
                <a:sym typeface="Inter"/>
              </a:rPr>
              <a:t>opcion: Guarda la elección del menú (1 o 2).</a:t>
            </a:r>
            <a:endParaRPr/>
          </a:p>
        </p:txBody>
      </p:sp>
      <p:sp>
        <p:nvSpPr>
          <p:cNvPr id="186" name="Google Shape;186;p18"/>
          <p:cNvSpPr txBox="1"/>
          <p:nvPr/>
        </p:nvSpPr>
        <p:spPr>
          <a:xfrm>
            <a:off x="4622750" y="2958256"/>
            <a:ext cx="3136850" cy="49708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334155"/>
                </a:solidFill>
                <a:latin typeface="Inter"/>
                <a:ea typeface="Inter"/>
                <a:cs typeface="Inter"/>
                <a:sym typeface="Inter"/>
              </a:rPr>
              <a:t>precioProducto: Guarda temporalmente el precio digitado.</a:t>
            </a:r>
            <a:endParaRPr/>
          </a:p>
        </p:txBody>
      </p:sp>
      <p:sp>
        <p:nvSpPr>
          <p:cNvPr id="187" name="Google Shape;187;p18"/>
          <p:cNvSpPr txBox="1"/>
          <p:nvPr/>
        </p:nvSpPr>
        <p:spPr>
          <a:xfrm>
            <a:off x="8235850" y="2318295"/>
            <a:ext cx="3136999" cy="759916"/>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334155"/>
                </a:solidFill>
                <a:latin typeface="Inter"/>
                <a:ea typeface="Inter"/>
                <a:cs typeface="Inter"/>
                <a:sym typeface="Inter"/>
              </a:rPr>
              <a:t>finalizarCompra (Bandera): Controla el bucle principal. Inicia en falso y cambia a verdadero para finalizar.</a:t>
            </a:r>
            <a:endParaRPr/>
          </a:p>
        </p:txBody>
      </p:sp>
      <p:sp>
        <p:nvSpPr>
          <p:cNvPr id="188" name="Google Shape;188;p18"/>
          <p:cNvSpPr txBox="1"/>
          <p:nvPr/>
        </p:nvSpPr>
        <p:spPr>
          <a:xfrm>
            <a:off x="819150" y="2280195"/>
            <a:ext cx="133350" cy="361950"/>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0" i="0" u="none" strike="noStrike" cap="none">
                <a:solidFill>
                  <a:srgbClr val="1E3A8A"/>
                </a:solidFill>
                <a:latin typeface="Inter"/>
                <a:ea typeface="Inter"/>
                <a:cs typeface="Inter"/>
                <a:sym typeface="Inter"/>
              </a:rPr>
              <a:t>•</a:t>
            </a:r>
            <a:endParaRPr/>
          </a:p>
        </p:txBody>
      </p:sp>
      <p:sp>
        <p:nvSpPr>
          <p:cNvPr id="189" name="Google Shape;189;p18"/>
          <p:cNvSpPr txBox="1"/>
          <p:nvPr/>
        </p:nvSpPr>
        <p:spPr>
          <a:xfrm>
            <a:off x="819150" y="2920156"/>
            <a:ext cx="133350" cy="361950"/>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0" i="0" u="none" strike="noStrike" cap="none">
                <a:solidFill>
                  <a:srgbClr val="1E3A8A"/>
                </a:solidFill>
                <a:latin typeface="Inter"/>
                <a:ea typeface="Inter"/>
                <a:cs typeface="Inter"/>
                <a:sym typeface="Inter"/>
              </a:rPr>
              <a:t>•</a:t>
            </a:r>
            <a:endParaRPr/>
          </a:p>
        </p:txBody>
      </p:sp>
      <p:sp>
        <p:nvSpPr>
          <p:cNvPr id="190" name="Google Shape;190;p18"/>
          <p:cNvSpPr txBox="1"/>
          <p:nvPr/>
        </p:nvSpPr>
        <p:spPr>
          <a:xfrm>
            <a:off x="819150" y="3316337"/>
            <a:ext cx="133350" cy="361950"/>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0" i="0" u="none" strike="noStrike" cap="none">
                <a:solidFill>
                  <a:srgbClr val="1E3A8A"/>
                </a:solidFill>
                <a:latin typeface="Inter"/>
                <a:ea typeface="Inter"/>
                <a:cs typeface="Inter"/>
                <a:sym typeface="Inter"/>
              </a:rPr>
              <a:t>•</a:t>
            </a:r>
            <a:endParaRPr/>
          </a:p>
        </p:txBody>
      </p:sp>
      <p:sp>
        <p:nvSpPr>
          <p:cNvPr id="191" name="Google Shape;191;p18"/>
          <p:cNvSpPr txBox="1"/>
          <p:nvPr/>
        </p:nvSpPr>
        <p:spPr>
          <a:xfrm>
            <a:off x="4432250" y="2280195"/>
            <a:ext cx="133350" cy="361950"/>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0" i="0" u="none" strike="noStrike" cap="none">
                <a:solidFill>
                  <a:srgbClr val="1E3A8A"/>
                </a:solidFill>
                <a:latin typeface="Inter"/>
                <a:ea typeface="Inter"/>
                <a:cs typeface="Inter"/>
                <a:sym typeface="Inter"/>
              </a:rPr>
              <a:t>•</a:t>
            </a:r>
            <a:endParaRPr/>
          </a:p>
        </p:txBody>
      </p:sp>
      <p:sp>
        <p:nvSpPr>
          <p:cNvPr id="192" name="Google Shape;192;p18"/>
          <p:cNvSpPr txBox="1"/>
          <p:nvPr/>
        </p:nvSpPr>
        <p:spPr>
          <a:xfrm>
            <a:off x="4432250" y="2920156"/>
            <a:ext cx="133350" cy="361950"/>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0" i="0" u="none" strike="noStrike" cap="none">
                <a:solidFill>
                  <a:srgbClr val="1E3A8A"/>
                </a:solidFill>
                <a:latin typeface="Inter"/>
                <a:ea typeface="Inter"/>
                <a:cs typeface="Inter"/>
                <a:sym typeface="Inter"/>
              </a:rPr>
              <a:t>•</a:t>
            </a:r>
            <a:endParaRPr/>
          </a:p>
        </p:txBody>
      </p:sp>
      <p:sp>
        <p:nvSpPr>
          <p:cNvPr id="193" name="Google Shape;193;p18"/>
          <p:cNvSpPr txBox="1"/>
          <p:nvPr/>
        </p:nvSpPr>
        <p:spPr>
          <a:xfrm>
            <a:off x="8045350" y="2280195"/>
            <a:ext cx="133350" cy="361950"/>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0" i="0" u="none" strike="noStrike" cap="none">
                <a:solidFill>
                  <a:srgbClr val="1E3A8A"/>
                </a:solidFill>
                <a:latin typeface="Inter"/>
                <a:ea typeface="Inter"/>
                <a:cs typeface="Inter"/>
                <a:sym typeface="Inter"/>
              </a:rPr>
              <a:t>•</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8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8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8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8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8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8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8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9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9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9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9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7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7" grpId="0"/>
      <p:bldP spid="178" grpId="0"/>
      <p:bldP spid="179" grpId="0"/>
      <p:bldP spid="180" grpId="0"/>
      <p:bldP spid="181" grpId="0"/>
      <p:bldP spid="182" grpId="0"/>
      <p:bldP spid="183" grpId="0"/>
      <p:bldP spid="184" grpId="0"/>
      <p:bldP spid="185" grpId="0"/>
      <p:bldP spid="186" grpId="0"/>
      <p:bldP spid="187" grpId="0"/>
      <p:bldP spid="188" grpId="0"/>
      <p:bldP spid="189" grpId="0"/>
      <p:bldP spid="190" grpId="0"/>
      <p:bldP spid="191" grpId="0"/>
      <p:bldP spid="192" grpId="0"/>
      <p:bldP spid="19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pic>
        <p:nvPicPr>
          <p:cNvPr id="198" name="Google Shape;198;p19"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99" name="Google Shape;199;p19" descr="image.png"/>
          <p:cNvPicPr preferRelativeResize="0"/>
          <p:nvPr/>
        </p:nvPicPr>
        <p:blipFill rotWithShape="1">
          <a:blip r:embed="rId4">
            <a:alphaModFix/>
          </a:blip>
          <a:srcRect/>
          <a:stretch/>
        </p:blipFill>
        <p:spPr>
          <a:xfrm>
            <a:off x="571500" y="1276350"/>
            <a:ext cx="5429250" cy="5423892"/>
          </a:xfrm>
          <a:prstGeom prst="rect">
            <a:avLst/>
          </a:prstGeom>
          <a:noFill/>
          <a:ln>
            <a:noFill/>
          </a:ln>
        </p:spPr>
      </p:pic>
      <p:pic>
        <p:nvPicPr>
          <p:cNvPr id="200" name="Google Shape;200;p19" descr="image.png"/>
          <p:cNvPicPr preferRelativeResize="0"/>
          <p:nvPr/>
        </p:nvPicPr>
        <p:blipFill rotWithShape="1">
          <a:blip r:embed="rId5">
            <a:alphaModFix/>
          </a:blip>
          <a:srcRect/>
          <a:stretch/>
        </p:blipFill>
        <p:spPr>
          <a:xfrm>
            <a:off x="6191250" y="1276350"/>
            <a:ext cx="5429250" cy="5423892"/>
          </a:xfrm>
          <a:prstGeom prst="rect">
            <a:avLst/>
          </a:prstGeom>
          <a:noFill/>
          <a:ln>
            <a:noFill/>
          </a:ln>
        </p:spPr>
      </p:pic>
      <p:sp>
        <p:nvSpPr>
          <p:cNvPr id="201" name="Google Shape;201;p19"/>
          <p:cNvSpPr txBox="1"/>
          <p:nvPr/>
        </p:nvSpPr>
        <p:spPr>
          <a:xfrm>
            <a:off x="571500" y="476250"/>
            <a:ext cx="11601450" cy="419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1" i="0" u="none" strike="noStrike" cap="none">
                <a:solidFill>
                  <a:srgbClr val="1E3A8A"/>
                </a:solidFill>
                <a:latin typeface="Merriweather"/>
                <a:ea typeface="Merriweather"/>
                <a:cs typeface="Merriweather"/>
                <a:sym typeface="Merriweather"/>
              </a:rPr>
              <a:t>Solución Completa: Sistema de Caja en Logicode</a:t>
            </a:r>
            <a:endParaRPr/>
          </a:p>
        </p:txBody>
      </p:sp>
      <p:sp>
        <p:nvSpPr>
          <p:cNvPr id="202" name="Google Shape;202;p19"/>
          <p:cNvSpPr/>
          <p:nvPr/>
        </p:nvSpPr>
        <p:spPr>
          <a:xfrm>
            <a:off x="571500" y="1019175"/>
            <a:ext cx="11049000"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1">
          <a:extLst>
            <a:ext uri="{FF2B5EF4-FFF2-40B4-BE49-F238E27FC236}">
              <a16:creationId xmlns:a16="http://schemas.microsoft.com/office/drawing/2014/main" id="{56311172-ED37-938A-0D59-AAE3018265FB}"/>
            </a:ext>
          </a:extLst>
        </p:cNvPr>
        <p:cNvGrpSpPr/>
        <p:nvPr/>
      </p:nvGrpSpPr>
      <p:grpSpPr>
        <a:xfrm>
          <a:off x="0" y="0"/>
          <a:ext cx="0" cy="0"/>
          <a:chOff x="0" y="0"/>
          <a:chExt cx="0" cy="0"/>
        </a:xfrm>
      </p:grpSpPr>
      <p:pic>
        <p:nvPicPr>
          <p:cNvPr id="172" name="Google Shape;172;p18" descr="image.png">
            <a:extLst>
              <a:ext uri="{FF2B5EF4-FFF2-40B4-BE49-F238E27FC236}">
                <a16:creationId xmlns:a16="http://schemas.microsoft.com/office/drawing/2014/main" id="{82AD9B68-940C-52B7-1390-FBDD76F620A0}"/>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74" name="Google Shape;174;p18">
            <a:extLst>
              <a:ext uri="{FF2B5EF4-FFF2-40B4-BE49-F238E27FC236}">
                <a16:creationId xmlns:a16="http://schemas.microsoft.com/office/drawing/2014/main" id="{A045353E-F2B1-2E6B-20EF-B6B0963ACB75}"/>
              </a:ext>
            </a:extLst>
          </p:cNvPr>
          <p:cNvSpPr txBox="1"/>
          <p:nvPr/>
        </p:nvSpPr>
        <p:spPr>
          <a:xfrm>
            <a:off x="571500" y="476250"/>
            <a:ext cx="11601450" cy="39241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1" i="0" u="none" strike="noStrike" cap="none" dirty="0" err="1">
                <a:solidFill>
                  <a:srgbClr val="1E3A8A"/>
                </a:solidFill>
                <a:latin typeface="Merriweather"/>
                <a:ea typeface="Merriweather"/>
                <a:cs typeface="Merriweather"/>
                <a:sym typeface="Merriweather"/>
              </a:rPr>
              <a:t>Ejercicios</a:t>
            </a:r>
            <a:endParaRPr dirty="0"/>
          </a:p>
        </p:txBody>
      </p:sp>
      <p:sp>
        <p:nvSpPr>
          <p:cNvPr id="175" name="Google Shape;175;p18">
            <a:extLst>
              <a:ext uri="{FF2B5EF4-FFF2-40B4-BE49-F238E27FC236}">
                <a16:creationId xmlns:a16="http://schemas.microsoft.com/office/drawing/2014/main" id="{3B8C6F4F-90F1-7345-6AFD-090F14421F0C}"/>
              </a:ext>
            </a:extLst>
          </p:cNvPr>
          <p:cNvSpPr/>
          <p:nvPr/>
        </p:nvSpPr>
        <p:spPr>
          <a:xfrm>
            <a:off x="571500" y="1019175"/>
            <a:ext cx="11049000"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 name="Google Shape;141;p17" descr="image.png">
            <a:extLst>
              <a:ext uri="{FF2B5EF4-FFF2-40B4-BE49-F238E27FC236}">
                <a16:creationId xmlns:a16="http://schemas.microsoft.com/office/drawing/2014/main" id="{55DDCDB3-2632-DF4B-2DC9-C16CF2A0AD4E}"/>
              </a:ext>
            </a:extLst>
          </p:cNvPr>
          <p:cNvPicPr preferRelativeResize="0"/>
          <p:nvPr/>
        </p:nvPicPr>
        <p:blipFill rotWithShape="1">
          <a:blip r:embed="rId4">
            <a:alphaModFix/>
          </a:blip>
          <a:srcRect/>
          <a:stretch/>
        </p:blipFill>
        <p:spPr>
          <a:xfrm>
            <a:off x="571500" y="2083148"/>
            <a:ext cx="5334000" cy="831502"/>
          </a:xfrm>
          <a:prstGeom prst="rect">
            <a:avLst/>
          </a:prstGeom>
          <a:noFill/>
          <a:ln>
            <a:noFill/>
          </a:ln>
        </p:spPr>
      </p:pic>
      <p:sp>
        <p:nvSpPr>
          <p:cNvPr id="4" name="Google Shape;146;p17">
            <a:extLst>
              <a:ext uri="{FF2B5EF4-FFF2-40B4-BE49-F238E27FC236}">
                <a16:creationId xmlns:a16="http://schemas.microsoft.com/office/drawing/2014/main" id="{0DFDBFB4-B31F-31EB-3CE5-2C1BEB806A57}"/>
              </a:ext>
            </a:extLst>
          </p:cNvPr>
          <p:cNvSpPr txBox="1"/>
          <p:nvPr/>
        </p:nvSpPr>
        <p:spPr>
          <a:xfrm>
            <a:off x="819150" y="2436316"/>
            <a:ext cx="5080635" cy="25391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1" i="0" u="none" strike="noStrike" cap="none" dirty="0" err="1">
                <a:solidFill>
                  <a:srgbClr val="0F172A"/>
                </a:solidFill>
                <a:latin typeface="Merriweather"/>
                <a:ea typeface="Merriweather"/>
                <a:cs typeface="Merriweather"/>
                <a:sym typeface="Merriweather"/>
              </a:rPr>
              <a:t>Numero</a:t>
            </a:r>
            <a:r>
              <a:rPr lang="en-US" sz="1650" b="1" i="0" u="none" strike="noStrike" cap="none" dirty="0">
                <a:solidFill>
                  <a:srgbClr val="0F172A"/>
                </a:solidFill>
                <a:latin typeface="Merriweather"/>
                <a:ea typeface="Merriweather"/>
                <a:cs typeface="Merriweather"/>
                <a:sym typeface="Merriweather"/>
              </a:rPr>
              <a:t> Primo</a:t>
            </a:r>
            <a:endParaRPr dirty="0"/>
          </a:p>
        </p:txBody>
      </p:sp>
      <p:pic>
        <p:nvPicPr>
          <p:cNvPr id="26" name="Google Shape;141;p17" descr="image.png">
            <a:extLst>
              <a:ext uri="{FF2B5EF4-FFF2-40B4-BE49-F238E27FC236}">
                <a16:creationId xmlns:a16="http://schemas.microsoft.com/office/drawing/2014/main" id="{88FB6969-A1AB-38AF-65A6-2429D7099697}"/>
              </a:ext>
            </a:extLst>
          </p:cNvPr>
          <p:cNvPicPr preferRelativeResize="0"/>
          <p:nvPr/>
        </p:nvPicPr>
        <p:blipFill rotWithShape="1">
          <a:blip r:embed="rId4">
            <a:alphaModFix/>
          </a:blip>
          <a:srcRect/>
          <a:stretch/>
        </p:blipFill>
        <p:spPr>
          <a:xfrm>
            <a:off x="571500" y="3336267"/>
            <a:ext cx="5334000" cy="831502"/>
          </a:xfrm>
          <a:prstGeom prst="rect">
            <a:avLst/>
          </a:prstGeom>
          <a:noFill/>
          <a:ln>
            <a:noFill/>
          </a:ln>
        </p:spPr>
      </p:pic>
      <p:sp>
        <p:nvSpPr>
          <p:cNvPr id="28" name="TextBox 27">
            <a:extLst>
              <a:ext uri="{FF2B5EF4-FFF2-40B4-BE49-F238E27FC236}">
                <a16:creationId xmlns:a16="http://schemas.microsoft.com/office/drawing/2014/main" id="{20A44F68-8B98-D37C-2E03-C7087A6C4587}"/>
              </a:ext>
            </a:extLst>
          </p:cNvPr>
          <p:cNvSpPr txBox="1"/>
          <p:nvPr/>
        </p:nvSpPr>
        <p:spPr>
          <a:xfrm>
            <a:off x="819150" y="3573682"/>
            <a:ext cx="6096000" cy="307777"/>
          </a:xfrm>
          <a:prstGeom prst="rect">
            <a:avLst/>
          </a:prstGeom>
          <a:noFill/>
        </p:spPr>
        <p:txBody>
          <a:bodyPr wrap="square">
            <a:spAutoFit/>
          </a:bodyPr>
          <a:lstStyle/>
          <a:p>
            <a:pPr marL="0" marR="0" lvl="0" indent="0" algn="l" rtl="0">
              <a:spcBef>
                <a:spcPts val="0"/>
              </a:spcBef>
              <a:spcAft>
                <a:spcPts val="0"/>
              </a:spcAft>
              <a:buNone/>
            </a:pPr>
            <a:r>
              <a:rPr lang="en-US" sz="1400" b="1" i="0" u="none" strike="noStrike" cap="none" dirty="0">
                <a:solidFill>
                  <a:srgbClr val="0F172A"/>
                </a:solidFill>
                <a:latin typeface="Merriweather"/>
                <a:ea typeface="Merriweather"/>
                <a:cs typeface="Merriweather"/>
                <a:sym typeface="Merriweather"/>
              </a:rPr>
              <a:t>Gap </a:t>
            </a:r>
            <a:r>
              <a:rPr lang="en-US" sz="1400" b="1" i="0" u="none" strike="noStrike" cap="none" dirty="0" err="1">
                <a:solidFill>
                  <a:srgbClr val="0F172A"/>
                </a:solidFill>
                <a:latin typeface="Merriweather"/>
                <a:ea typeface="Merriweather"/>
                <a:cs typeface="Merriweather"/>
                <a:sym typeface="Merriweather"/>
              </a:rPr>
              <a:t>multiplica</a:t>
            </a:r>
            <a:endParaRPr lang="en-US" dirty="0"/>
          </a:p>
        </p:txBody>
      </p:sp>
    </p:spTree>
    <p:extLst>
      <p:ext uri="{BB962C8B-B14F-4D97-AF65-F5344CB8AC3E}">
        <p14:creationId xmlns:p14="http://schemas.microsoft.com/office/powerpoint/2010/main" val="1342709371"/>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42</TotalTime>
  <Words>1411</Words>
  <Application>Microsoft Office PowerPoint</Application>
  <PresentationFormat>Widescreen</PresentationFormat>
  <Paragraphs>127</Paragraphs>
  <Slides>16</Slides>
  <Notes>16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Inter</vt:lpstr>
      <vt:lpstr>Merriweather Black</vt:lpstr>
      <vt:lpstr>Inter Medium</vt:lpstr>
      <vt:lpstr>Calibri</vt:lpstr>
      <vt:lpstr>Inter SemiBold</vt:lpstr>
      <vt:lpstr>Merriweather</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SEBASTIAN MONTOYA VILLADA</cp:lastModifiedBy>
  <cp:revision>3</cp:revision>
  <dcterms:modified xsi:type="dcterms:W3CDTF">2026-04-10T02:42:35Z</dcterms:modified>
</cp:coreProperties>
</file>