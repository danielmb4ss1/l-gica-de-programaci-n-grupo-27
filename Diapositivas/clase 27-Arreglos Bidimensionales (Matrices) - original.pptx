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Fira Code" panose="020B0809050000020004" pitchFamily="49" charset="0"/>
      <p:regular r:id="rId23"/>
      <p:bold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oppins" panose="00000500000000000000" pitchFamily="2" charset="0"/>
      <p:regular r:id="rId29"/>
      <p:bold r:id="rId30"/>
      <p:italic r:id="rId31"/>
      <p:boldItalic r:id="rId32"/>
    </p:embeddedFont>
    <p:embeddedFont>
      <p:font typeface="Poppins SemiBold" panose="00000700000000000000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124072-C1CA-4A3D-BCA9-6097A863472D}">
  <a:tblStyle styleId="{4E124072-C1CA-4A3D-BCA9-6097A863472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bcb6b1b6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dbcb6b1b6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bcb6b1b6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g3dbcb6b1b6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cb6b1b62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3dbcb6b1b62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bcb6b1b6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3dbcb6b1b6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bcb6b1b62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3dbcb6b1b62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bcb6b1b62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dbcb6b1b6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bcb6b1b62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g3dbcb6b1b62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bcb6b1b6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dbcb6b1b6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bcb6b1b62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g3dbcb6b1b62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bcb6b1b62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3dbcb6b1b62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bcb6b1b62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dbcb6b1b62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dbcb6b1b62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dbcb6b1b62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123.png"/><Relationship Id="rId7" Type="http://schemas.openxmlformats.org/officeDocument/2006/relationships/image" Target="../media/image119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29.png"/><Relationship Id="rId5" Type="http://schemas.openxmlformats.org/officeDocument/2006/relationships/image" Target="../media/image125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4" Type="http://schemas.openxmlformats.org/officeDocument/2006/relationships/image" Target="../media/image124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205412" y="6410325"/>
            <a:ext cx="17811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ITM - Institución Universitaria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350406" y="2849909"/>
            <a:ext cx="9491186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Arreglos Bidimensionales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(Matrices)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24225" y="4781401"/>
            <a:ext cx="55435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 Allá de la Fila: Organizando Datos en Tablas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73548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21284"/>
            <a:ext cx="5334000" cy="406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21284"/>
            <a:ext cx="5334000" cy="4063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4379565"/>
            <a:ext cx="3314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96200" y="3674715"/>
            <a:ext cx="25146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57350" y="445576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57450" y="445576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57550" y="445576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57650" y="445576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72400" y="37509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72500" y="37509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72600" y="37509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72400" y="45510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572500" y="45510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72600" y="45510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72400" y="53511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72500" y="535111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9372600" y="53511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62050" y="373409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 Una a Dos Dimensiones: ¿Por qué?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1116359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71500" y="473422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333500" y="1525934"/>
            <a:ext cx="952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vector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resuelve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almacenar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lista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mismo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tipo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Pero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 rara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vez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línea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recta. A menudo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necesitamos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cuadrículas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coordenadas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2024062" y="3261420"/>
            <a:ext cx="259032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Vector (1 Dimensión)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919287" y="3737670"/>
            <a:ext cx="2676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Ejemplo: Las notas de un solo estudiante.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667625" y="2585145"/>
            <a:ext cx="28603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Matriz (2 Dimensiones)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696200" y="3061395"/>
            <a:ext cx="2667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Ejemplo: Las notas de varios estudiantes.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13" grpId="0"/>
      <p:bldP spid="114" grpId="0"/>
      <p:bldP spid="115" grpId="0"/>
      <p:bldP spid="1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1050" y="2828925"/>
            <a:ext cx="381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0" y="2828925"/>
            <a:ext cx="381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96450" y="2828925"/>
            <a:ext cx="381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44150" y="2828925"/>
            <a:ext cx="381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62850" y="3667125"/>
            <a:ext cx="76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62850" y="4314825"/>
            <a:ext cx="762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62850" y="4962525"/>
            <a:ext cx="762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1114425" y="666750"/>
            <a:ext cx="1103137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Modelo Mental: ¿Qué es realmente?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571500" y="1943100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Técnicamente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lenguajes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Java,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es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elemento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otro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571500" y="2752725"/>
            <a:ext cx="6076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Visualmente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representamos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cuadrícula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intersecciones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precisas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Piensa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analogías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cotidianas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791450" y="2438400"/>
            <a:ext cx="30403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Matriz 3x4 (3 Filas, 4 Columnas)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57250" y="3867150"/>
            <a:ext cx="61531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Hoja de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(Excel):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Celdas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letras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857250" y="4314825"/>
            <a:ext cx="64071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Tablero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Ajedrez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64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casillas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piezas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mueven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coordenadas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57250" y="5067300"/>
            <a:ext cx="57912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Imagen Digital: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cuadrícula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gigante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píxeles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píxel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(X, Y) y un color.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8401050" y="36671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9048750" y="36671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9696450" y="36671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0344150" y="36671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8401050" y="43148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9048750" y="4314825"/>
            <a:ext cx="571500" cy="571500"/>
          </a:xfrm>
          <a:prstGeom prst="rect">
            <a:avLst/>
          </a:prstGeom>
          <a:solidFill>
            <a:srgbClr val="EFF6FF"/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696450" y="43148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10344150" y="43148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8401050" y="49625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9048750" y="49625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9696450" y="49625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10344150" y="4962525"/>
            <a:ext cx="571500" cy="571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71500" y="3819525"/>
            <a:ext cx="114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71500" y="4267200"/>
            <a:ext cx="114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71500" y="5019675"/>
            <a:ext cx="1143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6" grpId="0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/>
      <p:bldP spid="150" grpId="0"/>
      <p:bldP spid="1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50" y="1824186"/>
            <a:ext cx="10001250" cy="1478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1400" y="3626196"/>
            <a:ext cx="25146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7600" y="37023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27700" y="37023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7800" y="37023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27600" y="45024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27700" y="45024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7800" y="45024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27600" y="53025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27700" y="530259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27800" y="530259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1162050" y="52537"/>
            <a:ext cx="1098137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 Corazón de la Matriz: El Doble Índice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571500" y="795486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152549"/>
            <a:ext cx="447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1333500" y="1014561"/>
            <a:ext cx="95250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ubicar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exacto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basta un solo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Necesitamos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dos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coordenadas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la fila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otra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la columna.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sintaxis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universal es: </a:t>
            </a:r>
            <a:r>
              <a:rPr lang="en-US" sz="1500" b="1" i="0" u="none" strike="noStrike" cap="none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nombreMatriz</a:t>
            </a:r>
            <a:r>
              <a:rPr lang="en-US" sz="1500" b="1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[fila][columna]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571500" y="6328469"/>
            <a:ext cx="11049000" cy="13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Para acceder al valor 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usamos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Fira Code"/>
                <a:ea typeface="Fira Code"/>
                <a:cs typeface="Fira Code"/>
                <a:sym typeface="Fira Code"/>
              </a:rPr>
              <a:t>[1][2]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1171575" y="1998614"/>
            <a:ext cx="9086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¡Regla Fundamental y </a:t>
            </a:r>
            <a:r>
              <a:rPr lang="en-US" sz="1350" b="1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Confusión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Común!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1. Todo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sigue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comenzando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2. En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matemáticas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(plano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cartesiano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leemos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primero la X (horizontal) y luego la Y (vertical). 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n-US" sz="1350" b="1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programación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es al </a:t>
            </a:r>
            <a:r>
              <a:rPr lang="en-US" sz="1350" b="1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revés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: Primero </a:t>
            </a:r>
            <a:r>
              <a:rPr lang="en-US" sz="1350" b="0" i="0" u="none" strike="noStrike" cap="none" dirty="0" err="1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leemos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Fila (Y - Vertical)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 y luego la </a:t>
            </a:r>
            <a:r>
              <a:rPr lang="en-US" sz="1350" b="1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Columna (X - Horizontal)</a:t>
            </a:r>
            <a:r>
              <a:rPr lang="en-US" sz="1350" b="0" i="0" u="none" strike="noStrike" cap="none" dirty="0">
                <a:solidFill>
                  <a:srgbClr val="B4530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6584950" y="4540596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[1][2]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  <p:bldP spid="171" grpId="0"/>
      <p:bldP spid="172" grpId="0"/>
      <p:bldP spid="17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013573"/>
            <a:ext cx="11049000" cy="114091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1219200" y="666750"/>
            <a:ext cx="1092136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Creación de una Matriz: Sintaxis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1617910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implica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declararla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darle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nombre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decirle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tipo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será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e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instanciarla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pedirle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la memoria RAM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reserve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espacio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exacto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filas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* columnas).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771525" y="5213598"/>
            <a:ext cx="1064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tipo[][]</a:t>
            </a:r>
            <a:r>
              <a:rPr lang="en-US" sz="1650" b="0" i="0" u="none" strike="noStrike" cap="non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 nombre = </a:t>
            </a:r>
            <a:r>
              <a:rPr lang="en-US" sz="165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new tipo[filas][columnas];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71525" y="5691633"/>
            <a:ext cx="10648950" cy="262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 dobles corchetes [][] son la firma visual de que la variable tiene dos dimensiones.</a:t>
            </a:r>
            <a:endParaRPr/>
          </a:p>
        </p:txBody>
      </p:sp>
      <p:pic>
        <p:nvPicPr>
          <p:cNvPr id="185" name="Google Shape;1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019" y="2646610"/>
            <a:ext cx="11319481" cy="222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" grpId="0"/>
      <p:bldP spid="183" grpId="0"/>
      <p:bldP spid="1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8175" y="3781425"/>
            <a:ext cx="2514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4375" y="38576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34475" y="38576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4575" y="38576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34375" y="46577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34475" y="465772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4575" y="46577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114425" y="666750"/>
            <a:ext cx="1103137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Escritura y Lectura de Valores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76676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71500" y="1781175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defecto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hacer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new int[][], Java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llena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cuadrícula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ceros. Para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interactuar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celda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específica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tratamos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variable normal,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apuntando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doble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1" name="Google Shape;201;p18"/>
          <p:cNvSpPr txBox="1"/>
          <p:nvPr/>
        </p:nvSpPr>
        <p:spPr>
          <a:xfrm>
            <a:off x="8534400" y="3381375"/>
            <a:ext cx="206025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Memoria (Matriz 2x3)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9991725" y="38957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[0][2]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391525" y="4695825"/>
            <a:ext cx="400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[1][0]</a:t>
            </a:r>
            <a:endParaRPr/>
          </a:p>
        </p:txBody>
      </p:sp>
      <p:pic>
        <p:nvPicPr>
          <p:cNvPr id="204" name="Google Shape;204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2400" y="2657475"/>
            <a:ext cx="7168926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/>
      <p:bldP spid="201" grpId="0"/>
      <p:bldP spid="202" grpId="0"/>
      <p:bldP spid="20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0664"/>
            <a:ext cx="4972050" cy="172759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1114425" y="666750"/>
            <a:ext cx="1103137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Recorridos: La Magia de los Bucles Anidados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571500" y="140970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571500" y="1621035"/>
            <a:ext cx="4972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procesar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vector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usábamos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Para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dos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dimensiones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estándar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usar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dos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`for`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anidados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(uno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otro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214" name="Google Shape;214;p19"/>
          <p:cNvSpPr txBox="1"/>
          <p:nvPr/>
        </p:nvSpPr>
        <p:spPr>
          <a:xfrm>
            <a:off x="800100" y="3281164"/>
            <a:ext cx="478059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7C3AED"/>
                </a:solidFill>
                <a:latin typeface="Poppins"/>
                <a:ea typeface="Poppins"/>
                <a:cs typeface="Poppins"/>
                <a:sym typeface="Poppins"/>
              </a:rPr>
              <a:t>Analogía: La Máquina de Escribir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00100" y="3633589"/>
            <a:ext cx="4552950" cy="99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bucle externo (i) fija la hoja en una línea (Fila). El bucle interno (j) mueve el cabezal leyendo letra por letra de izquierda a derecha (Columnas). Solo cuando termina esa línea, el bucle externo baja a la siguiente.</a:t>
            </a:r>
            <a:endParaRPr/>
          </a:p>
        </p:txBody>
      </p:sp>
      <p:pic>
        <p:nvPicPr>
          <p:cNvPr id="216" name="Google Shape;2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647" y="1863250"/>
            <a:ext cx="6306503" cy="3676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/>
      <p:bldP spid="214" grpId="0"/>
      <p:bldP spid="2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1219200" y="476250"/>
            <a:ext cx="1092136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Síntesis: Vectores vs Matrices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1219200"/>
            <a:ext cx="11049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76262"/>
            <a:ext cx="504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1809750" y="162877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diferencia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fundamental es la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dimensionalidad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elección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estructura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depende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cómo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necesites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organizar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información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real.</a:t>
            </a:r>
            <a:endParaRPr dirty="0"/>
          </a:p>
        </p:txBody>
      </p:sp>
      <p:sp>
        <p:nvSpPr>
          <p:cNvPr id="225" name="Google Shape;225;p20"/>
          <p:cNvSpPr/>
          <p:nvPr/>
        </p:nvSpPr>
        <p:spPr>
          <a:xfrm>
            <a:off x="571500" y="2524125"/>
            <a:ext cx="11049000" cy="38576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20"/>
          <p:cNvGraphicFramePr/>
          <p:nvPr/>
        </p:nvGraphicFramePr>
        <p:xfrm>
          <a:off x="571500" y="2524125"/>
          <a:ext cx="11039475" cy="3857625"/>
        </p:xfrm>
        <a:graphic>
          <a:graphicData uri="http://schemas.openxmlformats.org/drawingml/2006/table">
            <a:tbl>
              <a:tblPr firstRow="1" bandRow="1">
                <a:noFill/>
                <a:tableStyleId>{4E124072-C1CA-4A3D-BCA9-6097A863472D}</a:tableStyleId>
              </a:tblPr>
              <a:tblGrid>
                <a:gridCol w="275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Característica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Vectores (1D)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2563EB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Matrices (2D)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Estructura Conceptual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Una lista lineal o fila simple.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Una tabla, cuadrícula o arreglo de arreglos.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Índices Necesarios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Uno solo: vector[x]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Dos: matriz[y][x] (Fila, Columna)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Recorrido Estándar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 bucle simple (for o while).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Bucles anidados (for dentro de otro for).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Caso de Uso Ideal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Almacenar nombres, listas de precios, un historial secuencial.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Tableros de juegos, hojas de cálculo, imágenes, bases de datos.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/>
      <p:bldP spid="2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88641"/>
            <a:ext cx="5381625" cy="271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88641"/>
            <a:ext cx="5381625" cy="2714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8762" y="5183683"/>
            <a:ext cx="1514475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4962" y="525988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81687" y="525988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48412" y="5259883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14962" y="572660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81687" y="572660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48412" y="572660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Tipos de Recorrido: Por Fila y Por Columna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571500" y="1283791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orden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colocas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anidados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determina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leemos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Un simple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intercambio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las variables cambia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completamente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comportamiento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4" name="Google Shape;244;p21"/>
          <p:cNvSpPr txBox="1"/>
          <p:nvPr/>
        </p:nvSpPr>
        <p:spPr>
          <a:xfrm>
            <a:off x="4800600" y="4893171"/>
            <a:ext cx="2590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 de Ejemplo (2 filas x 3 columnas):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71525" y="2188666"/>
            <a:ext cx="5230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Recorrido por Filas (Row-Major)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71525" y="2569666"/>
            <a:ext cx="49815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recorre la primera fila completa, luego la segunda. El bucle de las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filas (i) es el externo</a:t>
            </a: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771525" y="4302621"/>
            <a:ext cx="4981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Salida: 1, 2, 3, 4, 5, 6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6438900" y="2188666"/>
            <a:ext cx="5230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Recorrido por Columnas (Column-Major)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438900" y="2569666"/>
            <a:ext cx="49815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recorre la primera columna completa de arriba a abajo. El bucle de las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columnas (j) es el externo</a:t>
            </a: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6438900" y="4302621"/>
            <a:ext cx="4981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Salida: 1, 4, 2, 5, 3, 6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95350" y="3217366"/>
            <a:ext cx="304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para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200150" y="3390602"/>
            <a:ext cx="3048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2563EB"/>
                </a:solidFill>
                <a:latin typeface="Fira Code"/>
                <a:ea typeface="Fira Code"/>
                <a:cs typeface="Fira Code"/>
                <a:sym typeface="Fira Code"/>
              </a:rPr>
              <a:t>para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562725" y="3217366"/>
            <a:ext cx="2286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867525" y="3217366"/>
            <a:ext cx="2286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477125" y="3217366"/>
            <a:ext cx="762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867525" y="3390602"/>
            <a:ext cx="2286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172325" y="3390602"/>
            <a:ext cx="2286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781925" y="3390602"/>
            <a:ext cx="762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7172325" y="3563838"/>
            <a:ext cx="4572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System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" grpId="0"/>
      <p:bldP spid="244" grpId="0"/>
      <p:bldP spid="245" grpId="0"/>
      <p:bldP spid="246" grpId="0"/>
      <p:bldP spid="247" grpId="0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/>
        </p:nvSpPr>
        <p:spPr>
          <a:xfrm>
            <a:off x="1076325" y="381000"/>
            <a:ext cx="1107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1: Llenar Matriz por Teclado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1962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2"/>
          <p:cNvSpPr txBox="1"/>
          <p:nvPr/>
        </p:nvSpPr>
        <p:spPr>
          <a:xfrm>
            <a:off x="571500" y="1230463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Usamos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anidados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pedirle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usuario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ingrese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valor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posiciones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exactas de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68" name="Google Shape;2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79263"/>
            <a:ext cx="11887201" cy="2834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/>
        </p:nvSpPr>
        <p:spPr>
          <a:xfrm>
            <a:off x="962025" y="381000"/>
            <a:ext cx="1119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2: Sumar todos los Elementos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1962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571500" y="1342578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llena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podemos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recorrerla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nuevo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realizar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cálculos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En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caso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sumaremos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valores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usando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variable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acumuladora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Notarás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length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obtener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longitud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dinámica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77" name="Google Shape;27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00" y="2214231"/>
            <a:ext cx="10905201" cy="35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3: Encontrar Dato en la Matriz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571500" y="1357357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Adaptamos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búsqueda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secuencial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Usamos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condicional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dentro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Si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encontramos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activamos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variable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booleana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bandera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rompemos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ahorrar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tiempo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424" y="2124364"/>
            <a:ext cx="11887201" cy="3875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57462"/>
            <a:ext cx="5381625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57462"/>
            <a:ext cx="5381625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62200" y="3805237"/>
            <a:ext cx="18002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9575" y="3805237"/>
            <a:ext cx="18002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38400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0375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62350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38400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00375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62350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438400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000375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62350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105775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0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229725" y="388143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05775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667750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29725" y="444341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105775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67750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229725" y="500538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Reto Conceptual: Las Diagonales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2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5"/>
          <p:cNvSpPr txBox="1"/>
          <p:nvPr/>
        </p:nvSpPr>
        <p:spPr>
          <a:xfrm>
            <a:off x="571500" y="1328738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cuadrada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mismo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 columnas), las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diagonales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son conjuntos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elementos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propiedades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matemáticas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muy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específicas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importantes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algoritmos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17" name="Google Shape;317;p25"/>
          <p:cNvSpPr txBox="1"/>
          <p:nvPr/>
        </p:nvSpPr>
        <p:spPr>
          <a:xfrm>
            <a:off x="2352675" y="2805112"/>
            <a:ext cx="191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Diagonal Principal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1566862" y="3186112"/>
            <a:ext cx="33909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 de la fila es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igual</a:t>
            </a: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al índice de la columna: i == j.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7886700" y="2805112"/>
            <a:ext cx="219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Diagonal Secundaria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7196137" y="3186112"/>
            <a:ext cx="3467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Suma de índices es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igual al tamaño - 1</a:t>
            </a: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i + j == N - 1.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" grpId="0"/>
      <p:bldP spid="317" grpId="0"/>
      <p:bldP spid="318" grpId="0"/>
      <p:bldP spid="319" grpId="0"/>
      <p:bldP spid="3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260395"/>
            <a:ext cx="11049000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1000125" y="381000"/>
            <a:ext cx="11151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r>
              <a:rPr lang="en-US" sz="25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4: Sumar Diagonal (</a:t>
            </a:r>
            <a:r>
              <a:rPr lang="en-US" sz="2550" b="1" i="0" u="none" strike="noStrike" cap="none" dirty="0" err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Optimizado</a:t>
            </a:r>
            <a:r>
              <a:rPr lang="en-US" sz="25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dirty="0"/>
          </a:p>
        </p:txBody>
      </p:sp>
      <p:sp>
        <p:nvSpPr>
          <p:cNvPr id="327" name="Google Shape;327;p26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1962"/>
            <a:ext cx="2857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6"/>
          <p:cNvSpPr txBox="1"/>
          <p:nvPr/>
        </p:nvSpPr>
        <p:spPr>
          <a:xfrm>
            <a:off x="762000" y="1403270"/>
            <a:ext cx="1071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truco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optimización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procesar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diagonal, 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no se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necesitan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bucles</a:t>
            </a:r>
            <a:r>
              <a:rPr lang="en-US" sz="12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anidados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. Como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sabemos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la fila y la columna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siempre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valen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lo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mismo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== j),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podemos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usar un solo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bucle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reutilizar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0" i="0" u="none" strike="noStrike" cap="none" dirty="0" err="1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índice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330" name="Google Shape;33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1" y="2282740"/>
            <a:ext cx="11887197" cy="3956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625" y="2509279"/>
            <a:ext cx="4419600" cy="275748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7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Ejemplo 5: Matriz de Registros (Strings)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555625" y="1347318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matrices no solo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guardan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Son perfectas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texto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funcionando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pequeña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base de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memoria.</a:t>
            </a:r>
            <a:endParaRPr dirty="0"/>
          </a:p>
        </p:txBody>
      </p:sp>
      <p:sp>
        <p:nvSpPr>
          <p:cNvPr id="340" name="Google Shape;340;p27"/>
          <p:cNvSpPr txBox="1"/>
          <p:nvPr/>
        </p:nvSpPr>
        <p:spPr>
          <a:xfrm>
            <a:off x="803275" y="2756929"/>
            <a:ext cx="4120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Estructura de la "Tabla"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803275" y="3137929"/>
            <a:ext cx="392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representa una persona y cada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columna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un atributo específico: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803275" y="4795279"/>
            <a:ext cx="3924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Declaramos como: String[][].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041400" y="3690379"/>
            <a:ext cx="368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Columna 0: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Nombre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1041400" y="4042804"/>
            <a:ext cx="368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Columna 1: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Profesión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1041400" y="4395229"/>
            <a:ext cx="3686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Columna 2: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Ciudad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803275" y="3661804"/>
            <a:ext cx="9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803275" y="4014229"/>
            <a:ext cx="9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348" name="Google Shape;348;p27"/>
          <p:cNvSpPr txBox="1"/>
          <p:nvPr/>
        </p:nvSpPr>
        <p:spPr>
          <a:xfrm>
            <a:off x="803275" y="4366654"/>
            <a:ext cx="954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pic>
        <p:nvPicPr>
          <p:cNvPr id="349" name="Google Shape;34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7625" y="2733604"/>
            <a:ext cx="6896101" cy="277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8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Recorriendo Matriz de Registros</a:t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6" name="Google Shape;35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8"/>
          <p:cNvSpPr txBox="1"/>
          <p:nvPr/>
        </p:nvSpPr>
        <p:spPr>
          <a:xfrm>
            <a:off x="571500" y="1221581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mostrar los datos de nuestra "base de datos", iteramos cada persona (fila) y usamos índices manuales para las columnas específicas de manera controlada.</a:t>
            </a:r>
            <a:endParaRPr/>
          </a:p>
        </p:txBody>
      </p:sp>
      <p:pic>
        <p:nvPicPr>
          <p:cNvPr id="358" name="Google Shape;3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905975"/>
            <a:ext cx="10909875" cy="457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4200" y="2595562"/>
            <a:ext cx="441960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9137" y="3243262"/>
            <a:ext cx="9715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39137" y="3833812"/>
            <a:ext cx="1905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9137" y="4424362"/>
            <a:ext cx="143827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77237" y="32813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43962" y="32813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7237" y="38719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43962" y="38719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310687" y="38719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77412" y="387191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77237" y="4462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43962" y="4462462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310687" y="4462462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1076325" y="381000"/>
            <a:ext cx="1107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Más allá del Rectángulo: Matrices Irregulares (Jagged Arrays)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2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71500" y="461962"/>
            <a:ext cx="361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9"/>
          <p:cNvSpPr txBox="1"/>
          <p:nvPr/>
        </p:nvSpPr>
        <p:spPr>
          <a:xfrm>
            <a:off x="526718" y="1222312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mito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común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creer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todas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matrices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deben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ser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perfectamente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rectangulares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cuadradas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3x3 o 4x5). Como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Java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un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puede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ser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arreglo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diferente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longitud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380" name="Google Shape;380;p29"/>
          <p:cNvSpPr txBox="1"/>
          <p:nvPr/>
        </p:nvSpPr>
        <p:spPr>
          <a:xfrm>
            <a:off x="7862887" y="2843212"/>
            <a:ext cx="26904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Representación en Memoria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7181850" y="5110162"/>
            <a:ext cx="39243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 esto es vital usar matriz[i].length en el bucle interno, ya que el límite cambia en cada fila.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8043862" y="3429000"/>
            <a:ext cx="200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[0]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8043862" y="4019550"/>
            <a:ext cx="200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/>
          </a:p>
        </p:txBody>
      </p:sp>
      <p:sp>
        <p:nvSpPr>
          <p:cNvPr id="384" name="Google Shape;384;p29"/>
          <p:cNvSpPr txBox="1"/>
          <p:nvPr/>
        </p:nvSpPr>
        <p:spPr>
          <a:xfrm>
            <a:off x="8043862" y="4610100"/>
            <a:ext cx="200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  <a:endParaRPr/>
          </a:p>
        </p:txBody>
      </p:sp>
      <p:pic>
        <p:nvPicPr>
          <p:cNvPr id="385" name="Google Shape;385;p2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26718" y="2562701"/>
            <a:ext cx="6255082" cy="32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" grpId="0"/>
      <p:bldP spid="380" grpId="0"/>
      <p:bldP spid="381" grpId="0"/>
      <p:bldP spid="382" grpId="0"/>
      <p:bldP spid="383" grpId="0"/>
      <p:bldP spid="3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96913"/>
            <a:ext cx="11049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7775" y="2890837"/>
            <a:ext cx="16573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43975" y="29670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458325" y="29670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72675" y="29670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43975" y="34813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58325" y="34813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72675" y="34813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43975" y="39957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458325" y="39957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72675" y="3995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0"/>
          <p:cNvSpPr txBox="1"/>
          <p:nvPr/>
        </p:nvSpPr>
        <p:spPr>
          <a:xfrm>
            <a:off x="1000125" y="381000"/>
            <a:ext cx="111513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Completando el Reto: Sumar Diagonal Secundaria</a:t>
            </a:r>
            <a:endParaRPr/>
          </a:p>
        </p:txBody>
      </p:sp>
      <p:sp>
        <p:nvSpPr>
          <p:cNvPr id="402" name="Google Shape;402;p30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3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461962"/>
            <a:ext cx="2857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 txBox="1"/>
          <p:nvPr/>
        </p:nvSpPr>
        <p:spPr>
          <a:xfrm>
            <a:off x="762000" y="1639788"/>
            <a:ext cx="1071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Vimos que la </a:t>
            </a:r>
            <a:r>
              <a:rPr lang="en-US" sz="12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diagonal secundaria</a:t>
            </a: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cumple la regla matemática: Fila + Columna = Tamaño - 1. Despejando la columna (j), obtenemos: Columna = (Tamaño - 1) - Fila. ¡Esto nos permite usar un solo bucle!</a:t>
            </a:r>
            <a:endParaRPr/>
          </a:p>
        </p:txBody>
      </p:sp>
      <p:sp>
        <p:nvSpPr>
          <p:cNvPr id="405" name="Google Shape;405;p30"/>
          <p:cNvSpPr txBox="1"/>
          <p:nvPr/>
        </p:nvSpPr>
        <p:spPr>
          <a:xfrm>
            <a:off x="8748698" y="4795825"/>
            <a:ext cx="2222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i=0 → col = 3-1-0 = </a:t>
            </a:r>
            <a:r>
              <a:rPr lang="en-US" sz="135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[0][2]</a:t>
            </a:r>
            <a:endParaRPr/>
          </a:p>
        </p:txBody>
      </p:sp>
      <p:sp>
        <p:nvSpPr>
          <p:cNvPr id="406" name="Google Shape;406;p30"/>
          <p:cNvSpPr txBox="1"/>
          <p:nvPr/>
        </p:nvSpPr>
        <p:spPr>
          <a:xfrm>
            <a:off x="8748698" y="5053000"/>
            <a:ext cx="2259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i=1 → col = 3-1-1 = </a:t>
            </a:r>
            <a:r>
              <a:rPr lang="en-US" sz="135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[1][1]</a:t>
            </a:r>
            <a:endParaRPr/>
          </a:p>
        </p:txBody>
      </p:sp>
      <p:sp>
        <p:nvSpPr>
          <p:cNvPr id="407" name="Google Shape;407;p30"/>
          <p:cNvSpPr txBox="1"/>
          <p:nvPr/>
        </p:nvSpPr>
        <p:spPr>
          <a:xfrm>
            <a:off x="8748696" y="5310175"/>
            <a:ext cx="2600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i=2 → col = 3-1-2 = </a:t>
            </a:r>
            <a:r>
              <a:rPr lang="en-US" sz="135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[2][0]</a:t>
            </a:r>
            <a:endParaRPr/>
          </a:p>
        </p:txBody>
      </p:sp>
      <p:pic>
        <p:nvPicPr>
          <p:cNvPr id="408" name="Google Shape;408;p3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1500" y="2411324"/>
            <a:ext cx="7545200" cy="406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" grpId="0"/>
      <p:bldP spid="405" grpId="0"/>
      <p:bldP spid="406" grpId="0"/>
      <p:bldP spid="40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5325" y="2500312"/>
            <a:ext cx="165735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6762" y="4491037"/>
            <a:ext cx="151447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25765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25765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20225" y="25765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91525" y="30908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05875" y="30908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20225" y="309086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62962" y="45672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63050" y="45672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62962" y="50815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63050" y="50815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462962" y="559593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163050" y="55959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1"/>
          <p:cNvSpPr txBox="1"/>
          <p:nvPr/>
        </p:nvSpPr>
        <p:spPr>
          <a:xfrm>
            <a:off x="1038225" y="381000"/>
            <a:ext cx="1111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Operaciones Clásicas: Matriz Transpuesta</a:t>
            </a:r>
            <a:endParaRPr/>
          </a:p>
        </p:txBody>
      </p:sp>
      <p:sp>
        <p:nvSpPr>
          <p:cNvPr id="428" name="Google Shape;428;p31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9" name="Google Shape;429;p3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71500" y="461962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1"/>
          <p:cNvSpPr txBox="1"/>
          <p:nvPr/>
        </p:nvSpPr>
        <p:spPr>
          <a:xfrm>
            <a:off x="571500" y="1509712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transposición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operación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fundamental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donde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filas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original se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convierten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3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las columnas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nueva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(y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viceversa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 Es un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excelente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ejercicio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dominar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intercambio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35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índices</a:t>
            </a:r>
            <a:r>
              <a:rPr lang="en-US" sz="13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431" name="Google Shape;431;p31"/>
          <p:cNvSpPr txBox="1"/>
          <p:nvPr/>
        </p:nvSpPr>
        <p:spPr>
          <a:xfrm>
            <a:off x="8273891" y="2214562"/>
            <a:ext cx="1740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Original (2x3)</a:t>
            </a:r>
            <a:endParaRPr/>
          </a:p>
        </p:txBody>
      </p:sp>
      <p:pic>
        <p:nvPicPr>
          <p:cNvPr id="432" name="Google Shape;432;p3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58275" y="3814762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1"/>
          <p:cNvSpPr txBox="1"/>
          <p:nvPr/>
        </p:nvSpPr>
        <p:spPr>
          <a:xfrm>
            <a:off x="8348900" y="4205287"/>
            <a:ext cx="1590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Transpuesta (3x2)</a:t>
            </a:r>
            <a:endParaRPr/>
          </a:p>
        </p:txBody>
      </p:sp>
      <p:pic>
        <p:nvPicPr>
          <p:cNvPr id="434" name="Google Shape;434;p3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42250" y="2181701"/>
            <a:ext cx="6477675" cy="344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" grpId="0"/>
      <p:bldP spid="431" grpId="0"/>
      <p:bldP spid="4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8350" y="2605087"/>
            <a:ext cx="2590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4550" y="26812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2750" y="26812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90950" y="26812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4550" y="35194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52750" y="35194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90950" y="35194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14550" y="43576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952750" y="435768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90950" y="435768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2"/>
          <p:cNvSpPr txBox="1"/>
          <p:nvPr/>
        </p:nvSpPr>
        <p:spPr>
          <a:xfrm>
            <a:off x="1123950" y="381000"/>
            <a:ext cx="110214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Aplicación Real: Mapeando un Tablero de Juego</a:t>
            </a:r>
            <a:endParaRPr/>
          </a:p>
        </p:txBody>
      </p:sp>
      <p:sp>
        <p:nvSpPr>
          <p:cNvPr id="450" name="Google Shape;450;p32"/>
          <p:cNvSpPr/>
          <p:nvPr/>
        </p:nvSpPr>
        <p:spPr>
          <a:xfrm>
            <a:off x="571500" y="962025"/>
            <a:ext cx="11049000" cy="28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3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61962"/>
            <a:ext cx="4095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2"/>
          <p:cNvSpPr txBox="1"/>
          <p:nvPr/>
        </p:nvSpPr>
        <p:spPr>
          <a:xfrm>
            <a:off x="571500" y="1843087"/>
            <a:ext cx="110490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Las matrices bidimensionales son la base de la mayoría de juegos 2D. Un juego clásico como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Triqui (Tres en raya / Tic-Tac-Toe)</a:t>
            </a: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 programa modelando una matriz de tipo char[][].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571500" y="5386387"/>
            <a:ext cx="55245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¿Quién ganó? El algoritmo debe revisar las filas, las columnas y... ¡las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diagonales principales y secundarias</a:t>
            </a: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que acabamos de aprender!</a:t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48400" y="2515087"/>
            <a:ext cx="56292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1488</Words>
  <Application>Microsoft Office PowerPoint</Application>
  <PresentationFormat>Widescreen</PresentationFormat>
  <Paragraphs>118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Lato</vt:lpstr>
      <vt:lpstr>Arial</vt:lpstr>
      <vt:lpstr>Fira Code</vt:lpstr>
      <vt:lpstr>Poppins SemiBold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2026-05-06T02:58:59Z</dcterms:modified>
</cp:coreProperties>
</file>