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embeddedFontLs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  <p:embeddedFont>
      <p:font typeface="Poppins SemiBold" panose="000007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D15969-C9D1-4546-9218-2E7980BE9B01}">
  <a:tblStyle styleId="{B6D15969-C9D1-4546-9218-2E7980BE9B0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692" y="12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500" y="4076700"/>
            <a:ext cx="9525000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95375" y="1314450"/>
            <a:ext cx="10001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LÓGICA DE PROGRAMACIÓN - SESIÓN 19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095375" y="1790700"/>
            <a:ext cx="1000125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Estructuras Repetitivas: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El Bucle </a:t>
            </a:r>
            <a:r>
              <a:rPr lang="en-US" sz="45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HAGA-MIENTRAS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33500" y="3352800"/>
            <a:ext cx="952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Garantizando la ejecución del código al menos una vez.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628775" y="4371975"/>
            <a:ext cx="893445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Objetivo: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Diferenciar el bucle </a:t>
            </a:r>
            <a:r>
              <a:rPr lang="en-US" sz="1500" b="0" i="0" u="none" strike="noStrike" cap="none">
                <a:solidFill>
                  <a:srgbClr val="9333EA"/>
                </a:solidFill>
                <a:latin typeface="Lato"/>
                <a:ea typeface="Lato"/>
                <a:cs typeface="Lato"/>
                <a:sym typeface="Lato"/>
              </a:rPr>
              <a:t>MIENTRAS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del bucle </a:t>
            </a:r>
            <a:r>
              <a:rPr lang="en-US" sz="1500" b="0" i="0" u="none" strike="noStrike" cap="none">
                <a:solidFill>
                  <a:srgbClr val="9333EA"/>
                </a:solidFill>
                <a:latin typeface="Lato"/>
                <a:ea typeface="Lato"/>
                <a:cs typeface="Lato"/>
                <a:sym typeface="Lato"/>
              </a:rPr>
              <a:t>HAGA-MIENTRAS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comprendiendo la ventaja de este último para resolver problemas que requieren la ejecución de un bloque de código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antes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la evaluación de la condición (como menús o validaciones).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Enfoque de Hoy: Evaluar al Final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71500" y="1143000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571500" y="1457325"/>
            <a:ext cx="11049000" cy="590550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000125" y="1600199"/>
            <a:ext cx="107727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Repaso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Bucle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MIENTRAS: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Recordaremos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cómo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funciona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bucle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condicional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evaluación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temprana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conocemos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97" name="Google Shape;97;p14"/>
          <p:cNvSpPr/>
          <p:nvPr/>
        </p:nvSpPr>
        <p:spPr>
          <a:xfrm>
            <a:off x="571500" y="2238375"/>
            <a:ext cx="11049000" cy="87630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2381250"/>
            <a:ext cx="10429875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 El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Desafío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la "Doble Lectura":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Identificaremos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problema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común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redundancia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donde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bucle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MIENTRAS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obliga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repetir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líneas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código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99" name="Google Shape;99;p14"/>
          <p:cNvSpPr/>
          <p:nvPr/>
        </p:nvSpPr>
        <p:spPr>
          <a:xfrm>
            <a:off x="571500" y="3305175"/>
            <a:ext cx="11049000" cy="87630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000125" y="3448050"/>
            <a:ext cx="10429875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 La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Solución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El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Bucle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HAGA-MIENTRAS: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Presentaremos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nuevo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bucle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herramienta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perfecta para resolver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desafío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anterior.</a:t>
            </a:r>
            <a:endParaRPr dirty="0"/>
          </a:p>
        </p:txBody>
      </p:sp>
      <p:sp>
        <p:nvSpPr>
          <p:cNvPr id="101" name="Google Shape;101;p14"/>
          <p:cNvSpPr/>
          <p:nvPr/>
        </p:nvSpPr>
        <p:spPr>
          <a:xfrm>
            <a:off x="571500" y="4371975"/>
            <a:ext cx="11049000" cy="590550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157287" y="4486275"/>
            <a:ext cx="10429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Anatomía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Sintaxis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Analizaremos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flujo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cómo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escribirlo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correctamente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usando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estándar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Logicode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03" name="Google Shape;103;p14"/>
          <p:cNvSpPr/>
          <p:nvPr/>
        </p:nvSpPr>
        <p:spPr>
          <a:xfrm>
            <a:off x="571500" y="5153025"/>
            <a:ext cx="11049000" cy="87630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157286" y="5276850"/>
            <a:ext cx="10429875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5. Caso de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Estudio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Validación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Datos: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Implementaremos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algoritmo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robusto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valida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entrada de 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usuario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mediante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prueba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escritorio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05" name="Google Shape;105;p14"/>
          <p:cNvSpPr/>
          <p:nvPr/>
        </p:nvSpPr>
        <p:spPr>
          <a:xfrm>
            <a:off x="571500" y="20383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571500" y="31051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571500" y="41719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571500" y="49530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571500" y="60198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16287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24098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3476625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454342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3900" y="5324475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  <p:bldP spid="96" grpId="0"/>
      <p:bldP spid="97" grpId="0" animBg="1"/>
      <p:bldP spid="98" grpId="0"/>
      <p:bldP spid="99" grpId="0" animBg="1"/>
      <p:bldP spid="100" grpId="0"/>
      <p:bldP spid="101" grpId="0" animBg="1"/>
      <p:bldP spid="102" grpId="0"/>
      <p:bldP spid="103" grpId="0" animBg="1"/>
      <p:bldP spid="104" grpId="0"/>
      <p:bldP spid="105" grpId="0" animBg="1"/>
      <p:bldP spid="106" grpId="0" animBg="1"/>
      <p:bldP spid="107" grpId="0" animBg="1"/>
      <p:bldP spid="108" grpId="0" animBg="1"/>
      <p:bldP spid="10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57325"/>
            <a:ext cx="5334000" cy="4464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2" y="1504950"/>
            <a:ext cx="53340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Repaso: El Bucle MIENTRAS (While)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71500" y="1143000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876300" y="1762125"/>
            <a:ext cx="49606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Característica: Evalúa al Inicio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76300" y="2305050"/>
            <a:ext cx="4724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bucle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9333EA"/>
                </a:solidFill>
                <a:latin typeface="Lato"/>
                <a:ea typeface="Lato"/>
                <a:cs typeface="Lato"/>
                <a:sym typeface="Lato"/>
              </a:rPr>
              <a:t>mientras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revisa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condición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ANTES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cada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iteración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Si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condición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falsa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desde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principio,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bloque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código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nunca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ejecuta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6757987" y="1819275"/>
            <a:ext cx="49606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E11D4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Analogía</a:t>
            </a:r>
            <a:r>
              <a:rPr lang="en-US" sz="2100" b="0" i="0" u="none" strike="noStrike" cap="none" dirty="0">
                <a:solidFill>
                  <a:srgbClr val="E11D4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El Portero del Club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6591300" y="2447925"/>
            <a:ext cx="4724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Evaluación primero, acción después.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591300" y="2876550"/>
            <a:ext cx="4724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portero te pregunta: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"¿Estás en la lista de invitados?"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591300" y="3305175"/>
            <a:ext cx="47244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 es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primer y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único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filtro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entrar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Si no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estás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lista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condición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Falsa),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portero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niega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acceso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Nunca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llegas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entrar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disfrutar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fiesta.</a:t>
            </a:r>
            <a:endParaRPr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6591300" y="4305300"/>
            <a:ext cx="4724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Conclusión: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Sin el permiso inicial, no hay acción.</a:t>
            </a:r>
            <a:endParaRPr/>
          </a:p>
        </p:txBody>
      </p:sp>
      <p:pic>
        <p:nvPicPr>
          <p:cNvPr id="141" name="Google Shape;14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91300" y="1819275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48AF89-B693-536A-0FB7-387263D0EC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050" y="3324224"/>
            <a:ext cx="4472296" cy="2390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/>
      <p:bldP spid="125" grpId="0"/>
      <p:bldP spid="126" grpId="0"/>
      <p:bldP spid="127" grpId="0"/>
      <p:bldP spid="128" grpId="0"/>
      <p:bldP spid="129" grpId="0"/>
      <p:bldP spid="1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57325"/>
            <a:ext cx="5334000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57325"/>
            <a:ext cx="53340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La Alternativa: Bucle HAGA-MIENTRAS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571500" y="1143000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945000" y="1789069"/>
            <a:ext cx="496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16A34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Analogía</a:t>
            </a:r>
            <a:r>
              <a:rPr lang="en-US" sz="2100" b="0" i="0" u="none" strike="noStrike" cap="none" dirty="0">
                <a:solidFill>
                  <a:srgbClr val="16A34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La </a:t>
            </a:r>
            <a:r>
              <a:rPr lang="en-US" sz="2100" b="0" i="0" u="none" strike="noStrike" cap="none" dirty="0" err="1">
                <a:solidFill>
                  <a:srgbClr val="16A34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Degustación</a:t>
            </a:r>
            <a:r>
              <a:rPr lang="en-US" sz="2100" b="0" i="0" u="none" strike="noStrike" cap="none" dirty="0">
                <a:solidFill>
                  <a:srgbClr val="16A34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2100" b="0" i="0" u="none" strike="noStrike" cap="none" dirty="0" err="1">
                <a:solidFill>
                  <a:srgbClr val="16A34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Gratuita</a:t>
            </a:r>
            <a:endParaRPr dirty="0"/>
          </a:p>
        </p:txBody>
      </p:sp>
      <p:sp>
        <p:nvSpPr>
          <p:cNvPr id="151" name="Google Shape;151;p16"/>
          <p:cNvSpPr txBox="1"/>
          <p:nvPr/>
        </p:nvSpPr>
        <p:spPr>
          <a:xfrm>
            <a:off x="876300" y="2461463"/>
            <a:ext cx="4724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Acción primero, evaluación después.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76300" y="2890088"/>
            <a:ext cx="47244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Paso 1: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Te dan una muestra gratis de un producto para probar en el supermercado. (La acción ocurre sin condiciones previas).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76300" y="3890213"/>
            <a:ext cx="4724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Paso 2: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Luego de probar, te preguntan: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"¿Te gustó? ¿Quieres comprar o probar otra?"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76300" y="4604588"/>
            <a:ext cx="47244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Conclusión: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No importa cuál sea tu respuesta a la pregunta,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siempre probaste el producto al menos una vez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591300" y="1762125"/>
            <a:ext cx="49606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Característica: Evalúa al Final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6591300" y="2305050"/>
            <a:ext cx="47244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diferencia del </a:t>
            </a:r>
            <a:r>
              <a:rPr lang="en-US" sz="1500" b="0" i="0" u="none" strike="noStrike" cap="none">
                <a:solidFill>
                  <a:srgbClr val="9333EA"/>
                </a:solidFill>
                <a:latin typeface="Lato"/>
                <a:ea typeface="Lato"/>
                <a:cs typeface="Lato"/>
                <a:sym typeface="Lato"/>
              </a:rPr>
              <a:t>mientras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el ciclo </a:t>
            </a:r>
            <a:r>
              <a:rPr lang="en-US" sz="1500" b="0" i="0" u="none" strike="noStrike" cap="none">
                <a:solidFill>
                  <a:srgbClr val="9333EA"/>
                </a:solidFill>
                <a:latin typeface="Lato"/>
                <a:ea typeface="Lato"/>
                <a:cs typeface="Lato"/>
                <a:sym typeface="Lato"/>
              </a:rPr>
              <a:t>haga-mientrasque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ejecuta su bloque de código y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luego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revisa la condición.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6591300" y="3038475"/>
            <a:ext cx="472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 utilidad principal en la programación estructurada es la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validación de datos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interactiva. Cuando le pides un dato al usuario, no puedes saber si el dato es correcto o incorrecto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hasta que el usuario lo escribe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id="158" name="Google Shape;15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5937" y="1813763"/>
            <a:ext cx="23812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/>
      <p:bldP spid="151" grpId="0"/>
      <p:bldP spid="152" grpId="0"/>
      <p:bldP spid="153" grpId="0"/>
      <p:bldP spid="154" grpId="0"/>
      <p:bldP spid="155" grpId="0"/>
      <p:bldP spid="156" grpId="0"/>
      <p:bldP spid="1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57325"/>
            <a:ext cx="5334000" cy="425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57325"/>
            <a:ext cx="5334000" cy="465582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El Desafío Teórico: La "Doble Lectura"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571500" y="1143000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876300" y="1762125"/>
            <a:ext cx="49606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❌ El problema con MIENTRAS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76300" y="2305050"/>
            <a:ext cx="4724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 validar si una edad es positiva usando </a:t>
            </a:r>
            <a:r>
              <a:rPr lang="en-US" sz="1500" b="0" i="0" u="none" strike="noStrike" cap="none">
                <a:solidFill>
                  <a:srgbClr val="9333EA"/>
                </a:solidFill>
                <a:latin typeface="Lato"/>
                <a:ea typeface="Lato"/>
                <a:cs typeface="Lato"/>
                <a:sym typeface="Lato"/>
              </a:rPr>
              <a:t>mientras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estamos obligados a repetir las líneas de imprimir y leer. Una vez afuera del ciclo, y otra vez adentro.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591300" y="1762125"/>
            <a:ext cx="496062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✅ La limpieza del HAGA-MIENTRAS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591300" y="2705100"/>
            <a:ext cx="4724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</a:t>
            </a:r>
            <a:r>
              <a:rPr lang="en-US" sz="1500" b="0" i="0" u="none" strike="noStrike" cap="none">
                <a:solidFill>
                  <a:srgbClr val="9333EA"/>
                </a:solidFill>
                <a:latin typeface="Lato"/>
                <a:ea typeface="Lato"/>
                <a:cs typeface="Lato"/>
                <a:sym typeface="Lato"/>
              </a:rPr>
              <a:t>haga-mientrasque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elimina la redundancia. El código de lectura se escribe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 sola vez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garantizando que el usuario ingrese el dato antes de evaluarlo.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5A1968-ABED-D055-FCC1-B587586BB5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575" y="3385981"/>
            <a:ext cx="3667637" cy="2238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6A657B-BDED-A6E6-4114-C99103F566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471" y="3867150"/>
            <a:ext cx="3820058" cy="21243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0"/>
      <p:bldP spid="170" grpId="0"/>
      <p:bldP spid="171" grpId="0"/>
      <p:bldP spid="17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"/>
          <p:cNvSpPr/>
          <p:nvPr/>
        </p:nvSpPr>
        <p:spPr>
          <a:xfrm>
            <a:off x="5524500" y="2490787"/>
            <a:ext cx="1143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2365533" y="2833687"/>
            <a:ext cx="7460932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4. Anatomía y Sintaxis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4405312" y="4119562"/>
            <a:ext cx="33813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Estructurando el ciclo en Logicode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57325"/>
            <a:ext cx="3492549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1457325"/>
            <a:ext cx="3492549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1457325"/>
            <a:ext cx="3492549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Estructura del HAGA-MIENTRAS en Logicode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571500" y="1143000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36700" y="17621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804226" y="2714625"/>
            <a:ext cx="302709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Inicio (</a:t>
            </a:r>
            <a:r>
              <a:rPr lang="en-US" sz="2100" b="0" i="0" u="none" strike="noStrike" cap="none">
                <a:solidFill>
                  <a:srgbClr val="9333E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haga</a:t>
            </a:r>
            <a:r>
              <a:rPr lang="en-US" sz="2100" b="0" i="0" u="none" strike="noStrike" cap="non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)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876300" y="3257550"/>
            <a:ext cx="2882949" cy="173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palabra reservada </a:t>
            </a:r>
            <a:r>
              <a:rPr lang="en-US" sz="1500" b="1" i="0" u="none" strike="noStrike" cap="none">
                <a:solidFill>
                  <a:srgbClr val="9333EA"/>
                </a:solidFill>
                <a:latin typeface="Lato"/>
                <a:ea typeface="Lato"/>
                <a:cs typeface="Lato"/>
                <a:sym typeface="Lato"/>
              </a:rPr>
              <a:t>haga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indica el punto de partida. Todo el bloque de instrucciones debajo de esta palabra se ejecutará inmediatamente y sin filtros previos.</a:t>
            </a:r>
            <a:endParaRPr/>
          </a:p>
        </p:txBody>
      </p:sp>
      <p:pic>
        <p:nvPicPr>
          <p:cNvPr id="213" name="Google Shape;21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0" y="17621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9"/>
          <p:cNvSpPr txBox="1"/>
          <p:nvPr/>
        </p:nvSpPr>
        <p:spPr>
          <a:xfrm>
            <a:off x="4582525" y="2714625"/>
            <a:ext cx="302709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Instrucciones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4654599" y="3257550"/>
            <a:ext cx="2882949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Son las acciones reales: lectura de variables (</a:t>
            </a:r>
            <a:r>
              <a:rPr lang="en-US" sz="150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lea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), mostrar mensajes, o realizar cálculos. Aquí es donde el usuario interactúa.</a:t>
            </a:r>
            <a:endParaRPr/>
          </a:p>
        </p:txBody>
      </p:sp>
      <p:pic>
        <p:nvPicPr>
          <p:cNvPr id="216" name="Google Shape;216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93299" y="17621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/>
          <p:nvPr/>
        </p:nvSpPr>
        <p:spPr>
          <a:xfrm>
            <a:off x="8360825" y="2714625"/>
            <a:ext cx="302709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Evaluación final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8432899" y="3257550"/>
            <a:ext cx="2882949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Termina con </a:t>
            </a:r>
            <a:r>
              <a:rPr lang="en-US" sz="1500" b="1" i="0" u="none" strike="noStrike" cap="none">
                <a:solidFill>
                  <a:srgbClr val="9333EA"/>
                </a:solidFill>
                <a:latin typeface="Lato"/>
                <a:ea typeface="Lato"/>
                <a:cs typeface="Lato"/>
                <a:sym typeface="Lato"/>
              </a:rPr>
              <a:t>mientrasque(condición)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Si es verdadera, el ciclo vuelve al paso 1. Si es falsa, el programa continúa con la siguiente línea.</a:t>
            </a:r>
            <a:endParaRPr/>
          </a:p>
        </p:txBody>
      </p:sp>
      <p:pic>
        <p:nvPicPr>
          <p:cNvPr id="219" name="Google Shape;219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46250" y="1914525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67400" y="19145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702849" y="1914525"/>
            <a:ext cx="3429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" grpId="0"/>
      <p:bldP spid="212" grpId="0"/>
      <p:bldP spid="214" grpId="0"/>
      <p:bldP spid="215" grpId="0"/>
      <p:bldP spid="217" grpId="0"/>
      <p:bldP spid="2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99B30CF-1014-5291-A21E-04160DEC1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78" y="55393"/>
            <a:ext cx="11202044" cy="67472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95275" y="47625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MIENTRAS vs. HAGA-MIENTRAS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163830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diferencia fundamental entre ambos bucles es el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momento de la evaluación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71500" y="2962275"/>
            <a:ext cx="11049000" cy="27908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7" name="Google Shape;87;p13"/>
          <p:cNvGraphicFramePr/>
          <p:nvPr/>
        </p:nvGraphicFramePr>
        <p:xfrm>
          <a:off x="571500" y="2962275"/>
          <a:ext cx="11039475" cy="27908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75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Característica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MIENTRAS (While)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HAGA-MIENTRAS (Do-While)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75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Evaluación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 </a:t>
                      </a: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inicio</a:t>
                      </a: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del ciclo.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 </a:t>
                      </a: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final</a:t>
                      </a: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del ciclo.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Ejecución Mínima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Cero</a:t>
                      </a: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o más veces.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Una</a:t>
                      </a: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o más veces (garantizado).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Caso de Uso Principal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Procesar datos que pueden o no existir (ej. recorrer listas).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Validar entradas de usuario, menús interactivos.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8" name="Google Shape;88;p13"/>
          <p:cNvSpPr/>
          <p:nvPr/>
        </p:nvSpPr>
        <p:spPr>
          <a:xfrm>
            <a:off x="576262" y="3595687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3336131" y="3595687"/>
            <a:ext cx="41398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7475934" y="3595687"/>
            <a:ext cx="41398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576262" y="4219575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3336131" y="4219575"/>
            <a:ext cx="41398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7475934" y="4219575"/>
            <a:ext cx="41398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576262" y="4843462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3336131" y="4843462"/>
            <a:ext cx="41398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7475934" y="4843462"/>
            <a:ext cx="41398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576262" y="5738812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3336131" y="5738812"/>
            <a:ext cx="41398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7475934" y="5738812"/>
            <a:ext cx="41398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09700"/>
            <a:ext cx="5334000" cy="3524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09700"/>
            <a:ext cx="5334000" cy="3524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1900" y="2952750"/>
            <a:ext cx="4928000" cy="149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91300" y="3100376"/>
            <a:ext cx="4724400" cy="126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Sintaxis en Lenguajes Reales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71500" y="1143000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876300" y="1714500"/>
            <a:ext cx="496062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Java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76300" y="2162175"/>
            <a:ext cx="47244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Java tiene una sintaxis muy similar a Logicode con la estructura do-while nativa.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591300" y="1714500"/>
            <a:ext cx="496062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Python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591300" y="2162175"/>
            <a:ext cx="47244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Python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 tiene un bucle do-while nativo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El patrón equivalente más común es usar un bucle infinito y la sentencia break.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419350"/>
            <a:ext cx="11049000" cy="369093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Nuevo Caso de Estudio: Menú Interactivo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71500" y="1143000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1552575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Ejemplo: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Crear un menú de calculadora simple. El programa debe mostrar las opciones y repetirse hasta que el usuario elija la opción "Salir".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57250" y="2667000"/>
            <a:ext cx="1104138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Análisis del Problema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57250" y="3143250"/>
            <a:ext cx="1104138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Requisito Funcional: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57250" y="4757737"/>
            <a:ext cx="1104138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Reglas de Negocio: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190625" y="3419475"/>
            <a:ext cx="101822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Mostrar un menú de opciones al usuario.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190625" y="3833812"/>
            <a:ext cx="101822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Permitir que el usuario seleccione una opción.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190625" y="4248150"/>
            <a:ext cx="101822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programa debe terminar solo cuando se elija la opción de salir.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190625" y="5033962"/>
            <a:ext cx="101822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menú siempre debe mostrarse al menos una vez.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190625" y="5448300"/>
            <a:ext cx="101822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Las opciones válidas son 1, 2, 3 y 4 (Salir).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952500" y="3362325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52500" y="3776662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52500" y="419100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52500" y="4976812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52500" y="539115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719263"/>
            <a:ext cx="11049000" cy="500085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71500" y="-338137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Solución del Menú en Java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571500" y="328612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738187"/>
            <a:ext cx="110490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bucle do-while es perfecto para esto, ya que garantiza que el menú se muestre al menos una vez sin repetir código de impresión.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400300"/>
            <a:ext cx="11049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571500" y="4572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Caso de Estudio Compuesto: Cajero Automático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71500" y="1123950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1533525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Vamos a diseñar un programa que simule un retiro de dinero, donde se deben cumplir múltiples condiciones lógicas al mismo tiempo.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952500" y="2743200"/>
            <a:ext cx="1084135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2400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Reglas de Negocio (Validaciones)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1285875" y="3381375"/>
            <a:ext cx="9991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usuario tiene un saldo inicial en su cuenta (ej: 1,000,000).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1285875" y="3795712"/>
            <a:ext cx="9991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debe solicitar un monto a retirar al usuario.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1285875" y="4210050"/>
            <a:ext cx="9991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Validación 1: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 monto debe ser estrictamente positivo (&gt; 0).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1285875" y="4624387"/>
            <a:ext cx="9991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Validación 2: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 monto debe ser múltiplo de 10,000 (billetes disponibles).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1285875" y="5038725"/>
            <a:ext cx="9991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Validación 3: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 monto no puede superar el saldo disponible en la cuenta.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1285875" y="5453062"/>
            <a:ext cx="9991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programa debe seguir pidiendo un monto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hasta que se ingrese uno que cumpla todas las condiciones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1047750" y="3324225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1047750" y="3738562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047750" y="415290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1047750" y="45672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047750" y="4981575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047750" y="5395912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5774" y="1777156"/>
            <a:ext cx="6429375" cy="4951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0900" y="1777156"/>
            <a:ext cx="44196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00900" y="2996356"/>
            <a:ext cx="441960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00900" y="4444156"/>
            <a:ext cx="44196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571500" y="129331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Caso de Estudio: Cajero Automático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71500" y="796081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1205656"/>
            <a:ext cx="110490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Aplicando el ciclo haga... mientrasque con validaciones compuestas en Logicode.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7400925" y="1929556"/>
            <a:ext cx="422052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1. Ejecución Inicial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7400925" y="2234356"/>
            <a:ext cx="40195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bloque haga se ejecuta, pidiendo el monto al usuario </a:t>
            </a:r>
            <a:r>
              <a:rPr lang="en-US" sz="12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sin importar nada</a:t>
            </a: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Esto asegura la interacción.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7400925" y="3148756"/>
            <a:ext cx="422052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2. Condición Compuesta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7400925" y="3453556"/>
            <a:ext cx="4019550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mientrasque evalúa 3 condiciones con el operador o (OR). Si </a:t>
            </a:r>
            <a:r>
              <a:rPr lang="en-US" sz="12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CUALQUIERA</a:t>
            </a: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ellas es verdadera (es un error), el ciclo se repite.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7400925" y="4596556"/>
            <a:ext cx="422052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3. Salida Exitosa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7400925" y="4901356"/>
            <a:ext cx="40195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ciclo solo termina cuando las 3 condiciones de error son </a:t>
            </a:r>
            <a:r>
              <a:rPr lang="en-US" sz="12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falsas</a:t>
            </a: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En ese momento, el monto es válido y se procesa el retiro.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07969"/>
            <a:ext cx="11049000" cy="503812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571500" y="123669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Solución del Cajero en Java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71500" y="790418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71500" y="924222"/>
            <a:ext cx="110490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 Java, la condición compuesta del while usa el operador || (OR lógico).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19325"/>
            <a:ext cx="11049000" cy="383559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Solución del Cajero en Python</a:t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571500" y="1143000"/>
            <a:ext cx="11049000" cy="28575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571500" y="1552575"/>
            <a:ext cx="110490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 Python, usamos el patrón while True y la sentencia break ocurre solo cuando todas las condiciones son válidas.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9150" y="4605338"/>
            <a:ext cx="575310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9750" y="519112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3265646" y="1471612"/>
            <a:ext cx="5660707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Ejercicio Práctico</a:t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5524500" y="2852737"/>
            <a:ext cx="1143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2286000" y="3338512"/>
            <a:ext cx="76200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Aplica los conceptos de validación compuesta y el bucle </a:t>
            </a:r>
            <a:r>
              <a:rPr lang="en-US" sz="19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HAGA-MIENTRAS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resolviendo el siguiente reto en la plataforma: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1295400" y="4910138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 en Logicode: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1295400" y="5462588"/>
            <a:ext cx="4800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Supermercado - (2427)</a:t>
            </a:r>
            <a:endParaRPr/>
          </a:p>
        </p:txBody>
      </p:sp>
      <p:pic>
        <p:nvPicPr>
          <p:cNvPr id="2" name="Google Shape;209;p22" descr="image.png">
            <a:extLst>
              <a:ext uri="{FF2B5EF4-FFF2-40B4-BE49-F238E27FC236}">
                <a16:creationId xmlns:a16="http://schemas.microsoft.com/office/drawing/2014/main" id="{CF77756D-F39F-88DA-023C-58F6B09D50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07893" y="4605338"/>
            <a:ext cx="5066393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14;p22">
            <a:extLst>
              <a:ext uri="{FF2B5EF4-FFF2-40B4-BE49-F238E27FC236}">
                <a16:creationId xmlns:a16="http://schemas.microsoft.com/office/drawing/2014/main" id="{2AF425AE-E716-AD3C-2920-57ADD591E770}"/>
              </a:ext>
            </a:extLst>
          </p:cNvPr>
          <p:cNvSpPr txBox="1"/>
          <p:nvPr/>
        </p:nvSpPr>
        <p:spPr>
          <a:xfrm>
            <a:off x="7384143" y="4910138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 en Logicode:</a:t>
            </a:r>
            <a:endParaRPr/>
          </a:p>
        </p:txBody>
      </p:sp>
      <p:sp>
        <p:nvSpPr>
          <p:cNvPr id="4" name="Google Shape;215;p22">
            <a:extLst>
              <a:ext uri="{FF2B5EF4-FFF2-40B4-BE49-F238E27FC236}">
                <a16:creationId xmlns:a16="http://schemas.microsoft.com/office/drawing/2014/main" id="{D9BCB70A-2FD1-0E2B-3967-91CF2A6E3463}"/>
              </a:ext>
            </a:extLst>
          </p:cNvPr>
          <p:cNvSpPr txBox="1"/>
          <p:nvPr/>
        </p:nvSpPr>
        <p:spPr>
          <a:xfrm>
            <a:off x="6907893" y="5429550"/>
            <a:ext cx="506639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Venta de </a:t>
            </a:r>
            <a:r>
              <a:rPr lang="en-US" sz="30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boletos</a:t>
            </a:r>
            <a:r>
              <a:rPr lang="en-US" sz="30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- (12495)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1212</Words>
  <Application>Microsoft Office PowerPoint</Application>
  <PresentationFormat>Widescreen</PresentationFormat>
  <Paragraphs>110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Lato</vt:lpstr>
      <vt:lpstr>Arial</vt:lpstr>
      <vt:lpstr>Poppins</vt:lpstr>
      <vt:lpstr>Poppins SemiBold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SEBASTIAN MONTOYA VILLADA</cp:lastModifiedBy>
  <cp:revision>2</cp:revision>
  <dcterms:modified xsi:type="dcterms:W3CDTF">2026-04-13T03:48:43Z</dcterms:modified>
</cp:coreProperties>
</file>