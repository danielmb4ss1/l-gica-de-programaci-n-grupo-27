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76" r:id="rId3"/>
    <p:sldId id="277" r:id="rId4"/>
    <p:sldId id="278" r:id="rId5"/>
    <p:sldId id="257" r:id="rId6"/>
    <p:sldId id="258" r:id="rId7"/>
    <p:sldId id="259" r:id="rId8"/>
    <p:sldId id="260" r:id="rId9"/>
    <p:sldId id="262" r:id="rId10"/>
    <p:sldId id="263" r:id="rId11"/>
    <p:sldId id="279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81" r:id="rId21"/>
    <p:sldId id="282" r:id="rId22"/>
    <p:sldId id="283" r:id="rId23"/>
    <p:sldId id="273" r:id="rId24"/>
    <p:sldId id="274" r:id="rId25"/>
    <p:sldId id="280" r:id="rId26"/>
    <p:sldId id="275" r:id="rId27"/>
  </p:sldIdLst>
  <p:sldSz cx="12192000" cy="6858000"/>
  <p:notesSz cx="6858000" cy="9144000"/>
  <p:embeddedFontLst>
    <p:embeddedFont>
      <p:font typeface="Merriweather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40B419-E994-4EE6-9A22-22FA30EB0694}">
  <a:tblStyle styleId="{5C40B419-E994-4EE6-9A22-22FA30EB06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9" autoAdjust="0"/>
    <p:restoredTop sz="94660"/>
  </p:normalViewPr>
  <p:slideViewPr>
    <p:cSldViewPr snapToGrid="0">
      <p:cViewPr>
        <p:scale>
          <a:sx n="150" d="100"/>
          <a:sy n="150" d="100"/>
        </p:scale>
        <p:origin x="108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57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595923" y="2623250"/>
            <a:ext cx="114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SESIÓN </a:t>
            </a:r>
            <a:r>
              <a:rPr lang="en-US" sz="1650" b="1">
                <a:solidFill>
                  <a:srgbClr val="2563EB"/>
                </a:solidFill>
              </a:rPr>
              <a:t>10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85473" y="3147119"/>
            <a:ext cx="8421052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Lógica Numérica y Operadores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90812" y="3929955"/>
            <a:ext cx="6810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Guía paso a paso: Porcentajes, Ingeniería Inversa y Fundamentos en Logicode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018045" y="2565827"/>
            <a:ext cx="415590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FUNDAMENTOS MATEMÁTICOS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810589" y="3124200"/>
            <a:ext cx="657082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es una Ecuación?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95562" y="3952875"/>
            <a:ext cx="7000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Entendiendo el equilibrio matemático para hallar el "Porcentaje Faltante"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143125"/>
            <a:ext cx="5191125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6675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El Concepto de Equilibrio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666750" y="112395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66750" y="1590675"/>
            <a:ext cx="10858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ecuación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no es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balanza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perfecto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equilibrio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El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signo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igual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 = ) es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centro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balanza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381125" y="2295525"/>
            <a:ext cx="4476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 Regla de Oro: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Todo lo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está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izquierdo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vale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exactamente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lo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mismo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lo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está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derecho.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381125" y="3429000"/>
            <a:ext cx="4476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Incógnitas: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Son los valores que no conocemos (generalmente representados con letras como x, o palabras como Tasa).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81125" y="4562475"/>
            <a:ext cx="44767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Justicia Matemática: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Si sumas, restas, multiplicas o divides un lado de la ecuación, </a:t>
            </a: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DEBES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hacer exactamente lo mismo en el otro lado para no romper la balanza.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14385" y="2438400"/>
            <a:ext cx="483060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Ejemplo Analógico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29400" y="2924175"/>
            <a:ext cx="46005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 Manzanas = $4,000 COP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629400" y="3514725"/>
            <a:ext cx="46005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629400" y="3743325"/>
            <a:ext cx="46005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 divido el lado izquierdo a la mitad (1 manzana), debo dividir el derecho a la mitad ($2,000).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14385" y="4924425"/>
            <a:ext cx="4600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 Manzana = $2,000 COP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7750" y="23479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34813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4614862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97" grpId="0"/>
      <p:bldP spid="98" grpId="0"/>
      <p:bldP spid="99" grpId="0"/>
      <p:bldP spid="100" grpId="0"/>
      <p:bldP spid="101" grpId="0"/>
      <p:bldP spid="103" grpId="0"/>
      <p:bldP spid="10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2457450"/>
            <a:ext cx="5286375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457450"/>
            <a:ext cx="5286375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6675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El Arte de "Despejar" Variables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666750" y="112395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66750" y="1409700"/>
            <a:ext cx="10858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Despejar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significa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dejar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nuestra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incógnita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valor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queremos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averiguar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completamente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sola a un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balanza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Para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ello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usamos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operaciones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inversas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962025" y="2752725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Suma y Resta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962025" y="3448050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 un número está sumando a nuestra incógnita, lo pasamos al otro lado restando.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958012" y="2759995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Mult. y División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6534150" y="3448050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 un número está multiplicando a nuestra incógnita, lo pasamos al otro lado dividiendo.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790825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62025" y="4686300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x + 5 = 15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62025" y="5210175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x = 15 - 5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62025" y="5734050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x = 10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4150" y="2790825"/>
            <a:ext cx="2095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38950" y="27908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6534150" y="4686300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Total = Base * Tasa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534150" y="5210175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Total / Base = Tasa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534150" y="5734050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Tasa = Total / Base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118" grpId="0"/>
      <p:bldP spid="119" grpId="0"/>
      <p:bldP spid="120" grpId="0"/>
      <p:bldP spid="121" grpId="0"/>
      <p:bldP spid="123" grpId="0"/>
      <p:bldP spid="124" grpId="0"/>
      <p:bldP spid="125" grpId="0"/>
      <p:bldP spid="128" grpId="0"/>
      <p:bldP spid="129" grpId="0"/>
      <p:bldP spid="1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562600" y="2490775"/>
            <a:ext cx="1464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MÓDULO 1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420415" y="3014662"/>
            <a:ext cx="935116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El Dominio de los Porcentajes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290887" y="3967162"/>
            <a:ext cx="56102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Cómo estructurar cálculos matemáticos para el código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28EE1-6C66-8316-3DBC-170FE1137315}"/>
              </a:ext>
            </a:extLst>
          </p:cNvPr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b="0" dirty="0">
                <a:effectLst/>
              </a:rPr>
              <a:t> </a:t>
            </a:r>
            <a:endParaRPr lang="es-419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9F8A8-6650-D45A-89DF-8167D865B486}"/>
              </a:ext>
            </a:extLst>
          </p:cNvPr>
          <p:cNvSpPr txBox="1"/>
          <p:nvPr/>
        </p:nvSpPr>
        <p:spPr>
          <a:xfrm>
            <a:off x="3046997" y="3275112"/>
            <a:ext cx="6093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b="0" dirty="0">
                <a:effectLst/>
              </a:rPr>
              <a:t> </a:t>
            </a:r>
            <a:endParaRPr lang="es-41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4900" y="2981325"/>
            <a:ext cx="5334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69900" y="9144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Los 3 Pilares del Porcentaje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469900" y="1438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69900" y="18383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Todo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porcentajes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programación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se reduce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relacionar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variables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fundamentales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6184900" y="2505075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relación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directa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entre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ellos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es: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6184900" y="37433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Para programar,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siempre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debes tener al menos dos de estas variables para hallar la tercera.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84275" y="2466975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El valor original o el 100%. (Ej: El precio de un producto).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184275" y="3181350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Tasa: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El porcentaje que queremos aplicar, expresado como número decimal.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184275" y="3895725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Parte: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La porción numérica que resulta de aplicar la Tasa a la Base.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7807" y="3181350"/>
            <a:ext cx="214818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0900" y="25193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0900" y="3233737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0900" y="394811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  <p:bldP spid="106" grpId="0"/>
      <p:bldP spid="107" grpId="0"/>
      <p:bldP spid="108" grpId="0"/>
      <p:bldP spid="10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590550" y="7429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Paso 1: </a:t>
            </a:r>
            <a:r>
              <a:rPr lang="en-US" sz="2700" b="1" i="0" u="none" strike="noStrike" cap="none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Transformar</a:t>
            </a:r>
            <a:r>
              <a:rPr lang="en-US" sz="27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a Decimal</a:t>
            </a:r>
            <a:endParaRPr dirty="0"/>
          </a:p>
        </p:txBody>
      </p:sp>
      <p:sp>
        <p:nvSpPr>
          <p:cNvPr id="120" name="Google Shape;120;p16"/>
          <p:cNvSpPr/>
          <p:nvPr/>
        </p:nvSpPr>
        <p:spPr>
          <a:xfrm>
            <a:off x="59055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90550" y="2364581"/>
            <a:ext cx="50292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 dirty="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/100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590550" y="3555206"/>
            <a:ext cx="5029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regla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 de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oro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6305550" y="1476375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El </a:t>
            </a:r>
            <a:r>
              <a:rPr lang="en-US" sz="1950" b="1" i="0" u="none" strike="noStrike" cap="none" dirty="0" err="1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sistema</a:t>
            </a:r>
            <a:r>
              <a:rPr lang="en-US" sz="1950" b="1" i="0" u="none" strike="noStrike" cap="none" dirty="0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 no </a:t>
            </a:r>
            <a:r>
              <a:rPr lang="en-US" sz="1950" b="1" i="0" u="none" strike="noStrike" cap="none" dirty="0" err="1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entiende</a:t>
            </a:r>
            <a:r>
              <a:rPr lang="en-US" sz="1950" b="1" i="0" u="none" strike="noStrike" cap="none" dirty="0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el</a:t>
            </a:r>
            <a:r>
              <a:rPr lang="en-US" sz="1950" b="1" i="0" u="none" strike="noStrike" cap="none" dirty="0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símbolo</a:t>
            </a:r>
            <a:r>
              <a:rPr lang="en-US" sz="1950" b="1" i="0" u="none" strike="noStrike" cap="none" dirty="0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 "%"</a:t>
            </a: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6305550" y="2364581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Antes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cualquier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cálculo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la Tasa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debe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dividirse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100.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Así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preparamos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6305550" y="3424816"/>
            <a:ext cx="5334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19% de IVA     → 19 / 100 = 0.19</a:t>
            </a:r>
            <a:endParaRPr sz="1800"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6305550" y="3899906"/>
            <a:ext cx="5334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5%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Interés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  → 5 / 100 = 0.05 (Cuidado con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0)</a:t>
            </a:r>
            <a:endParaRPr sz="1800"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6305550" y="4790495"/>
            <a:ext cx="5334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150%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Multa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→ 150 / 100 = 1.50</a:t>
            </a:r>
            <a:endParaRPr sz="1800" dirty="0"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5550" y="355520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50" y="403621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5550" y="493337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2" grpId="0"/>
      <p:bldP spid="123" grpId="0"/>
      <p:bldP spid="124" grpId="0"/>
      <p:bldP spid="125" grpId="0"/>
      <p:bldP spid="126" grpId="0"/>
      <p:bldP spid="1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09750"/>
            <a:ext cx="5405437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1809750"/>
            <a:ext cx="5405437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Dos formas de programarlo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13811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Agregar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19% de IVA a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producto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$1000.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819150" y="2057400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DC2626"/>
                </a:solidFill>
                <a:latin typeface="Merriweather"/>
                <a:ea typeface="Merriweather"/>
                <a:cs typeface="Merriweather"/>
                <a:sym typeface="Merriweather"/>
              </a:rPr>
              <a:t>Método</a:t>
            </a:r>
            <a:r>
              <a:rPr lang="en-US" sz="1950" b="1" i="0" u="none" strike="noStrike" cap="none" dirty="0">
                <a:solidFill>
                  <a:srgbClr val="DC2626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DC2626"/>
                </a:solidFill>
                <a:latin typeface="Merriweather"/>
                <a:ea typeface="Merriweather"/>
                <a:cs typeface="Merriweather"/>
                <a:sym typeface="Merriweather"/>
              </a:rPr>
              <a:t>Tradicional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819150" y="270510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Calculas la fracción y luego la sumas. Requiere más pasos.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19150" y="4867275"/>
            <a:ext cx="491013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Desventaja: Usas dos variables y dos operaciones.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462712" y="2057400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Método Directo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462712" y="270510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Haces todo en un solo paso matemático. Es el estándar.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462712" y="4433887"/>
            <a:ext cx="491013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Ventaja: Una sola línea de código, menos memoria.</a:t>
            </a:r>
            <a:endParaRPr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" y="20955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876300" y="3324225"/>
            <a:ext cx="241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1009650" y="3324225"/>
            <a:ext cx="47196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Calcular parte: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IVA = 1000 * 0.19 (Da: 190)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76300" y="3995737"/>
            <a:ext cx="190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1009650" y="3995737"/>
            <a:ext cx="47196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Sumar a la base: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Total = 1000 + 190 (Da: 1190)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2712" y="2095500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6519862" y="3324225"/>
            <a:ext cx="29368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6653212" y="3324225"/>
            <a:ext cx="47196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Multiplicar por el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Factor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Total = 1000 * 1.19 (Da: 1190)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8" grpId="0"/>
      <p:bldP spid="149" grpId="0"/>
      <p:bldP spid="150" grpId="0"/>
      <p:bldP spid="151" grpId="0"/>
      <p:bldP spid="153" grpId="0"/>
      <p:bldP spid="1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90625"/>
            <a:ext cx="5405437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1190625"/>
            <a:ext cx="5405437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Pausa Activa: Tu Turno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89550" y="4953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819150" y="1485900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Ejercicio 1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19150" y="213360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Estás programando el carrito de compras para una tienda.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19150" y="270510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usuario compra unos tenis de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$200,000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(precio base).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19150" y="327660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Debes sumarle el impuesto local del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819150" y="3895725"/>
            <a:ext cx="4910137" cy="1905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819150" y="424815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Preguntas para pensar: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462712" y="3176587"/>
            <a:ext cx="491013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(Piensa la respuesta antes de pasar a la siguiente diapositiva)</a:t>
            </a:r>
            <a:endParaRPr/>
          </a:p>
        </p:txBody>
      </p:sp>
      <p:pic>
        <p:nvPicPr>
          <p:cNvPr id="187" name="Google Shape;18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5240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876300" y="4819650"/>
            <a:ext cx="190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dirty="0"/>
          </a:p>
        </p:txBody>
      </p:sp>
      <p:sp>
        <p:nvSpPr>
          <p:cNvPr id="189" name="Google Shape;189;p19"/>
          <p:cNvSpPr txBox="1"/>
          <p:nvPr/>
        </p:nvSpPr>
        <p:spPr>
          <a:xfrm>
            <a:off x="1009649" y="4733925"/>
            <a:ext cx="47196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Cuál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factor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multiplicador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exacto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dirty="0"/>
          </a:p>
        </p:txBody>
      </p:sp>
      <p:sp>
        <p:nvSpPr>
          <p:cNvPr id="190" name="Google Shape;190;p19"/>
          <p:cNvSpPr txBox="1"/>
          <p:nvPr/>
        </p:nvSpPr>
        <p:spPr>
          <a:xfrm>
            <a:off x="876300" y="5105400"/>
            <a:ext cx="3238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1009648" y="4992216"/>
            <a:ext cx="47196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Cuál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sola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línea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obtener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total?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El Factor de </a:t>
            </a:r>
            <a:r>
              <a:rPr lang="en-US" sz="2700" b="1" i="0" u="none" strike="noStrike" cap="none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Decremento</a:t>
            </a:r>
            <a:endParaRPr dirty="0"/>
          </a:p>
        </p:txBody>
      </p:sp>
      <p:sp>
        <p:nvSpPr>
          <p:cNvPr id="198" name="Google Shape;198;p20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13811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cuando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valor final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será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menor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original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Descuentos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rebajas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depreciación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dirty="0"/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42529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Lógica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: Si </a:t>
            </a:r>
            <a:r>
              <a:rPr lang="en-US" sz="1500" b="0" i="1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1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descuentan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1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30%, </a:t>
            </a:r>
            <a:r>
              <a:rPr lang="en-US" sz="1500" b="0" i="1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significa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1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1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terminas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1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pagando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1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70%.</a:t>
            </a:r>
            <a:endParaRPr dirty="0"/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8623" y="2152650"/>
            <a:ext cx="183475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904875" y="2857500"/>
            <a:ext cx="10715625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Paso 1: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Tienes un Descuento del 30%. En decimal es 0.30.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04875" y="3290887"/>
            <a:ext cx="10715625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Paso 2: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Restas la Tasa a 1. (1 - 0.30). Tu factor es 0.70.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904875" y="3724275"/>
            <a:ext cx="10715625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Paso 3: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Multiplicas directamente. PrecioFinal = PrecioBase * 0.70.</a:t>
            </a:r>
            <a:endParaRPr/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09887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43275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76662"/>
            <a:ext cx="1333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/>
      <p:bldP spid="200" grpId="0"/>
      <p:bldP spid="202" grpId="0"/>
      <p:bldP spid="203" grpId="0"/>
      <p:bldP spid="20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3124200"/>
            <a:ext cx="10858500" cy="89237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6675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El Porcentaje Faltante: </a:t>
            </a:r>
            <a:r>
              <a:rPr lang="en-US" sz="3000" b="1" i="0" u="none" strike="noStrike" cap="none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Hallar la Tasa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666750" y="112395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666750" y="1590675"/>
            <a:ext cx="10858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 las clases anteriores vimos cómo hallar la Parte (Caso 1) y cómo hallar la Base (Caso 3). Pero, ¿qué pasa si sé cuánto costó algo y cuánto me descontaron, pero no sé </a:t>
            </a: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qué porcentaje fue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? (Caso 2).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6750" y="2409825"/>
            <a:ext cx="10858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Partiendo de nuestra ecuación base y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despejando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obtenemos: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6848" y="3371850"/>
            <a:ext cx="4038153" cy="39707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000125" y="4397573"/>
            <a:ext cx="10525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Ejemplo en código (Logicode):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Si obtuviste 24 respuestas correctas de 80 posibles en un examen.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00125" y="4902398"/>
            <a:ext cx="10525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real porcentaje = (24.0 / 80.0) * 100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00125" y="5407223"/>
            <a:ext cx="10525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Resultado: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0.3 * 100 = </a:t>
            </a:r>
            <a:r>
              <a:rPr lang="en-US" sz="16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44996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495478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45961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/>
      <p:bldP spid="140" grpId="0"/>
      <p:bldP spid="142" grpId="0"/>
      <p:bldP spid="143" grpId="0"/>
      <p:bldP spid="1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90625"/>
            <a:ext cx="5405437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1190625"/>
            <a:ext cx="5405437" cy="4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Pausa Activa: Tu </a:t>
            </a:r>
            <a:r>
              <a:rPr lang="en-US" sz="2700" b="1" i="0" u="none" strike="noStrike" cap="none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Turno</a:t>
            </a:r>
            <a:endParaRPr dirty="0"/>
          </a:p>
        </p:txBody>
      </p:sp>
      <p:sp>
        <p:nvSpPr>
          <p:cNvPr id="216" name="Google Shape;216;p21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86387" y="4191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819150" y="1485900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Ejercicio</a:t>
            </a:r>
            <a:r>
              <a:rPr lang="en-US" sz="1950" b="1" i="0" u="none" strike="noStrike" cap="none" dirty="0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 2</a:t>
            </a:r>
            <a:endParaRPr dirty="0"/>
          </a:p>
        </p:txBody>
      </p:sp>
      <p:sp>
        <p:nvSpPr>
          <p:cNvPr id="219" name="Google Shape;219;p21"/>
          <p:cNvSpPr txBox="1"/>
          <p:nvPr/>
        </p:nvSpPr>
        <p:spPr>
          <a:xfrm>
            <a:off x="819150" y="213360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Black Friday. Un curso en línea cuesta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$150,000 COP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19150" y="270510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Tiene un cartel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gigante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dice: 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"25% DE DESCUENTO"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21" name="Google Shape;221;p21"/>
          <p:cNvSpPr/>
          <p:nvPr/>
        </p:nvSpPr>
        <p:spPr>
          <a:xfrm>
            <a:off x="819150" y="3324225"/>
            <a:ext cx="4910137" cy="1905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819150" y="3676650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Preguntas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pensar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</p:txBody>
      </p:sp>
      <p:sp>
        <p:nvSpPr>
          <p:cNvPr id="223" name="Google Shape;223;p21"/>
          <p:cNvSpPr txBox="1"/>
          <p:nvPr/>
        </p:nvSpPr>
        <p:spPr>
          <a:xfrm>
            <a:off x="7455693" y="3190875"/>
            <a:ext cx="29241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Aplica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fórmula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: Factor = 1 - Tasa</a:t>
            </a:r>
            <a:endParaRPr dirty="0"/>
          </a:p>
        </p:txBody>
      </p:sp>
      <p:pic>
        <p:nvPicPr>
          <p:cNvPr id="224" name="Google Shape;22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5240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876300" y="4248150"/>
            <a:ext cx="190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009650" y="4248150"/>
            <a:ext cx="47196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Cuál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es la Tasa decimal?</a:t>
            </a:r>
            <a:endParaRPr dirty="0"/>
          </a:p>
        </p:txBody>
      </p:sp>
      <p:sp>
        <p:nvSpPr>
          <p:cNvPr id="227" name="Google Shape;227;p21"/>
          <p:cNvSpPr txBox="1"/>
          <p:nvPr/>
        </p:nvSpPr>
        <p:spPr>
          <a:xfrm>
            <a:off x="876300" y="4533900"/>
            <a:ext cx="190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dirty="0"/>
          </a:p>
        </p:txBody>
      </p:sp>
      <p:sp>
        <p:nvSpPr>
          <p:cNvPr id="228" name="Google Shape;228;p21"/>
          <p:cNvSpPr txBox="1"/>
          <p:nvPr/>
        </p:nvSpPr>
        <p:spPr>
          <a:xfrm>
            <a:off x="1009650" y="4533900"/>
            <a:ext cx="47196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¿Cuál es el factor de decremento?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876300" y="4819650"/>
            <a:ext cx="190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dirty="0"/>
          </a:p>
        </p:txBody>
      </p:sp>
      <p:sp>
        <p:nvSpPr>
          <p:cNvPr id="230" name="Google Shape;230;p21"/>
          <p:cNvSpPr txBox="1"/>
          <p:nvPr/>
        </p:nvSpPr>
        <p:spPr>
          <a:xfrm>
            <a:off x="1009650" y="4819650"/>
            <a:ext cx="47196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Plantea el cálculo mental o en código.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/>
      <p:bldP spid="219" grpId="0"/>
      <p:bldP spid="220" grpId="0"/>
      <p:bldP spid="222" grpId="0"/>
      <p:bldP spid="223" grpId="0"/>
      <p:bldP spid="225" grpId="0"/>
      <p:bldP spid="226" grpId="0"/>
      <p:bldP spid="227" grpId="0"/>
      <p:bldP spid="228" grpId="0"/>
      <p:bldP spid="229" grpId="0"/>
      <p:bldP spid="2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5562600" y="2490787"/>
            <a:ext cx="11938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MÓDULO 2</a:t>
            </a:r>
            <a:endParaRPr dirty="0"/>
          </a:p>
        </p:txBody>
      </p:sp>
      <p:sp>
        <p:nvSpPr>
          <p:cNvPr id="237" name="Google Shape;237;p22"/>
          <p:cNvSpPr txBox="1"/>
          <p:nvPr/>
        </p:nvSpPr>
        <p:spPr>
          <a:xfrm>
            <a:off x="3185636" y="3014662"/>
            <a:ext cx="582072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Ingeniería Inversa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3848100" y="3967162"/>
            <a:ext cx="44958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Deshacer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cálculo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encontrar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origen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38638"/>
            <a:ext cx="5405437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2338638"/>
            <a:ext cx="5405437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Encontrando el Precio Base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571500" y="1123950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Situación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frecuente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: Tienes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final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ya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tiene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IVA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incluido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($1,190), y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necesitas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reportar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original antes de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impuestos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249" name="Google Shape;249;p23"/>
          <p:cNvSpPr txBox="1"/>
          <p:nvPr/>
        </p:nvSpPr>
        <p:spPr>
          <a:xfrm>
            <a:off x="819150" y="2586288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DC2626"/>
                </a:solidFill>
                <a:latin typeface="Merriweather"/>
                <a:ea typeface="Merriweather"/>
                <a:cs typeface="Merriweather"/>
                <a:sym typeface="Merriweather"/>
              </a:rPr>
              <a:t>El Error Común</a:t>
            </a:r>
            <a:endParaRPr dirty="0"/>
          </a:p>
        </p:txBody>
      </p:sp>
      <p:sp>
        <p:nvSpPr>
          <p:cNvPr id="250" name="Google Shape;250;p23"/>
          <p:cNvSpPr txBox="1"/>
          <p:nvPr/>
        </p:nvSpPr>
        <p:spPr>
          <a:xfrm>
            <a:off x="819150" y="3233988"/>
            <a:ext cx="4910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Muchos intentan restar el porcentaje: 1190 - 19%.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19150" y="3810250"/>
            <a:ext cx="4910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Matemáticamente es: 1190 * 0.81 = 963.9.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819150" y="4386513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¡Incorrecto! El precio base original era 1000.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819150" y="4958013"/>
            <a:ext cx="491013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error ocurre porque el 19% de 1190 no es igual al 19% de 1000.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462712" y="2586288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La Forma Correcta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6462712" y="3233988"/>
            <a:ext cx="491013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 usamos la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multiplicación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por el factor para avanzar, usamos la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división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por el factor para retroceder.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462712" y="4091238"/>
            <a:ext cx="4910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Cálculo: Precio Base = Total / Factor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462712" y="4667500"/>
            <a:ext cx="49101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Ejemplo: 1190 / 1.19 = 1000.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462712" y="5243763"/>
            <a:ext cx="49101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¡Correcto y exacto!</a:t>
            </a:r>
            <a:endParaRPr/>
          </a:p>
        </p:txBody>
      </p:sp>
      <p:pic>
        <p:nvPicPr>
          <p:cNvPr id="259" name="Google Shape;25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" y="2624388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2712" y="2624388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90625"/>
            <a:ext cx="11049000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Pausa Activa: Tu Turno</a:t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1150" y="5334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819150" y="1485900"/>
            <a:ext cx="1108138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Ejercicio 3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819150" y="2133600"/>
            <a:ext cx="10553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Estás validando los datos de una factura de restaurante.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819150" y="2705100"/>
            <a:ext cx="10553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ticket indica: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Total a Pagar = $59,500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819150" y="3276600"/>
            <a:ext cx="10553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recibo aclara que el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IVA del 19% ya está incluido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819150" y="3895725"/>
            <a:ext cx="10553700" cy="1905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819150" y="4248150"/>
            <a:ext cx="10553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Preguntas para pensar:</a:t>
            </a:r>
            <a:endParaRPr/>
          </a:p>
        </p:txBody>
      </p:sp>
      <p:pic>
        <p:nvPicPr>
          <p:cNvPr id="276" name="Google Shape;27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" y="15240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876300" y="4819650"/>
            <a:ext cx="190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dirty="0"/>
          </a:p>
        </p:txBody>
      </p:sp>
      <p:sp>
        <p:nvSpPr>
          <p:cNvPr id="278" name="Google Shape;278;p24"/>
          <p:cNvSpPr txBox="1"/>
          <p:nvPr/>
        </p:nvSpPr>
        <p:spPr>
          <a:xfrm>
            <a:off x="1009650" y="4762500"/>
            <a:ext cx="10363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Qué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operación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matemática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suma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resta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multiplicación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división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debes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usar?</a:t>
            </a:r>
            <a:endParaRPr dirty="0"/>
          </a:p>
        </p:txBody>
      </p:sp>
      <p:sp>
        <p:nvSpPr>
          <p:cNvPr id="279" name="Google Shape;279;p24"/>
          <p:cNvSpPr txBox="1"/>
          <p:nvPr/>
        </p:nvSpPr>
        <p:spPr>
          <a:xfrm>
            <a:off x="876300" y="5105400"/>
            <a:ext cx="190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dirty="0"/>
          </a:p>
        </p:txBody>
      </p:sp>
      <p:sp>
        <p:nvSpPr>
          <p:cNvPr id="280" name="Google Shape;280;p24"/>
          <p:cNvSpPr txBox="1"/>
          <p:nvPr/>
        </p:nvSpPr>
        <p:spPr>
          <a:xfrm>
            <a:off x="1009650" y="5048250"/>
            <a:ext cx="10363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Cuál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valor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debes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dividir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regresar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base del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platillo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5562600" y="2490787"/>
            <a:ext cx="11811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MÓDULO 3</a:t>
            </a:r>
            <a:endParaRPr dirty="0"/>
          </a:p>
        </p:txBody>
      </p:sp>
      <p:sp>
        <p:nvSpPr>
          <p:cNvPr id="287" name="Google Shape;287;p25"/>
          <p:cNvSpPr txBox="1"/>
          <p:nvPr/>
        </p:nvSpPr>
        <p:spPr>
          <a:xfrm>
            <a:off x="3190636" y="3014662"/>
            <a:ext cx="5810726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Lógica Compuesta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3057525" y="3967162"/>
            <a:ext cx="60769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Cuando aplicamos múltiples operaciones al mismo tiempo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857375"/>
            <a:ext cx="533400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Encadenamiento de Factores</a:t>
            </a:r>
            <a:endParaRPr/>
          </a:p>
        </p:txBody>
      </p:sp>
      <p:sp>
        <p:nvSpPr>
          <p:cNvPr id="296" name="Google Shape;296;p26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 txBox="1"/>
          <p:nvPr/>
        </p:nvSpPr>
        <p:spPr>
          <a:xfrm>
            <a:off x="571500" y="13811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Qué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pasa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tienes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producto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se 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aplica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descuento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y luego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impuesto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dirty="0"/>
          </a:p>
        </p:txBody>
      </p:sp>
      <p:sp>
        <p:nvSpPr>
          <p:cNvPr id="298" name="Google Shape;298;p26"/>
          <p:cNvSpPr txBox="1"/>
          <p:nvPr/>
        </p:nvSpPr>
        <p:spPr>
          <a:xfrm>
            <a:off x="571500" y="204787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Gracias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factores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multiplicadores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podemos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resolver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sola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línea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99" name="Google Shape;299;p26"/>
          <p:cNvSpPr txBox="1"/>
          <p:nvPr/>
        </p:nvSpPr>
        <p:spPr>
          <a:xfrm>
            <a:off x="1285875" y="2809875"/>
            <a:ext cx="46196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Producto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base: $2,000</a:t>
            </a:r>
            <a:endParaRPr dirty="0"/>
          </a:p>
        </p:txBody>
      </p:sp>
      <p:sp>
        <p:nvSpPr>
          <p:cNvPr id="300" name="Google Shape;300;p26"/>
          <p:cNvSpPr txBox="1"/>
          <p:nvPr/>
        </p:nvSpPr>
        <p:spPr>
          <a:xfrm>
            <a:off x="1285875" y="3238500"/>
            <a:ext cx="46196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Descuento del 10% (Factor = 0.90)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1285875" y="3667125"/>
            <a:ext cx="46196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IVA del 19% (Factor = 1.19)</a:t>
            </a:r>
            <a:endParaRPr dirty="0"/>
          </a:p>
        </p:txBody>
      </p:sp>
      <p:sp>
        <p:nvSpPr>
          <p:cNvPr id="302" name="Google Shape;302;p26"/>
          <p:cNvSpPr txBox="1"/>
          <p:nvPr/>
        </p:nvSpPr>
        <p:spPr>
          <a:xfrm>
            <a:off x="6534150" y="2105025"/>
            <a:ext cx="508063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La Fórmula Encadenada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6534150" y="2543175"/>
            <a:ext cx="4838700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Total = Base * Factor1 * Factor2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6534150" y="3024187"/>
            <a:ext cx="4838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Aplicado en código: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6534150" y="3500437"/>
            <a:ext cx="4838700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real total = 2000 * 0.90 * 1.19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6534150" y="4029075"/>
            <a:ext cx="483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Nota: Matemáticamente el orden no altera el resultado, pero por regla de negocio, los descuentos siempre se calculan antes que los impuestos.</a:t>
            </a:r>
            <a:endParaRPr/>
          </a:p>
        </p:txBody>
      </p:sp>
      <p:pic>
        <p:nvPicPr>
          <p:cNvPr id="307" name="Google Shape;30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8622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290887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719512"/>
            <a:ext cx="1333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/>
      <p:bldP spid="298" grpId="0"/>
      <p:bldP spid="299" grpId="0"/>
      <p:bldP spid="300" grpId="0"/>
      <p:bldP spid="301" grpId="0"/>
      <p:bldP spid="302" grpId="0"/>
      <p:bldP spid="303" grpId="0"/>
      <p:bldP spid="304" grpId="0"/>
      <p:bldP spid="305" grpId="0"/>
      <p:bldP spid="30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 txBox="1"/>
          <p:nvPr/>
        </p:nvSpPr>
        <p:spPr>
          <a:xfrm>
            <a:off x="5562600" y="2490787"/>
            <a:ext cx="13208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MÓDULO 4</a:t>
            </a:r>
            <a:endParaRPr dirty="0"/>
          </a:p>
        </p:txBody>
      </p:sp>
      <p:sp>
        <p:nvSpPr>
          <p:cNvPr id="316" name="Google Shape;316;p27"/>
          <p:cNvSpPr txBox="1"/>
          <p:nvPr/>
        </p:nvSpPr>
        <p:spPr>
          <a:xfrm>
            <a:off x="1920478" y="3014662"/>
            <a:ext cx="835104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Fundamentos en Logicode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2700337" y="3967162"/>
            <a:ext cx="67913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Preparando los datos para la toma de decisiones en pseudocódigo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688" y="2014537"/>
            <a:ext cx="5453062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8625" y="2014537"/>
            <a:ext cx="5453062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688" y="4786312"/>
            <a:ext cx="5453062" cy="1795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8625" y="4786312"/>
            <a:ext cx="5453062" cy="1795463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Operadores Relacionales</a:t>
            </a:r>
            <a:endParaRPr/>
          </a:p>
        </p:txBody>
      </p:sp>
      <p:sp>
        <p:nvSpPr>
          <p:cNvPr id="361" name="Google Shape;361;p29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 txBox="1"/>
          <p:nvPr/>
        </p:nvSpPr>
        <p:spPr>
          <a:xfrm>
            <a:off x="624125" y="1171575"/>
            <a:ext cx="110490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permiten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matemáticos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Importante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evaluar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comparaciones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siempre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devuelve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un valor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boleano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verdadero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falso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dirty="0"/>
          </a:p>
        </p:txBody>
      </p:sp>
      <p:sp>
        <p:nvSpPr>
          <p:cNvPr id="363" name="Google Shape;363;p29"/>
          <p:cNvSpPr txBox="1"/>
          <p:nvPr/>
        </p:nvSpPr>
        <p:spPr>
          <a:xfrm>
            <a:off x="752713" y="2214562"/>
            <a:ext cx="53056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Igualdad</a:t>
            </a:r>
            <a:r>
              <a:rPr lang="en-US" sz="1950" b="1" i="0" u="none" strike="noStrike" cap="none" dirty="0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 ( == )</a:t>
            </a:r>
            <a:endParaRPr dirty="0"/>
          </a:p>
        </p:txBody>
      </p:sp>
      <p:sp>
        <p:nvSpPr>
          <p:cNvPr id="364" name="Google Shape;364;p29"/>
          <p:cNvSpPr txBox="1"/>
          <p:nvPr/>
        </p:nvSpPr>
        <p:spPr>
          <a:xfrm>
            <a:off x="752713" y="2862262"/>
            <a:ext cx="505301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Verifica si dos valores son idénticos.</a:t>
            </a:r>
            <a:endParaRPr/>
          </a:p>
        </p:txBody>
      </p:sp>
      <p:sp>
        <p:nvSpPr>
          <p:cNvPr id="365" name="Google Shape;365;p29"/>
          <p:cNvSpPr txBox="1"/>
          <p:nvPr/>
        </p:nvSpPr>
        <p:spPr>
          <a:xfrm>
            <a:off x="752713" y="3386137"/>
            <a:ext cx="5053012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5 == 5 → </a:t>
            </a:r>
            <a:r>
              <a:rPr lang="en-US" sz="1500" b="0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verdadero</a:t>
            </a:r>
            <a:endParaRPr/>
          </a:p>
        </p:txBody>
      </p:sp>
      <p:sp>
        <p:nvSpPr>
          <p:cNvPr id="366" name="Google Shape;366;p29"/>
          <p:cNvSpPr txBox="1"/>
          <p:nvPr/>
        </p:nvSpPr>
        <p:spPr>
          <a:xfrm>
            <a:off x="752713" y="4019550"/>
            <a:ext cx="5053012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(El = simple es para asignar, == para comparar).</a:t>
            </a:r>
            <a:endParaRPr/>
          </a:p>
        </p:txBody>
      </p:sp>
      <p:sp>
        <p:nvSpPr>
          <p:cNvPr id="367" name="Google Shape;367;p29"/>
          <p:cNvSpPr txBox="1"/>
          <p:nvPr/>
        </p:nvSpPr>
        <p:spPr>
          <a:xfrm>
            <a:off x="6348650" y="2214562"/>
            <a:ext cx="53056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Diferencia ( != )</a:t>
            </a:r>
            <a:endParaRPr/>
          </a:p>
        </p:txBody>
      </p:sp>
      <p:sp>
        <p:nvSpPr>
          <p:cNvPr id="368" name="Google Shape;368;p29"/>
          <p:cNvSpPr txBox="1"/>
          <p:nvPr/>
        </p:nvSpPr>
        <p:spPr>
          <a:xfrm>
            <a:off x="6348650" y="2862262"/>
            <a:ext cx="505301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Verifica si dos valores son distintos.</a:t>
            </a:r>
            <a:endParaRPr/>
          </a:p>
        </p:txBody>
      </p:sp>
      <p:sp>
        <p:nvSpPr>
          <p:cNvPr id="369" name="Google Shape;369;p29"/>
          <p:cNvSpPr txBox="1"/>
          <p:nvPr/>
        </p:nvSpPr>
        <p:spPr>
          <a:xfrm>
            <a:off x="6348650" y="3386137"/>
            <a:ext cx="5053012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10 != 5 → </a:t>
            </a:r>
            <a:r>
              <a:rPr lang="en-US" sz="1500" b="0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verdadero</a:t>
            </a:r>
            <a:endParaRPr/>
          </a:p>
        </p:txBody>
      </p:sp>
      <p:sp>
        <p:nvSpPr>
          <p:cNvPr id="370" name="Google Shape;370;p29"/>
          <p:cNvSpPr txBox="1"/>
          <p:nvPr/>
        </p:nvSpPr>
        <p:spPr>
          <a:xfrm>
            <a:off x="752713" y="4986337"/>
            <a:ext cx="53056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Mayor / Menor ( &gt; , &lt; )</a:t>
            </a:r>
            <a:endParaRPr/>
          </a:p>
        </p:txBody>
      </p:sp>
      <p:sp>
        <p:nvSpPr>
          <p:cNvPr id="371" name="Google Shape;371;p29"/>
          <p:cNvSpPr txBox="1"/>
          <p:nvPr/>
        </p:nvSpPr>
        <p:spPr>
          <a:xfrm>
            <a:off x="752713" y="5634037"/>
            <a:ext cx="505301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Evalúa jerarquías numéricas estrictas.</a:t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752713" y="6157912"/>
            <a:ext cx="5053012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18 &gt; 18 → </a:t>
            </a:r>
            <a:r>
              <a:rPr lang="en-US" sz="1500" b="0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falso</a:t>
            </a:r>
            <a:endParaRPr/>
          </a:p>
        </p:txBody>
      </p:sp>
      <p:sp>
        <p:nvSpPr>
          <p:cNvPr id="373" name="Google Shape;373;p29"/>
          <p:cNvSpPr txBox="1"/>
          <p:nvPr/>
        </p:nvSpPr>
        <p:spPr>
          <a:xfrm>
            <a:off x="6348650" y="4986337"/>
            <a:ext cx="53056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Inclusivos ( &gt;= , &lt;= )</a:t>
            </a:r>
            <a:endParaRPr/>
          </a:p>
        </p:txBody>
      </p:sp>
      <p:sp>
        <p:nvSpPr>
          <p:cNvPr id="374" name="Google Shape;374;p29"/>
          <p:cNvSpPr txBox="1"/>
          <p:nvPr/>
        </p:nvSpPr>
        <p:spPr>
          <a:xfrm>
            <a:off x="6348650" y="5634037"/>
            <a:ext cx="505301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Mayor o igual / Menor o igual.</a:t>
            </a:r>
            <a:endParaRPr/>
          </a:p>
        </p:txBody>
      </p:sp>
      <p:sp>
        <p:nvSpPr>
          <p:cNvPr id="375" name="Google Shape;375;p29"/>
          <p:cNvSpPr txBox="1"/>
          <p:nvPr/>
        </p:nvSpPr>
        <p:spPr>
          <a:xfrm>
            <a:off x="6348650" y="6157912"/>
            <a:ext cx="5053012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18 &gt;= 18 → </a:t>
            </a:r>
            <a:r>
              <a:rPr lang="en-US" sz="1500" b="0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verdadero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" grpId="0"/>
      <p:bldP spid="363" grpId="0"/>
      <p:bldP spid="364" grpId="0"/>
      <p:bldP spid="365" grpId="0"/>
      <p:bldP spid="366" grpId="0"/>
      <p:bldP spid="367" grpId="0"/>
      <p:bldP spid="368" grpId="0"/>
      <p:bldP spid="369" grpId="0"/>
      <p:bldP spid="370" grpId="0"/>
      <p:bldP spid="371" grpId="0"/>
      <p:bldP spid="372" grpId="0"/>
      <p:bldP spid="373" grpId="0"/>
      <p:bldP spid="374" grpId="0"/>
      <p:bldP spid="37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457450"/>
            <a:ext cx="519112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6675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Comparando Textos y Caracteres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666750" y="112395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66750" y="1590675"/>
            <a:ext cx="10858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operadores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igualdad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(==) y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diferencia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(!=) no son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exclusivos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números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matemáticos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También son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vitales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evaluar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tipos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dato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caracter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Logicode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381125" y="2609850"/>
            <a:ext cx="4476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Sensibilidad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Mayúsculas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computadora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las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letras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mayúsculas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minúsculas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son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códigos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completamente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distintos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memoria.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304925" y="4105274"/>
            <a:ext cx="4476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Espacios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Blanco: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espacio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extra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dentro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las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comillas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cambia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completo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cadena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hará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igualdad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falle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304925" y="5381625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Símbolos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Las tildes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importan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"Medellín" es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distinto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"Medellin".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6581775" y="2705100"/>
            <a:ext cx="493061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Ejemplos de Evaluación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581775" y="3209925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'A' == 'a' → </a:t>
            </a:r>
            <a:r>
              <a:rPr lang="en-US" sz="165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falso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581775" y="3733800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"hola" != "HOLA" → </a:t>
            </a:r>
            <a:r>
              <a:rPr lang="en-US" sz="165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verdadero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6581775" y="4191000"/>
            <a:ext cx="469582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581775" y="4419600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texto clave = "admin123"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581775" y="4943475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clave == "admin123 " → </a:t>
            </a:r>
            <a:r>
              <a:rPr lang="en-US" sz="165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falso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6581775" y="54673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(Nota el espacio invisible al final)</a:t>
            </a:r>
            <a:endParaRPr/>
          </a:p>
        </p:txBody>
      </p:sp>
      <p:pic>
        <p:nvPicPr>
          <p:cNvPr id="99" name="Google Shape;9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7750" y="26622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0130" y="42100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0130" y="5500938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 animBg="1"/>
      <p:bldP spid="96" grpId="0"/>
      <p:bldP spid="97" grpId="0"/>
      <p:bldP spid="9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2317750"/>
            <a:ext cx="5286375" cy="426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8400" y="2317750"/>
            <a:ext cx="5286375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6675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Lógica Dinámica: Variable vs Variable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666750" y="112395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66750" y="1352550"/>
            <a:ext cx="10858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Hasta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ahora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hemos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comparado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variables contra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números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fijos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ej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&gt;= 18). Sin embargo,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verdadero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poder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operadores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relacionales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desata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al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comparar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dos variables entre 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962025" y="2613025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Comparación Rígida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62025" y="3308350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Comparamos contra un valor "quemado" en el código (Hardcoded).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62025" y="583247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r>
              <a:rPr lang="en-US" sz="1350" b="0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 Si el Metro sube la tarifa el próximo año, tendrás que buscar y cambiar ese número en todo tu código.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34150" y="2613025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Comparación Dinámica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534150" y="3308350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Comparamos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dos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espacios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 memoria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distintos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6534150" y="5658769"/>
            <a:ext cx="46958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Ventaja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350" b="0" i="0" u="none" strike="noStrike" cap="none" dirty="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 Si la </a:t>
            </a:r>
            <a:r>
              <a:rPr lang="en-US" sz="1350" b="0" i="0" u="none" strike="noStrike" cap="none" dirty="0" err="1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tarifa</a:t>
            </a:r>
            <a:r>
              <a:rPr lang="en-US" sz="1350" b="0" i="0" u="none" strike="noStrike" cap="none" dirty="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 cambia, solo </a:t>
            </a:r>
            <a:r>
              <a:rPr lang="en-US" sz="1350" b="0" i="0" u="none" strike="noStrike" cap="none" dirty="0" err="1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actualizas</a:t>
            </a:r>
            <a:r>
              <a:rPr lang="en-US" sz="1350" b="0" i="0" u="none" strike="noStrike" cap="none" dirty="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 la variable </a:t>
            </a:r>
            <a:r>
              <a:rPr lang="en-US" sz="1350" b="0" i="0" u="none" strike="noStrike" cap="none" dirty="0" err="1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tarifaMetro</a:t>
            </a:r>
            <a:r>
              <a:rPr lang="en-US" sz="1350" b="0" i="0" u="none" strike="noStrike" cap="none" dirty="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. El resto de la </a:t>
            </a:r>
            <a:r>
              <a:rPr lang="en-US" sz="1350" b="0" i="0" u="none" strike="noStrike" cap="none" dirty="0" err="1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lógica</a:t>
            </a:r>
            <a:r>
              <a:rPr lang="en-US" sz="1350" b="0" i="0" u="none" strike="noStrike" cap="none" dirty="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sigue</a:t>
            </a:r>
            <a:r>
              <a:rPr lang="en-US" sz="1350" b="0" i="0" u="none" strike="noStrike" cap="none" dirty="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funcionando</a:t>
            </a:r>
            <a:r>
              <a:rPr lang="en-US" sz="1350" b="0" i="0" u="none" strike="noStrike" cap="none" dirty="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 intacta.</a:t>
            </a:r>
            <a:endParaRPr dirty="0"/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6511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962025" y="4546600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entero saldo = 4500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62025" y="5070475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saldo &gt;= 3280 → </a:t>
            </a:r>
            <a:r>
              <a:rPr lang="en-US" sz="1650" b="0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verdadero</a:t>
            </a:r>
            <a:endParaRPr/>
          </a:p>
        </p:txBody>
      </p:sp>
      <p:pic>
        <p:nvPicPr>
          <p:cNvPr id="121" name="Google Shape;12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4150" y="26511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6534150" y="4087144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entero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saldo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= 4500</a:t>
            </a:r>
            <a:endParaRPr dirty="0"/>
          </a:p>
        </p:txBody>
      </p:sp>
      <p:sp>
        <p:nvSpPr>
          <p:cNvPr id="123" name="Google Shape;123;p14"/>
          <p:cNvSpPr txBox="1"/>
          <p:nvPr/>
        </p:nvSpPr>
        <p:spPr>
          <a:xfrm>
            <a:off x="6534150" y="4611019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entero tarifaMetro = 3280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534150" y="5134894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saldo &gt;= tarifaMetro → </a:t>
            </a:r>
            <a:r>
              <a:rPr lang="en-US" sz="1650" b="0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verdadero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9" grpId="0"/>
      <p:bldP spid="120" grpId="0"/>
      <p:bldP spid="122" grpId="0"/>
      <p:bldP spid="123" grpId="0"/>
      <p:bldP spid="1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81125"/>
            <a:ext cx="5286375" cy="466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381125"/>
            <a:ext cx="5286375" cy="468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6675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Pausa Activa: Tu Turno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666750" y="112395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7875" y="6096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962025" y="1724025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Ejercicio</a:t>
            </a:r>
            <a:r>
              <a:rPr lang="en-US" sz="2100" b="1" i="0" u="none" strike="noStrike" cap="none" dirty="0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 5: El </a:t>
            </a:r>
            <a:r>
              <a:rPr lang="en-US" sz="2100" b="1" i="0" u="none" strike="noStrike" cap="none" dirty="0" err="1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Torniquete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962025" y="2419350"/>
            <a:ext cx="46958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Estás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diseñando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lógica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torniquete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ingresar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estación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Poblado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del Metro. Tienes las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siguientes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variables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memoria:</a:t>
            </a:r>
            <a:endParaRPr dirty="0"/>
          </a:p>
        </p:txBody>
      </p:sp>
      <p:sp>
        <p:nvSpPr>
          <p:cNvPr id="137" name="Google Shape;137;p15"/>
          <p:cNvSpPr/>
          <p:nvPr/>
        </p:nvSpPr>
        <p:spPr>
          <a:xfrm>
            <a:off x="962025" y="5686425"/>
            <a:ext cx="4695825" cy="1905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6645275" y="1628774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Evalúa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estas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expresiones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(¿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verdadero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falso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?):</a:t>
            </a:r>
            <a:endParaRPr dirty="0"/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17621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1133475" y="3924300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real saldoCivica = 2500.0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133475" y="4448175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real costoPasaje = 3280.0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133475" y="4972050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boleano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estaBloqueada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falso</a:t>
            </a:r>
            <a:endParaRPr dirty="0"/>
          </a:p>
        </p:txBody>
      </p:sp>
      <p:sp>
        <p:nvSpPr>
          <p:cNvPr id="145" name="Google Shape;145;p15"/>
          <p:cNvSpPr txBox="1"/>
          <p:nvPr/>
        </p:nvSpPr>
        <p:spPr>
          <a:xfrm>
            <a:off x="6645274" y="2509838"/>
            <a:ext cx="26352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dirty="0"/>
          </a:p>
        </p:txBody>
      </p:sp>
      <p:sp>
        <p:nvSpPr>
          <p:cNvPr id="146" name="Google Shape;146;p15"/>
          <p:cNvSpPr txBox="1"/>
          <p:nvPr/>
        </p:nvSpPr>
        <p:spPr>
          <a:xfrm>
            <a:off x="6908800" y="2419350"/>
            <a:ext cx="45053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saldoCivica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&gt;=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costoPasaje</a:t>
            </a:r>
            <a:endParaRPr dirty="0"/>
          </a:p>
        </p:txBody>
      </p:sp>
      <p:sp>
        <p:nvSpPr>
          <p:cNvPr id="147" name="Google Shape;147;p15"/>
          <p:cNvSpPr txBox="1"/>
          <p:nvPr/>
        </p:nvSpPr>
        <p:spPr>
          <a:xfrm>
            <a:off x="6645274" y="2824162"/>
            <a:ext cx="34607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dirty="0"/>
          </a:p>
        </p:txBody>
      </p:sp>
      <p:sp>
        <p:nvSpPr>
          <p:cNvPr id="148" name="Google Shape;148;p15"/>
          <p:cNvSpPr txBox="1"/>
          <p:nvPr/>
        </p:nvSpPr>
        <p:spPr>
          <a:xfrm>
            <a:off x="6797675" y="2824163"/>
            <a:ext cx="45053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estaBloqueada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==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verdadero</a:t>
            </a:r>
            <a:endParaRPr dirty="0"/>
          </a:p>
        </p:txBody>
      </p:sp>
      <p:sp>
        <p:nvSpPr>
          <p:cNvPr id="149" name="Google Shape;149;p15"/>
          <p:cNvSpPr txBox="1"/>
          <p:nvPr/>
        </p:nvSpPr>
        <p:spPr>
          <a:xfrm>
            <a:off x="6645275" y="3138488"/>
            <a:ext cx="26352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dirty="0"/>
          </a:p>
        </p:txBody>
      </p:sp>
      <p:sp>
        <p:nvSpPr>
          <p:cNvPr id="150" name="Google Shape;150;p15"/>
          <p:cNvSpPr txBox="1"/>
          <p:nvPr/>
        </p:nvSpPr>
        <p:spPr>
          <a:xfrm>
            <a:off x="6797675" y="3138488"/>
            <a:ext cx="45053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costoPasaje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&gt; 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/>
      <p:bldP spid="136" grpId="0"/>
      <p:bldP spid="137" grpId="0" animBg="1"/>
      <p:bldP spid="138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90625"/>
            <a:ext cx="5405437" cy="3748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1190625"/>
            <a:ext cx="5405437" cy="3748087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0"/>
          <p:cNvSpPr txBox="1"/>
          <p:nvPr/>
        </p:nvSpPr>
        <p:spPr>
          <a:xfrm>
            <a:off x="571500" y="457200"/>
            <a:ext cx="116014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Pausa Activa 2</a:t>
            </a:r>
            <a:endParaRPr dirty="0"/>
          </a:p>
        </p:txBody>
      </p:sp>
      <p:sp>
        <p:nvSpPr>
          <p:cNvPr id="384" name="Google Shape;384;p30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89550" y="50006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0"/>
          <p:cNvSpPr txBox="1"/>
          <p:nvPr/>
        </p:nvSpPr>
        <p:spPr>
          <a:xfrm>
            <a:off x="819150" y="1485900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A580C"/>
                </a:solidFill>
                <a:latin typeface="Merriweather"/>
                <a:ea typeface="Merriweather"/>
                <a:cs typeface="Merriweather"/>
                <a:sym typeface="Merriweather"/>
              </a:rPr>
              <a:t>Ejercicio 4: Evaluador Mental</a:t>
            </a:r>
            <a:endParaRPr/>
          </a:p>
        </p:txBody>
      </p:sp>
      <p:sp>
        <p:nvSpPr>
          <p:cNvPr id="387" name="Google Shape;387;p30"/>
          <p:cNvSpPr txBox="1"/>
          <p:nvPr/>
        </p:nvSpPr>
        <p:spPr>
          <a:xfrm>
            <a:off x="819150" y="2133600"/>
            <a:ext cx="49101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Lee cada expresión y determina si en Logicode devolvería verdadero o falso.</a:t>
            </a:r>
            <a:endParaRPr/>
          </a:p>
        </p:txBody>
      </p:sp>
      <p:sp>
        <p:nvSpPr>
          <p:cNvPr id="388" name="Google Shape;388;p30"/>
          <p:cNvSpPr/>
          <p:nvPr/>
        </p:nvSpPr>
        <p:spPr>
          <a:xfrm>
            <a:off x="819150" y="3043237"/>
            <a:ext cx="4910137" cy="1905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0"/>
          <p:cNvSpPr txBox="1"/>
          <p:nvPr/>
        </p:nvSpPr>
        <p:spPr>
          <a:xfrm>
            <a:off x="6462712" y="2721768"/>
            <a:ext cx="491013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La máquina no duda, solo evalúa datos y entrega una decisión en formato boleano.</a:t>
            </a:r>
            <a:endParaRPr/>
          </a:p>
        </p:txBody>
      </p:sp>
      <p:pic>
        <p:nvPicPr>
          <p:cNvPr id="390" name="Google Shape;390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5240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0"/>
          <p:cNvSpPr txBox="1"/>
          <p:nvPr/>
        </p:nvSpPr>
        <p:spPr>
          <a:xfrm>
            <a:off x="876300" y="3300412"/>
            <a:ext cx="133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942975" y="3216274"/>
            <a:ext cx="47196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100 &gt;= 100</a:t>
            </a:r>
            <a:endParaRPr dirty="0"/>
          </a:p>
        </p:txBody>
      </p:sp>
      <p:sp>
        <p:nvSpPr>
          <p:cNvPr id="393" name="Google Shape;393;p30"/>
          <p:cNvSpPr txBox="1"/>
          <p:nvPr/>
        </p:nvSpPr>
        <p:spPr>
          <a:xfrm>
            <a:off x="876300" y="3590925"/>
            <a:ext cx="133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/>
          </a:p>
        </p:txBody>
      </p:sp>
      <p:sp>
        <p:nvSpPr>
          <p:cNvPr id="394" name="Google Shape;394;p30"/>
          <p:cNvSpPr txBox="1"/>
          <p:nvPr/>
        </p:nvSpPr>
        <p:spPr>
          <a:xfrm>
            <a:off x="1009650" y="3590925"/>
            <a:ext cx="47196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50 != 50</a:t>
            </a:r>
            <a:endParaRPr/>
          </a:p>
        </p:txBody>
      </p:sp>
      <p:sp>
        <p:nvSpPr>
          <p:cNvPr id="395" name="Google Shape;395;p30"/>
          <p:cNvSpPr txBox="1"/>
          <p:nvPr/>
        </p:nvSpPr>
        <p:spPr>
          <a:xfrm>
            <a:off x="876300" y="3881437"/>
            <a:ext cx="133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/>
          </a:p>
        </p:txBody>
      </p:sp>
      <p:sp>
        <p:nvSpPr>
          <p:cNvPr id="396" name="Google Shape;396;p30"/>
          <p:cNvSpPr txBox="1"/>
          <p:nvPr/>
        </p:nvSpPr>
        <p:spPr>
          <a:xfrm>
            <a:off x="1009650" y="3881437"/>
            <a:ext cx="47196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(20 * 2) == 40</a:t>
            </a:r>
            <a:endParaRPr dirty="0"/>
          </a:p>
        </p:txBody>
      </p:sp>
      <p:sp>
        <p:nvSpPr>
          <p:cNvPr id="397" name="Google Shape;397;p30"/>
          <p:cNvSpPr txBox="1"/>
          <p:nvPr/>
        </p:nvSpPr>
        <p:spPr>
          <a:xfrm>
            <a:off x="876300" y="4171950"/>
            <a:ext cx="190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dirty="0"/>
          </a:p>
        </p:txBody>
      </p:sp>
      <p:sp>
        <p:nvSpPr>
          <p:cNvPr id="398" name="Google Shape;398;p30"/>
          <p:cNvSpPr txBox="1"/>
          <p:nvPr/>
        </p:nvSpPr>
        <p:spPr>
          <a:xfrm>
            <a:off x="1037153" y="4142110"/>
            <a:ext cx="4719637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15 &lt; 10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" grpId="0"/>
      <p:bldP spid="387" grpId="0"/>
      <p:bldP spid="388" grpId="0" animBg="1"/>
      <p:bldP spid="389" grpId="0"/>
      <p:bldP spid="391" grpId="0"/>
      <p:bldP spid="392" grpId="0"/>
      <p:bldP spid="393" grpId="0"/>
      <p:bldP spid="394" grpId="0"/>
      <p:bldP spid="395" grpId="0"/>
      <p:bldP spid="396" grpId="0"/>
      <p:bldP spid="397" grpId="0"/>
      <p:bldP spid="39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1"/>
          <p:cNvSpPr txBox="1"/>
          <p:nvPr/>
        </p:nvSpPr>
        <p:spPr>
          <a:xfrm>
            <a:off x="571500" y="4572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Operadores Lógicos (Combinando Condiciones)</a:t>
            </a:r>
            <a:endParaRPr/>
          </a:p>
        </p:txBody>
      </p:sp>
      <p:sp>
        <p:nvSpPr>
          <p:cNvPr id="405" name="Google Shape;405;p31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1"/>
          <p:cNvSpPr txBox="1"/>
          <p:nvPr/>
        </p:nvSpPr>
        <p:spPr>
          <a:xfrm>
            <a:off x="571500" y="1381125"/>
            <a:ext cx="110490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Sirven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conectar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múltiples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expresiones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relacionales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construir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reglas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compuestas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evaluando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escenario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general 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verdadero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falso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graphicFrame>
        <p:nvGraphicFramePr>
          <p:cNvPr id="407" name="Google Shape;407;p31"/>
          <p:cNvGraphicFramePr/>
          <p:nvPr/>
        </p:nvGraphicFramePr>
        <p:xfrm>
          <a:off x="571500" y="2105025"/>
          <a:ext cx="11049000" cy="3257525"/>
        </p:xfrm>
        <a:graphic>
          <a:graphicData uri="http://schemas.openxmlformats.org/drawingml/2006/table">
            <a:tbl>
              <a:tblPr firstRow="1" bandRow="1">
                <a:noFill/>
                <a:tableStyleId>{5C40B419-E994-4EE6-9A22-22FA30EB0694}</a:tableStyleId>
              </a:tblPr>
              <a:tblGrid>
                <a:gridCol w="159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Operador</a:t>
                      </a:r>
                      <a:r>
                        <a:rPr lang="en-US" sz="1500" b="1" i="0" u="none" strike="noStrike" cap="none" dirty="0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Lógico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¿Cómo funciona la regla?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Ejemplo Cotidiano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 ( Y 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Todas</a:t>
                      </a: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las condiciones deben cumplirse obligatoriamente para que el resultado final sea verdadero.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 entrar al cine: Tener la boleta </a:t>
                      </a: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Ser mayor de edad.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 ( O 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Basta con que </a:t>
                      </a: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una sola</a:t>
                      </a: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las condiciones se cumpla para que el resultado sea verdadero.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 pagar el pasaje: Usar efectivo </a:t>
                      </a: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Usar la tarjeta cívica.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( NO 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Invierte el valor de una condición. Lo que era verdadero se vuelve falso y viceversa.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Acceder al </a:t>
                      </a: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sistema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web </a:t>
                      </a: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la </a:t>
                      </a: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cuenta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está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bloqueada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8" name="Google Shape;408;p31"/>
          <p:cNvSpPr/>
          <p:nvPr/>
        </p:nvSpPr>
        <p:spPr>
          <a:xfrm>
            <a:off x="571500" y="2900362"/>
            <a:ext cx="159603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2167532" y="2900362"/>
            <a:ext cx="59194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8087022" y="2900362"/>
            <a:ext cx="353347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1"/>
          <p:cNvSpPr/>
          <p:nvPr/>
        </p:nvSpPr>
        <p:spPr>
          <a:xfrm>
            <a:off x="571500" y="3714750"/>
            <a:ext cx="159603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/>
          <p:nvPr/>
        </p:nvSpPr>
        <p:spPr>
          <a:xfrm>
            <a:off x="2167532" y="3714750"/>
            <a:ext cx="59194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8087022" y="3714750"/>
            <a:ext cx="353347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1"/>
          <p:cNvSpPr/>
          <p:nvPr/>
        </p:nvSpPr>
        <p:spPr>
          <a:xfrm>
            <a:off x="571500" y="4529137"/>
            <a:ext cx="159603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1"/>
          <p:cNvSpPr/>
          <p:nvPr/>
        </p:nvSpPr>
        <p:spPr>
          <a:xfrm>
            <a:off x="2167532" y="4529137"/>
            <a:ext cx="59194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8087022" y="4529137"/>
            <a:ext cx="353347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571500" y="5348287"/>
            <a:ext cx="159603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2167532" y="5348287"/>
            <a:ext cx="59194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8087022" y="5348287"/>
            <a:ext cx="353347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696" y="1381125"/>
            <a:ext cx="5688430" cy="5312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381125"/>
            <a:ext cx="5286375" cy="49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6675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Pausa Activa: Tu Turno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666750" y="1123950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0" y="5619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372979" y="1733550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Ejercicio</a:t>
            </a:r>
            <a:r>
              <a:rPr lang="en-US" sz="2100" b="1" i="0" u="none" strike="noStrike" cap="none" dirty="0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 de </a:t>
            </a:r>
            <a:r>
              <a:rPr lang="en-US" sz="2100" b="1" i="0" u="none" strike="noStrike" cap="none" dirty="0" err="1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</a:t>
            </a:r>
            <a:endParaRPr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372979" y="2533650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Piensa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Metro de Medellín.</a:t>
            </a:r>
            <a:endParaRPr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372979" y="3038475"/>
            <a:ext cx="5284871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Imagina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año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pasado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tarifa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frecuente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era de 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$3,000 COP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(Base).</a:t>
            </a:r>
            <a:endParaRPr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372979" y="3971925"/>
            <a:ext cx="5284871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principio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año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tarifa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aumentó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$300 COP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(Esta es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Parte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subió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dirty="0"/>
          </a:p>
        </p:txBody>
      </p:sp>
      <p:sp>
        <p:nvSpPr>
          <p:cNvPr id="162" name="Google Shape;162;p17"/>
          <p:cNvSpPr/>
          <p:nvPr/>
        </p:nvSpPr>
        <p:spPr>
          <a:xfrm>
            <a:off x="962025" y="5000625"/>
            <a:ext cx="4695825" cy="1905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400050" y="5100637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Preguntas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pensar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</p:txBody>
      </p:sp>
      <p:sp>
        <p:nvSpPr>
          <p:cNvPr id="164" name="Google Shape;164;p17"/>
          <p:cNvSpPr txBox="1"/>
          <p:nvPr/>
        </p:nvSpPr>
        <p:spPr>
          <a:xfrm>
            <a:off x="6367462" y="3152775"/>
            <a:ext cx="46958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lang="en-US" sz="1800" b="0" i="1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resolverlo</a:t>
            </a:r>
            <a:r>
              <a:rPr lang="en-US" sz="1800" b="0" i="1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, divide la </a:t>
            </a:r>
            <a:r>
              <a:rPr lang="en-US" sz="1800" b="0" i="1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Parte</a:t>
            </a:r>
            <a:r>
              <a:rPr lang="en-US" sz="1800" b="0" i="1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(lo </a:t>
            </a:r>
            <a:r>
              <a:rPr lang="en-US" sz="1800" b="0" i="1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800" b="0" i="1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1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subió</a:t>
            </a:r>
            <a:r>
              <a:rPr lang="en-US" sz="1800" b="0" i="1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) entre la Base (</a:t>
            </a:r>
            <a:r>
              <a:rPr lang="en-US" sz="1800" b="0" i="1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  <a:r>
              <a:rPr lang="en-US" sz="1800" b="0" i="1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original) y </a:t>
            </a:r>
            <a:r>
              <a:rPr lang="en-US" sz="1800" b="0" i="1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multiplica</a:t>
            </a:r>
            <a:r>
              <a:rPr lang="en-US" sz="1800" b="0" i="1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1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800" b="0" i="1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100.</a:t>
            </a:r>
            <a:endParaRPr dirty="0"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0050" y="17335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411078" y="5617368"/>
            <a:ext cx="32552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dirty="0"/>
          </a:p>
        </p:txBody>
      </p:sp>
      <p:sp>
        <p:nvSpPr>
          <p:cNvPr id="167" name="Google Shape;167;p17"/>
          <p:cNvSpPr txBox="1"/>
          <p:nvPr/>
        </p:nvSpPr>
        <p:spPr>
          <a:xfrm>
            <a:off x="563479" y="5617368"/>
            <a:ext cx="509437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Qué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variables de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ecuación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conoces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dirty="0"/>
          </a:p>
        </p:txBody>
      </p:sp>
      <p:sp>
        <p:nvSpPr>
          <p:cNvPr id="168" name="Google Shape;168;p17"/>
          <p:cNvSpPr txBox="1"/>
          <p:nvPr/>
        </p:nvSpPr>
        <p:spPr>
          <a:xfrm>
            <a:off x="411078" y="5931693"/>
            <a:ext cx="32552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563479" y="5931693"/>
            <a:ext cx="5094371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Utilizando la fórmula de despeje, ¿De qué porcentaje (%) exacto fue el incremento de la tarifa?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  <p:bldP spid="159" grpId="0"/>
      <p:bldP spid="160" grpId="0"/>
      <p:bldP spid="161" grpId="0"/>
      <p:bldP spid="162" grpId="0" animBg="1"/>
      <p:bldP spid="163" grpId="0"/>
      <p:bldP spid="164" grpId="0"/>
      <p:bldP spid="166" grpId="0"/>
      <p:bldP spid="167" grpId="0"/>
      <p:bldP spid="168" grpId="0"/>
      <p:bldP spid="16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 txBox="1"/>
          <p:nvPr/>
        </p:nvSpPr>
        <p:spPr>
          <a:xfrm>
            <a:off x="2650569" y="1552575"/>
            <a:ext cx="689086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Resumen y Preguntas</a:t>
            </a:r>
            <a:endParaRPr/>
          </a:p>
        </p:txBody>
      </p:sp>
      <p:sp>
        <p:nvSpPr>
          <p:cNvPr id="426" name="Google Shape;426;p32"/>
          <p:cNvSpPr txBox="1"/>
          <p:nvPr/>
        </p:nvSpPr>
        <p:spPr>
          <a:xfrm>
            <a:off x="2286000" y="2505075"/>
            <a:ext cx="762000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Hoy aprendimos a estructurar lógicas de porcentaje usando factores multiplicadores y sentamos las bases de tipos de datos y relacionales para Logicode.</a:t>
            </a:r>
            <a:endParaRPr/>
          </a:p>
        </p:txBody>
      </p:sp>
      <p:sp>
        <p:nvSpPr>
          <p:cNvPr id="427" name="Google Shape;427;p32"/>
          <p:cNvSpPr/>
          <p:nvPr/>
        </p:nvSpPr>
        <p:spPr>
          <a:xfrm>
            <a:off x="5381625" y="3981450"/>
            <a:ext cx="14287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3190636" y="4305300"/>
            <a:ext cx="581072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¿Alguna duda sobre los ejercicios planteados?</a:t>
            </a:r>
            <a:endParaRPr/>
          </a:p>
        </p:txBody>
      </p:sp>
      <p:sp>
        <p:nvSpPr>
          <p:cNvPr id="429" name="Google Shape;429;p32"/>
          <p:cNvSpPr txBox="1"/>
          <p:nvPr/>
        </p:nvSpPr>
        <p:spPr>
          <a:xfrm>
            <a:off x="2271712" y="4857750"/>
            <a:ext cx="76485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Recuerden repasar la conversión de porcentajes a decimales y los resultados booleanos.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2062</Words>
  <Application>Microsoft Office PowerPoint</Application>
  <PresentationFormat>Widescreen</PresentationFormat>
  <Paragraphs>231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Merriweather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1</cp:revision>
  <dcterms:modified xsi:type="dcterms:W3CDTF">2026-03-02T02:24:00Z</dcterms:modified>
</cp:coreProperties>
</file>