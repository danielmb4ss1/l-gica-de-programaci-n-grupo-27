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4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36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-822960" y="-914400"/>
            <a:ext cx="3108960" cy="310896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10241280" y="4846320"/>
            <a:ext cx="2743200" cy="27432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1064240" y="3931920"/>
            <a:ext cx="1645920" cy="1645920"/>
          </a:xfrm>
          <a:prstGeom prst="ellipse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2743200" y="1412748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 |  Institución Universitaria  |  80 Años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71450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Reacreditada en Alta Calidad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2098548"/>
            <a:ext cx="8503920" cy="0"/>
          </a:xfrm>
          <a:prstGeom prst="line">
            <a:avLst/>
          </a:prstGeom>
          <a:noFill/>
          <a:ln w="1016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914400" y="23271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Programación y Laboratorio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96722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14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1828800" y="3954780"/>
            <a:ext cx="8503920" cy="0"/>
          </a:xfrm>
          <a:prstGeom prst="line">
            <a:avLst/>
          </a:prstGeom>
          <a:noFill/>
          <a:ln w="1016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914400" y="41102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7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2200" b="1" dirty="0">
              <a:solidFill>
                <a:srgbClr val="7BA3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7B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Multicondicionales</a:t>
            </a:r>
            <a:endParaRPr lang="en-US" sz="2200" b="1" dirty="0">
              <a:solidFill>
                <a:srgbClr val="7BA3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5207508"/>
            <a:ext cx="10332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Montoya Villada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320040" y="6565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 · AGENDA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02920" cy="65836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1508760"/>
            <a:ext cx="10241280" cy="6583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2" name="Text 10"/>
          <p:cNvSpPr/>
          <p:nvPr/>
        </p:nvSpPr>
        <p:spPr>
          <a:xfrm>
            <a:off x="1188720" y="154533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estructuras multicondicionales?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47088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cuándo usarlas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502920" cy="65836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5" name="Text 13"/>
          <p:cNvSpPr/>
          <p:nvPr/>
        </p:nvSpPr>
        <p:spPr>
          <a:xfrm>
            <a:off x="457200" y="24048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2404872"/>
            <a:ext cx="10241280" cy="6583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7" name="Text 15"/>
          <p:cNvSpPr/>
          <p:nvPr/>
        </p:nvSpPr>
        <p:spPr>
          <a:xfrm>
            <a:off x="1188720" y="24414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 si / sino encadenados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condiciones en LogiCode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502920" cy="65836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3300984"/>
            <a:ext cx="10241280" cy="6583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2" name="Text 20"/>
          <p:cNvSpPr/>
          <p:nvPr/>
        </p:nvSpPr>
        <p:spPr>
          <a:xfrm>
            <a:off x="1188720" y="33375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/ caso (switch-case)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39312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reglas en LogiCode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97096"/>
            <a:ext cx="502920" cy="65836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5" name="Text 23"/>
          <p:cNvSpPr/>
          <p:nvPr/>
        </p:nvSpPr>
        <p:spPr>
          <a:xfrm>
            <a:off x="457200" y="41970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560" y="4197096"/>
            <a:ext cx="10241280" cy="6583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7" name="Text 25"/>
          <p:cNvSpPr/>
          <p:nvPr/>
        </p:nvSpPr>
        <p:spPr>
          <a:xfrm>
            <a:off x="1188720" y="42336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entre ambas estructuras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535424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y cuándo elegir cada una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93208"/>
            <a:ext cx="502920" cy="65836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30" name="Text 28"/>
          <p:cNvSpPr/>
          <p:nvPr/>
        </p:nvSpPr>
        <p:spPr>
          <a:xfrm>
            <a:off x="457200" y="509320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51560" y="5093208"/>
            <a:ext cx="10241280" cy="6583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32" name="Text 30"/>
          <p:cNvSpPr/>
          <p:nvPr/>
        </p:nvSpPr>
        <p:spPr>
          <a:xfrm>
            <a:off x="1188720" y="512978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5431536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</a:t>
            </a: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aplicados en LogiCode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45720" cy="182880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estructuras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multicondicionales?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0" y="2971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más de dos caminos posibles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 · FUNDAMENTOS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estructura multicondicional?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1274552" cy="1161288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11000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estructura multicondicional permite que un programa evalúe múltiples condiciones y ejecute un bloque de código diferente para cada </a:t>
            </a:r>
            <a:r>
              <a:rPr lang="en-US" sz="1600" dirty="0" err="1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hay MÁS DE DOS caminos posibles y un simple si/sino no es suficiente.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del semáforo: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566160" cy="731520"/>
          </a:xfrm>
          <a:prstGeom prst="rect">
            <a:avLst/>
          </a:prstGeom>
          <a:solidFill>
            <a:srgbClr val="F1FBF5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 →  Avanzar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063240"/>
            <a:ext cx="3566160" cy="731520"/>
          </a:xfrm>
          <a:prstGeom prst="rect">
            <a:avLst/>
          </a:prstGeom>
          <a:solidFill>
            <a:srgbClr val="FEF5EE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443484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 →  Reducir velocidad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063240"/>
            <a:ext cx="3566160" cy="731520"/>
          </a:xfrm>
          <a:prstGeom prst="rect">
            <a:avLst/>
          </a:prstGeom>
          <a:solidFill>
            <a:srgbClr val="FDF2F1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8275320" y="3063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→  Detenerse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luz es una condición diferente: no alcanza con si/sino, necesitamos múltiples evaluaciones.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LogiCode nos da dos herramientas: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5486400" cy="8686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/ sino si / sino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52303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condiciones con rangos, comparaciones o lógica compleja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4846320"/>
            <a:ext cx="5486400" cy="8686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6355080" y="4892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 / caso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52303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condiciones de igualdad con un valor específico (switch)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45720" cy="182880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 si / sino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encadenados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0" y="2971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condiciones en LogiCode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 · si / sino si / sino ENCADENADOS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en LogiCode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50840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(condicion1) entonces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bloque 1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 si (condicion2) entonces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bloque 2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 si (condicion3) entonces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bloque 3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bloque por defecto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importantes: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88366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condiciones se evalúan en orden, de arriba hacia abajo.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38658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56464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una condición es verdadera, se ejecuta su bloque y se omiten las demás.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2955036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7" name="Text 15"/>
          <p:cNvSpPr/>
          <p:nvPr/>
        </p:nvSpPr>
        <p:spPr>
          <a:xfrm>
            <a:off x="6355080" y="2878836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sino al final es opcional, pero actúa como caso por defecto.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39242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19" name="Text 17"/>
          <p:cNvSpPr/>
          <p:nvPr/>
        </p:nvSpPr>
        <p:spPr>
          <a:xfrm>
            <a:off x="6355080" y="333756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encadenar tantos sino si como sean necesarios.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89534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21" name="Text 19"/>
          <p:cNvSpPr/>
          <p:nvPr/>
        </p:nvSpPr>
        <p:spPr>
          <a:xfrm>
            <a:off x="6355080" y="384048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debe cerrarse con finsi al final de toda la cadena.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" y="4404360"/>
            <a:ext cx="11274552" cy="59436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23" name="Text 21"/>
          <p:cNvSpPr/>
          <p:nvPr/>
        </p:nvSpPr>
        <p:spPr>
          <a:xfrm>
            <a:off x="566928" y="4523232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solo se ejecuta el primer bloque cuya condición sea verdadera. Los siguientes ni siquiera se evalúan.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 · EJEMPLO PRÁCTICO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Clasificador de Temperatura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228600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meteorológica clasifica la temperatura que el usuario ingresa según las siguientes categorías: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Menos de 0°C  →  "Bajo cero (congelante)"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0 y 14°C  →  "Frío"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15 y 24°C  →  "Templado"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25 y 34°C  →  "Caluroso"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35°C o más  →  "Extremadamente caliente"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08737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Problema: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498854"/>
            <a:ext cx="530352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492240" y="149885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49885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(entero)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2047494"/>
            <a:ext cx="530352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492240" y="204749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204749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rangos posibles → multicondicional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2596134"/>
            <a:ext cx="530352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492240" y="259613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259613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categoría (texto)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144774"/>
            <a:ext cx="5303520" cy="457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492240" y="314477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si/sino simple?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92440" y="314477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5 resultados posibles, no solo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279392"/>
            <a:ext cx="214884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365760" y="4279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&lt; 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5994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cero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97480" y="4279392"/>
            <a:ext cx="214884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2697480" y="4279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&lt; 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45994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279392"/>
            <a:ext cx="214884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5029200" y="4279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&lt; 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5994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4279392"/>
            <a:ext cx="214884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7360920" y="4279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&lt; 35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60920" y="45994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Caluroso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92640" y="4279392"/>
            <a:ext cx="2148840" cy="6400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9692640" y="4279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92640" y="45994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caliente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 · ALGORITMO EN LOGICODE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Temperatura — Algoritmo Completo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669280" cy="489204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5449824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ClasificadorTemperatura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entero temperatura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texto categoria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leer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 (temperatura &lt; 0)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"Bajo cero (congelante)"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sino si (temperatura &lt; 15)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"Frío"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sino si (temperatura &lt; 25)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"Templado"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sino si (temperatura &lt; 35)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"Caluroso"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sino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categoria = "Extremadamente caliente"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finsi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imprima("Clasificación: " + categoria)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finalgoritmo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traza — casos de prueba: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65592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8165592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verdadera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930384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9930384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400800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65592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8165592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30384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9930384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cero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6400800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65592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8165592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15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30384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9930384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6400800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65592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8165592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25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930384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9930384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6400800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65592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8165592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&lt; 35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30384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9930384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Caluroso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6400800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65592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5" name="Text 43"/>
          <p:cNvSpPr/>
          <p:nvPr/>
        </p:nvSpPr>
        <p:spPr>
          <a:xfrm>
            <a:off x="8165592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930384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9930384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caliente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4251960"/>
            <a:ext cx="530352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653796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una vez que temperatura &lt; 15 es verdadera (temp=10), el programa ya no evalúa las condiciones siguientes.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 · ERRORES COMUNES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con si / sino si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 — Condiciones con superposición de rangos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6400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5303520" cy="137160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566928" y="2240280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(temperatura &lt; 35) entonces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categoria = "Caluroso"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 si (temperatura &lt; 25) entonces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categoria = "Templado"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&lt; 35 "atrapa" también los valores templados.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&lt; 25 nunca se alcanzará para temp. 20-24.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64008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217920" y="1874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303520" cy="137160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6327648" y="2240280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(temperatura &lt; 25) entonces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categoria = "Templado"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 si (temperatura &lt; 35) entonces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categoria = "Caluroso"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verificar primero el rango más restrictivo (menor valor).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2 — Olvidar el finsi al final de la cadena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1274552" cy="548640"/>
          </a:xfrm>
          <a:prstGeom prst="rect">
            <a:avLst/>
          </a:prstGeom>
          <a:solidFill>
            <a:srgbClr val="FDF2F1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594360" y="470916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LogiCode toda la cadena si/sino si/sino se cierra con UN SOLO finsi al final, no uno por cada sino si.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45720" cy="182880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/ caso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(switch-case)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0" y="2971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Multicondicional por igualdad exacta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III · segun / caso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en LogiCode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303520" cy="326136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50840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 (variable)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caso valor1: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cs typeface="Courier New" pitchFamily="34" charset="-120"/>
              </a:rPr>
              <a:t>salto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caso valor2: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cs typeface="Courier New" pitchFamily="34" charset="-120"/>
              </a:rPr>
              <a:t>salto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caso valor3: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cs typeface="Courier New" pitchFamily="34" charset="-120"/>
              </a:rPr>
              <a:t>salto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otro: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bloque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</a:t>
            </a: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defecto</a:t>
            </a:r>
            <a:endParaRPr lang="en-US" sz="1200" dirty="0">
              <a:solidFill>
                <a:srgbClr val="1B2C5E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1B2C5E"/>
                </a:solidFill>
                <a:latin typeface="Courier New" pitchFamily="34" charset="0"/>
                <a:cs typeface="Courier New" pitchFamily="34" charset="-120"/>
              </a:rPr>
              <a:t>salto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finsegun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importantes: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88366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se compara con cada caso por igualdad exacta (==).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8658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sirve para rangos ni comparaciones (&gt;, &lt;). Para eso usar si/sino si.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88950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otro es opcional, actúa como caso por defecto.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39242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355080" y="333756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cierra con finsegun (no finsi).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895344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6355080" y="384048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enteros y textos (no con reales/decimales).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8724" y="4960620"/>
            <a:ext cx="11274552" cy="59436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 sz="2000"/>
          </a:p>
        </p:txBody>
      </p:sp>
      <p:sp>
        <p:nvSpPr>
          <p:cNvPr id="23" name="Text 21"/>
          <p:cNvSpPr/>
          <p:nvPr/>
        </p:nvSpPr>
        <p:spPr>
          <a:xfrm>
            <a:off x="595884" y="505206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segun es como un menú de opciones — el programa "busca" en la lista cuál caso coincide exactamente con el valor ingresado.</a:t>
            </a:r>
            <a:endParaRPr lang="en-US" sz="14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0D0A4F2B-AEF8-890B-C60C-5A01E81888F3}"/>
              </a:ext>
            </a:extLst>
          </p:cNvPr>
          <p:cNvSpPr/>
          <p:nvPr/>
        </p:nvSpPr>
        <p:spPr>
          <a:xfrm>
            <a:off x="6035040" y="4407408"/>
            <a:ext cx="201168" cy="201168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1FF200BB-2206-47B4-1618-D52E2E13FB5E}"/>
              </a:ext>
            </a:extLst>
          </p:cNvPr>
          <p:cNvSpPr/>
          <p:nvPr/>
        </p:nvSpPr>
        <p:spPr>
          <a:xfrm>
            <a:off x="6355080" y="4352544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al final de </a:t>
            </a:r>
            <a:r>
              <a:rPr lang="en-US" sz="1200" dirty="0" err="1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pasar al </a:t>
            </a:r>
            <a:r>
              <a:rPr lang="en-US" sz="1200" dirty="0" err="1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III · EJEMPLO PRÁCTICO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Nombre del Mes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233172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pide al usuario que ingrese un número del 1 al 12 y muestra el nombre del mes correspondiente.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→ "Enero"   • 2 → "Febrero"   • 3 → "Marzo"   • 4 → "Abril"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→ "Mayo"    • 6 → "Junio"     • 7 → "Julio"    • 8 → "Agosto"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→ "Septiembre"   • 10 → "Octubre"   • 11 → "Noviembre"   • 12 → "Diciembre"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otro número → "Mes inválido"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segun y no si/sino si?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743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217920" y="1874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874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es de igualdad exacta (mes == 1, mes == 2...)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404872"/>
            <a:ext cx="2743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217920" y="240487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40487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rangos ni condiciones lógicas complejas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935224"/>
            <a:ext cx="2743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217920" y="293522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352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queda mucho más limpio y legible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465576"/>
            <a:ext cx="2743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217920" y="346557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6557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si/sino si necesitaríamos 12 condiciones individuales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3566160" cy="6400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566928" y="43434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4599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(entero, 1 al 12)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4297680"/>
            <a:ext cx="3566160" cy="6400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4315968" y="43434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15968" y="4599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exacta con 12 posibles valores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4297680"/>
            <a:ext cx="3566160" cy="6400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8065008" y="43434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65008" y="4599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mes (texto)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III · ALGORITMO EN LOGICODE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Mes — Algoritmo Completo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489204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66928" y="1508760"/>
            <a:ext cx="5266944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NombreMes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entero mes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texto nombre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imprima("Ingrese el número del mes (1-12): ")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leer(mes)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segun (mes)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1: 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Enero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2: 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Febrero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3:  nombre = "Marzo“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4:  nombre = "Abril“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5:  nombre = "Mayo“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6:  nombre = "Junio“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7:  nombre = "Julio“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8:  nombre = "Agosto“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9: 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Septiembre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10: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Octubre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11: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Noviembre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caso 12: nombre = "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Diciembre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 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finsegun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imprima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 err="1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escritorio: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82712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7982712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que coincide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747504" y="1828800"/>
            <a:ext cx="1764792" cy="347472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9747504" y="18288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217920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82712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7982712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47504" y="2176272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9747504" y="2176272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6217920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82712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7982712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47504" y="2569464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9747504" y="2569464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6217920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82712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7982712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47504" y="2962656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9747504" y="2962656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6217920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82712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7982712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47504" y="3355848"/>
            <a:ext cx="1764792" cy="393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1" name="Text 39"/>
          <p:cNvSpPr/>
          <p:nvPr/>
        </p:nvSpPr>
        <p:spPr>
          <a:xfrm>
            <a:off x="9747504" y="3355848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inválido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3" name="Text 41"/>
          <p:cNvSpPr/>
          <p:nvPr/>
        </p:nvSpPr>
        <p:spPr>
          <a:xfrm>
            <a:off x="6217920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82712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5" name="Text 43"/>
          <p:cNvSpPr/>
          <p:nvPr/>
        </p:nvSpPr>
        <p:spPr>
          <a:xfrm>
            <a:off x="7982712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47504" y="3749040"/>
            <a:ext cx="176479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9747504" y="3749040"/>
            <a:ext cx="1764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inválido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251960"/>
            <a:ext cx="5303520" cy="6400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635508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mes=0 o mes=15, ningún caso coincide → se ejecuta el bloque otro automáticamente.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45720" cy="182880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entre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estructuras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0" y="2971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una?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IV · COMPARATIVA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 si  vs  segun / caso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200400" cy="384048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463040"/>
            <a:ext cx="3749040" cy="384048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84048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 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749040" cy="384048"/>
          </a:xfrm>
          <a:prstGeom prst="rect">
            <a:avLst/>
          </a:prstGeom>
          <a:solidFill>
            <a:srgbClr val="1B2C5E"/>
          </a:solidFill>
          <a:ln w="12700">
            <a:solidFill>
              <a:srgbClr val="1B2C5E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786384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 / caso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84708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30352" y="1847088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condición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847088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3913632" y="184708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Rangos, lógica compleja (&gt;, &lt;, &amp;&amp;, ||)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1847088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7936992" y="184708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exacta (==) solamente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22576"/>
            <a:ext cx="320040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530352" y="2322576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válidas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2322576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3913632" y="232257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Enteros, reales, texto, booleanos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2322576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7936992" y="232257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enteros y texto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798064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530352" y="2798064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798064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3913632" y="279806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cualquier expresión lógica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2798064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7936992" y="279806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— solo comparación ==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273552"/>
            <a:ext cx="320040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530352" y="3273552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273552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3913632" y="327355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volverse difícil con muchos casos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3273552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7936992" y="327355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clara cuando hay muchos valores exactos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530352" y="3749040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37490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3913632" y="374904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63840" y="37490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7936992" y="374904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finsegun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224528"/>
            <a:ext cx="320040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/>
          <p:cNvSpPr/>
          <p:nvPr/>
        </p:nvSpPr>
        <p:spPr>
          <a:xfrm>
            <a:off x="530352" y="4224528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por defecto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0" y="4224528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3913632" y="422452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863840" y="4224528"/>
            <a:ext cx="3749040" cy="4754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0" name="Text 48"/>
          <p:cNvSpPr/>
          <p:nvPr/>
        </p:nvSpPr>
        <p:spPr>
          <a:xfrm>
            <a:off x="7936992" y="422452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7000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530352" y="4700016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típico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0" y="4700016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3913632" y="470001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por rango de edad, notas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863840" y="4700016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Text 54"/>
          <p:cNvSpPr/>
          <p:nvPr/>
        </p:nvSpPr>
        <p:spPr>
          <a:xfrm>
            <a:off x="7936992" y="470001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opciones, nombre de días/meses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212080"/>
            <a:ext cx="11274552" cy="59436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8" name="Text 56"/>
          <p:cNvSpPr/>
          <p:nvPr/>
        </p:nvSpPr>
        <p:spPr>
          <a:xfrm>
            <a:off x="594360" y="530352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necesitas comparar con valores exactos (1, 2, 3... o "rojo", "azul"...) → segun. Si necesitas rangos o lógica compleja → si/sino si.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243770"/>
          </a:solidFill>
          <a:ln w="12700">
            <a:solidFill>
              <a:srgbClr val="24377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4A7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206240" y="1920240"/>
            <a:ext cx="45720" cy="1828800"/>
          </a:xfrm>
          <a:prstGeom prst="rect">
            <a:avLst/>
          </a:prstGeom>
          <a:solidFill>
            <a:srgbClr val="4A72E8"/>
          </a:solidFill>
          <a:ln w="12700">
            <a:solidFill>
              <a:srgbClr val="4A72E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0" y="2971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lo aprendido en LogiCode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www.itm.edu.co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V · EJERCICIO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Calculadora de IMC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24688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Masa Corporal (IMC) clasifica el estado nutricional de una persona.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IMC = peso / (altura * altura)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según la OMS: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IMC &lt; 18.5  →  "Bajo peso"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IMC entre 18.5 y 24.9  →  "Peso normal"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IMC entre 25.0 y 29.9  →  "Sobrepeso"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IMC &gt;= 30  →  "Obesidad"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92608" cy="38404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1968" y="18288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peso en kilogramos (real) y altura en metros (real).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359152"/>
            <a:ext cx="292608" cy="38404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217920" y="2359152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235915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IMC con la fórmula.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889504"/>
            <a:ext cx="292608" cy="38404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217920" y="2889504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01968" y="288950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si/sino si para clasificar el resultado.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419856"/>
            <a:ext cx="292608" cy="384048"/>
          </a:xfrm>
          <a:prstGeom prst="rect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217920" y="341985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1968" y="341985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IMC calculado y la categoría.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necesarias: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407408"/>
            <a:ext cx="5303520" cy="68580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566928" y="4498848"/>
            <a:ext cx="5084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peso, altura, imc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clasificacion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4407408"/>
            <a:ext cx="5303520" cy="68580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6327648" y="4498848"/>
            <a:ext cx="5084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peso=70, altura=1.75 → IMC=22.86 → Peso normal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peso=90, altura=1.70 → IMC=31.14 → Obesidad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V · EJERCICIO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2: Día de la Semana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246888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categoriza los días de trabajo según el número del día: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→ "Lunes"       • 2 → "Martes"      • 3 → "Miércoles"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→ "Jueves"      • 5 → "Viernes"     • 6 → "Sábado"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→ "Domingo"     • Otro → "Día inválido"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debe indicar si es día laboral (1-5) o día de descanso (6-7).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— estructura sugerida: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393192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327648" y="1920240"/>
            <a:ext cx="508406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entero dia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nombreDia, tipoDia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leer(dia)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 1: nombre con segun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 (dia)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caso 1: nombreDia = "Lunes"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caso 2: nombreDia = "Martes"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...hasta caso 7...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otro: nombreDia = "Inválido"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finsegun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 2: clasificar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(dia &gt;= 1 y dia &lt;= 5) entonces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tipoDia = "Día laboral"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 si (dia &gt;= 6 y dia &lt;= 7) entonces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tipoDia = "Día de descanso"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tipoDia = "Inválido"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ejercicio combina segun para el nombre y si/sino si para la categoría.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274552" cy="566928"/>
          </a:xfrm>
          <a:prstGeom prst="rect">
            <a:avLst/>
          </a:prstGeom>
          <a:solidFill>
            <a:srgbClr val="FEF5EE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85800" y="5943600"/>
            <a:ext cx="110002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adicional: mostrar si el día cae en semana, fin de semana, o fue ingresado incorrectamente.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0" y="45720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· Lógica de Programación y Laboratorio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11457432" cy="22860"/>
          </a:xfrm>
          <a:prstGeom prst="rect">
            <a:avLst/>
          </a:prstGeom>
          <a:solidFill>
            <a:srgbClr val="C8D5F0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1371600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V · EJERCICIO 3 (RETO)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-822960" y="-82296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11247120" y="5760720"/>
            <a:ext cx="1463040" cy="1463040"/>
          </a:xfrm>
          <a:prstGeom prst="ellipse">
            <a:avLst/>
          </a:prstGeom>
          <a:solidFill>
            <a:srgbClr val="E4ECFB"/>
          </a:solidFill>
          <a:ln w="12700">
            <a:solidFill>
              <a:srgbClr val="E4ECF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Sistema de Calificaciones con Letras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2834640"/>
          </a:xfrm>
          <a:prstGeom prst="rect">
            <a:avLst/>
          </a:prstGeom>
          <a:solidFill>
            <a:srgbClr val="EBF0FB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universidad usa la siguiente escala de calificaciones: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4.5 a 5.0  →  Letra "A"  (Excelente)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4.0 a 4.4  →  Letra "B"  (Sobresaliente)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3.5 a 3.9  →  Letra "C"  (Bueno)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3.0 a 3.4  →  Letra "D"  (Aceptable)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Menos de 3.0  →  Letra "F"  (Reprobado)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debe pedir tres notas, calcular el promedio y mostrar la letra correspondiente.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programa: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182880" cy="182880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510528" y="1874520"/>
            <a:ext cx="5010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tres variables reales para las notas.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441448"/>
            <a:ext cx="182880" cy="182880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6510528" y="2350008"/>
            <a:ext cx="5010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promedio: (nota1 + nota2 + nota3) /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16936"/>
            <a:ext cx="182880" cy="182880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6510528" y="2825496"/>
            <a:ext cx="5010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si/sino si para determinar la letra.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392424"/>
            <a:ext cx="182880" cy="182880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510528" y="3300984"/>
            <a:ext cx="5010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las notas estén entre 0.0 y 5.0 (extra).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67912"/>
            <a:ext cx="182880" cy="182880"/>
          </a:xfrm>
          <a:prstGeom prst="ellipse">
            <a:avLst/>
          </a:prstGeom>
          <a:solidFill>
            <a:srgbClr val="2E5BCC"/>
          </a:solidFill>
          <a:ln w="12700">
            <a:solidFill>
              <a:srgbClr val="2E5BC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6510528" y="3776472"/>
            <a:ext cx="5010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promedio y la letra al final.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esperados: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791456"/>
            <a:ext cx="11274552" cy="1005840"/>
          </a:xfrm>
          <a:prstGeom prst="rect">
            <a:avLst/>
          </a:prstGeom>
          <a:solidFill>
            <a:srgbClr val="F0F3FA"/>
          </a:solidFill>
          <a:ln w="12700">
            <a:solidFill>
              <a:srgbClr val="C8D5F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566928" y="4882896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nota1=4.8, nota2=4.6, nota3=4.9  →  promedio=4.77  →  Letra "A"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nota1=3.2, nota2=2.8, nota3=3.5  →  promedio=3.17  →  Letra "D"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nota1=2.0, nota2=1.5, nota3=2.5  →  promedio=2.00  →  Letra "F"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2324</Words>
  <Application>Microsoft Office PowerPoint</Application>
  <PresentationFormat>Widescreen</PresentationFormat>
  <Paragraphs>402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SEBASTIAN MONTOYA VILLADA</cp:lastModifiedBy>
  <cp:revision>3</cp:revision>
  <dcterms:created xsi:type="dcterms:W3CDTF">2026-03-16T00:46:55Z</dcterms:created>
  <dcterms:modified xsi:type="dcterms:W3CDTF">2026-03-16T03:59:01Z</dcterms:modified>
</cp:coreProperties>
</file>