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75" r:id="rId25"/>
  </p:sldIdLst>
  <p:sldSz cx="12192000" cy="6858000"/>
  <p:notesSz cx="6858000" cy="9144000"/>
  <p:embeddedFontLst>
    <p:embeddedFont>
      <p:font typeface="Merriweather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F8ADF7-43CA-4545-AE77-23036E12CC2E}">
  <a:tblStyle styleId="{FFF8ADF7-43CA-4545-AE77-23036E12CC2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529262" y="2623244"/>
            <a:ext cx="11334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SESIÓN 11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60383" y="3147119"/>
            <a:ext cx="9871233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Expansión Lógica y Sintaxis en Java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86075" y="3929955"/>
            <a:ext cx="6419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 las tablas de verdad a la programación profesional orientada a objetos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562600" y="2490787"/>
            <a:ext cx="125095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MÓDULO 1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1765458" y="3014662"/>
            <a:ext cx="866108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8B5CF6"/>
                </a:solidFill>
                <a:latin typeface="Merriweather"/>
                <a:ea typeface="Merriweather"/>
                <a:cs typeface="Merriweather"/>
                <a:sym typeface="Merriweather"/>
              </a:rPr>
              <a:t>Profundizando en la Lógica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905125" y="3967162"/>
            <a:ext cx="63817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Dominando las Tablas de Verdad y el Comportamiento Binario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147887"/>
            <a:ext cx="5334000" cy="315753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Recordemos: La Necesidad de Unir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1381125"/>
            <a:ext cx="110490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Los operadores relacionales (&gt;, &lt;, ==) nos permiten hacer una sola pregunta a la vez (Ej: ¿Es mayor de edad?). Pero el mundo real es más complejo.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285875" y="2300287"/>
            <a:ext cx="46196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Múltiples Reglas: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Para otorgar un préstamo, un banco no solo mira tu edad. Mira tu edad, tu salario, y tu historial crediticio.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285875" y="3300412"/>
            <a:ext cx="46196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El Rol de los Operadores Lógicos: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Son el "pegamento" que une múltiples condiciones simples en una sola gran evaluación final.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285875" y="4300537"/>
            <a:ext cx="4619625" cy="862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El Resultado Final: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Sin importar cuántas condiciones unas, el resultado final siempre será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 SOLO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valor verdadero o falso.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534150" y="2395537"/>
            <a:ext cx="508063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Los 3 Operadores Fundamentales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534150" y="2833687"/>
            <a:ext cx="4838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AND ( Y 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El operador estricto.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534150" y="3309937"/>
            <a:ext cx="4838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OR ( O 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El operador permisivo.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534150" y="3786187"/>
            <a:ext cx="4838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NOT ( NO 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El operador inversor.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534150" y="4262437"/>
            <a:ext cx="483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Vamos a diseccionar cada uno para entender matemáticamente cómo decide la computadora.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3526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352800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352925"/>
            <a:ext cx="2190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Análisis Profundo: Operador AND ( Y )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2262187"/>
            <a:ext cx="5029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TODO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3167062"/>
            <a:ext cx="5029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O NADA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286500" y="1190625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8B5CF6"/>
                </a:solidFill>
                <a:latin typeface="Merriweather"/>
                <a:ea typeface="Merriweather"/>
                <a:cs typeface="Merriweather"/>
                <a:sym typeface="Merriweather"/>
              </a:rPr>
              <a:t>El Nivel Máximo de Exigencia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286500" y="183832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operador AND requiere que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absolutamente todas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las condiciones que une sean verdaderas.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286500" y="298132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 tienes 99 condiciones verdaderas y tan solo 1 es falsa, el resultado global será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falso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286500" y="374332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Ejemplo Cotidiano: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Para que inicies sesión en tu correo, el usuario debe ser correcto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la contraseña debe ser correcta.</a:t>
            </a:r>
            <a:endParaRPr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3790950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Tabla de Verdad: AND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13811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Una tabla de verdad mapea todos los escenarios posibles. Observa cómo la falsedad domina al operador AND.</a:t>
            </a:r>
            <a:endParaRPr/>
          </a:p>
        </p:txBody>
      </p:sp>
      <p:graphicFrame>
        <p:nvGraphicFramePr>
          <p:cNvPr id="138" name="Google Shape;138;p17"/>
          <p:cNvGraphicFramePr/>
          <p:nvPr/>
        </p:nvGraphicFramePr>
        <p:xfrm>
          <a:off x="571500" y="1857375"/>
          <a:ext cx="11049000" cy="2619375"/>
        </p:xfrm>
        <a:graphic>
          <a:graphicData uri="http://schemas.openxmlformats.org/drawingml/2006/table">
            <a:tbl>
              <a:tblPr firstRow="1" bandRow="1">
                <a:noFill/>
                <a:tableStyleId>{FFF8ADF7-43CA-4545-AE77-23036E12CC2E}</a:tableStyleId>
              </a:tblPr>
              <a:tblGrid>
                <a:gridCol w="375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Condición 1 (Ej: Usuario Ok)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Condición 2 (Ej: Clave Ok)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Resultado Final (AND)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Verdadero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Verdadero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Verdadero</a:t>
                      </a:r>
                      <a:r>
                        <a:rPr lang="en-US" sz="1500" b="0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(Entras al correo)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Verdadero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Falso</a:t>
                      </a:r>
                      <a:r>
                        <a:rPr lang="en-US" sz="1500" b="0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(Falla la clave, no entras)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Verdadero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Falso</a:t>
                      </a:r>
                      <a:r>
                        <a:rPr lang="en-US" sz="1500" b="0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(Falla el usuario, no entras)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Falso</a:t>
                      </a:r>
                      <a:r>
                        <a:rPr lang="en-US" sz="1500" b="0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(Nada coincide)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9" name="Google Shape;139;p17"/>
          <p:cNvSpPr/>
          <p:nvPr/>
        </p:nvSpPr>
        <p:spPr>
          <a:xfrm>
            <a:off x="571500" y="2366962"/>
            <a:ext cx="375657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4328070" y="2366962"/>
            <a:ext cx="351100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7839075" y="2366962"/>
            <a:ext cx="37814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71500" y="2890837"/>
            <a:ext cx="375657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4328070" y="2890837"/>
            <a:ext cx="351100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7839075" y="2890837"/>
            <a:ext cx="37814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71500" y="3414712"/>
            <a:ext cx="375657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4328070" y="3414712"/>
            <a:ext cx="351100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7839075" y="3414712"/>
            <a:ext cx="37814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3938587"/>
            <a:ext cx="375657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328070" y="3938587"/>
            <a:ext cx="351100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7839075" y="3938587"/>
            <a:ext cx="37814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71500" y="4462462"/>
            <a:ext cx="375657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4328070" y="4462462"/>
            <a:ext cx="351100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839075" y="4462462"/>
            <a:ext cx="37814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Análisis Profundo: Operador OR ( O )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2262187"/>
            <a:ext cx="5029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AL MENOS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3167062"/>
            <a:ext cx="5029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UNO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286500" y="1190625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8B5CF6"/>
                </a:solidFill>
                <a:latin typeface="Merriweather"/>
                <a:ea typeface="Merriweather"/>
                <a:cs typeface="Merriweather"/>
                <a:sym typeface="Merriweather"/>
              </a:rPr>
              <a:t>Flexibilidad en las Opciones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286500" y="183832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operador OR es indulgente. Solo necesita encontrar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una sola condición verdadera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para aprobar todo el bloque.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286500" y="298132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 única forma de que un bloque OR falle, es que absolutamente todas las opciones sean falsas.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286500" y="374332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Ejemplo Cotidiano: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El Éxito acepta tu pago si pagas con Efectivo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con Tarjeta de Crédito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con Puntos Colombia.</a:t>
            </a:r>
            <a:endParaRPr/>
          </a:p>
        </p:txBody>
      </p:sp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3790950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Tabla de Verdad: OR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13811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Observa cómo la verdad domina al operador OR. Con un solo "verdadero", el resultado final se vuelve verdadero.</a:t>
            </a:r>
            <a:endParaRPr/>
          </a:p>
        </p:txBody>
      </p:sp>
      <p:graphicFrame>
        <p:nvGraphicFramePr>
          <p:cNvPr id="176" name="Google Shape;176;p19"/>
          <p:cNvGraphicFramePr/>
          <p:nvPr/>
        </p:nvGraphicFramePr>
        <p:xfrm>
          <a:off x="571500" y="1857375"/>
          <a:ext cx="11048975" cy="2619375"/>
        </p:xfrm>
        <a:graphic>
          <a:graphicData uri="http://schemas.openxmlformats.org/drawingml/2006/table">
            <a:tbl>
              <a:tblPr firstRow="1" bandRow="1">
                <a:noFill/>
                <a:tableStyleId>{FFF8ADF7-43CA-4545-AE77-23036E12CC2E}</a:tableStyleId>
              </a:tblPr>
              <a:tblGrid>
                <a:gridCol w="32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Condición 1 (Ej: Efectivo)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Condición 2 (Ej: Tarjeta)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Resultado Final (OR)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Verdadero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Verdadero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Verdadero</a:t>
                      </a:r>
                      <a:r>
                        <a:rPr lang="en-US" sz="1500" b="0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(Tienes ambos, puedes pagar)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Verdadero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Verdadero</a:t>
                      </a:r>
                      <a:r>
                        <a:rPr lang="en-US" sz="1500" b="0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(Pagas con efectivo)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Verdadero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Verdadero</a:t>
                      </a:r>
                      <a:r>
                        <a:rPr lang="en-US" sz="1500" b="0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(Pagas con tarjeta)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Falso</a:t>
                      </a:r>
                      <a:r>
                        <a:rPr lang="en-US" sz="1500" b="0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(No tienes ninguno, no compras)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7" name="Google Shape;177;p19"/>
          <p:cNvSpPr/>
          <p:nvPr/>
        </p:nvSpPr>
        <p:spPr>
          <a:xfrm>
            <a:off x="571500" y="2366962"/>
            <a:ext cx="32861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3857625" y="2366962"/>
            <a:ext cx="32146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7072312" y="2366962"/>
            <a:ext cx="45481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71500" y="2890837"/>
            <a:ext cx="32861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3857625" y="2890837"/>
            <a:ext cx="32146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7072312" y="2890837"/>
            <a:ext cx="45481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71500" y="3414712"/>
            <a:ext cx="32861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3857625" y="3414712"/>
            <a:ext cx="32146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7072312" y="3414712"/>
            <a:ext cx="45481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71500" y="3938587"/>
            <a:ext cx="32861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3857625" y="3938587"/>
            <a:ext cx="32146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7072312" y="3938587"/>
            <a:ext cx="45481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71500" y="4462462"/>
            <a:ext cx="32861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857625" y="4462462"/>
            <a:ext cx="32146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7072312" y="4462462"/>
            <a:ext cx="45481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1" y="2308225"/>
            <a:ext cx="5405437" cy="372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3" y="2308225"/>
            <a:ext cx="5405437" cy="372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Análisis Profundo: Operador NOT ( NO )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13811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diferencia de AND y OR que unen dos piezas, el operador NOT (Inversor) actúa sobre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una sola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pieza de información para invertir su valor.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19151" y="2555875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8B5CF6"/>
                </a:solidFill>
                <a:latin typeface="Merriweather"/>
                <a:ea typeface="Merriweather"/>
                <a:cs typeface="Merriweather"/>
                <a:sym typeface="Merriweather"/>
              </a:rPr>
              <a:t>El Efecto Espejo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819151" y="3203575"/>
            <a:ext cx="4910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 que era verdadero se convierte en falso.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19151" y="3875087"/>
            <a:ext cx="4910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 que era falso se convierte en verdadero.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19151" y="4498975"/>
            <a:ext cx="491013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Parece un juego de palabras, pero es vital cuando es más fácil validar "lo que no queremos" que "lo que sí queremos".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462713" y="2555875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8B5CF6"/>
                </a:solidFill>
                <a:latin typeface="Merriweather"/>
                <a:ea typeface="Merriweather"/>
                <a:cs typeface="Merriweather"/>
                <a:sym typeface="Merriweather"/>
              </a:rPr>
              <a:t>Ejemplo de Negocio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462713" y="3203575"/>
            <a:ext cx="491013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Imagina que tienes una variable boleana: cuentaBloqueada = falso (El usuario es un buen cliente).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462713" y="4117975"/>
            <a:ext cx="491013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Para dejarlo entrar, la condición lógica diría: Permitir acceso si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está bloqueada.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462713" y="5022850"/>
            <a:ext cx="49101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NO (cuentaBloqueada) → Invierte falso a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verdadero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¡Entra!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90625"/>
            <a:ext cx="5405437" cy="5395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1190625"/>
            <a:ext cx="5405437" cy="539591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Pausa Activa: Tu Turno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2250" y="4953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819150" y="1485900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Ejercicio 1: Pico y Placa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19150" y="2133600"/>
            <a:ext cx="491013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 Medellín, las cámaras de fotomulta validan si te deben infraccionar.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19150" y="299085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Las variables actuales para un conductor son: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819150" y="4729162"/>
            <a:ext cx="4910137" cy="1905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819150" y="5081587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Evalúa la multa (¿Verdadero o Falso?):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19150" y="5653087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Multa = (esDiaPicoYPlaca AND placaCoincide) AND (NOT esVehiculoElectrico)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462712" y="3574256"/>
            <a:ext cx="491013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Resuélvelo paso a paso. Primero los paréntesis internos, tal como en matemáticas básicas.</a:t>
            </a:r>
            <a:endParaRPr/>
          </a:p>
        </p:txBody>
      </p:sp>
      <p:pic>
        <p:nvPicPr>
          <p:cNvPr id="227" name="Google Shape;22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52400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1143000" y="3562350"/>
            <a:ext cx="571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200150" y="3562350"/>
            <a:ext cx="4529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esDiaPicoYPlaca = verdadero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143000" y="3852862"/>
            <a:ext cx="571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200150" y="3852862"/>
            <a:ext cx="4529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placaCoincide = falso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1143000" y="4143375"/>
            <a:ext cx="571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1200150" y="4143375"/>
            <a:ext cx="4529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esVehiculoElectrico = verdadero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143125"/>
            <a:ext cx="53340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Un Secreto del Sistema: El Cortocircuito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571500" y="1381125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Los lenguajes de programación modernos (como Java) son muy inteligentes. Para ahorrar procesamiento, realizan algo llamado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"Evaluación en Cortocircuito"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1285875" y="2295525"/>
            <a:ext cx="46196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 un AND: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Si la máquina evalúa la primera condición y es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Falsa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el programa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ya no lee el resto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Sabe que es imposible que el resultado sea verdadero (TODO o NADA). "Corta" el circuito.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1285875" y="3581400"/>
            <a:ext cx="46196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 un OR: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Si la máquina evalúa la primera condición y es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Verdadera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ya no lee el resto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Sabe que el resultado ya será verdadero (AL MENOS UNO).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534150" y="2390775"/>
            <a:ext cx="508063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¿Por qué importa?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534150" y="2828925"/>
            <a:ext cx="48387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Esto previene errores fatales. Si tienes: (Usuario Existe) AND (Clave es correcta).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534150" y="3600450"/>
            <a:ext cx="4838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 el usuario no existe (falso), el sistema se detiene y no intenta buscar la clave de un fantasma (lo cual causaría que la aplicación colapse).</a:t>
            </a:r>
            <a:endParaRPr/>
          </a:p>
        </p:txBody>
      </p:sp>
      <p:pic>
        <p:nvPicPr>
          <p:cNvPr id="248" name="Google Shape;24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34791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633787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5562600" y="2490787"/>
            <a:ext cx="10668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MÓDULO 2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3000613" y="3014662"/>
            <a:ext cx="6190773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8B5CF6"/>
                </a:solidFill>
                <a:latin typeface="Merriweather"/>
                <a:ea typeface="Merriweather"/>
                <a:cs typeface="Merriweather"/>
                <a:sym typeface="Merriweather"/>
              </a:rPr>
              <a:t>Aterrizando en Java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3481387" y="3967162"/>
            <a:ext cx="52292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Dejando el Pseudocódigo para escribir sintaxis real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90750"/>
            <a:ext cx="5405437" cy="2776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2190750"/>
            <a:ext cx="5405437" cy="2776537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La Transición: Valores de Verdad</a:t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571500" y="1381125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primer paso para programar lógica en Java es dejar de lado las palabras de Logicode y adoptar las palabras reservadas del lenguaje universal.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819150" y="2438400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En Pseudocódigo (Logicode)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6462712" y="2438400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8B5CF6"/>
                </a:solidFill>
                <a:latin typeface="Merriweather"/>
                <a:ea typeface="Merriweather"/>
                <a:cs typeface="Merriweather"/>
                <a:sym typeface="Merriweather"/>
              </a:rPr>
              <a:t>En Java Real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819150" y="3276600"/>
            <a:ext cx="4910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Tipo de dato: boleano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819150" y="3757612"/>
            <a:ext cx="4910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Valor 1: verdadero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819150" y="4238625"/>
            <a:ext cx="4910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Valor 2: falso</a:t>
            </a:r>
            <a:endParaRPr/>
          </a:p>
        </p:txBody>
      </p:sp>
      <p:pic>
        <p:nvPicPr>
          <p:cNvPr id="273" name="Google Shape;27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2712" y="2476500"/>
            <a:ext cx="1905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6462712" y="3276600"/>
            <a:ext cx="4910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Tipo de dato: boolean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6462712" y="3757612"/>
            <a:ext cx="4910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Valor 1: true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6462712" y="4238625"/>
            <a:ext cx="4910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Valor 2: false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Operadores Relacionales en Java</a:t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 txBox="1"/>
          <p:nvPr/>
        </p:nvSpPr>
        <p:spPr>
          <a:xfrm>
            <a:off x="571500" y="1381125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Afortunadamente, las matemáticas son universales. La mayoría de los operadores relacionales que usaste en Logicode son exactamente iguales en Java.</a:t>
            </a:r>
            <a:endParaRPr/>
          </a:p>
        </p:txBody>
      </p:sp>
      <p:graphicFrame>
        <p:nvGraphicFramePr>
          <p:cNvPr id="285" name="Google Shape;285;p25"/>
          <p:cNvGraphicFramePr/>
          <p:nvPr/>
        </p:nvGraphicFramePr>
        <p:xfrm>
          <a:off x="571500" y="2095500"/>
          <a:ext cx="11049025" cy="2638375"/>
        </p:xfrm>
        <a:graphic>
          <a:graphicData uri="http://schemas.openxmlformats.org/drawingml/2006/table">
            <a:tbl>
              <a:tblPr firstRow="1" bandRow="1">
                <a:noFill/>
                <a:tableStyleId>{FFF8ADF7-43CA-4545-AE77-23036E12CC2E}</a:tableStyleId>
              </a:tblPr>
              <a:tblGrid>
                <a:gridCol w="477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Significado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Símbolo en Java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Ejemplo Real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Menor que / Mayor que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 y &gt;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edad &gt; 18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Menor o igual / Mayor o igual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&lt;= y &gt;=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saldo &gt;= 3280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Igualdad (Comparación)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8B5C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==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clave == 1234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Diferente que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8B5C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!=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 != 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6" name="Google Shape;286;p25"/>
          <p:cNvSpPr/>
          <p:nvPr/>
        </p:nvSpPr>
        <p:spPr>
          <a:xfrm>
            <a:off x="571500" y="2605087"/>
            <a:ext cx="477931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5350817" y="2605087"/>
            <a:ext cx="331544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8666261" y="2605087"/>
            <a:ext cx="295423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71500" y="3133725"/>
            <a:ext cx="477931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350817" y="3133725"/>
            <a:ext cx="331544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8666261" y="3133725"/>
            <a:ext cx="295423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71500" y="3662362"/>
            <a:ext cx="477931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350817" y="3662362"/>
            <a:ext cx="331544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8666261" y="3662362"/>
            <a:ext cx="295423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71500" y="4191000"/>
            <a:ext cx="477931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5350817" y="4191000"/>
            <a:ext cx="331544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8666261" y="4191000"/>
            <a:ext cx="295423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571500" y="4719637"/>
            <a:ext cx="477931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350817" y="4719637"/>
            <a:ext cx="331544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8666261" y="4719637"/>
            <a:ext cx="295423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143125"/>
            <a:ext cx="5334000" cy="279558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El Error del Novato: = vs ==</a:t>
            </a: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571500" y="1381125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Este es, estadísticamente, el error de sintaxis número uno de los programadores principiantes en Java. Debes grabar esta regla a fuego en tu mente: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1285875" y="2295525"/>
            <a:ext cx="4619625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 solo igual ( = ) es para ASIGNAR.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Toma el valor de la derecha y lo guarda en la variable de la izquierda. Es una orden, no una pregunta.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Ej: int edad = 18; (Guarda un 18 en la caja "edad").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1285875" y="3638550"/>
            <a:ext cx="4619625" cy="115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Dos iguales ( == ) es para COMPARAR.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Es una pregunta a la máquina.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Ej: edad == 18 (Pregunta: ¿Lo que hay en la caja es igual a 18?). Retorna true o false.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6534150" y="2390775"/>
            <a:ext cx="508063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C2626"/>
                </a:solidFill>
                <a:latin typeface="Merriweather"/>
                <a:ea typeface="Merriweather"/>
                <a:cs typeface="Merriweather"/>
                <a:sym typeface="Merriweather"/>
              </a:rPr>
              <a:t>Alerta en Java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6534150" y="2828925"/>
            <a:ext cx="4838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 intentas comparar variables usando un solo igual dentro de una condición lógica en Java, el compilador lanzará un error y el programa no se ejecutará.</a:t>
            </a:r>
            <a:endParaRPr/>
          </a:p>
        </p:txBody>
      </p:sp>
      <p:pic>
        <p:nvPicPr>
          <p:cNvPr id="314" name="Google Shape;31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34791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690937"/>
            <a:ext cx="2190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Símbolos Lógicos en Java</a:t>
            </a:r>
            <a:endParaRPr/>
          </a:p>
        </p:txBody>
      </p:sp>
      <p:sp>
        <p:nvSpPr>
          <p:cNvPr id="322" name="Google Shape;322;p27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571500" y="1381125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 Java no escribimos las palabras "AND" o "OR". Usamos símbolos específicos derivados del lenguaje C. Esto es el estándar de la industria.</a:t>
            </a:r>
            <a:endParaRPr/>
          </a:p>
        </p:txBody>
      </p:sp>
      <p:graphicFrame>
        <p:nvGraphicFramePr>
          <p:cNvPr id="324" name="Google Shape;324;p27"/>
          <p:cNvGraphicFramePr/>
          <p:nvPr/>
        </p:nvGraphicFramePr>
        <p:xfrm>
          <a:off x="571500" y="2143125"/>
          <a:ext cx="11048975" cy="2781300"/>
        </p:xfrm>
        <a:graphic>
          <a:graphicData uri="http://schemas.openxmlformats.org/drawingml/2006/table">
            <a:tbl>
              <a:tblPr firstRow="1" bandRow="1">
                <a:noFill/>
                <a:tableStyleId>{FFF8ADF7-43CA-4545-AE77-23036E12CC2E}</a:tableStyleId>
              </a:tblPr>
              <a:tblGrid>
                <a:gridCol w="183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Operador Lógico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Logicode / Español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Símbolo en Java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¿Cómo se escribe en teclado?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596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&amp;&amp;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Doble Ampersand (Shift + 6 en mayoría de teclados)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||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Doble Pipe (Barra vertical, suele estar junto al 1 o debajo de Esc)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C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!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Signo de Exclamación (Cierre)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5" name="Google Shape;325;p27"/>
          <p:cNvSpPr/>
          <p:nvPr/>
        </p:nvSpPr>
        <p:spPr>
          <a:xfrm>
            <a:off x="571500" y="2938462"/>
            <a:ext cx="183772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2409229" y="2938462"/>
            <a:ext cx="206260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4471838" y="2938462"/>
            <a:ext cx="177998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6251823" y="2938462"/>
            <a:ext cx="536867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571500" y="3519487"/>
            <a:ext cx="183772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2409229" y="3519487"/>
            <a:ext cx="206260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4471838" y="3519487"/>
            <a:ext cx="177998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7"/>
          <p:cNvSpPr/>
          <p:nvPr/>
        </p:nvSpPr>
        <p:spPr>
          <a:xfrm>
            <a:off x="6251823" y="3519487"/>
            <a:ext cx="536867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571500" y="4329112"/>
            <a:ext cx="183772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2409229" y="4329112"/>
            <a:ext cx="206260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7"/>
          <p:cNvSpPr/>
          <p:nvPr/>
        </p:nvSpPr>
        <p:spPr>
          <a:xfrm>
            <a:off x="4471838" y="4329112"/>
            <a:ext cx="177998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6251823" y="4329112"/>
            <a:ext cx="536867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571500" y="4910137"/>
            <a:ext cx="183772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2409229" y="4910137"/>
            <a:ext cx="206260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4471838" y="4910137"/>
            <a:ext cx="177998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6251823" y="4910137"/>
            <a:ext cx="536867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1" y="2225675"/>
            <a:ext cx="5405437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3" y="2225675"/>
            <a:ext cx="5405437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Construyendo la Expresión en Java</a:t>
            </a:r>
            <a:endParaRPr/>
          </a:p>
        </p:txBody>
      </p:sp>
      <p:sp>
        <p:nvSpPr>
          <p:cNvPr id="349" name="Google Shape;349;p28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 txBox="1"/>
          <p:nvPr/>
        </p:nvSpPr>
        <p:spPr>
          <a:xfrm>
            <a:off x="571500" y="13811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Al igual que en matemáticas tenemos la precedencia (primero multiplicar, luego sumar), en lógica también existe un orden de evaluación.</a:t>
            </a:r>
            <a:endParaRPr/>
          </a:p>
        </p:txBody>
      </p:sp>
      <p:sp>
        <p:nvSpPr>
          <p:cNvPr id="351" name="Google Shape;351;p28"/>
          <p:cNvSpPr txBox="1"/>
          <p:nvPr/>
        </p:nvSpPr>
        <p:spPr>
          <a:xfrm>
            <a:off x="819151" y="2473325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8B5CF6"/>
                </a:solidFill>
                <a:latin typeface="Merriweather"/>
                <a:ea typeface="Merriweather"/>
                <a:cs typeface="Merriweather"/>
                <a:sym typeface="Merriweather"/>
              </a:rPr>
              <a:t>Jerarquía de Operadores</a:t>
            </a:r>
            <a:endParaRPr/>
          </a:p>
        </p:txBody>
      </p:sp>
      <p:sp>
        <p:nvSpPr>
          <p:cNvPr id="352" name="Google Shape;352;p28"/>
          <p:cNvSpPr txBox="1"/>
          <p:nvPr/>
        </p:nvSpPr>
        <p:spPr>
          <a:xfrm>
            <a:off x="819151" y="3121025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Java resolverá las condiciones en este orden estricto: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6462713" y="2473325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8B5CF6"/>
                </a:solidFill>
                <a:latin typeface="Merriweather"/>
                <a:ea typeface="Merriweather"/>
                <a:cs typeface="Merriweather"/>
                <a:sym typeface="Merriweather"/>
              </a:rPr>
              <a:t>Usa los Paréntesis ( )</a:t>
            </a:r>
            <a:endParaRPr/>
          </a:p>
        </p:txBody>
      </p:sp>
      <p:sp>
        <p:nvSpPr>
          <p:cNvPr id="354" name="Google Shape;354;p28"/>
          <p:cNvSpPr txBox="1"/>
          <p:nvPr/>
        </p:nvSpPr>
        <p:spPr>
          <a:xfrm>
            <a:off x="6462713" y="3121025"/>
            <a:ext cx="491013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No dependas de la memoria de la jerarquía.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Siempre usa paréntesis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para agrupar tus condiciones. Hace el código más legible y asegura que Java haga lo que tú deseas.</a:t>
            </a:r>
            <a:endParaRPr/>
          </a:p>
        </p:txBody>
      </p:sp>
      <p:sp>
        <p:nvSpPr>
          <p:cNvPr id="355" name="Google Shape;355;p28"/>
          <p:cNvSpPr txBox="1"/>
          <p:nvPr/>
        </p:nvSpPr>
        <p:spPr>
          <a:xfrm>
            <a:off x="6462713" y="4656931"/>
            <a:ext cx="4910137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acceso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&gt;= 18) &amp;&amp; (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saldo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&gt; 0);</a:t>
            </a:r>
            <a:endParaRPr dirty="0"/>
          </a:p>
        </p:txBody>
      </p:sp>
      <p:sp>
        <p:nvSpPr>
          <p:cNvPr id="356" name="Google Shape;356;p28"/>
          <p:cNvSpPr txBox="1"/>
          <p:nvPr/>
        </p:nvSpPr>
        <p:spPr>
          <a:xfrm>
            <a:off x="876301" y="3740150"/>
            <a:ext cx="1968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dirty="0"/>
          </a:p>
        </p:txBody>
      </p:sp>
      <p:sp>
        <p:nvSpPr>
          <p:cNvPr id="357" name="Google Shape;357;p28"/>
          <p:cNvSpPr txBox="1"/>
          <p:nvPr/>
        </p:nvSpPr>
        <p:spPr>
          <a:xfrm>
            <a:off x="1009651" y="3740150"/>
            <a:ext cx="47196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Inversor !</a:t>
            </a:r>
            <a:endParaRPr/>
          </a:p>
        </p:txBody>
      </p:sp>
      <p:sp>
        <p:nvSpPr>
          <p:cNvPr id="358" name="Google Shape;358;p28"/>
          <p:cNvSpPr txBox="1"/>
          <p:nvPr/>
        </p:nvSpPr>
        <p:spPr>
          <a:xfrm>
            <a:off x="876301" y="4125912"/>
            <a:ext cx="1968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dirty="0"/>
          </a:p>
        </p:txBody>
      </p:sp>
      <p:sp>
        <p:nvSpPr>
          <p:cNvPr id="359" name="Google Shape;359;p28"/>
          <p:cNvSpPr txBox="1"/>
          <p:nvPr/>
        </p:nvSpPr>
        <p:spPr>
          <a:xfrm>
            <a:off x="1009651" y="4125912"/>
            <a:ext cx="47196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Las relaciones (&gt;, &lt;, ==)</a:t>
            </a:r>
            <a:endParaRPr/>
          </a:p>
        </p:txBody>
      </p:sp>
      <p:sp>
        <p:nvSpPr>
          <p:cNvPr id="360" name="Google Shape;360;p28"/>
          <p:cNvSpPr txBox="1"/>
          <p:nvPr/>
        </p:nvSpPr>
        <p:spPr>
          <a:xfrm>
            <a:off x="876301" y="4511675"/>
            <a:ext cx="1968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dirty="0"/>
          </a:p>
        </p:txBody>
      </p:sp>
      <p:sp>
        <p:nvSpPr>
          <p:cNvPr id="361" name="Google Shape;361;p28"/>
          <p:cNvSpPr txBox="1"/>
          <p:nvPr/>
        </p:nvSpPr>
        <p:spPr>
          <a:xfrm>
            <a:off x="1009651" y="4511675"/>
            <a:ext cx="47196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Operador &amp;&amp;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876301" y="4897437"/>
            <a:ext cx="1968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dirty="0"/>
          </a:p>
        </p:txBody>
      </p:sp>
      <p:sp>
        <p:nvSpPr>
          <p:cNvPr id="363" name="Google Shape;363;p28"/>
          <p:cNvSpPr txBox="1"/>
          <p:nvPr/>
        </p:nvSpPr>
        <p:spPr>
          <a:xfrm>
            <a:off x="1009651" y="4897437"/>
            <a:ext cx="47196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Operador ||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57375"/>
            <a:ext cx="5405437" cy="4499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1857375"/>
            <a:ext cx="5405437" cy="449952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9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Diccionario Bilingüe: Logicode → Java</a:t>
            </a:r>
            <a:endParaRPr/>
          </a:p>
        </p:txBody>
      </p:sp>
      <p:sp>
        <p:nvSpPr>
          <p:cNvPr id="372" name="Google Shape;372;p29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9"/>
          <p:cNvSpPr txBox="1"/>
          <p:nvPr/>
        </p:nvSpPr>
        <p:spPr>
          <a:xfrm>
            <a:off x="571500" y="13811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Observemos cómo se ve la misma regla de negocio escrita en nuestro pseudocódigo versus lenguaje Java puro.</a:t>
            </a:r>
            <a:endParaRPr/>
          </a:p>
        </p:txBody>
      </p:sp>
      <p:sp>
        <p:nvSpPr>
          <p:cNvPr id="374" name="Google Shape;374;p29"/>
          <p:cNvSpPr txBox="1"/>
          <p:nvPr/>
        </p:nvSpPr>
        <p:spPr>
          <a:xfrm>
            <a:off x="819150" y="2105025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Pseudocódigo</a:t>
            </a:r>
            <a:endParaRPr/>
          </a:p>
        </p:txBody>
      </p:sp>
      <p:sp>
        <p:nvSpPr>
          <p:cNvPr id="375" name="Google Shape;375;p29"/>
          <p:cNvSpPr txBox="1"/>
          <p:nvPr/>
        </p:nvSpPr>
        <p:spPr>
          <a:xfrm>
            <a:off x="6462712" y="2105025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8B5CF6"/>
                </a:solidFill>
                <a:latin typeface="Merriweather"/>
                <a:ea typeface="Merriweather"/>
                <a:cs typeface="Merriweather"/>
                <a:sym typeface="Merriweather"/>
              </a:rPr>
              <a:t>Java</a:t>
            </a:r>
            <a:endParaRPr/>
          </a:p>
        </p:txBody>
      </p:sp>
      <p:sp>
        <p:nvSpPr>
          <p:cNvPr id="376" name="Google Shape;376;p29"/>
          <p:cNvSpPr txBox="1"/>
          <p:nvPr/>
        </p:nvSpPr>
        <p:spPr>
          <a:xfrm>
            <a:off x="6462712" y="5728245"/>
            <a:ext cx="491013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(Nota que en Java agregamos punto y coma ; al final de las líneas)</a:t>
            </a:r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819150" y="289560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boleano esAdulto = verdadero</a:t>
            </a:r>
            <a:endParaRPr/>
          </a:p>
        </p:txBody>
      </p:sp>
      <p:sp>
        <p:nvSpPr>
          <p:cNvPr id="378" name="Google Shape;378;p29"/>
          <p:cNvSpPr txBox="1"/>
          <p:nvPr/>
        </p:nvSpPr>
        <p:spPr>
          <a:xfrm>
            <a:off x="819150" y="337185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real dinero = 50000.0</a:t>
            </a:r>
            <a:endParaRPr/>
          </a:p>
        </p:txBody>
      </p:sp>
      <p:sp>
        <p:nvSpPr>
          <p:cNvPr id="379" name="Google Shape;379;p29"/>
          <p:cNvSpPr txBox="1"/>
          <p:nvPr/>
        </p:nvSpPr>
        <p:spPr>
          <a:xfrm>
            <a:off x="819150" y="384810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boleano entraAlConcierto</a:t>
            </a:r>
            <a:endParaRPr/>
          </a:p>
        </p:txBody>
      </p:sp>
      <p:sp>
        <p:nvSpPr>
          <p:cNvPr id="380" name="Google Shape;380;p29"/>
          <p:cNvSpPr txBox="1"/>
          <p:nvPr/>
        </p:nvSpPr>
        <p:spPr>
          <a:xfrm>
            <a:off x="819150" y="4823370"/>
            <a:ext cx="491013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entraAlConcierto = (esAdulto == verdadero) y (dinero &gt;= 120000.0)</a:t>
            </a:r>
            <a:endParaRPr/>
          </a:p>
        </p:txBody>
      </p:sp>
      <p:pic>
        <p:nvPicPr>
          <p:cNvPr id="381" name="Google Shape;381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2712" y="2143125"/>
            <a:ext cx="1905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9"/>
          <p:cNvSpPr txBox="1"/>
          <p:nvPr/>
        </p:nvSpPr>
        <p:spPr>
          <a:xfrm>
            <a:off x="6462712" y="289560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boolean esAdulto = true;</a:t>
            </a:r>
            <a:endParaRPr/>
          </a:p>
        </p:txBody>
      </p:sp>
      <p:sp>
        <p:nvSpPr>
          <p:cNvPr id="383" name="Google Shape;383;p29"/>
          <p:cNvSpPr txBox="1"/>
          <p:nvPr/>
        </p:nvSpPr>
        <p:spPr>
          <a:xfrm>
            <a:off x="6462712" y="337185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double dinero = 50000.0;</a:t>
            </a:r>
            <a:endParaRPr/>
          </a:p>
        </p:txBody>
      </p:sp>
      <p:sp>
        <p:nvSpPr>
          <p:cNvPr id="384" name="Google Shape;384;p29"/>
          <p:cNvSpPr txBox="1"/>
          <p:nvPr/>
        </p:nvSpPr>
        <p:spPr>
          <a:xfrm>
            <a:off x="6462712" y="384810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boolean entraAlConcierto;</a:t>
            </a:r>
            <a:endParaRPr/>
          </a:p>
        </p:txBody>
      </p:sp>
      <p:sp>
        <p:nvSpPr>
          <p:cNvPr id="385" name="Google Shape;385;p29"/>
          <p:cNvSpPr txBox="1"/>
          <p:nvPr/>
        </p:nvSpPr>
        <p:spPr>
          <a:xfrm>
            <a:off x="6462712" y="4823370"/>
            <a:ext cx="491013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entraAlConcierto = (esAdulto == true) &amp;&amp; (dinero &gt;= 120000.0);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90625"/>
            <a:ext cx="11049000" cy="38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0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Pausa Activa: Tu Turno</a:t>
            </a:r>
            <a:endParaRPr/>
          </a:p>
        </p:txBody>
      </p:sp>
      <p:sp>
        <p:nvSpPr>
          <p:cNvPr id="393" name="Google Shape;393;p30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" name="Google Shape;394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0" y="4953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0"/>
          <p:cNvSpPr txBox="1"/>
          <p:nvPr/>
        </p:nvSpPr>
        <p:spPr>
          <a:xfrm>
            <a:off x="819150" y="1485900"/>
            <a:ext cx="1108138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Ejercicio 2: El Cajero Automático</a:t>
            </a:r>
            <a:endParaRPr/>
          </a:p>
        </p:txBody>
      </p:sp>
      <p:sp>
        <p:nvSpPr>
          <p:cNvPr id="396" name="Google Shape;396;p30"/>
          <p:cNvSpPr txBox="1"/>
          <p:nvPr/>
        </p:nvSpPr>
        <p:spPr>
          <a:xfrm>
            <a:off x="819150" y="2133600"/>
            <a:ext cx="10553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Traduce la siguiente regla de negocio de un banco a sintaxis Java.</a:t>
            </a:r>
            <a:endParaRPr/>
          </a:p>
        </p:txBody>
      </p:sp>
      <p:sp>
        <p:nvSpPr>
          <p:cNvPr id="397" name="Google Shape;397;p30"/>
          <p:cNvSpPr/>
          <p:nvPr/>
        </p:nvSpPr>
        <p:spPr>
          <a:xfrm>
            <a:off x="819150" y="2752725"/>
            <a:ext cx="10553700" cy="1905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0"/>
          <p:cNvSpPr txBox="1"/>
          <p:nvPr/>
        </p:nvSpPr>
        <p:spPr>
          <a:xfrm>
            <a:off x="819150" y="3105150"/>
            <a:ext cx="10553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"El retiro es exitoso si el PIN ingresado es correcto, </a:t>
            </a:r>
            <a:r>
              <a:rPr lang="en-US" sz="1500" b="1" i="1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500" b="0" i="1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si la cantidad solicitada es menor o igual al saldo disponible."</a:t>
            </a:r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819150" y="3676650"/>
            <a:ext cx="10553700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Variables: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pinIngresado, pinCorrecto, cantidad, saldo.</a:t>
            </a:r>
            <a:endParaRPr/>
          </a:p>
        </p:txBody>
      </p:sp>
      <p:sp>
        <p:nvSpPr>
          <p:cNvPr id="400" name="Google Shape;400;p30"/>
          <p:cNvSpPr txBox="1"/>
          <p:nvPr/>
        </p:nvSpPr>
        <p:spPr>
          <a:xfrm>
            <a:off x="819150" y="4300537"/>
            <a:ext cx="10553700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Escribe en un papel o en tu mente cómo armarías la condición usando &amp;&amp; , == , &lt;=.</a:t>
            </a:r>
            <a:endParaRPr/>
          </a:p>
        </p:txBody>
      </p:sp>
      <p:pic>
        <p:nvPicPr>
          <p:cNvPr id="401" name="Google Shape;401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" y="1524000"/>
            <a:ext cx="2476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1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Consejos Prácticos en Java</a:t>
            </a:r>
            <a:endParaRPr/>
          </a:p>
        </p:txBody>
      </p:sp>
      <p:sp>
        <p:nvSpPr>
          <p:cNvPr id="408" name="Google Shape;408;p31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1"/>
          <p:cNvSpPr txBox="1"/>
          <p:nvPr/>
        </p:nvSpPr>
        <p:spPr>
          <a:xfrm>
            <a:off x="571500" y="13811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Al escribir lógica compleja en entornos de desarrollo (como Eclipse o IntelliJ), ten en cuenta:</a:t>
            </a:r>
            <a:endParaRPr/>
          </a:p>
        </p:txBody>
      </p:sp>
      <p:sp>
        <p:nvSpPr>
          <p:cNvPr id="410" name="Google Shape;410;p31"/>
          <p:cNvSpPr txBox="1"/>
          <p:nvPr/>
        </p:nvSpPr>
        <p:spPr>
          <a:xfrm>
            <a:off x="904875" y="1857375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Legibilidad: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Deja un espacio antes y después de los operadores (`edad &gt;= 18` en lugar de `edad&gt;=18`). Ayuda a la vista.</a:t>
            </a:r>
            <a:endParaRPr/>
          </a:p>
        </p:txBody>
      </p:sp>
      <p:sp>
        <p:nvSpPr>
          <p:cNvPr id="411" name="Google Shape;411;p31"/>
          <p:cNvSpPr txBox="1"/>
          <p:nvPr/>
        </p:nvSpPr>
        <p:spPr>
          <a:xfrm>
            <a:off x="904875" y="2286000"/>
            <a:ext cx="10715625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Case Sensitive: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Java distingue mayúsculas. true se escribe todo en minúscula. Si escribes True o TRUE, el programa fallará.</a:t>
            </a:r>
            <a:endParaRPr/>
          </a:p>
        </p:txBody>
      </p:sp>
      <p:sp>
        <p:nvSpPr>
          <p:cNvPr id="412" name="Google Shape;412;p31"/>
          <p:cNvSpPr txBox="1"/>
          <p:nvPr/>
        </p:nvSpPr>
        <p:spPr>
          <a:xfrm>
            <a:off x="904875" y="2719387"/>
            <a:ext cx="10715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Simplificación de Booleanos: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Si tienes `(esAdulto == true)`, en Java es redundante. Puedes escribir directamente `(esAdulto)`. La máquina ya sabe que es un booleano. (Lo veremos a fondo pronto).</a:t>
            </a:r>
            <a:endParaRPr/>
          </a:p>
        </p:txBody>
      </p:sp>
      <p:pic>
        <p:nvPicPr>
          <p:cNvPr id="413" name="Google Shape;41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09762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838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7177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47887"/>
            <a:ext cx="5405437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2147887"/>
            <a:ext cx="5405437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" y="4238625"/>
            <a:ext cx="4910137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2712" y="3952875"/>
            <a:ext cx="4910137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El Gran Secreto de los Textos en Java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1381125"/>
            <a:ext cx="110490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 Logicode usábamos == para saber si dos textos eran iguales.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 Java, esto es un error grave.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Para Java, el texto (String) no es un tipo primitivo, es un Objeto complejo.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19150" y="2395537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C2626"/>
                </a:solidFill>
                <a:latin typeface="Merriweather"/>
                <a:ea typeface="Merriweather"/>
                <a:cs typeface="Merriweather"/>
                <a:sym typeface="Merriweather"/>
              </a:rPr>
              <a:t>Lo que NO debes hacer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19150" y="3043237"/>
            <a:ext cx="4910137" cy="862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Usar == en Java para textos compara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 apuntan al mismo espacio en la memoria RAM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no si tienen las mismas letras escritas.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462712" y="2395537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59669"/>
                </a:solidFill>
                <a:latin typeface="Merriweather"/>
                <a:ea typeface="Merriweather"/>
                <a:cs typeface="Merriweather"/>
                <a:sym typeface="Merriweather"/>
              </a:rPr>
              <a:t>El Método .equals()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462712" y="3043237"/>
            <a:ext cx="49101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Para comparar el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contenido exacto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dos textos, siempre debes usar el método incorporado .equals().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462712" y="5457825"/>
            <a:ext cx="4910137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 quieres ignorar mayúsculas: .equalsIgnoreCase()</a:t>
            </a:r>
            <a:endParaRPr/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433637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971550" y="4562475"/>
            <a:ext cx="4605337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String clave = "secreta";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971550" y="5005387"/>
            <a:ext cx="4605337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clave == "secreta" </a:t>
            </a:r>
            <a:r>
              <a:rPr lang="en-US" sz="1350" b="0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 → ¡Puede fallar!</a:t>
            </a:r>
            <a:endParaRPr/>
          </a:p>
        </p:txBody>
      </p:sp>
      <p:pic>
        <p:nvPicPr>
          <p:cNvPr id="100" name="Google Shape;100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62712" y="2433637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6615112" y="4276725"/>
            <a:ext cx="4605337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String barrio = "Laureles";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6615112" y="4719637"/>
            <a:ext cx="4605337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barrio.equals("Laureles") </a:t>
            </a:r>
            <a:r>
              <a:rPr lang="en-US" sz="1350" b="0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 → true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152650"/>
            <a:ext cx="533400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La Trampa de No Usar Paréntesis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571500" y="1381125"/>
            <a:ext cx="110490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Al igual que la multiplicación se resuelve antes que la suma en matemáticas, en Java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el operador AND (&amp;&amp;) tiene prioridad sobre el operador OR (||)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Observa el peligro de no usar paréntesis: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285875" y="2305050"/>
            <a:ext cx="46196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Expresión Base: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true || false &amp;&amp; false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285875" y="3119437"/>
            <a:ext cx="461962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Sin Paréntesis (Lo que hace Java):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1. Primero resuelve el AND: false &amp;&amp; false → false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2. Luego resuelve el OR: true || false → </a:t>
            </a:r>
            <a:r>
              <a:rPr lang="en-US" sz="150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285875" y="4224337"/>
            <a:ext cx="4619625" cy="115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 Paréntesis (Lo que tú querías):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(true || false) &amp;&amp; false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1. Resuelve el paréntesis: true || false → true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2. Resuelve el AND: true &amp;&amp; false → </a:t>
            </a:r>
            <a:r>
              <a:rPr lang="en-US" sz="150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34150" y="2400300"/>
            <a:ext cx="508063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B5CF6"/>
                </a:solidFill>
                <a:latin typeface="Merriweather"/>
                <a:ea typeface="Merriweather"/>
                <a:cs typeface="Merriweather"/>
                <a:sym typeface="Merriweather"/>
              </a:rPr>
              <a:t>La Regla de Oro Universal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534150" y="2838450"/>
            <a:ext cx="48387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NUNCA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mezcles ANDs (&amp;&amp;) y ORs (||) en la misma línea sin encerrar explícitamente en paréntesis los bloques que quieres que se evalúen juntos.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534150" y="3990975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Esto evita bugs lógicos dificilísimos de rastrear en tus programas.</a:t>
            </a:r>
            <a:endParaRPr/>
          </a:p>
        </p:txBody>
      </p:sp>
      <p:pic>
        <p:nvPicPr>
          <p:cNvPr id="118" name="Google Shape;11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3574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1718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27672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90625"/>
            <a:ext cx="7042100" cy="5138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51725" y="1190625"/>
            <a:ext cx="3768774" cy="513873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3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Reto Java #1: Tarifa Estudiantil Metro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18412" y="58102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819150" y="1485900"/>
            <a:ext cx="687414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Enunciado del Problema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19150" y="2133600"/>
            <a:ext cx="6546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Estás programando la máquina lectora de la Tarjeta Cívica.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19150" y="2705100"/>
            <a:ext cx="6546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Para aplicar la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tarifa estudiantil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el sistema debe validar en Java que todo esto sea cierto al mismo tiempo: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819150" y="4714875"/>
            <a:ext cx="6546800" cy="1905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819150" y="5067300"/>
            <a:ext cx="6546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Escribe en un papel la expresión booleana en sintaxis JAVA.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19150" y="5638800"/>
            <a:ext cx="65468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Variables a usar: int estrato, int edad, boolean activa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099375" y="2438400"/>
            <a:ext cx="32734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Pistas Clave:</a:t>
            </a:r>
            <a:endParaRPr/>
          </a:p>
        </p:txBody>
      </p:sp>
      <p:pic>
        <p:nvPicPr>
          <p:cNvPr id="138" name="Google Shape;13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524000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876300" y="3562350"/>
            <a:ext cx="133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009650" y="3562350"/>
            <a:ext cx="6356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estrato del estudiante debe ser menor o igual a 3.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76300" y="3848100"/>
            <a:ext cx="133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009650" y="3848100"/>
            <a:ext cx="6356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 edad del estudiante debe estar entre 14 y 28 años (ambos inclusive).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876300" y="4133850"/>
            <a:ext cx="133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009650" y="4133850"/>
            <a:ext cx="6356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 tarjeta cívica debe estar activa.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232725" y="2990850"/>
            <a:ext cx="571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8289875" y="2990850"/>
            <a:ext cx="3082974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Para el rango de edad, no puedes escribir 14 &lt;= edad &lt;= 28. Debes separar la condición usando un AND lógico (&amp;&amp;).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8232725" y="4238625"/>
            <a:ext cx="571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8289875" y="4238625"/>
            <a:ext cx="3082974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Usa los símbolos &amp;&amp;, &lt;=, &gt;=.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8232725" y="4529137"/>
            <a:ext cx="571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8289875" y="4529137"/>
            <a:ext cx="308297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Agrupa la validación de edad entre paréntesis.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90625"/>
            <a:ext cx="7042100" cy="5138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51725" y="1190625"/>
            <a:ext cx="3768774" cy="513873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3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Reto Java #2: Evento en Parques del Río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5175" y="54292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819150" y="1485900"/>
            <a:ext cx="687414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Enunciado del Problema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19150" y="2133600"/>
            <a:ext cx="6546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Una productora organizará un concierto de ingreso libre en Parques del Río, pero la alcaldía puso restricciones estrictas de clima y aforo.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819150" y="2990850"/>
            <a:ext cx="6546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evento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procede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solo si se cumple la siguiente lógica: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819150" y="4877321"/>
            <a:ext cx="6546800" cy="1905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819150" y="5067300"/>
            <a:ext cx="6546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Escribe la expresión booleana en sintaxis JAVA.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19150" y="5638800"/>
            <a:ext cx="65468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Variables a usar: boolean lloviendo, int aforo, boolean tienePermiso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099375" y="2393156"/>
            <a:ext cx="32734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Pistas Clave:</a:t>
            </a:r>
            <a:endParaRPr/>
          </a:p>
        </p:txBody>
      </p:sp>
      <p:pic>
        <p:nvPicPr>
          <p:cNvPr id="168" name="Google Shape;16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524000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876299" y="3562350"/>
            <a:ext cx="2190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dirty="0"/>
          </a:p>
        </p:txBody>
      </p:sp>
      <p:sp>
        <p:nvSpPr>
          <p:cNvPr id="170" name="Google Shape;170;p16"/>
          <p:cNvSpPr txBox="1"/>
          <p:nvPr/>
        </p:nvSpPr>
        <p:spPr>
          <a:xfrm>
            <a:off x="1016000" y="3503489"/>
            <a:ext cx="6356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está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lloviendo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momento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71" name="Google Shape;171;p16"/>
          <p:cNvSpPr txBox="1"/>
          <p:nvPr/>
        </p:nvSpPr>
        <p:spPr>
          <a:xfrm>
            <a:off x="876300" y="3848100"/>
            <a:ext cx="2794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dirty="0"/>
          </a:p>
        </p:txBody>
      </p:sp>
      <p:sp>
        <p:nvSpPr>
          <p:cNvPr id="172" name="Google Shape;172;p16"/>
          <p:cNvSpPr txBox="1"/>
          <p:nvPr/>
        </p:nvSpPr>
        <p:spPr>
          <a:xfrm>
            <a:off x="1016000" y="3801939"/>
            <a:ext cx="65944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Y,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además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debe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cumplirse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dos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cosas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: (El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aforo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actual 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menor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 500 personas 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productora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cuenta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con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permiso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especial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escrito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dirty="0"/>
          </a:p>
        </p:txBody>
      </p:sp>
      <p:sp>
        <p:nvSpPr>
          <p:cNvPr id="173" name="Google Shape;173;p16"/>
          <p:cNvSpPr txBox="1"/>
          <p:nvPr/>
        </p:nvSpPr>
        <p:spPr>
          <a:xfrm>
            <a:off x="8232725" y="2945606"/>
            <a:ext cx="571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8289875" y="2945606"/>
            <a:ext cx="308297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Usa el operador inversor ! para negar la lluvia.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8232725" y="3617118"/>
            <a:ext cx="571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8289875" y="3617118"/>
            <a:ext cx="308297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Asegúrate de encerrar la sección del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lógico en paréntesis para que la máquina no se confunda con el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lógico externo.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8232725" y="4855368"/>
            <a:ext cx="571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8289875" y="4855368"/>
            <a:ext cx="3082974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Usa !, &amp;&amp;, ||, &lt;.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2"/>
          <p:cNvSpPr txBox="1"/>
          <p:nvPr/>
        </p:nvSpPr>
        <p:spPr>
          <a:xfrm>
            <a:off x="1740455" y="1552575"/>
            <a:ext cx="8711088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8B5CF6"/>
                </a:solidFill>
                <a:latin typeface="Merriweather"/>
                <a:ea typeface="Merriweather"/>
                <a:cs typeface="Merriweather"/>
                <a:sym typeface="Merriweather"/>
              </a:rPr>
              <a:t>Resumen y Cierre de Sesión</a:t>
            </a:r>
            <a:endParaRPr/>
          </a:p>
        </p:txBody>
      </p:sp>
      <p:sp>
        <p:nvSpPr>
          <p:cNvPr id="422" name="Google Shape;422;p32"/>
          <p:cNvSpPr txBox="1"/>
          <p:nvPr/>
        </p:nvSpPr>
        <p:spPr>
          <a:xfrm>
            <a:off x="2286000" y="2505075"/>
            <a:ext cx="7620000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Hoy hemos dominado la lógica profunda (Tablas de verdad, AND, OR, NOT) y hemos hecho nuestra gran transición a la sintaxis real de Java (`&amp;&amp;`, `||`, `!`).</a:t>
            </a:r>
            <a:endParaRPr/>
          </a:p>
        </p:txBody>
      </p:sp>
      <p:sp>
        <p:nvSpPr>
          <p:cNvPr id="423" name="Google Shape;423;p32"/>
          <p:cNvSpPr/>
          <p:nvPr/>
        </p:nvSpPr>
        <p:spPr>
          <a:xfrm>
            <a:off x="5381625" y="3981450"/>
            <a:ext cx="14287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2"/>
          <p:cNvSpPr txBox="1"/>
          <p:nvPr/>
        </p:nvSpPr>
        <p:spPr>
          <a:xfrm>
            <a:off x="3265646" y="4305300"/>
            <a:ext cx="566070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8B5CF6"/>
                </a:solidFill>
                <a:latin typeface="Merriweather"/>
                <a:ea typeface="Merriweather"/>
                <a:cs typeface="Merriweather"/>
                <a:sym typeface="Merriweather"/>
              </a:rPr>
              <a:t>¿Alguna pregunta sobre la escritura en Java?</a:t>
            </a:r>
            <a:endParaRPr/>
          </a:p>
        </p:txBody>
      </p:sp>
      <p:sp>
        <p:nvSpPr>
          <p:cNvPr id="425" name="Google Shape;425;p32"/>
          <p:cNvSpPr txBox="1"/>
          <p:nvPr/>
        </p:nvSpPr>
        <p:spPr>
          <a:xfrm>
            <a:off x="1885950" y="4857750"/>
            <a:ext cx="8420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¡Prepárense, porque en la próxima sesión pondremos todo esto dentro de condicionales "if-else"!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2345</Words>
  <Application>Microsoft Office PowerPoint</Application>
  <PresentationFormat>Widescreen</PresentationFormat>
  <Paragraphs>246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Merriweather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1</cp:revision>
  <dcterms:modified xsi:type="dcterms:W3CDTF">2026-03-02T02:41:18Z</dcterms:modified>
</cp:coreProperties>
</file>