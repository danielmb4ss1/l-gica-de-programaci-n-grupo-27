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21"/>
  </p:notesMasterIdLst>
  <p:sldIdLst>
    <p:sldId id="278" r:id="rId2"/>
    <p:sldId id="257" r:id="rId3"/>
    <p:sldId id="258" r:id="rId4"/>
    <p:sldId id="259" r:id="rId5"/>
    <p:sldId id="262" r:id="rId6"/>
    <p:sldId id="271" r:id="rId7"/>
    <p:sldId id="260" r:id="rId8"/>
    <p:sldId id="263" r:id="rId9"/>
    <p:sldId id="264" r:id="rId10"/>
    <p:sldId id="265" r:id="rId11"/>
    <p:sldId id="266" r:id="rId12"/>
    <p:sldId id="267" r:id="rId13"/>
    <p:sldId id="261" r:id="rId14"/>
    <p:sldId id="270" r:id="rId15"/>
    <p:sldId id="272" r:id="rId16"/>
    <p:sldId id="273" r:id="rId17"/>
    <p:sldId id="275" r:id="rId18"/>
    <p:sldId id="276" r:id="rId19"/>
    <p:sldId id="277" r:id="rId20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22"/>
      <p:bold r:id="rId23"/>
      <p:italic r:id="rId24"/>
      <p:boldItalic r:id="rId25"/>
    </p:embeddedFont>
    <p:embeddedFont>
      <p:font typeface="Roboto" panose="02000000000000000000" pitchFamily="2" charset="0"/>
      <p:regular r:id="rId26"/>
      <p:bold r:id="rId27"/>
      <p:italic r:id="rId28"/>
      <p:boldItalic r:id="rId29"/>
    </p:embeddedFont>
    <p:embeddedFont>
      <p:font typeface="Roboto SemiBold" panose="020B060402020202020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99" d="100"/>
          <a:sy n="199" d="100"/>
        </p:scale>
        <p:origin x="684" y="15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21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9a40e1671f_0_1186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9a40e1671f_0_1327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9a40e1671f_0_3680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9a40e1671f_0_1480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9a40e1671f_0_2632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9a40e1671f_0_3810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9a40e1671f_0_1622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9a40e1671f_0_1771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9a40e1671f_0_1915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9a40e1671f_0_2039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9a40e1671f_0_2163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9a40e1671f_0_3928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9a40e1671f_0_2508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9a40e1671f_0_3552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9a40e1671f_0_2755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9a40e1671f_0_2983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9a40e1671f_0_3095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9a40e1671f_0_3207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9a40e1671f_6_0)">
  <p:cSld name="Generated (g39a40e1671f_6_0)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C5FAD-9588-A500-E881-61946DD1E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4F7ED-BA3D-9924-397C-4F2EBDE13C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9CE70F-8317-F1E9-6B00-60B0ED741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E8118-ABCA-4922-98E2-3AD2E7DD6503}" type="datetimeFigureOut">
              <a:rPr lang="es-419" smtClean="0"/>
              <a:t>26/4/2026</a:t>
            </a:fld>
            <a:endParaRPr lang="es-419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4F3E8-7710-355C-67C4-AAA17BD37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6CA075-F045-2C2D-777D-2D63B382F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E991C-AB45-4011-B40A-78D2C0CCE74A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903708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9421"/>
            <a:ext cx="9144000" cy="5124659"/>
          </a:xfrm>
          <a:prstGeom prst="rect">
            <a:avLst/>
          </a:prstGeom>
        </p:spPr>
      </p:pic>
      <p:sp>
        <p:nvSpPr>
          <p:cNvPr id="7" name="Google Shape;42;p1">
            <a:extLst>
              <a:ext uri="{FF2B5EF4-FFF2-40B4-BE49-F238E27FC236}">
                <a16:creationId xmlns:a16="http://schemas.microsoft.com/office/drawing/2014/main" id="{2B45B46A-91AE-80AB-4C52-6F9A4C7FEC60}"/>
              </a:ext>
            </a:extLst>
          </p:cNvPr>
          <p:cNvSpPr txBox="1">
            <a:spLocks noGrp="1"/>
          </p:cNvSpPr>
          <p:nvPr/>
        </p:nvSpPr>
        <p:spPr>
          <a:xfrm>
            <a:off x="907692" y="1798614"/>
            <a:ext cx="7030444" cy="2222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None/>
              <a:defRPr sz="36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lt1"/>
              </a:buClr>
              <a:buSzPts val="5400"/>
            </a:pPr>
            <a:r>
              <a:rPr lang="es-CO" sz="4050" dirty="0">
                <a:solidFill>
                  <a:schemeClr val="lt1"/>
                </a:solidFill>
              </a:rPr>
              <a:t>Lógica de Programación y Laboratorio</a:t>
            </a:r>
          </a:p>
          <a:p>
            <a:pPr>
              <a:buClr>
                <a:schemeClr val="lt1"/>
              </a:buClr>
              <a:buSzPts val="5400"/>
            </a:pPr>
            <a:endParaRPr lang="es-CO" sz="4050" dirty="0">
              <a:solidFill>
                <a:schemeClr val="lt1"/>
              </a:solidFill>
            </a:endParaRPr>
          </a:p>
          <a:p>
            <a:pPr>
              <a:buClr>
                <a:schemeClr val="lt1"/>
              </a:buClr>
              <a:buSzPts val="5400"/>
            </a:pPr>
            <a:r>
              <a:rPr lang="es-CO" sz="4050">
                <a:solidFill>
                  <a:schemeClr val="lt1"/>
                </a:solidFill>
              </a:rPr>
              <a:t>Sesión 24</a:t>
            </a:r>
            <a:endParaRPr lang="es-CO" sz="4050" dirty="0">
              <a:solidFill>
                <a:schemeClr val="lt1"/>
              </a:solidFill>
            </a:endParaRPr>
          </a:p>
          <a:p>
            <a:pPr>
              <a:buClr>
                <a:schemeClr val="lt1"/>
              </a:buClr>
              <a:buSzPts val="5400"/>
            </a:pPr>
            <a:endParaRPr lang="es-CO" sz="4050" dirty="0">
              <a:solidFill>
                <a:schemeClr val="lt1"/>
              </a:solidFill>
            </a:endParaRPr>
          </a:p>
          <a:p>
            <a:pPr>
              <a:buClr>
                <a:schemeClr val="lt1"/>
              </a:buClr>
              <a:buSzPts val="5400"/>
            </a:pPr>
            <a:r>
              <a:rPr lang="es-CO" sz="1500" dirty="0" err="1">
                <a:solidFill>
                  <a:schemeClr val="lt1"/>
                </a:solidFill>
              </a:rPr>
              <a:t>Sebastian</a:t>
            </a:r>
            <a:r>
              <a:rPr lang="es-CO" sz="1500" dirty="0">
                <a:solidFill>
                  <a:schemeClr val="lt1"/>
                </a:solidFill>
              </a:rPr>
              <a:t> Montoya Villada</a:t>
            </a:r>
          </a:p>
        </p:txBody>
      </p:sp>
    </p:spTree>
    <p:extLst>
      <p:ext uri="{BB962C8B-B14F-4D97-AF65-F5344CB8AC3E}">
        <p14:creationId xmlns:p14="http://schemas.microsoft.com/office/powerpoint/2010/main" val="1972982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5"/>
          <p:cNvSpPr txBox="1"/>
          <p:nvPr/>
        </p:nvSpPr>
        <p:spPr>
          <a:xfrm>
            <a:off x="381000" y="3810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El Problema: Demasiadas Variables</a:t>
            </a:r>
            <a:endParaRPr sz="3200" b="1" dirty="0">
              <a:solidFill>
                <a:srgbClr val="1A202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" name="Google Shape;64;p15"/>
          <p:cNvSpPr txBox="1"/>
          <p:nvPr/>
        </p:nvSpPr>
        <p:spPr>
          <a:xfrm>
            <a:off x="381000" y="1000125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>
                <a:solidFill>
                  <a:srgbClr val="4A5568"/>
                </a:solidFill>
                <a:latin typeface="Roboto"/>
                <a:ea typeface="Roboto"/>
                <a:cs typeface="Roboto"/>
                <a:sym typeface="Roboto"/>
              </a:rPr>
              <a:t>Imagina que necesitas almacenar 5 calificaciones. Usar variables individuales es ineficiente y no escala.</a:t>
            </a:r>
            <a:endParaRPr sz="1400" b="0">
              <a:solidFill>
                <a:srgbClr val="4A55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5" name="Google Shape;65;p15"/>
          <p:cNvGrpSpPr/>
          <p:nvPr/>
        </p:nvGrpSpPr>
        <p:grpSpPr>
          <a:xfrm>
            <a:off x="381000" y="1619250"/>
            <a:ext cx="4000500" cy="2857500"/>
            <a:chOff x="381000" y="1619250"/>
            <a:chExt cx="4000500" cy="2857500"/>
          </a:xfrm>
        </p:grpSpPr>
        <p:sp>
          <p:nvSpPr>
            <p:cNvPr id="66" name="Google Shape;66;p15"/>
            <p:cNvSpPr/>
            <p:nvPr/>
          </p:nvSpPr>
          <p:spPr>
            <a:xfrm>
              <a:off x="381000" y="1619250"/>
              <a:ext cx="4000500" cy="2857500"/>
            </a:xfrm>
            <a:prstGeom prst="roundRect">
              <a:avLst>
                <a:gd name="adj" fmla="val 4000"/>
              </a:avLst>
            </a:prstGeom>
            <a:solidFill>
              <a:srgbClr val="2D374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15"/>
            <p:cNvSpPr txBox="1"/>
            <p:nvPr/>
          </p:nvSpPr>
          <p:spPr>
            <a:xfrm>
              <a:off x="571500" y="1809750"/>
              <a:ext cx="3619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63B3ED"/>
                  </a:solidFill>
                  <a:latin typeface="Arial"/>
                  <a:ea typeface="Arial"/>
                  <a:cs typeface="Arial"/>
                  <a:sym typeface="Arial"/>
                </a:rPr>
                <a:t>Enfoque con Variables Individuales</a:t>
              </a:r>
              <a:endParaRPr sz="1200" b="1">
                <a:solidFill>
                  <a:srgbClr val="63B3E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15"/>
            <p:cNvSpPr txBox="1"/>
            <p:nvPr/>
          </p:nvSpPr>
          <p:spPr>
            <a:xfrm>
              <a:off x="571500" y="2238375"/>
              <a:ext cx="36195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dirty="0">
                  <a:solidFill>
                    <a:srgbClr val="A0AEC0"/>
                  </a:solidFill>
                  <a:latin typeface="Consolas"/>
                  <a:ea typeface="Consolas"/>
                  <a:cs typeface="Consolas"/>
                  <a:sym typeface="Consolas"/>
                </a:rPr>
                <a:t>// Definición de notas</a:t>
              </a:r>
              <a:endParaRPr sz="1300" dirty="0">
                <a:solidFill>
                  <a:srgbClr val="A0AEC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300" dirty="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real nota1 = 4.5;</a:t>
              </a:r>
              <a:endParaRPr sz="1300" dirty="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300" dirty="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real nota2 = 3.8;</a:t>
              </a:r>
              <a:endParaRPr sz="1300" dirty="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300" dirty="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real nota3 = 5.0;</a:t>
              </a:r>
              <a:endParaRPr sz="1300" dirty="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300" dirty="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real nota4 = 2.9;</a:t>
              </a:r>
              <a:endParaRPr sz="1300" dirty="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300" dirty="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real nota5 = 4.2;</a:t>
              </a:r>
              <a:endParaRPr sz="1300" dirty="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" sz="1300" dirty="0">
                  <a:solidFill>
                    <a:srgbClr val="A0AEC0"/>
                  </a:solidFill>
                  <a:latin typeface="Consolas"/>
                  <a:ea typeface="Consolas"/>
                  <a:cs typeface="Consolas"/>
                  <a:sym typeface="Consolas"/>
                </a:rPr>
                <a:t>// El código crece linealmente...</a:t>
              </a:r>
              <a:endParaRPr sz="1300" dirty="0">
                <a:solidFill>
                  <a:srgbClr val="A0AEC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69" name="Google Shape;69;p15"/>
          <p:cNvGrpSpPr/>
          <p:nvPr/>
        </p:nvGrpSpPr>
        <p:grpSpPr>
          <a:xfrm>
            <a:off x="4762500" y="1619250"/>
            <a:ext cx="4000500" cy="2857500"/>
            <a:chOff x="4762500" y="1619250"/>
            <a:chExt cx="4000500" cy="2857500"/>
          </a:xfrm>
        </p:grpSpPr>
        <p:sp>
          <p:nvSpPr>
            <p:cNvPr id="70" name="Google Shape;70;p15"/>
            <p:cNvSpPr/>
            <p:nvPr/>
          </p:nvSpPr>
          <p:spPr>
            <a:xfrm>
              <a:off x="4762500" y="1619250"/>
              <a:ext cx="4000500" cy="28575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15"/>
            <p:cNvSpPr txBox="1"/>
            <p:nvPr/>
          </p:nvSpPr>
          <p:spPr>
            <a:xfrm>
              <a:off x="5048250" y="1809750"/>
              <a:ext cx="3429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0">
                  <a:solidFill>
                    <a:srgbClr val="2D3748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Limitaciones</a:t>
              </a:r>
              <a:endParaRPr sz="1600" b="0">
                <a:solidFill>
                  <a:srgbClr val="2D3748"/>
                </a:solidFill>
                <a:latin typeface="Roboto SemiBold"/>
                <a:ea typeface="Roboto SemiBold"/>
                <a:cs typeface="Roboto SemiBold"/>
                <a:sym typeface="Roboto SemiBold"/>
              </a:endParaRPr>
            </a:p>
          </p:txBody>
        </p:sp>
        <p:sp>
          <p:nvSpPr>
            <p:cNvPr id="72" name="Google Shape;72;p15"/>
            <p:cNvSpPr/>
            <p:nvPr/>
          </p:nvSpPr>
          <p:spPr>
            <a:xfrm>
              <a:off x="5048250" y="2143125"/>
              <a:ext cx="381000" cy="28500"/>
            </a:xfrm>
            <a:prstGeom prst="rect">
              <a:avLst/>
            </a:prstGeom>
            <a:solidFill>
              <a:srgbClr val="3182C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5"/>
            <p:cNvSpPr txBox="1"/>
            <p:nvPr/>
          </p:nvSpPr>
          <p:spPr>
            <a:xfrm>
              <a:off x="5048250" y="2381250"/>
              <a:ext cx="34290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457200" lvl="0" indent="-311150" algn="l" rtl="0">
                <a:spcBef>
                  <a:spcPts val="0"/>
                </a:spcBef>
                <a:spcAft>
                  <a:spcPts val="0"/>
                </a:spcAft>
                <a:buClr>
                  <a:srgbClr val="2D3748"/>
                </a:buClr>
                <a:buSzPts val="1300"/>
                <a:buFont typeface="Roboto"/>
                <a:buChar char="●"/>
              </a:pPr>
              <a:r>
                <a:rPr lang="en" sz="1300" b="1">
                  <a:solidFill>
                    <a:srgbClr val="2D3748"/>
                  </a:solidFill>
                  <a:latin typeface="Roboto"/>
                  <a:ea typeface="Roboto"/>
                  <a:cs typeface="Roboto"/>
                  <a:sym typeface="Roboto"/>
                </a:rPr>
                <a:t>Poco flexible:</a:t>
              </a:r>
              <a:r>
                <a:rPr lang="en" sz="1300">
                  <a:solidFill>
                    <a:srgbClr val="2D3748"/>
                  </a:solidFill>
                  <a:latin typeface="Roboto"/>
                  <a:ea typeface="Roboto"/>
                  <a:cs typeface="Roboto"/>
                  <a:sym typeface="Roboto"/>
                </a:rPr>
                <a:t> ¿Y si ahora son 100 notas?</a:t>
              </a:r>
              <a:endParaRPr sz="1300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311150" algn="l" rtl="0">
                <a:spcBef>
                  <a:spcPts val="1125"/>
                </a:spcBef>
                <a:spcAft>
                  <a:spcPts val="0"/>
                </a:spcAft>
                <a:buClr>
                  <a:srgbClr val="2D3748"/>
                </a:buClr>
                <a:buSzPts val="1300"/>
                <a:buFont typeface="Roboto"/>
                <a:buChar char="●"/>
              </a:pPr>
              <a:r>
                <a:rPr lang="en" sz="1300" b="1">
                  <a:solidFill>
                    <a:srgbClr val="2D3748"/>
                  </a:solidFill>
                  <a:latin typeface="Roboto"/>
                  <a:ea typeface="Roboto"/>
                  <a:cs typeface="Roboto"/>
                  <a:sym typeface="Roboto"/>
                </a:rPr>
                <a:t>Difícil de procesar:</a:t>
              </a:r>
              <a:r>
                <a:rPr lang="en" sz="1300">
                  <a:solidFill>
                    <a:srgbClr val="2D3748"/>
                  </a:solidFill>
                  <a:latin typeface="Roboto"/>
                  <a:ea typeface="Roboto"/>
                  <a:cs typeface="Roboto"/>
                  <a:sym typeface="Roboto"/>
                </a:rPr>
                <a:t> Calcular un promedio requiere sumar cada variable una por una.</a:t>
              </a:r>
              <a:endParaRPr sz="1300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311150" algn="l" rtl="0">
                <a:spcBef>
                  <a:spcPts val="1125"/>
                </a:spcBef>
                <a:spcAft>
                  <a:spcPts val="1125"/>
                </a:spcAft>
                <a:buClr>
                  <a:srgbClr val="2D3748"/>
                </a:buClr>
                <a:buSzPts val="1300"/>
                <a:buFont typeface="Roboto"/>
                <a:buChar char="●"/>
              </a:pPr>
              <a:r>
                <a:rPr lang="en" sz="1300" b="1">
                  <a:solidFill>
                    <a:srgbClr val="2D3748"/>
                  </a:solidFill>
                  <a:latin typeface="Roboto"/>
                  <a:ea typeface="Roboto"/>
                  <a:cs typeface="Roboto"/>
                  <a:sym typeface="Roboto"/>
                </a:rPr>
                <a:t>Código repetitivo:</a:t>
              </a:r>
              <a:r>
                <a:rPr lang="en" sz="1300">
                  <a:solidFill>
                    <a:srgbClr val="2D3748"/>
                  </a:solidFill>
                  <a:latin typeface="Roboto"/>
                  <a:ea typeface="Roboto"/>
                  <a:cs typeface="Roboto"/>
                  <a:sym typeface="Roboto"/>
                </a:rPr>
                <a:t> Las operaciones se repiten para cada variable.</a:t>
              </a:r>
              <a:endParaRPr sz="1300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6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381000" y="3810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La Solución: El Arreglo Unidimensional</a:t>
            </a:r>
            <a:endParaRPr sz="3200" b="1" dirty="0">
              <a:solidFill>
                <a:srgbClr val="1A202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381000" y="1000125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90" b="0">
                <a:solidFill>
                  <a:srgbClr val="4A5568"/>
                </a:solidFill>
                <a:latin typeface="Roboto"/>
                <a:ea typeface="Roboto"/>
                <a:cs typeface="Roboto"/>
                <a:sym typeface="Roboto"/>
              </a:rPr>
              <a:t>Un arreglo (o vector) es una estructura de datos que nos permite almacenar una colección de elementos del mismo tipo en una única variable.</a:t>
            </a:r>
            <a:endParaRPr sz="1190" b="0">
              <a:solidFill>
                <a:srgbClr val="4A55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81" name="Google Shape;81;p16"/>
          <p:cNvGrpSpPr/>
          <p:nvPr/>
        </p:nvGrpSpPr>
        <p:grpSpPr>
          <a:xfrm>
            <a:off x="2190750" y="1714500"/>
            <a:ext cx="4762500" cy="905025"/>
            <a:chOff x="2190750" y="1714500"/>
            <a:chExt cx="4762500" cy="905025"/>
          </a:xfrm>
        </p:grpSpPr>
        <p:sp>
          <p:nvSpPr>
            <p:cNvPr id="82" name="Google Shape;82;p16"/>
            <p:cNvSpPr/>
            <p:nvPr/>
          </p:nvSpPr>
          <p:spPr>
            <a:xfrm>
              <a:off x="2190750" y="1714500"/>
              <a:ext cx="952500" cy="571500"/>
            </a:xfrm>
            <a:prstGeom prst="roundRect">
              <a:avLst>
                <a:gd name="adj" fmla="val 6666"/>
              </a:avLst>
            </a:prstGeom>
            <a:solidFill>
              <a:srgbClr val="2D374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16"/>
            <p:cNvSpPr/>
            <p:nvPr/>
          </p:nvSpPr>
          <p:spPr>
            <a:xfrm>
              <a:off x="3143250" y="1714500"/>
              <a:ext cx="952500" cy="571500"/>
            </a:xfrm>
            <a:prstGeom prst="roundRect">
              <a:avLst>
                <a:gd name="adj" fmla="val 6666"/>
              </a:avLst>
            </a:prstGeom>
            <a:solidFill>
              <a:srgbClr val="2D374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6"/>
            <p:cNvSpPr/>
            <p:nvPr/>
          </p:nvSpPr>
          <p:spPr>
            <a:xfrm>
              <a:off x="4095750" y="1714500"/>
              <a:ext cx="952500" cy="571500"/>
            </a:xfrm>
            <a:prstGeom prst="roundRect">
              <a:avLst>
                <a:gd name="adj" fmla="val 6666"/>
              </a:avLst>
            </a:prstGeom>
            <a:solidFill>
              <a:srgbClr val="2D374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6"/>
            <p:cNvSpPr/>
            <p:nvPr/>
          </p:nvSpPr>
          <p:spPr>
            <a:xfrm>
              <a:off x="5048250" y="1714500"/>
              <a:ext cx="952500" cy="571500"/>
            </a:xfrm>
            <a:prstGeom prst="roundRect">
              <a:avLst>
                <a:gd name="adj" fmla="val 6666"/>
              </a:avLst>
            </a:prstGeom>
            <a:solidFill>
              <a:srgbClr val="2D374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6"/>
            <p:cNvSpPr/>
            <p:nvPr/>
          </p:nvSpPr>
          <p:spPr>
            <a:xfrm>
              <a:off x="6000750" y="1714500"/>
              <a:ext cx="952500" cy="571500"/>
            </a:xfrm>
            <a:prstGeom prst="roundRect">
              <a:avLst>
                <a:gd name="adj" fmla="val 6666"/>
              </a:avLst>
            </a:prstGeom>
            <a:solidFill>
              <a:srgbClr val="2D374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87" name="Google Shape;87;p1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133725" y="1714500"/>
              <a:ext cx="2876700" cy="571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" name="Google Shape;88;p16"/>
            <p:cNvSpPr txBox="1"/>
            <p:nvPr/>
          </p:nvSpPr>
          <p:spPr>
            <a:xfrm>
              <a:off x="2190750" y="1714500"/>
              <a:ext cx="952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4.5</a:t>
              </a:r>
              <a:endParaRPr sz="1800" b="1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89" name="Google Shape;89;p16"/>
            <p:cNvSpPr txBox="1"/>
            <p:nvPr/>
          </p:nvSpPr>
          <p:spPr>
            <a:xfrm>
              <a:off x="3143250" y="1714500"/>
              <a:ext cx="952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3.0</a:t>
              </a:r>
              <a:endParaRPr sz="1800" b="1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90" name="Google Shape;90;p16"/>
            <p:cNvSpPr txBox="1"/>
            <p:nvPr/>
          </p:nvSpPr>
          <p:spPr>
            <a:xfrm>
              <a:off x="4095750" y="1714500"/>
              <a:ext cx="952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5.0</a:t>
              </a:r>
              <a:endParaRPr sz="1800" b="1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91" name="Google Shape;91;p16"/>
            <p:cNvSpPr txBox="1"/>
            <p:nvPr/>
          </p:nvSpPr>
          <p:spPr>
            <a:xfrm>
              <a:off x="5048250" y="1714500"/>
              <a:ext cx="952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2.1</a:t>
              </a:r>
              <a:endParaRPr sz="1800" b="1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92" name="Google Shape;92;p16"/>
            <p:cNvSpPr txBox="1"/>
            <p:nvPr/>
          </p:nvSpPr>
          <p:spPr>
            <a:xfrm>
              <a:off x="6000750" y="1714500"/>
              <a:ext cx="952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4.8</a:t>
              </a:r>
              <a:endParaRPr sz="1800" b="1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93" name="Google Shape;93;p16"/>
            <p:cNvSpPr txBox="1"/>
            <p:nvPr/>
          </p:nvSpPr>
          <p:spPr>
            <a:xfrm>
              <a:off x="2190750" y="2333625"/>
              <a:ext cx="95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718096"/>
                  </a:solidFill>
                  <a:latin typeface="Consolas"/>
                  <a:ea typeface="Consolas"/>
                  <a:cs typeface="Consolas"/>
                  <a:sym typeface="Consolas"/>
                </a:rPr>
                <a:t>[0]</a:t>
              </a:r>
              <a:endParaRPr sz="1200">
                <a:solidFill>
                  <a:srgbClr val="718096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94" name="Google Shape;94;p16"/>
            <p:cNvSpPr txBox="1"/>
            <p:nvPr/>
          </p:nvSpPr>
          <p:spPr>
            <a:xfrm>
              <a:off x="3143250" y="2333625"/>
              <a:ext cx="95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718096"/>
                  </a:solidFill>
                  <a:latin typeface="Consolas"/>
                  <a:ea typeface="Consolas"/>
                  <a:cs typeface="Consolas"/>
                  <a:sym typeface="Consolas"/>
                </a:rPr>
                <a:t>[1]</a:t>
              </a:r>
              <a:endParaRPr sz="1200">
                <a:solidFill>
                  <a:srgbClr val="718096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95" name="Google Shape;95;p16"/>
            <p:cNvSpPr txBox="1"/>
            <p:nvPr/>
          </p:nvSpPr>
          <p:spPr>
            <a:xfrm>
              <a:off x="4095750" y="2333625"/>
              <a:ext cx="95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718096"/>
                  </a:solidFill>
                  <a:latin typeface="Consolas"/>
                  <a:ea typeface="Consolas"/>
                  <a:cs typeface="Consolas"/>
                  <a:sym typeface="Consolas"/>
                </a:rPr>
                <a:t>[2]</a:t>
              </a:r>
              <a:endParaRPr sz="1200">
                <a:solidFill>
                  <a:srgbClr val="718096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96" name="Google Shape;96;p16"/>
            <p:cNvSpPr txBox="1"/>
            <p:nvPr/>
          </p:nvSpPr>
          <p:spPr>
            <a:xfrm>
              <a:off x="5048250" y="2333625"/>
              <a:ext cx="95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718096"/>
                  </a:solidFill>
                  <a:latin typeface="Consolas"/>
                  <a:ea typeface="Consolas"/>
                  <a:cs typeface="Consolas"/>
                  <a:sym typeface="Consolas"/>
                </a:rPr>
                <a:t>[3]</a:t>
              </a:r>
              <a:endParaRPr sz="1200">
                <a:solidFill>
                  <a:srgbClr val="718096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97" name="Google Shape;97;p16"/>
            <p:cNvSpPr txBox="1"/>
            <p:nvPr/>
          </p:nvSpPr>
          <p:spPr>
            <a:xfrm>
              <a:off x="6000750" y="2333625"/>
              <a:ext cx="95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718096"/>
                  </a:solidFill>
                  <a:latin typeface="Consolas"/>
                  <a:ea typeface="Consolas"/>
                  <a:cs typeface="Consolas"/>
                  <a:sym typeface="Consolas"/>
                </a:rPr>
                <a:t>[4]</a:t>
              </a:r>
              <a:endParaRPr sz="1200">
                <a:solidFill>
                  <a:srgbClr val="718096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98" name="Google Shape;98;p16"/>
          <p:cNvGrpSpPr/>
          <p:nvPr/>
        </p:nvGrpSpPr>
        <p:grpSpPr>
          <a:xfrm>
            <a:off x="381000" y="2857500"/>
            <a:ext cx="4000500" cy="1905000"/>
            <a:chOff x="381000" y="2857500"/>
            <a:chExt cx="4000500" cy="1905000"/>
          </a:xfrm>
        </p:grpSpPr>
        <p:sp>
          <p:nvSpPr>
            <p:cNvPr id="99" name="Google Shape;99;p16"/>
            <p:cNvSpPr/>
            <p:nvPr/>
          </p:nvSpPr>
          <p:spPr>
            <a:xfrm>
              <a:off x="381000" y="2857500"/>
              <a:ext cx="4000500" cy="1905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16"/>
            <p:cNvSpPr txBox="1"/>
            <p:nvPr/>
          </p:nvSpPr>
          <p:spPr>
            <a:xfrm>
              <a:off x="666750" y="3048000"/>
              <a:ext cx="3429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0">
                  <a:solidFill>
                    <a:srgbClr val="2D3748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Características Clave</a:t>
              </a:r>
              <a:endParaRPr sz="1600" b="0">
                <a:solidFill>
                  <a:srgbClr val="2D3748"/>
                </a:solidFill>
                <a:latin typeface="Roboto SemiBold"/>
                <a:ea typeface="Roboto SemiBold"/>
                <a:cs typeface="Roboto SemiBold"/>
                <a:sym typeface="Roboto SemiBold"/>
              </a:endParaRPr>
            </a:p>
          </p:txBody>
        </p:sp>
        <p:sp>
          <p:nvSpPr>
            <p:cNvPr id="101" name="Google Shape;101;p16"/>
            <p:cNvSpPr/>
            <p:nvPr/>
          </p:nvSpPr>
          <p:spPr>
            <a:xfrm>
              <a:off x="666750" y="3381375"/>
              <a:ext cx="381000" cy="28500"/>
            </a:xfrm>
            <a:prstGeom prst="rect">
              <a:avLst/>
            </a:prstGeom>
            <a:solidFill>
              <a:srgbClr val="3182C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6"/>
            <p:cNvSpPr txBox="1"/>
            <p:nvPr/>
          </p:nvSpPr>
          <p:spPr>
            <a:xfrm>
              <a:off x="666750" y="3571875"/>
              <a:ext cx="3429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457200" lvl="0" indent="-311150" algn="l" rtl="0">
                <a:spcBef>
                  <a:spcPts val="0"/>
                </a:spcBef>
                <a:spcAft>
                  <a:spcPts val="0"/>
                </a:spcAft>
                <a:buClr>
                  <a:srgbClr val="2D3748"/>
                </a:buClr>
                <a:buSzPts val="1300"/>
                <a:buFont typeface="Roboto"/>
                <a:buChar char="●"/>
              </a:pPr>
              <a:r>
                <a:rPr lang="en" sz="1300" b="1">
                  <a:solidFill>
                    <a:srgbClr val="2D3748"/>
                  </a:solidFill>
                  <a:latin typeface="Roboto"/>
                  <a:ea typeface="Roboto"/>
                  <a:cs typeface="Roboto"/>
                  <a:sym typeface="Roboto"/>
                </a:rPr>
                <a:t>Nombre Único:</a:t>
              </a:r>
              <a:r>
                <a:rPr lang="en" sz="1300" b="0">
                  <a:solidFill>
                    <a:srgbClr val="2D3748"/>
                  </a:solidFill>
                  <a:latin typeface="Roboto"/>
                  <a:ea typeface="Roboto"/>
                  <a:cs typeface="Roboto"/>
                  <a:sym typeface="Roboto"/>
                </a:rPr>
                <a:t> Identifica a todo el grupo.</a:t>
              </a:r>
              <a:endParaRPr sz="1300" b="0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311150" algn="l" rtl="0">
                <a:spcBef>
                  <a:spcPts val="600"/>
                </a:spcBef>
                <a:spcAft>
                  <a:spcPts val="0"/>
                </a:spcAft>
                <a:buClr>
                  <a:srgbClr val="2D3748"/>
                </a:buClr>
                <a:buSzPts val="1300"/>
                <a:buFont typeface="Roboto"/>
                <a:buChar char="●"/>
              </a:pPr>
              <a:r>
                <a:rPr lang="en" sz="1300" b="1">
                  <a:solidFill>
                    <a:srgbClr val="2D3748"/>
                  </a:solidFill>
                  <a:latin typeface="Roboto"/>
                  <a:ea typeface="Roboto"/>
                  <a:cs typeface="Roboto"/>
                  <a:sym typeface="Roboto"/>
                </a:rPr>
                <a:t>Tipo de Dato Fijo:</a:t>
              </a:r>
              <a:r>
                <a:rPr lang="en" sz="1300" b="0">
                  <a:solidFill>
                    <a:srgbClr val="2D3748"/>
                  </a:solidFill>
                  <a:latin typeface="Roboto"/>
                  <a:ea typeface="Roboto"/>
                  <a:cs typeface="Roboto"/>
                  <a:sym typeface="Roboto"/>
                </a:rPr>
                <a:t> Todos son iguales.</a:t>
              </a:r>
              <a:endParaRPr sz="1300" b="0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311150" algn="l" rtl="0">
                <a:spcBef>
                  <a:spcPts val="600"/>
                </a:spcBef>
                <a:spcAft>
                  <a:spcPts val="600"/>
                </a:spcAft>
                <a:buClr>
                  <a:srgbClr val="2D3748"/>
                </a:buClr>
                <a:buSzPts val="1300"/>
                <a:buFont typeface="Roboto"/>
                <a:buChar char="●"/>
              </a:pPr>
              <a:r>
                <a:rPr lang="en" sz="1300" b="1">
                  <a:solidFill>
                    <a:srgbClr val="2D3748"/>
                  </a:solidFill>
                  <a:latin typeface="Roboto"/>
                  <a:ea typeface="Roboto"/>
                  <a:cs typeface="Roboto"/>
                  <a:sym typeface="Roboto"/>
                </a:rPr>
                <a:t>Tamaño Fijo:</a:t>
              </a:r>
              <a:r>
                <a:rPr lang="en" sz="1300" b="0">
                  <a:solidFill>
                    <a:srgbClr val="2D3748"/>
                  </a:solidFill>
                  <a:latin typeface="Roboto"/>
                  <a:ea typeface="Roboto"/>
                  <a:cs typeface="Roboto"/>
                  <a:sym typeface="Roboto"/>
                </a:rPr>
                <a:t> Definido al inicio.</a:t>
              </a:r>
              <a:endParaRPr sz="1300" b="0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3" name="Google Shape;103;p16"/>
          <p:cNvGrpSpPr/>
          <p:nvPr/>
        </p:nvGrpSpPr>
        <p:grpSpPr>
          <a:xfrm>
            <a:off x="4762500" y="2857500"/>
            <a:ext cx="4000500" cy="1905000"/>
            <a:chOff x="4762500" y="2857500"/>
            <a:chExt cx="4000500" cy="1905000"/>
          </a:xfrm>
        </p:grpSpPr>
        <p:sp>
          <p:nvSpPr>
            <p:cNvPr id="104" name="Google Shape;104;p16"/>
            <p:cNvSpPr/>
            <p:nvPr/>
          </p:nvSpPr>
          <p:spPr>
            <a:xfrm>
              <a:off x="4762500" y="2857500"/>
              <a:ext cx="4000500" cy="1905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6"/>
            <p:cNvSpPr txBox="1"/>
            <p:nvPr/>
          </p:nvSpPr>
          <p:spPr>
            <a:xfrm>
              <a:off x="5048250" y="3048000"/>
              <a:ext cx="3429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0">
                  <a:solidFill>
                    <a:srgbClr val="2D3748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Analogía</a:t>
              </a:r>
              <a:endParaRPr sz="1600" b="0">
                <a:solidFill>
                  <a:srgbClr val="2D3748"/>
                </a:solidFill>
                <a:latin typeface="Roboto SemiBold"/>
                <a:ea typeface="Roboto SemiBold"/>
                <a:cs typeface="Roboto SemiBold"/>
                <a:sym typeface="Roboto SemiBold"/>
              </a:endParaRPr>
            </a:p>
          </p:txBody>
        </p:sp>
        <p:sp>
          <p:nvSpPr>
            <p:cNvPr id="106" name="Google Shape;106;p16"/>
            <p:cNvSpPr/>
            <p:nvPr/>
          </p:nvSpPr>
          <p:spPr>
            <a:xfrm>
              <a:off x="5048250" y="3381375"/>
              <a:ext cx="381000" cy="28500"/>
            </a:xfrm>
            <a:prstGeom prst="rect">
              <a:avLst/>
            </a:prstGeom>
            <a:solidFill>
              <a:srgbClr val="3182C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16"/>
            <p:cNvSpPr txBox="1"/>
            <p:nvPr/>
          </p:nvSpPr>
          <p:spPr>
            <a:xfrm>
              <a:off x="5048250" y="3571875"/>
              <a:ext cx="3429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i="1">
                  <a:solidFill>
                    <a:srgbClr val="4A5568"/>
                  </a:solidFill>
                  <a:latin typeface="Roboto"/>
                  <a:ea typeface="Roboto"/>
                  <a:cs typeface="Roboto"/>
                  <a:sym typeface="Roboto"/>
                </a:rPr>
                <a:t>El arreglo es como un </a:t>
              </a:r>
              <a:r>
                <a:rPr lang="en" sz="1300" b="1" i="1">
                  <a:solidFill>
                    <a:srgbClr val="3182CE"/>
                  </a:solidFill>
                  <a:latin typeface="Roboto"/>
                  <a:ea typeface="Roboto"/>
                  <a:cs typeface="Roboto"/>
                  <a:sym typeface="Roboto"/>
                </a:rPr>
                <a:t>tren</a:t>
              </a:r>
              <a:r>
                <a:rPr lang="en" sz="1300" i="1">
                  <a:solidFill>
                    <a:srgbClr val="4A5568"/>
                  </a:solidFill>
                  <a:latin typeface="Roboto"/>
                  <a:ea typeface="Roboto"/>
                  <a:cs typeface="Roboto"/>
                  <a:sym typeface="Roboto"/>
                </a:rPr>
                <a:t>: la variable es la locomotora que guía, y cada </a:t>
              </a:r>
              <a:r>
                <a:rPr lang="en" sz="1300" b="1" i="1">
                  <a:solidFill>
                    <a:srgbClr val="4A5568"/>
                  </a:solidFill>
                  <a:latin typeface="Roboto"/>
                  <a:ea typeface="Roboto"/>
                  <a:cs typeface="Roboto"/>
                  <a:sym typeface="Roboto"/>
                </a:rPr>
                <a:t>vagón</a:t>
              </a:r>
              <a:r>
                <a:rPr lang="en" sz="1300" i="1">
                  <a:solidFill>
                    <a:srgbClr val="4A5568"/>
                  </a:solidFill>
                  <a:latin typeface="Roboto"/>
                  <a:ea typeface="Roboto"/>
                  <a:cs typeface="Roboto"/>
                  <a:sym typeface="Roboto"/>
                </a:rPr>
                <a:t> es un elemento individual que guarda un valor específico.</a:t>
              </a:r>
              <a:endParaRPr sz="1300" i="1">
                <a:solidFill>
                  <a:srgbClr val="4A556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2" name="Google Shape;112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7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7"/>
          <p:cNvSpPr txBox="1"/>
          <p:nvPr/>
        </p:nvSpPr>
        <p:spPr>
          <a:xfrm>
            <a:off x="1047750" y="381000"/>
            <a:ext cx="77154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Creación: Inicialización Directa</a:t>
            </a:r>
            <a:endParaRPr sz="3200" b="1">
              <a:solidFill>
                <a:srgbClr val="1A202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Google Shape;117;p17"/>
          <p:cNvSpPr txBox="1"/>
          <p:nvPr/>
        </p:nvSpPr>
        <p:spPr>
          <a:xfrm>
            <a:off x="381000" y="1047750"/>
            <a:ext cx="83820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4A5568"/>
                </a:solidFill>
                <a:latin typeface="Roboto"/>
                <a:ea typeface="Roboto"/>
                <a:cs typeface="Roboto"/>
                <a:sym typeface="Roboto"/>
              </a:rPr>
              <a:t>Si ya conocemos los datos desde el principio, podemos crear y llenar el arreglo en una sola línea usando llaves </a:t>
            </a:r>
            <a:r>
              <a:rPr lang="en" sz="1400" b="1">
                <a:solidFill>
                  <a:srgbClr val="4A5568"/>
                </a:solidFill>
                <a:latin typeface="Roboto"/>
                <a:ea typeface="Roboto"/>
                <a:cs typeface="Roboto"/>
                <a:sym typeface="Roboto"/>
              </a:rPr>
              <a:t>{ }</a:t>
            </a:r>
            <a:r>
              <a:rPr lang="en" sz="1400">
                <a:solidFill>
                  <a:srgbClr val="4A5568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400">
              <a:solidFill>
                <a:srgbClr val="4A55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8" name="Google Shape;118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1619250"/>
            <a:ext cx="838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7"/>
          <p:cNvSpPr txBox="1"/>
          <p:nvPr/>
        </p:nvSpPr>
        <p:spPr>
          <a:xfrm>
            <a:off x="666750" y="1619250"/>
            <a:ext cx="78105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rgbClr val="48BB78"/>
                </a:solidFill>
                <a:latin typeface="Consolas"/>
                <a:ea typeface="Consolas"/>
                <a:cs typeface="Consolas"/>
                <a:sym typeface="Consolas"/>
              </a:rPr>
              <a:t>entero</a:t>
            </a:r>
            <a:r>
              <a:rPr lang="en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[] </a:t>
            </a:r>
            <a:r>
              <a:rPr lang="en" sz="2200" dirty="0">
                <a:solidFill>
                  <a:srgbClr val="B794F4"/>
                </a:solidFill>
                <a:latin typeface="Consolas"/>
                <a:ea typeface="Consolas"/>
                <a:cs typeface="Consolas"/>
                <a:sym typeface="Consolas"/>
              </a:rPr>
              <a:t>edades</a:t>
            </a:r>
            <a:r>
              <a:rPr lang="en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2200" dirty="0">
                <a:solidFill>
                  <a:srgbClr val="ECC94B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en" sz="2200" dirty="0">
                <a:solidFill>
                  <a:srgbClr val="F56565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n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2200" dirty="0">
                <a:solidFill>
                  <a:srgbClr val="F56565"/>
                </a:solidFill>
                <a:latin typeface="Consolas"/>
                <a:ea typeface="Consolas"/>
                <a:cs typeface="Consolas"/>
                <a:sym typeface="Consolas"/>
              </a:rPr>
              <a:t>25</a:t>
            </a:r>
            <a:r>
              <a:rPr lang="en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2200" dirty="0">
                <a:solidFill>
                  <a:srgbClr val="F56565"/>
                </a:solidFill>
                <a:latin typeface="Consolas"/>
                <a:ea typeface="Consolas"/>
                <a:cs typeface="Consolas"/>
                <a:sym typeface="Consolas"/>
              </a:rPr>
              <a:t>38</a:t>
            </a:r>
            <a:r>
              <a:rPr lang="en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2200" dirty="0">
                <a:solidFill>
                  <a:srgbClr val="F56565"/>
                </a:solidFill>
                <a:latin typeface="Consolas"/>
                <a:ea typeface="Consolas"/>
                <a:cs typeface="Consolas"/>
                <a:sym typeface="Consolas"/>
              </a:rPr>
              <a:t>44</a:t>
            </a:r>
            <a:r>
              <a:rPr lang="en" sz="2200" dirty="0">
                <a:solidFill>
                  <a:srgbClr val="ECC94B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en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200" dirty="0"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120" name="Google Shape;120;p17"/>
          <p:cNvGrpSpPr/>
          <p:nvPr/>
        </p:nvGrpSpPr>
        <p:grpSpPr>
          <a:xfrm>
            <a:off x="1333500" y="3048000"/>
            <a:ext cx="3048000" cy="1143150"/>
            <a:chOff x="0" y="0"/>
            <a:chExt cx="3048000" cy="1143150"/>
          </a:xfrm>
        </p:grpSpPr>
        <p:sp>
          <p:nvSpPr>
            <p:cNvPr id="121" name="Google Shape;121;p17"/>
            <p:cNvSpPr/>
            <p:nvPr/>
          </p:nvSpPr>
          <p:spPr>
            <a:xfrm>
              <a:off x="0" y="0"/>
              <a:ext cx="762000" cy="7620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3182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7"/>
            <p:cNvSpPr/>
            <p:nvPr/>
          </p:nvSpPr>
          <p:spPr>
            <a:xfrm>
              <a:off x="762000" y="0"/>
              <a:ext cx="762000" cy="7620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3182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7"/>
            <p:cNvSpPr/>
            <p:nvPr/>
          </p:nvSpPr>
          <p:spPr>
            <a:xfrm>
              <a:off x="1524000" y="0"/>
              <a:ext cx="762000" cy="7620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3182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7"/>
            <p:cNvSpPr/>
            <p:nvPr/>
          </p:nvSpPr>
          <p:spPr>
            <a:xfrm>
              <a:off x="2286000" y="0"/>
              <a:ext cx="762000" cy="7620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3182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7"/>
            <p:cNvSpPr txBox="1"/>
            <p:nvPr/>
          </p:nvSpPr>
          <p:spPr>
            <a:xfrm>
              <a:off x="0" y="0"/>
              <a:ext cx="76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rgbClr val="2D3748"/>
                  </a:solidFill>
                  <a:latin typeface="Consolas"/>
                  <a:ea typeface="Consolas"/>
                  <a:cs typeface="Consolas"/>
                  <a:sym typeface="Consolas"/>
                </a:rPr>
                <a:t>10</a:t>
              </a:r>
              <a:endParaRPr sz="2000" b="1">
                <a:solidFill>
                  <a:srgbClr val="2D3748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26" name="Google Shape;126;p17"/>
            <p:cNvSpPr txBox="1"/>
            <p:nvPr/>
          </p:nvSpPr>
          <p:spPr>
            <a:xfrm>
              <a:off x="762000" y="0"/>
              <a:ext cx="76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rgbClr val="2D3748"/>
                  </a:solidFill>
                  <a:latin typeface="Consolas"/>
                  <a:ea typeface="Consolas"/>
                  <a:cs typeface="Consolas"/>
                  <a:sym typeface="Consolas"/>
                </a:rPr>
                <a:t>25</a:t>
              </a:r>
              <a:endParaRPr sz="2000" b="1">
                <a:solidFill>
                  <a:srgbClr val="2D3748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27" name="Google Shape;127;p17"/>
            <p:cNvSpPr txBox="1"/>
            <p:nvPr/>
          </p:nvSpPr>
          <p:spPr>
            <a:xfrm>
              <a:off x="1524000" y="0"/>
              <a:ext cx="76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rgbClr val="2D3748"/>
                  </a:solidFill>
                  <a:latin typeface="Consolas"/>
                  <a:ea typeface="Consolas"/>
                  <a:cs typeface="Consolas"/>
                  <a:sym typeface="Consolas"/>
                </a:rPr>
                <a:t>38</a:t>
              </a:r>
              <a:endParaRPr sz="2000" b="1">
                <a:solidFill>
                  <a:srgbClr val="2D3748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28" name="Google Shape;128;p17"/>
            <p:cNvSpPr txBox="1"/>
            <p:nvPr/>
          </p:nvSpPr>
          <p:spPr>
            <a:xfrm>
              <a:off x="2286000" y="0"/>
              <a:ext cx="76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rgbClr val="2D3748"/>
                  </a:solidFill>
                  <a:latin typeface="Consolas"/>
                  <a:ea typeface="Consolas"/>
                  <a:cs typeface="Consolas"/>
                  <a:sym typeface="Consolas"/>
                </a:rPr>
                <a:t>44</a:t>
              </a:r>
              <a:endParaRPr sz="2000" b="1">
                <a:solidFill>
                  <a:srgbClr val="2D3748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29" name="Google Shape;129;p17"/>
            <p:cNvSpPr txBox="1"/>
            <p:nvPr/>
          </p:nvSpPr>
          <p:spPr>
            <a:xfrm>
              <a:off x="0" y="857250"/>
              <a:ext cx="76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718096"/>
                  </a:solidFill>
                  <a:latin typeface="Consolas"/>
                  <a:ea typeface="Consolas"/>
                  <a:cs typeface="Consolas"/>
                  <a:sym typeface="Consolas"/>
                </a:rPr>
                <a:t>[0]</a:t>
              </a:r>
              <a:endParaRPr sz="1200">
                <a:solidFill>
                  <a:srgbClr val="718096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30" name="Google Shape;130;p17"/>
            <p:cNvSpPr txBox="1"/>
            <p:nvPr/>
          </p:nvSpPr>
          <p:spPr>
            <a:xfrm>
              <a:off x="762000" y="857250"/>
              <a:ext cx="76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718096"/>
                  </a:solidFill>
                  <a:latin typeface="Consolas"/>
                  <a:ea typeface="Consolas"/>
                  <a:cs typeface="Consolas"/>
                  <a:sym typeface="Consolas"/>
                </a:rPr>
                <a:t>[1]</a:t>
              </a:r>
              <a:endParaRPr sz="1200">
                <a:solidFill>
                  <a:srgbClr val="718096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31" name="Google Shape;131;p17"/>
            <p:cNvSpPr txBox="1"/>
            <p:nvPr/>
          </p:nvSpPr>
          <p:spPr>
            <a:xfrm>
              <a:off x="1524000" y="857250"/>
              <a:ext cx="76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718096"/>
                  </a:solidFill>
                  <a:latin typeface="Consolas"/>
                  <a:ea typeface="Consolas"/>
                  <a:cs typeface="Consolas"/>
                  <a:sym typeface="Consolas"/>
                </a:rPr>
                <a:t>[2]</a:t>
              </a:r>
              <a:endParaRPr sz="1200">
                <a:solidFill>
                  <a:srgbClr val="718096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32" name="Google Shape;132;p17"/>
            <p:cNvSpPr txBox="1"/>
            <p:nvPr/>
          </p:nvSpPr>
          <p:spPr>
            <a:xfrm>
              <a:off x="2286000" y="857250"/>
              <a:ext cx="76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718096"/>
                  </a:solidFill>
                  <a:latin typeface="Consolas"/>
                  <a:ea typeface="Consolas"/>
                  <a:cs typeface="Consolas"/>
                  <a:sym typeface="Consolas"/>
                </a:rPr>
                <a:t>[3]</a:t>
              </a:r>
              <a:endParaRPr sz="1200">
                <a:solidFill>
                  <a:srgbClr val="718096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pic>
        <p:nvPicPr>
          <p:cNvPr id="133" name="Google Shape;133;p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57738" y="2662238"/>
            <a:ext cx="4010100" cy="2105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 txBox="1"/>
          <p:nvPr/>
        </p:nvSpPr>
        <p:spPr>
          <a:xfrm>
            <a:off x="5048250" y="2857500"/>
            <a:ext cx="3429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rPr>
              <a:t>Deducción Automática</a:t>
            </a:r>
            <a:endParaRPr sz="1400" b="1">
              <a:solidFill>
                <a:srgbClr val="2D374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5048250" y="3190875"/>
            <a:ext cx="381000" cy="2850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5048250" y="3333750"/>
            <a:ext cx="3429000" cy="12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4A5568"/>
                </a:solidFill>
                <a:latin typeface="Roboto"/>
                <a:ea typeface="Roboto"/>
                <a:cs typeface="Roboto"/>
                <a:sym typeface="Roboto"/>
              </a:rPr>
              <a:t>En este esquema no hace falta decirle el tamaño al programa. El compilador cuenta los elementos dentro de las llaves y deduce automáticamente que el arreglo es de tamaño 4.</a:t>
            </a:r>
            <a:endParaRPr sz="1100">
              <a:solidFill>
                <a:srgbClr val="4A55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" grpId="0"/>
      <p:bldP spid="134" grpId="0"/>
      <p:bldP spid="135" grpId="0" animBg="1"/>
      <p:bldP spid="13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2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381000" y="3810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El Corazón del Arreglo: El Índice</a:t>
            </a:r>
            <a:endParaRPr sz="3200" b="1">
              <a:solidFill>
                <a:srgbClr val="1A202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381000" y="952500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>
                <a:solidFill>
                  <a:srgbClr val="4A5568"/>
                </a:solidFill>
                <a:latin typeface="Roboto"/>
                <a:ea typeface="Roboto"/>
                <a:cs typeface="Roboto"/>
                <a:sym typeface="Roboto"/>
              </a:rPr>
              <a:t>Para acceder a un elemento específico, usamos su índice, un número entero que representa su posición.</a:t>
            </a:r>
            <a:endParaRPr sz="1400" b="0">
              <a:solidFill>
                <a:srgbClr val="4A55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74" name="Google Shape;174;p20"/>
          <p:cNvGrpSpPr/>
          <p:nvPr/>
        </p:nvGrpSpPr>
        <p:grpSpPr>
          <a:xfrm>
            <a:off x="381000" y="1428750"/>
            <a:ext cx="8382000" cy="571500"/>
            <a:chOff x="381000" y="1428750"/>
            <a:chExt cx="8382000" cy="571500"/>
          </a:xfrm>
        </p:grpSpPr>
        <p:sp>
          <p:nvSpPr>
            <p:cNvPr id="175" name="Google Shape;175;p20"/>
            <p:cNvSpPr/>
            <p:nvPr/>
          </p:nvSpPr>
          <p:spPr>
            <a:xfrm>
              <a:off x="381000" y="1428750"/>
              <a:ext cx="8382000" cy="571500"/>
            </a:xfrm>
            <a:prstGeom prst="roundRect">
              <a:avLst>
                <a:gd name="adj" fmla="val 13333"/>
              </a:avLst>
            </a:prstGeom>
            <a:solidFill>
              <a:srgbClr val="FEFCBF"/>
            </a:solidFill>
            <a:ln w="9525" cap="flat" cmpd="sng">
              <a:solidFill>
                <a:srgbClr val="ECC94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0"/>
            <p:cNvSpPr txBox="1"/>
            <p:nvPr/>
          </p:nvSpPr>
          <p:spPr>
            <a:xfrm>
              <a:off x="571500" y="1428750"/>
              <a:ext cx="8001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744210"/>
                  </a:solidFill>
                  <a:latin typeface="Roboto"/>
                  <a:ea typeface="Roboto"/>
                  <a:cs typeface="Roboto"/>
                  <a:sym typeface="Roboto"/>
                </a:rPr>
                <a:t>¡Regla Fundamental! En la mayoría de lenguajes (incluyendo Java), los índices siempre comienzan en 0.</a:t>
              </a:r>
              <a:endParaRPr sz="1300" b="1">
                <a:solidFill>
                  <a:srgbClr val="74421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7" name="Google Shape;177;p20"/>
          <p:cNvGrpSpPr/>
          <p:nvPr/>
        </p:nvGrpSpPr>
        <p:grpSpPr>
          <a:xfrm>
            <a:off x="381000" y="2238375"/>
            <a:ext cx="4048200" cy="2524200"/>
            <a:chOff x="381000" y="2238375"/>
            <a:chExt cx="4048200" cy="2524200"/>
          </a:xfrm>
        </p:grpSpPr>
        <p:sp>
          <p:nvSpPr>
            <p:cNvPr id="178" name="Google Shape;178;p20"/>
            <p:cNvSpPr/>
            <p:nvPr/>
          </p:nvSpPr>
          <p:spPr>
            <a:xfrm>
              <a:off x="381000" y="2238375"/>
              <a:ext cx="4048200" cy="2524200"/>
            </a:xfrm>
            <a:prstGeom prst="roundRect">
              <a:avLst>
                <a:gd name="adj" fmla="val 4528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20"/>
            <p:cNvSpPr txBox="1"/>
            <p:nvPr/>
          </p:nvSpPr>
          <p:spPr>
            <a:xfrm>
              <a:off x="666750" y="2428875"/>
              <a:ext cx="34767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0">
                  <a:solidFill>
                    <a:srgbClr val="2D3748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Visualización de Acceso</a:t>
              </a:r>
              <a:endParaRPr sz="1600" b="0">
                <a:solidFill>
                  <a:srgbClr val="2D3748"/>
                </a:solidFill>
                <a:latin typeface="Roboto SemiBold"/>
                <a:ea typeface="Roboto SemiBold"/>
                <a:cs typeface="Roboto SemiBold"/>
                <a:sym typeface="Roboto SemiBold"/>
              </a:endParaRPr>
            </a:p>
          </p:txBody>
        </p:sp>
        <p:sp>
          <p:nvSpPr>
            <p:cNvPr id="180" name="Google Shape;180;p20"/>
            <p:cNvSpPr/>
            <p:nvPr/>
          </p:nvSpPr>
          <p:spPr>
            <a:xfrm>
              <a:off x="666750" y="2762250"/>
              <a:ext cx="381000" cy="28500"/>
            </a:xfrm>
            <a:prstGeom prst="rect">
              <a:avLst/>
            </a:prstGeom>
            <a:solidFill>
              <a:srgbClr val="3182C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1" name="Google Shape;181;p20"/>
            <p:cNvGrpSpPr/>
            <p:nvPr/>
          </p:nvGrpSpPr>
          <p:grpSpPr>
            <a:xfrm>
              <a:off x="666750" y="3095625"/>
              <a:ext cx="2952750" cy="857400"/>
              <a:chOff x="666750" y="3095625"/>
              <a:chExt cx="2952750" cy="857400"/>
            </a:xfrm>
          </p:grpSpPr>
          <p:pic>
            <p:nvPicPr>
              <p:cNvPr id="182" name="Google Shape;182;p20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666750" y="3095625"/>
                <a:ext cx="952500" cy="5715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3" name="Google Shape;183;p20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666875" y="3095625"/>
                <a:ext cx="952500" cy="5715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4" name="Google Shape;184;p20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2667000" y="3095625"/>
                <a:ext cx="952500" cy="5715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5" name="Google Shape;185;p20"/>
              <p:cNvSpPr txBox="1"/>
              <p:nvPr/>
            </p:nvSpPr>
            <p:spPr>
              <a:xfrm>
                <a:off x="666750" y="3095625"/>
                <a:ext cx="952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solidFill>
                      <a:srgbClr val="E2E8F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4.5</a:t>
                </a:r>
                <a:endParaRPr sz="1800" b="1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186" name="Google Shape;186;p20"/>
              <p:cNvSpPr txBox="1"/>
              <p:nvPr/>
            </p:nvSpPr>
            <p:spPr>
              <a:xfrm>
                <a:off x="1666875" y="3095625"/>
                <a:ext cx="952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solidFill>
                      <a:srgbClr val="E2E8F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3.0</a:t>
                </a:r>
                <a:endParaRPr sz="1800" b="1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187" name="Google Shape;187;p20"/>
              <p:cNvSpPr txBox="1"/>
              <p:nvPr/>
            </p:nvSpPr>
            <p:spPr>
              <a:xfrm>
                <a:off x="2667000" y="3095625"/>
                <a:ext cx="952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solidFill>
                      <a:srgbClr val="E2E8F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5.0</a:t>
                </a:r>
                <a:endParaRPr sz="1800" b="1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188" name="Google Shape;188;p20"/>
              <p:cNvSpPr txBox="1"/>
              <p:nvPr/>
            </p:nvSpPr>
            <p:spPr>
              <a:xfrm>
                <a:off x="666750" y="3667125"/>
                <a:ext cx="9525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b="0">
                    <a:solidFill>
                      <a:srgbClr val="718096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[0]</a:t>
                </a:r>
                <a:endParaRPr sz="1200" b="0">
                  <a:solidFill>
                    <a:srgbClr val="718096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189" name="Google Shape;189;p20"/>
              <p:cNvSpPr txBox="1"/>
              <p:nvPr/>
            </p:nvSpPr>
            <p:spPr>
              <a:xfrm>
                <a:off x="1666875" y="3667125"/>
                <a:ext cx="9525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b="0">
                    <a:solidFill>
                      <a:srgbClr val="718096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[1]</a:t>
                </a:r>
                <a:endParaRPr sz="1200" b="0">
                  <a:solidFill>
                    <a:srgbClr val="718096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190" name="Google Shape;190;p20"/>
              <p:cNvSpPr txBox="1"/>
              <p:nvPr/>
            </p:nvSpPr>
            <p:spPr>
              <a:xfrm>
                <a:off x="2667000" y="3667125"/>
                <a:ext cx="9525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b="0">
                    <a:solidFill>
                      <a:srgbClr val="718096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[2]</a:t>
                </a:r>
                <a:endParaRPr sz="1200" b="0">
                  <a:solidFill>
                    <a:srgbClr val="718096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pic>
          <p:nvPicPr>
            <p:cNvPr id="191" name="Google Shape;191;p2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081338" y="3943350"/>
              <a:ext cx="123900" cy="438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2" name="Google Shape;192;p20"/>
            <p:cNvSpPr txBox="1"/>
            <p:nvPr/>
          </p:nvSpPr>
          <p:spPr>
            <a:xfrm>
              <a:off x="2667000" y="4429125"/>
              <a:ext cx="95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3182CE"/>
                  </a:solidFill>
                  <a:latin typeface="Consolas"/>
                  <a:ea typeface="Consolas"/>
                  <a:cs typeface="Consolas"/>
                  <a:sym typeface="Consolas"/>
                </a:rPr>
                <a:t>notas[2]</a:t>
              </a:r>
              <a:endParaRPr sz="1400" b="1">
                <a:solidFill>
                  <a:srgbClr val="3182CE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193" name="Google Shape;193;p20"/>
          <p:cNvGrpSpPr/>
          <p:nvPr/>
        </p:nvGrpSpPr>
        <p:grpSpPr>
          <a:xfrm>
            <a:off x="4714875" y="2238375"/>
            <a:ext cx="4048200" cy="2524200"/>
            <a:chOff x="4714875" y="2238375"/>
            <a:chExt cx="4048200" cy="2524200"/>
          </a:xfrm>
        </p:grpSpPr>
        <p:sp>
          <p:nvSpPr>
            <p:cNvPr id="194" name="Google Shape;194;p20"/>
            <p:cNvSpPr/>
            <p:nvPr/>
          </p:nvSpPr>
          <p:spPr>
            <a:xfrm>
              <a:off x="4714875" y="2238375"/>
              <a:ext cx="4048200" cy="2524200"/>
            </a:xfrm>
            <a:prstGeom prst="roundRect">
              <a:avLst>
                <a:gd name="adj" fmla="val 4528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20"/>
            <p:cNvSpPr txBox="1"/>
            <p:nvPr/>
          </p:nvSpPr>
          <p:spPr>
            <a:xfrm>
              <a:off x="5000625" y="2428875"/>
              <a:ext cx="34767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0">
                  <a:solidFill>
                    <a:srgbClr val="2D3748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Rango de Índices</a:t>
              </a:r>
              <a:endParaRPr sz="1600" b="0">
                <a:solidFill>
                  <a:srgbClr val="2D3748"/>
                </a:solidFill>
                <a:latin typeface="Roboto SemiBold"/>
                <a:ea typeface="Roboto SemiBold"/>
                <a:cs typeface="Roboto SemiBold"/>
                <a:sym typeface="Roboto SemiBold"/>
              </a:endParaRPr>
            </a:p>
          </p:txBody>
        </p:sp>
        <p:sp>
          <p:nvSpPr>
            <p:cNvPr id="196" name="Google Shape;196;p20"/>
            <p:cNvSpPr/>
            <p:nvPr/>
          </p:nvSpPr>
          <p:spPr>
            <a:xfrm>
              <a:off x="5000625" y="2762250"/>
              <a:ext cx="381000" cy="28500"/>
            </a:xfrm>
            <a:prstGeom prst="rect">
              <a:avLst/>
            </a:prstGeom>
            <a:solidFill>
              <a:srgbClr val="3182C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20"/>
            <p:cNvSpPr txBox="1"/>
            <p:nvPr/>
          </p:nvSpPr>
          <p:spPr>
            <a:xfrm>
              <a:off x="5000625" y="3000375"/>
              <a:ext cx="34767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457200" lvl="0" indent="-311150" algn="l" rtl="0">
                <a:spcBef>
                  <a:spcPts val="0"/>
                </a:spcBef>
                <a:spcAft>
                  <a:spcPts val="0"/>
                </a:spcAft>
                <a:buClr>
                  <a:srgbClr val="2D3748"/>
                </a:buClr>
                <a:buSzPts val="1300"/>
                <a:buFont typeface="Roboto"/>
                <a:buChar char="●"/>
              </a:pPr>
              <a:r>
                <a:rPr lang="en" sz="1300" b="0">
                  <a:solidFill>
                    <a:srgbClr val="2D3748"/>
                  </a:solidFill>
                  <a:latin typeface="Roboto"/>
                  <a:ea typeface="Roboto"/>
                  <a:cs typeface="Roboto"/>
                  <a:sym typeface="Roboto"/>
                </a:rPr>
                <a:t>Para un arreglo de tamaño </a:t>
              </a:r>
              <a:r>
                <a:rPr lang="en" sz="1300" b="1">
                  <a:solidFill>
                    <a:srgbClr val="2D3748"/>
                  </a:solidFill>
                  <a:latin typeface="Roboto"/>
                  <a:ea typeface="Roboto"/>
                  <a:cs typeface="Roboto"/>
                  <a:sym typeface="Roboto"/>
                </a:rPr>
                <a:t>N</a:t>
              </a:r>
              <a:r>
                <a:rPr lang="en" sz="1300" b="0">
                  <a:solidFill>
                    <a:srgbClr val="2D3748"/>
                  </a:solidFill>
                  <a:latin typeface="Roboto"/>
                  <a:ea typeface="Roboto"/>
                  <a:cs typeface="Roboto"/>
                  <a:sym typeface="Roboto"/>
                </a:rPr>
                <a:t>, los índices válidos van de </a:t>
              </a:r>
              <a:r>
                <a:rPr lang="en" sz="1300" b="1">
                  <a:solidFill>
                    <a:srgbClr val="2D3748"/>
                  </a:solidFill>
                  <a:latin typeface="Roboto"/>
                  <a:ea typeface="Roboto"/>
                  <a:cs typeface="Roboto"/>
                  <a:sym typeface="Roboto"/>
                </a:rPr>
                <a:t>0</a:t>
              </a:r>
              <a:r>
                <a:rPr lang="en" sz="1300" b="0">
                  <a:solidFill>
                    <a:srgbClr val="2D3748"/>
                  </a:solidFill>
                  <a:latin typeface="Roboto"/>
                  <a:ea typeface="Roboto"/>
                  <a:cs typeface="Roboto"/>
                  <a:sym typeface="Roboto"/>
                </a:rPr>
                <a:t> a </a:t>
              </a:r>
              <a:r>
                <a:rPr lang="en" sz="1300" b="1">
                  <a:solidFill>
                    <a:srgbClr val="2D3748"/>
                  </a:solidFill>
                  <a:latin typeface="Roboto"/>
                  <a:ea typeface="Roboto"/>
                  <a:cs typeface="Roboto"/>
                  <a:sym typeface="Roboto"/>
                </a:rPr>
                <a:t>N-1</a:t>
              </a:r>
              <a:r>
                <a:rPr lang="en" sz="1300" b="0">
                  <a:solidFill>
                    <a:srgbClr val="2D3748"/>
                  </a:solidFill>
                  <a:latin typeface="Roboto"/>
                  <a:ea typeface="Roboto"/>
                  <a:cs typeface="Roboto"/>
                  <a:sym typeface="Roboto"/>
                </a:rPr>
                <a:t>.</a:t>
              </a:r>
              <a:endParaRPr sz="1300" b="0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311150" algn="l" rtl="0">
                <a:spcBef>
                  <a:spcPts val="750"/>
                </a:spcBef>
                <a:spcAft>
                  <a:spcPts val="0"/>
                </a:spcAft>
                <a:buClr>
                  <a:srgbClr val="2D3748"/>
                </a:buClr>
                <a:buSzPts val="1300"/>
                <a:buFont typeface="Roboto"/>
                <a:buChar char="●"/>
              </a:pPr>
              <a:r>
                <a:rPr lang="en" sz="1300" b="0">
                  <a:solidFill>
                    <a:srgbClr val="2D3748"/>
                  </a:solidFill>
                  <a:latin typeface="Roboto"/>
                  <a:ea typeface="Roboto"/>
                  <a:cs typeface="Roboto"/>
                  <a:sym typeface="Roboto"/>
                </a:rPr>
                <a:t>Acceso Correcto: </a:t>
              </a:r>
              <a:r>
                <a:rPr lang="en" sz="1300" b="0">
                  <a:solidFill>
                    <a:srgbClr val="2F855A"/>
                  </a:solidFill>
                  <a:latin typeface="Consolas"/>
                  <a:ea typeface="Consolas"/>
                  <a:cs typeface="Consolas"/>
                  <a:sym typeface="Consolas"/>
                </a:rPr>
                <a:t>notas[0]</a:t>
              </a:r>
              <a:r>
                <a:rPr lang="en" sz="1300" b="0">
                  <a:solidFill>
                    <a:srgbClr val="2D3748"/>
                  </a:solidFill>
                  <a:latin typeface="Roboto"/>
                  <a:ea typeface="Roboto"/>
                  <a:cs typeface="Roboto"/>
                  <a:sym typeface="Roboto"/>
                </a:rPr>
                <a:t> (el primer elemento).</a:t>
              </a:r>
              <a:endParaRPr sz="1300" b="0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311150" algn="l" rtl="0">
                <a:spcBef>
                  <a:spcPts val="750"/>
                </a:spcBef>
                <a:spcAft>
                  <a:spcPts val="0"/>
                </a:spcAft>
                <a:buClr>
                  <a:srgbClr val="2D3748"/>
                </a:buClr>
                <a:buSzPts val="1300"/>
                <a:buFont typeface="Roboto"/>
                <a:buChar char="●"/>
              </a:pPr>
              <a:r>
                <a:rPr lang="en" sz="1300" b="0">
                  <a:solidFill>
                    <a:srgbClr val="2D3748"/>
                  </a:solidFill>
                  <a:latin typeface="Roboto"/>
                  <a:ea typeface="Roboto"/>
                  <a:cs typeface="Roboto"/>
                  <a:sym typeface="Roboto"/>
                </a:rPr>
                <a:t>Acceso Incorrecto: </a:t>
              </a:r>
              <a:r>
                <a:rPr lang="en" sz="1300" b="0">
                  <a:solidFill>
                    <a:srgbClr val="C53030"/>
                  </a:solidFill>
                  <a:latin typeface="Consolas"/>
                  <a:ea typeface="Consolas"/>
                  <a:cs typeface="Consolas"/>
                  <a:sym typeface="Consolas"/>
                </a:rPr>
                <a:t>notas[3]</a:t>
              </a:r>
              <a:r>
                <a:rPr lang="en" sz="1300" b="0">
                  <a:solidFill>
                    <a:srgbClr val="2D3748"/>
                  </a:solidFill>
                  <a:latin typeface="Roboto"/>
                  <a:ea typeface="Roboto"/>
                  <a:cs typeface="Roboto"/>
                  <a:sym typeface="Roboto"/>
                </a:rPr>
                <a:t> (fuera de límites para N=3).</a:t>
              </a:r>
              <a:endParaRPr sz="1300" b="0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29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29"/>
          <p:cNvSpPr txBox="1"/>
          <p:nvPr/>
        </p:nvSpPr>
        <p:spPr>
          <a:xfrm>
            <a:off x="1047750" y="381000"/>
            <a:ext cx="77154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Error Común: Índice Fuera de Rango</a:t>
            </a:r>
            <a:endParaRPr sz="2800" b="1">
              <a:solidFill>
                <a:srgbClr val="1A202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7" name="Google Shape;377;p29"/>
          <p:cNvSpPr txBox="1"/>
          <p:nvPr/>
        </p:nvSpPr>
        <p:spPr>
          <a:xfrm>
            <a:off x="381000" y="9525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>
                <a:solidFill>
                  <a:srgbClr val="4A5568"/>
                </a:solidFill>
                <a:latin typeface="Roboto"/>
                <a:ea typeface="Roboto"/>
                <a:cs typeface="Roboto"/>
                <a:sym typeface="Roboto"/>
              </a:rPr>
              <a:t>El error más frecuente al usar arreglos es intentar acceder a un índice que no existe. Java te detendrá con un error: </a:t>
            </a:r>
            <a:r>
              <a:rPr lang="en" sz="1400" b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ArrayIndexOutOfBoundsException</a:t>
            </a:r>
            <a:r>
              <a:rPr lang="en" sz="1400" b="0">
                <a:solidFill>
                  <a:srgbClr val="4A5568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400" b="0">
              <a:solidFill>
                <a:srgbClr val="4A55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78" name="Google Shape;378;p29"/>
          <p:cNvGrpSpPr/>
          <p:nvPr/>
        </p:nvGrpSpPr>
        <p:grpSpPr>
          <a:xfrm>
            <a:off x="704850" y="2371725"/>
            <a:ext cx="3352950" cy="962175"/>
            <a:chOff x="323850" y="657225"/>
            <a:chExt cx="3352950" cy="962175"/>
          </a:xfrm>
        </p:grpSpPr>
        <p:pic>
          <p:nvPicPr>
            <p:cNvPr id="379" name="Google Shape;379;p2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23850" y="657225"/>
              <a:ext cx="971700" cy="590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0" name="Google Shape;380;p29"/>
            <p:cNvSpPr txBox="1"/>
            <p:nvPr/>
          </p:nvSpPr>
          <p:spPr>
            <a:xfrm>
              <a:off x="333375" y="1333500"/>
              <a:ext cx="95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718096"/>
                  </a:solidFill>
                  <a:latin typeface="Consolas"/>
                  <a:ea typeface="Consolas"/>
                  <a:cs typeface="Consolas"/>
                  <a:sym typeface="Consolas"/>
                </a:rPr>
                <a:t>[0]</a:t>
              </a:r>
              <a:endParaRPr sz="1200">
                <a:solidFill>
                  <a:srgbClr val="718096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pic>
          <p:nvPicPr>
            <p:cNvPr id="381" name="Google Shape;381;p2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514475" y="657225"/>
              <a:ext cx="971700" cy="590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2" name="Google Shape;382;p29"/>
            <p:cNvSpPr txBox="1"/>
            <p:nvPr/>
          </p:nvSpPr>
          <p:spPr>
            <a:xfrm>
              <a:off x="1524000" y="1333500"/>
              <a:ext cx="95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718096"/>
                  </a:solidFill>
                  <a:latin typeface="Consolas"/>
                  <a:ea typeface="Consolas"/>
                  <a:cs typeface="Consolas"/>
                  <a:sym typeface="Consolas"/>
                </a:rPr>
                <a:t>[1]</a:t>
              </a:r>
              <a:endParaRPr sz="1200">
                <a:solidFill>
                  <a:srgbClr val="718096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pic>
          <p:nvPicPr>
            <p:cNvPr id="383" name="Google Shape;383;p2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705100" y="657225"/>
              <a:ext cx="971700" cy="590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4" name="Google Shape;384;p29"/>
            <p:cNvSpPr txBox="1"/>
            <p:nvPr/>
          </p:nvSpPr>
          <p:spPr>
            <a:xfrm>
              <a:off x="2714625" y="1333500"/>
              <a:ext cx="95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718096"/>
                  </a:solidFill>
                  <a:latin typeface="Consolas"/>
                  <a:ea typeface="Consolas"/>
                  <a:cs typeface="Consolas"/>
                  <a:sym typeface="Consolas"/>
                </a:rPr>
                <a:t>[2]</a:t>
              </a:r>
              <a:endParaRPr sz="1200">
                <a:solidFill>
                  <a:srgbClr val="718096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385" name="Google Shape;385;p29"/>
          <p:cNvGrpSpPr/>
          <p:nvPr/>
        </p:nvGrpSpPr>
        <p:grpSpPr>
          <a:xfrm>
            <a:off x="4714875" y="1714500"/>
            <a:ext cx="4048200" cy="1905000"/>
            <a:chOff x="0" y="0"/>
            <a:chExt cx="4048200" cy="1905000"/>
          </a:xfrm>
        </p:grpSpPr>
        <p:pic>
          <p:nvPicPr>
            <p:cNvPr id="386" name="Google Shape;386;p2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0" y="0"/>
              <a:ext cx="4048200" cy="190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7" name="Google Shape;387;p29"/>
            <p:cNvSpPr txBox="1"/>
            <p:nvPr/>
          </p:nvSpPr>
          <p:spPr>
            <a:xfrm>
              <a:off x="190500" y="190500"/>
              <a:ext cx="36672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4FD1C5"/>
                  </a:solidFill>
                  <a:latin typeface="Consolas"/>
                  <a:ea typeface="Consolas"/>
                  <a:cs typeface="Consolas"/>
                  <a:sym typeface="Consolas"/>
                </a:rPr>
                <a:t>int</a:t>
              </a:r>
              <a:r>
                <a:rPr lang="en" sz="130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[] miArreglo = </a:t>
              </a:r>
              <a:r>
                <a:rPr lang="en" sz="1300">
                  <a:solidFill>
                    <a:srgbClr val="4FD1C5"/>
                  </a:solidFill>
                  <a:latin typeface="Consolas"/>
                  <a:ea typeface="Consolas"/>
                  <a:cs typeface="Consolas"/>
                  <a:sym typeface="Consolas"/>
                </a:rPr>
                <a:t>nuevo int</a:t>
              </a:r>
              <a:r>
                <a:rPr lang="en" sz="130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[</a:t>
              </a:r>
              <a:r>
                <a:rPr lang="en" sz="1300">
                  <a:solidFill>
                    <a:srgbClr val="F56565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r>
                <a:rPr lang="en" sz="130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]</a:t>
              </a:r>
              <a:endParaRPr sz="13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miArreglo[</a:t>
              </a:r>
              <a:r>
                <a:rPr lang="en" sz="1300">
                  <a:solidFill>
                    <a:srgbClr val="F56565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r>
                <a:rPr lang="en" sz="130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] = </a:t>
              </a:r>
              <a:r>
                <a:rPr lang="en" sz="1300">
                  <a:solidFill>
                    <a:srgbClr val="F56565"/>
                  </a:solidFill>
                  <a:latin typeface="Consolas"/>
                  <a:ea typeface="Consolas"/>
                  <a:cs typeface="Consolas"/>
                  <a:sym typeface="Consolas"/>
                </a:rPr>
                <a:t>10</a:t>
              </a:r>
              <a:r>
                <a:rPr lang="en" sz="130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" sz="1300">
                  <a:solidFill>
                    <a:srgbClr val="718096"/>
                  </a:solidFill>
                  <a:latin typeface="Consolas"/>
                  <a:ea typeface="Consolas"/>
                  <a:cs typeface="Consolas"/>
                  <a:sym typeface="Consolas"/>
                </a:rPr>
                <a:t>// OK</a:t>
              </a:r>
              <a:endParaRPr sz="13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miArreglo[</a:t>
              </a:r>
              <a:r>
                <a:rPr lang="en" sz="1300">
                  <a:solidFill>
                    <a:srgbClr val="F56565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r>
                <a:rPr lang="en" sz="130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] = </a:t>
              </a:r>
              <a:r>
                <a:rPr lang="en" sz="1300">
                  <a:solidFill>
                    <a:srgbClr val="F56565"/>
                  </a:solidFill>
                  <a:latin typeface="Consolas"/>
                  <a:ea typeface="Consolas"/>
                  <a:cs typeface="Consolas"/>
                  <a:sym typeface="Consolas"/>
                </a:rPr>
                <a:t>20</a:t>
              </a:r>
              <a:r>
                <a:rPr lang="en" sz="130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" sz="1300">
                  <a:solidFill>
                    <a:srgbClr val="718096"/>
                  </a:solidFill>
                  <a:latin typeface="Consolas"/>
                  <a:ea typeface="Consolas"/>
                  <a:cs typeface="Consolas"/>
                  <a:sym typeface="Consolas"/>
                </a:rPr>
                <a:t>// OK</a:t>
              </a:r>
              <a:endParaRPr sz="13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miArreglo[</a:t>
              </a:r>
              <a:r>
                <a:rPr lang="en" sz="1300">
                  <a:solidFill>
                    <a:srgbClr val="F56565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r>
                <a:rPr lang="en" sz="130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] = </a:t>
              </a:r>
              <a:r>
                <a:rPr lang="en" sz="1300">
                  <a:solidFill>
                    <a:srgbClr val="F56565"/>
                  </a:solidFill>
                  <a:latin typeface="Consolas"/>
                  <a:ea typeface="Consolas"/>
                  <a:cs typeface="Consolas"/>
                  <a:sym typeface="Consolas"/>
                </a:rPr>
                <a:t>30</a:t>
              </a:r>
              <a:r>
                <a:rPr lang="en" sz="130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" sz="1300">
                  <a:solidFill>
                    <a:srgbClr val="718096"/>
                  </a:solidFill>
                  <a:latin typeface="Consolas"/>
                  <a:ea typeface="Consolas"/>
                  <a:cs typeface="Consolas"/>
                  <a:sym typeface="Consolas"/>
                </a:rPr>
                <a:t>// OK</a:t>
              </a:r>
              <a:endParaRPr sz="13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F56565"/>
                  </a:solidFill>
                  <a:latin typeface="Consolas"/>
                  <a:ea typeface="Consolas"/>
                  <a:cs typeface="Consolas"/>
                  <a:sym typeface="Consolas"/>
                </a:rPr>
                <a:t>miArreglo[3] = 40 </a:t>
              </a:r>
              <a:r>
                <a:rPr lang="en" sz="1300">
                  <a:solidFill>
                    <a:srgbClr val="718096"/>
                  </a:solidFill>
                  <a:latin typeface="Consolas"/>
                  <a:ea typeface="Consolas"/>
                  <a:cs typeface="Consolas"/>
                  <a:sym typeface="Consolas"/>
                </a:rPr>
                <a:t>// ¡ERROR!</a:t>
              </a:r>
              <a:endParaRPr sz="1300">
                <a:solidFill>
                  <a:srgbClr val="F56565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139700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718096"/>
                  </a:solidFill>
                  <a:latin typeface="Consolas"/>
                  <a:ea typeface="Consolas"/>
                  <a:cs typeface="Consolas"/>
                  <a:sym typeface="Consolas"/>
                </a:rPr>
                <a:t>El índice 3 no existe.</a:t>
              </a:r>
              <a:endParaRPr sz="1300">
                <a:solidFill>
                  <a:srgbClr val="718096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388" name="Google Shape;388;p29"/>
          <p:cNvGrpSpPr/>
          <p:nvPr/>
        </p:nvGrpSpPr>
        <p:grpSpPr>
          <a:xfrm>
            <a:off x="381000" y="3905250"/>
            <a:ext cx="8382000" cy="762000"/>
            <a:chOff x="0" y="0"/>
            <a:chExt cx="8382000" cy="762000"/>
          </a:xfrm>
        </p:grpSpPr>
        <p:sp>
          <p:nvSpPr>
            <p:cNvPr id="389" name="Google Shape;389;p29"/>
            <p:cNvSpPr/>
            <p:nvPr/>
          </p:nvSpPr>
          <p:spPr>
            <a:xfrm>
              <a:off x="0" y="0"/>
              <a:ext cx="8382000" cy="762000"/>
            </a:xfrm>
            <a:prstGeom prst="roundRect">
              <a:avLst>
                <a:gd name="adj" fmla="val 10000"/>
              </a:avLst>
            </a:prstGeom>
            <a:solidFill>
              <a:srgbClr val="FFF5F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29"/>
            <p:cNvSpPr/>
            <p:nvPr/>
          </p:nvSpPr>
          <p:spPr>
            <a:xfrm>
              <a:off x="0" y="0"/>
              <a:ext cx="57300" cy="762000"/>
            </a:xfrm>
            <a:prstGeom prst="roundRect">
              <a:avLst>
                <a:gd name="adj" fmla="val 33333"/>
              </a:avLst>
            </a:prstGeom>
            <a:solidFill>
              <a:srgbClr val="C5303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29"/>
            <p:cNvSpPr txBox="1"/>
            <p:nvPr/>
          </p:nvSpPr>
          <p:spPr>
            <a:xfrm>
              <a:off x="285750" y="0"/>
              <a:ext cx="7810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C53030"/>
                  </a:solidFill>
                  <a:latin typeface="Roboto"/>
                  <a:ea typeface="Roboto"/>
                  <a:cs typeface="Roboto"/>
                  <a:sym typeface="Roboto"/>
                </a:rPr>
                <a:t>Prevención:</a:t>
              </a:r>
              <a:r>
                <a:rPr lang="en" sz="1300">
                  <a:solidFill>
                    <a:srgbClr val="2D3748"/>
                  </a:solidFill>
                  <a:latin typeface="Roboto"/>
                  <a:ea typeface="Roboto"/>
                  <a:cs typeface="Roboto"/>
                  <a:sym typeface="Roboto"/>
                </a:rPr>
                <a:t> Asegúrate de que tus bucles recorran desde 0 hasta longitud(vector) - 1. La condición </a:t>
              </a:r>
              <a:r>
                <a:rPr lang="en" sz="1300">
                  <a:solidFill>
                    <a:srgbClr val="2D3748"/>
                  </a:solidFill>
                  <a:latin typeface="Consolas"/>
                  <a:ea typeface="Consolas"/>
                  <a:cs typeface="Consolas"/>
                  <a:sym typeface="Consolas"/>
                </a:rPr>
                <a:t>i &lt; longitud(vector)</a:t>
              </a:r>
              <a:r>
                <a:rPr lang="en" sz="1300">
                  <a:solidFill>
                    <a:srgbClr val="2D3748"/>
                  </a:solidFill>
                  <a:latin typeface="Roboto"/>
                  <a:ea typeface="Roboto"/>
                  <a:cs typeface="Roboto"/>
                  <a:sym typeface="Roboto"/>
                </a:rPr>
                <a:t> es tu mejor aliada.</a:t>
              </a:r>
              <a:endParaRPr sz="1300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489D632-EFB2-FB42-E32E-1263C1713CB7}"/>
              </a:ext>
            </a:extLst>
          </p:cNvPr>
          <p:cNvSpPr/>
          <p:nvPr/>
        </p:nvSpPr>
        <p:spPr>
          <a:xfrm>
            <a:off x="521830" y="1852737"/>
            <a:ext cx="7679045" cy="20155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40" name="Google Shape;140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8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8"/>
          <p:cNvSpPr txBox="1"/>
          <p:nvPr/>
        </p:nvSpPr>
        <p:spPr>
          <a:xfrm>
            <a:off x="1047750" y="381000"/>
            <a:ext cx="77154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latin typeface="Roboto"/>
                <a:ea typeface="Roboto"/>
                <a:cs typeface="Roboto"/>
                <a:sym typeface="Roboto"/>
              </a:rPr>
              <a:t>El Poder del Índice: Expresiones</a:t>
            </a:r>
            <a:endParaRPr sz="3200"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" name="Google Shape;145;p18"/>
          <p:cNvSpPr txBox="1"/>
          <p:nvPr/>
        </p:nvSpPr>
        <p:spPr>
          <a:xfrm>
            <a:off x="381000" y="1000125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>
                <a:latin typeface="Roboto"/>
                <a:ea typeface="Roboto"/>
                <a:cs typeface="Roboto"/>
                <a:sym typeface="Roboto"/>
              </a:rPr>
              <a:t>La posición dentro de los corchetes </a:t>
            </a:r>
            <a:r>
              <a:rPr lang="en" sz="1400" b="1">
                <a:latin typeface="Roboto"/>
                <a:ea typeface="Roboto"/>
                <a:cs typeface="Roboto"/>
                <a:sym typeface="Roboto"/>
              </a:rPr>
              <a:t>[ ]</a:t>
            </a:r>
            <a:r>
              <a:rPr lang="en" sz="1400" b="0">
                <a:latin typeface="Roboto"/>
                <a:ea typeface="Roboto"/>
                <a:cs typeface="Roboto"/>
                <a:sym typeface="Roboto"/>
              </a:rPr>
              <a:t> no tiene que ser solo un número fijo. Puede ser una variable o el resultado de un cálculo matemático.</a:t>
            </a:r>
            <a:endParaRPr sz="1400" b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p18"/>
          <p:cNvSpPr txBox="1"/>
          <p:nvPr/>
        </p:nvSpPr>
        <p:spPr>
          <a:xfrm>
            <a:off x="666750" y="1905000"/>
            <a:ext cx="7810500" cy="18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// 1. Número entero directo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edades[6] = 10;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125"/>
              </a:spcBef>
              <a:spcAft>
                <a:spcPts val="0"/>
              </a:spcAft>
              <a:buNone/>
            </a:pP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// 2. Cálculo matemático (3 * 2 evalúa a 6)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edades[3 * 2] = 10;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125"/>
              </a:spcBef>
              <a:spcAft>
                <a:spcPts val="0"/>
              </a:spcAft>
              <a:buNone/>
            </a:pP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// 3. Uso de variables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entero N = 4;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edades[N + 2] = 10;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6238" y="4233863"/>
            <a:ext cx="8391600" cy="5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/>
        </p:nvSpPr>
        <p:spPr>
          <a:xfrm>
            <a:off x="571500" y="4238625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Nota: </a:t>
            </a:r>
            <a:r>
              <a:rPr lang="en" sz="1200" b="0">
                <a:latin typeface="Roboto"/>
                <a:ea typeface="Roboto"/>
                <a:cs typeface="Roboto"/>
                <a:sym typeface="Roboto"/>
              </a:rPr>
              <a:t>Siempre y cuando el resultado matemático sea un número entero válido dentro del rango del arreglo, el programa lo aceptará correctamente.</a:t>
            </a:r>
            <a:endParaRPr sz="1200" b="1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47" grpId="0"/>
      <p:bldP spid="14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21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381000" y="3810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Creación de un Arreglo: Sintaxis</a:t>
            </a:r>
            <a:endParaRPr sz="3200" b="1">
              <a:solidFill>
                <a:srgbClr val="1A202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381000" y="952500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>
                <a:solidFill>
                  <a:srgbClr val="4A5568"/>
                </a:solidFill>
                <a:latin typeface="Roboto"/>
                <a:ea typeface="Roboto"/>
                <a:cs typeface="Roboto"/>
                <a:sym typeface="Roboto"/>
              </a:rPr>
              <a:t>Crear un arreglo implica declararlo e instanciarlo.</a:t>
            </a:r>
            <a:endParaRPr sz="1400" b="0">
              <a:solidFill>
                <a:srgbClr val="4A55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05" name="Google Shape;205;p21"/>
          <p:cNvGrpSpPr/>
          <p:nvPr/>
        </p:nvGrpSpPr>
        <p:grpSpPr>
          <a:xfrm>
            <a:off x="381000" y="1428750"/>
            <a:ext cx="4048200" cy="1143000"/>
            <a:chOff x="381000" y="1428750"/>
            <a:chExt cx="4048200" cy="1143000"/>
          </a:xfrm>
        </p:grpSpPr>
        <p:sp>
          <p:nvSpPr>
            <p:cNvPr id="206" name="Google Shape;206;p21"/>
            <p:cNvSpPr/>
            <p:nvPr/>
          </p:nvSpPr>
          <p:spPr>
            <a:xfrm>
              <a:off x="381000" y="1428750"/>
              <a:ext cx="4048200" cy="1143000"/>
            </a:xfrm>
            <a:prstGeom prst="roundRect">
              <a:avLst>
                <a:gd name="adj" fmla="val 10000"/>
              </a:avLst>
            </a:prstGeom>
            <a:solidFill>
              <a:srgbClr val="2D374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21"/>
            <p:cNvSpPr txBox="1"/>
            <p:nvPr/>
          </p:nvSpPr>
          <p:spPr>
            <a:xfrm>
              <a:off x="571500" y="1571625"/>
              <a:ext cx="36672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63B3ED"/>
                  </a:solidFill>
                  <a:latin typeface="Arial"/>
                  <a:ea typeface="Arial"/>
                  <a:cs typeface="Arial"/>
                  <a:sym typeface="Arial"/>
                </a:rPr>
                <a:t>Pseudocódigo</a:t>
              </a:r>
              <a:endParaRPr sz="1200" b="1">
                <a:solidFill>
                  <a:srgbClr val="63B3E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21"/>
            <p:cNvSpPr txBox="1"/>
            <p:nvPr/>
          </p:nvSpPr>
          <p:spPr>
            <a:xfrm>
              <a:off x="571500" y="1952625"/>
              <a:ext cx="36672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entero edades[] = nuevo entero[5]</a:t>
              </a:r>
              <a:endParaRPr sz="13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209" name="Google Shape;209;p21"/>
          <p:cNvGrpSpPr/>
          <p:nvPr/>
        </p:nvGrpSpPr>
        <p:grpSpPr>
          <a:xfrm>
            <a:off x="4714875" y="1428750"/>
            <a:ext cx="4048200" cy="1143000"/>
            <a:chOff x="4714875" y="1428750"/>
            <a:chExt cx="4048200" cy="1143000"/>
          </a:xfrm>
        </p:grpSpPr>
        <p:sp>
          <p:nvSpPr>
            <p:cNvPr id="210" name="Google Shape;210;p21"/>
            <p:cNvSpPr/>
            <p:nvPr/>
          </p:nvSpPr>
          <p:spPr>
            <a:xfrm>
              <a:off x="4714875" y="1428750"/>
              <a:ext cx="4048200" cy="1143000"/>
            </a:xfrm>
            <a:prstGeom prst="roundRect">
              <a:avLst>
                <a:gd name="adj" fmla="val 10000"/>
              </a:avLst>
            </a:prstGeom>
            <a:solidFill>
              <a:srgbClr val="2D374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21"/>
            <p:cNvSpPr txBox="1"/>
            <p:nvPr/>
          </p:nvSpPr>
          <p:spPr>
            <a:xfrm>
              <a:off x="4905375" y="1571625"/>
              <a:ext cx="36672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63B3ED"/>
                  </a:solidFill>
                  <a:latin typeface="Arial"/>
                  <a:ea typeface="Arial"/>
                  <a:cs typeface="Arial"/>
                  <a:sym typeface="Arial"/>
                </a:rPr>
                <a:t>Java</a:t>
              </a:r>
              <a:endParaRPr sz="1200" b="1">
                <a:solidFill>
                  <a:srgbClr val="63B3E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21"/>
            <p:cNvSpPr txBox="1"/>
            <p:nvPr/>
          </p:nvSpPr>
          <p:spPr>
            <a:xfrm>
              <a:off x="4905375" y="1952625"/>
              <a:ext cx="36672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int[] edades = new int[5];</a:t>
              </a:r>
              <a:endParaRPr sz="13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213" name="Google Shape;213;p21"/>
          <p:cNvGrpSpPr/>
          <p:nvPr/>
        </p:nvGrpSpPr>
        <p:grpSpPr>
          <a:xfrm>
            <a:off x="381000" y="2762250"/>
            <a:ext cx="8382000" cy="2000100"/>
            <a:chOff x="381000" y="2762250"/>
            <a:chExt cx="8382000" cy="2000100"/>
          </a:xfrm>
        </p:grpSpPr>
        <p:sp>
          <p:nvSpPr>
            <p:cNvPr id="214" name="Google Shape;214;p21"/>
            <p:cNvSpPr/>
            <p:nvPr/>
          </p:nvSpPr>
          <p:spPr>
            <a:xfrm>
              <a:off x="381000" y="2762250"/>
              <a:ext cx="8382000" cy="200010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21"/>
            <p:cNvSpPr txBox="1"/>
            <p:nvPr/>
          </p:nvSpPr>
          <p:spPr>
            <a:xfrm>
              <a:off x="666750" y="2905125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0">
                  <a:solidFill>
                    <a:srgbClr val="2D3748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Desglose de la Sintaxis</a:t>
              </a:r>
              <a:endParaRPr sz="1600" b="0">
                <a:solidFill>
                  <a:srgbClr val="2D3748"/>
                </a:solidFill>
                <a:latin typeface="Roboto SemiBold"/>
                <a:ea typeface="Roboto SemiBold"/>
                <a:cs typeface="Roboto SemiBold"/>
                <a:sym typeface="Roboto SemiBold"/>
              </a:endParaRPr>
            </a:p>
          </p:txBody>
        </p:sp>
        <p:sp>
          <p:nvSpPr>
            <p:cNvPr id="216" name="Google Shape;216;p21"/>
            <p:cNvSpPr/>
            <p:nvPr/>
          </p:nvSpPr>
          <p:spPr>
            <a:xfrm>
              <a:off x="666750" y="3238500"/>
              <a:ext cx="7810500" cy="476400"/>
            </a:xfrm>
            <a:prstGeom prst="roundRect">
              <a:avLst>
                <a:gd name="adj" fmla="val 12000"/>
              </a:avLst>
            </a:prstGeom>
            <a:solidFill>
              <a:srgbClr val="EDF2F7"/>
            </a:solidFill>
            <a:ln w="9525" cap="flat" cmpd="sng">
              <a:solidFill>
                <a:srgbClr val="CBD5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21"/>
            <p:cNvSpPr txBox="1"/>
            <p:nvPr/>
          </p:nvSpPr>
          <p:spPr>
            <a:xfrm>
              <a:off x="666750" y="3238500"/>
              <a:ext cx="7810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2C5282"/>
                  </a:solidFill>
                  <a:latin typeface="Consolas"/>
                  <a:ea typeface="Consolas"/>
                  <a:cs typeface="Consolas"/>
                  <a:sym typeface="Consolas"/>
                </a:rPr>
                <a:t>tipo[] nombre = nuevo tipo[tamaño];</a:t>
              </a:r>
              <a:endParaRPr sz="1800">
                <a:solidFill>
                  <a:srgbClr val="2C5282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18" name="Google Shape;218;p21"/>
            <p:cNvSpPr txBox="1"/>
            <p:nvPr/>
          </p:nvSpPr>
          <p:spPr>
            <a:xfrm>
              <a:off x="666750" y="3857625"/>
              <a:ext cx="2381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2D3748"/>
                  </a:solidFill>
                  <a:latin typeface="Roboto"/>
                  <a:ea typeface="Roboto"/>
                  <a:cs typeface="Roboto"/>
                  <a:sym typeface="Roboto"/>
                </a:rPr>
                <a:t>1. Declaración</a:t>
              </a:r>
              <a:endParaRPr sz="1300" b="1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A5568"/>
                  </a:solidFill>
                  <a:latin typeface="Roboto"/>
                  <a:ea typeface="Roboto"/>
                  <a:cs typeface="Roboto"/>
                  <a:sym typeface="Roboto"/>
                </a:rPr>
                <a:t>Define el tipo de datos y el nombre del arreglo. No reserva memoria aún.</a:t>
              </a:r>
              <a:endParaRPr sz="1100">
                <a:solidFill>
                  <a:srgbClr val="4A556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9" name="Google Shape;219;p21"/>
            <p:cNvSpPr txBox="1"/>
            <p:nvPr/>
          </p:nvSpPr>
          <p:spPr>
            <a:xfrm>
              <a:off x="3381375" y="3857625"/>
              <a:ext cx="2381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2D3748"/>
                  </a:solidFill>
                  <a:latin typeface="Roboto"/>
                  <a:ea typeface="Roboto"/>
                  <a:cs typeface="Roboto"/>
                  <a:sym typeface="Roboto"/>
                </a:rPr>
                <a:t>2. Instanciación</a:t>
              </a:r>
              <a:endParaRPr sz="1300" b="1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A5568"/>
                  </a:solidFill>
                  <a:latin typeface="Roboto"/>
                  <a:ea typeface="Roboto"/>
                  <a:cs typeface="Roboto"/>
                  <a:sym typeface="Roboto"/>
                </a:rPr>
                <a:t>Usa la palabra 'nuevo' para reservar el espacio físico en la memoria.</a:t>
              </a:r>
              <a:endParaRPr sz="1100">
                <a:solidFill>
                  <a:srgbClr val="4A556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0" name="Google Shape;220;p21"/>
            <p:cNvSpPr txBox="1"/>
            <p:nvPr/>
          </p:nvSpPr>
          <p:spPr>
            <a:xfrm>
              <a:off x="6096000" y="3857625"/>
              <a:ext cx="2381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2D3748"/>
                  </a:solidFill>
                  <a:latin typeface="Roboto"/>
                  <a:ea typeface="Roboto"/>
                  <a:cs typeface="Roboto"/>
                  <a:sym typeface="Roboto"/>
                </a:rPr>
                <a:t>3. Resultado</a:t>
              </a:r>
              <a:endParaRPr sz="1300" b="1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A5568"/>
                  </a:solidFill>
                  <a:latin typeface="Roboto"/>
                  <a:ea typeface="Roboto"/>
                  <a:cs typeface="Roboto"/>
                  <a:sym typeface="Roboto"/>
                </a:rPr>
                <a:t>Se obtiene una estructura lista para almacenar N elementos del mismo tipo.</a:t>
              </a:r>
              <a:endParaRPr sz="1100">
                <a:solidFill>
                  <a:srgbClr val="4A556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2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381000" y="3810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Escritura: Asignando Valores</a:t>
            </a:r>
            <a:endParaRPr sz="3200" b="1">
              <a:solidFill>
                <a:srgbClr val="1A202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7" name="Google Shape;227;p22"/>
          <p:cNvSpPr txBox="1"/>
          <p:nvPr/>
        </p:nvSpPr>
        <p:spPr>
          <a:xfrm>
            <a:off x="381000" y="952500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90" b="0">
                <a:solidFill>
                  <a:srgbClr val="4A5568"/>
                </a:solidFill>
                <a:latin typeface="Roboto"/>
                <a:ea typeface="Roboto"/>
                <a:cs typeface="Roboto"/>
                <a:sym typeface="Roboto"/>
              </a:rPr>
              <a:t>Una vez creado el arreglo, podemos asignar valores a sus posiciones usando el operador de asignación (=) y el índice deseado.</a:t>
            </a:r>
            <a:endParaRPr sz="1190" b="0">
              <a:solidFill>
                <a:srgbClr val="4A55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28" name="Google Shape;228;p22"/>
          <p:cNvGrpSpPr/>
          <p:nvPr/>
        </p:nvGrpSpPr>
        <p:grpSpPr>
          <a:xfrm>
            <a:off x="381000" y="1428750"/>
            <a:ext cx="4048200" cy="1333500"/>
            <a:chOff x="381000" y="1428750"/>
            <a:chExt cx="4048200" cy="1333500"/>
          </a:xfrm>
        </p:grpSpPr>
        <p:sp>
          <p:nvSpPr>
            <p:cNvPr id="229" name="Google Shape;229;p22"/>
            <p:cNvSpPr/>
            <p:nvPr/>
          </p:nvSpPr>
          <p:spPr>
            <a:xfrm>
              <a:off x="381000" y="1428750"/>
              <a:ext cx="4048200" cy="1333500"/>
            </a:xfrm>
            <a:prstGeom prst="roundRect">
              <a:avLst>
                <a:gd name="adj" fmla="val 8571"/>
              </a:avLst>
            </a:prstGeom>
            <a:solidFill>
              <a:srgbClr val="2D374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22"/>
            <p:cNvSpPr txBox="1"/>
            <p:nvPr/>
          </p:nvSpPr>
          <p:spPr>
            <a:xfrm>
              <a:off x="571500" y="1571625"/>
              <a:ext cx="36672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 dirty="0">
                  <a:solidFill>
                    <a:srgbClr val="63B3ED"/>
                  </a:solidFill>
                  <a:latin typeface="Arial"/>
                  <a:ea typeface="Arial"/>
                  <a:cs typeface="Arial"/>
                  <a:sym typeface="Arial"/>
                </a:rPr>
                <a:t>Pseudocódigo</a:t>
              </a:r>
              <a:endParaRPr sz="1200" b="1" dirty="0">
                <a:solidFill>
                  <a:srgbClr val="63B3E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22"/>
            <p:cNvSpPr txBox="1"/>
            <p:nvPr/>
          </p:nvSpPr>
          <p:spPr>
            <a:xfrm>
              <a:off x="571500" y="1952625"/>
              <a:ext cx="36672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edades[0] = 25</a:t>
              </a:r>
              <a:endParaRPr sz="1300" b="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300" b="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edades[2] = 30</a:t>
              </a:r>
              <a:endParaRPr sz="1300" b="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232" name="Google Shape;232;p22"/>
          <p:cNvGrpSpPr/>
          <p:nvPr/>
        </p:nvGrpSpPr>
        <p:grpSpPr>
          <a:xfrm>
            <a:off x="4714875" y="1428750"/>
            <a:ext cx="4048200" cy="1333500"/>
            <a:chOff x="4714875" y="1428750"/>
            <a:chExt cx="4048200" cy="1333500"/>
          </a:xfrm>
        </p:grpSpPr>
        <p:sp>
          <p:nvSpPr>
            <p:cNvPr id="233" name="Google Shape;233;p22"/>
            <p:cNvSpPr/>
            <p:nvPr/>
          </p:nvSpPr>
          <p:spPr>
            <a:xfrm>
              <a:off x="4714875" y="1428750"/>
              <a:ext cx="4048200" cy="1333500"/>
            </a:xfrm>
            <a:prstGeom prst="roundRect">
              <a:avLst>
                <a:gd name="adj" fmla="val 8571"/>
              </a:avLst>
            </a:prstGeom>
            <a:solidFill>
              <a:srgbClr val="2D374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22"/>
            <p:cNvSpPr txBox="1"/>
            <p:nvPr/>
          </p:nvSpPr>
          <p:spPr>
            <a:xfrm>
              <a:off x="4905375" y="1571625"/>
              <a:ext cx="36672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63B3ED"/>
                  </a:solidFill>
                  <a:latin typeface="Arial"/>
                  <a:ea typeface="Arial"/>
                  <a:cs typeface="Arial"/>
                  <a:sym typeface="Arial"/>
                </a:rPr>
                <a:t>Java</a:t>
              </a:r>
              <a:endParaRPr sz="1200" b="1">
                <a:solidFill>
                  <a:srgbClr val="63B3E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22"/>
            <p:cNvSpPr txBox="1"/>
            <p:nvPr/>
          </p:nvSpPr>
          <p:spPr>
            <a:xfrm>
              <a:off x="4905375" y="1952625"/>
              <a:ext cx="36672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edades[0] = 25;</a:t>
              </a:r>
              <a:endParaRPr sz="1300" b="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300" b="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edades[2] = 30;</a:t>
              </a:r>
              <a:endParaRPr sz="1300" b="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236" name="Google Shape;236;p22"/>
          <p:cNvGrpSpPr/>
          <p:nvPr/>
        </p:nvGrpSpPr>
        <p:grpSpPr>
          <a:xfrm>
            <a:off x="381000" y="3000375"/>
            <a:ext cx="8382000" cy="1762200"/>
            <a:chOff x="381000" y="3000375"/>
            <a:chExt cx="8382000" cy="1762200"/>
          </a:xfrm>
        </p:grpSpPr>
        <p:sp>
          <p:nvSpPr>
            <p:cNvPr id="237" name="Google Shape;237;p22"/>
            <p:cNvSpPr/>
            <p:nvPr/>
          </p:nvSpPr>
          <p:spPr>
            <a:xfrm>
              <a:off x="381000" y="3000375"/>
              <a:ext cx="8382000" cy="1762200"/>
            </a:xfrm>
            <a:prstGeom prst="roundRect">
              <a:avLst>
                <a:gd name="adj" fmla="val 6486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2"/>
            <p:cNvSpPr txBox="1"/>
            <p:nvPr/>
          </p:nvSpPr>
          <p:spPr>
            <a:xfrm>
              <a:off x="666750" y="3190875"/>
              <a:ext cx="7810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0">
                  <a:solidFill>
                    <a:srgbClr val="2D3748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Estado de la Memoria (arreglo 'edades')</a:t>
              </a:r>
              <a:endParaRPr sz="1600" b="0">
                <a:solidFill>
                  <a:srgbClr val="2D3748"/>
                </a:solidFill>
                <a:latin typeface="Roboto SemiBold"/>
                <a:ea typeface="Roboto SemiBold"/>
                <a:cs typeface="Roboto SemiBold"/>
                <a:sym typeface="Roboto SemiBold"/>
              </a:endParaRPr>
            </a:p>
          </p:txBody>
        </p:sp>
        <p:grpSp>
          <p:nvGrpSpPr>
            <p:cNvPr id="239" name="Google Shape;239;p22"/>
            <p:cNvGrpSpPr/>
            <p:nvPr/>
          </p:nvGrpSpPr>
          <p:grpSpPr>
            <a:xfrm>
              <a:off x="1714500" y="3619500"/>
              <a:ext cx="1143000" cy="905025"/>
              <a:chOff x="0" y="0"/>
              <a:chExt cx="1143000" cy="905025"/>
            </a:xfrm>
          </p:grpSpPr>
          <p:sp>
            <p:nvSpPr>
              <p:cNvPr id="240" name="Google Shape;240;p22"/>
              <p:cNvSpPr/>
              <p:nvPr/>
            </p:nvSpPr>
            <p:spPr>
              <a:xfrm>
                <a:off x="0" y="0"/>
                <a:ext cx="1143000" cy="571500"/>
              </a:xfrm>
              <a:prstGeom prst="roundRect">
                <a:avLst>
                  <a:gd name="adj" fmla="val 6666"/>
                </a:avLst>
              </a:prstGeom>
              <a:solidFill>
                <a:srgbClr val="3182CE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22"/>
              <p:cNvSpPr txBox="1"/>
              <p:nvPr/>
            </p:nvSpPr>
            <p:spPr>
              <a:xfrm>
                <a:off x="0" y="0"/>
                <a:ext cx="11430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solidFill>
                      <a:srgbClr val="E2E8F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25</a:t>
                </a:r>
                <a:endParaRPr sz="1800" b="1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242" name="Google Shape;242;p22"/>
              <p:cNvSpPr txBox="1"/>
              <p:nvPr/>
            </p:nvSpPr>
            <p:spPr>
              <a:xfrm>
                <a:off x="0" y="619125"/>
                <a:ext cx="1143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b="0">
                    <a:solidFill>
                      <a:srgbClr val="718096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[0]</a:t>
                </a:r>
                <a:endParaRPr sz="1200" b="0">
                  <a:solidFill>
                    <a:srgbClr val="718096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grpSp>
          <p:nvGrpSpPr>
            <p:cNvPr id="243" name="Google Shape;243;p22"/>
            <p:cNvGrpSpPr/>
            <p:nvPr/>
          </p:nvGrpSpPr>
          <p:grpSpPr>
            <a:xfrm>
              <a:off x="2857500" y="3619500"/>
              <a:ext cx="1143000" cy="905025"/>
              <a:chOff x="0" y="0"/>
              <a:chExt cx="1143000" cy="905025"/>
            </a:xfrm>
          </p:grpSpPr>
          <p:sp>
            <p:nvSpPr>
              <p:cNvPr id="244" name="Google Shape;244;p22"/>
              <p:cNvSpPr/>
              <p:nvPr/>
            </p:nvSpPr>
            <p:spPr>
              <a:xfrm>
                <a:off x="0" y="0"/>
                <a:ext cx="1143000" cy="571500"/>
              </a:xfrm>
              <a:prstGeom prst="roundRect">
                <a:avLst>
                  <a:gd name="adj" fmla="val 6666"/>
                </a:avLst>
              </a:prstGeom>
              <a:solidFill>
                <a:srgbClr val="2D3748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22"/>
              <p:cNvSpPr txBox="1"/>
              <p:nvPr/>
            </p:nvSpPr>
            <p:spPr>
              <a:xfrm>
                <a:off x="0" y="0"/>
                <a:ext cx="11430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solidFill>
                      <a:srgbClr val="E2E8F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0</a:t>
                </a:r>
                <a:endParaRPr sz="1800" b="1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246" name="Google Shape;246;p22"/>
              <p:cNvSpPr txBox="1"/>
              <p:nvPr/>
            </p:nvSpPr>
            <p:spPr>
              <a:xfrm>
                <a:off x="0" y="619125"/>
                <a:ext cx="1143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b="0">
                    <a:solidFill>
                      <a:srgbClr val="718096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[1]</a:t>
                </a:r>
                <a:endParaRPr sz="1200" b="0">
                  <a:solidFill>
                    <a:srgbClr val="718096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grpSp>
          <p:nvGrpSpPr>
            <p:cNvPr id="247" name="Google Shape;247;p22"/>
            <p:cNvGrpSpPr/>
            <p:nvPr/>
          </p:nvGrpSpPr>
          <p:grpSpPr>
            <a:xfrm>
              <a:off x="4000500" y="3619500"/>
              <a:ext cx="1143000" cy="905025"/>
              <a:chOff x="0" y="0"/>
              <a:chExt cx="1143000" cy="905025"/>
            </a:xfrm>
          </p:grpSpPr>
          <p:sp>
            <p:nvSpPr>
              <p:cNvPr id="248" name="Google Shape;248;p22"/>
              <p:cNvSpPr/>
              <p:nvPr/>
            </p:nvSpPr>
            <p:spPr>
              <a:xfrm>
                <a:off x="0" y="0"/>
                <a:ext cx="1143000" cy="571500"/>
              </a:xfrm>
              <a:prstGeom prst="roundRect">
                <a:avLst>
                  <a:gd name="adj" fmla="val 6666"/>
                </a:avLst>
              </a:prstGeom>
              <a:solidFill>
                <a:srgbClr val="3182CE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22"/>
              <p:cNvSpPr txBox="1"/>
              <p:nvPr/>
            </p:nvSpPr>
            <p:spPr>
              <a:xfrm>
                <a:off x="0" y="0"/>
                <a:ext cx="11430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solidFill>
                      <a:srgbClr val="E2E8F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30</a:t>
                </a:r>
                <a:endParaRPr sz="1800" b="1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250" name="Google Shape;250;p22"/>
              <p:cNvSpPr txBox="1"/>
              <p:nvPr/>
            </p:nvSpPr>
            <p:spPr>
              <a:xfrm>
                <a:off x="0" y="619125"/>
                <a:ext cx="1143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b="0">
                    <a:solidFill>
                      <a:srgbClr val="718096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[2]</a:t>
                </a:r>
                <a:endParaRPr sz="1200" b="0">
                  <a:solidFill>
                    <a:srgbClr val="718096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grpSp>
          <p:nvGrpSpPr>
            <p:cNvPr id="251" name="Google Shape;251;p22"/>
            <p:cNvGrpSpPr/>
            <p:nvPr/>
          </p:nvGrpSpPr>
          <p:grpSpPr>
            <a:xfrm>
              <a:off x="5143500" y="3619500"/>
              <a:ext cx="1143000" cy="905025"/>
              <a:chOff x="0" y="0"/>
              <a:chExt cx="1143000" cy="905025"/>
            </a:xfrm>
          </p:grpSpPr>
          <p:sp>
            <p:nvSpPr>
              <p:cNvPr id="252" name="Google Shape;252;p22"/>
              <p:cNvSpPr/>
              <p:nvPr/>
            </p:nvSpPr>
            <p:spPr>
              <a:xfrm>
                <a:off x="0" y="0"/>
                <a:ext cx="1143000" cy="571500"/>
              </a:xfrm>
              <a:prstGeom prst="roundRect">
                <a:avLst>
                  <a:gd name="adj" fmla="val 6666"/>
                </a:avLst>
              </a:prstGeom>
              <a:solidFill>
                <a:srgbClr val="2D3748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22"/>
              <p:cNvSpPr txBox="1"/>
              <p:nvPr/>
            </p:nvSpPr>
            <p:spPr>
              <a:xfrm>
                <a:off x="0" y="0"/>
                <a:ext cx="11430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solidFill>
                      <a:srgbClr val="E2E8F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0</a:t>
                </a:r>
                <a:endParaRPr sz="1800" b="1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254" name="Google Shape;254;p22"/>
              <p:cNvSpPr txBox="1"/>
              <p:nvPr/>
            </p:nvSpPr>
            <p:spPr>
              <a:xfrm>
                <a:off x="0" y="619125"/>
                <a:ext cx="1143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b="0">
                    <a:solidFill>
                      <a:srgbClr val="718096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[3]</a:t>
                </a:r>
                <a:endParaRPr sz="1200" b="0">
                  <a:solidFill>
                    <a:srgbClr val="718096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grpSp>
          <p:nvGrpSpPr>
            <p:cNvPr id="255" name="Google Shape;255;p22"/>
            <p:cNvGrpSpPr/>
            <p:nvPr/>
          </p:nvGrpSpPr>
          <p:grpSpPr>
            <a:xfrm>
              <a:off x="6286500" y="3619500"/>
              <a:ext cx="1143000" cy="905025"/>
              <a:chOff x="0" y="0"/>
              <a:chExt cx="1143000" cy="905025"/>
            </a:xfrm>
          </p:grpSpPr>
          <p:sp>
            <p:nvSpPr>
              <p:cNvPr id="256" name="Google Shape;256;p22"/>
              <p:cNvSpPr/>
              <p:nvPr/>
            </p:nvSpPr>
            <p:spPr>
              <a:xfrm>
                <a:off x="0" y="0"/>
                <a:ext cx="1143000" cy="571500"/>
              </a:xfrm>
              <a:prstGeom prst="roundRect">
                <a:avLst>
                  <a:gd name="adj" fmla="val 6666"/>
                </a:avLst>
              </a:prstGeom>
              <a:solidFill>
                <a:srgbClr val="2D3748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22"/>
              <p:cNvSpPr txBox="1"/>
              <p:nvPr/>
            </p:nvSpPr>
            <p:spPr>
              <a:xfrm>
                <a:off x="0" y="0"/>
                <a:ext cx="11430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solidFill>
                      <a:srgbClr val="E2E8F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0</a:t>
                </a:r>
                <a:endParaRPr sz="1800" b="1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258" name="Google Shape;258;p22"/>
              <p:cNvSpPr txBox="1"/>
              <p:nvPr/>
            </p:nvSpPr>
            <p:spPr>
              <a:xfrm>
                <a:off x="0" y="619125"/>
                <a:ext cx="1143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b="0">
                    <a:solidFill>
                      <a:srgbClr val="718096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[4]</a:t>
                </a:r>
                <a:endParaRPr sz="1200" b="0">
                  <a:solidFill>
                    <a:srgbClr val="718096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23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23"/>
          <p:cNvSpPr txBox="1"/>
          <p:nvPr/>
        </p:nvSpPr>
        <p:spPr>
          <a:xfrm>
            <a:off x="381000" y="3810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Lectura: Accediendo a los Valores</a:t>
            </a:r>
            <a:endParaRPr sz="3200" b="1">
              <a:solidFill>
                <a:srgbClr val="1A202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" name="Google Shape;265;p23"/>
          <p:cNvSpPr txBox="1"/>
          <p:nvPr/>
        </p:nvSpPr>
        <p:spPr>
          <a:xfrm>
            <a:off x="381000" y="952500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>
                <a:solidFill>
                  <a:srgbClr val="4A5568"/>
                </a:solidFill>
                <a:latin typeface="Roboto"/>
                <a:ea typeface="Roboto"/>
                <a:cs typeface="Roboto"/>
                <a:sym typeface="Roboto"/>
              </a:rPr>
              <a:t>Para leer el valor de una posición, usamos el nombre del arreglo y el índice.</a:t>
            </a:r>
            <a:endParaRPr sz="1400" b="0">
              <a:solidFill>
                <a:srgbClr val="4A55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66" name="Google Shape;266;p23"/>
          <p:cNvGrpSpPr/>
          <p:nvPr/>
        </p:nvGrpSpPr>
        <p:grpSpPr>
          <a:xfrm>
            <a:off x="381000" y="1524000"/>
            <a:ext cx="4048200" cy="1714500"/>
            <a:chOff x="381000" y="1524000"/>
            <a:chExt cx="4048200" cy="1714500"/>
          </a:xfrm>
        </p:grpSpPr>
        <p:sp>
          <p:nvSpPr>
            <p:cNvPr id="267" name="Google Shape;267;p23"/>
            <p:cNvSpPr/>
            <p:nvPr/>
          </p:nvSpPr>
          <p:spPr>
            <a:xfrm>
              <a:off x="381000" y="1524000"/>
              <a:ext cx="4048200" cy="1714500"/>
            </a:xfrm>
            <a:prstGeom prst="roundRect">
              <a:avLst>
                <a:gd name="adj" fmla="val 6666"/>
              </a:avLst>
            </a:prstGeom>
            <a:solidFill>
              <a:srgbClr val="2D374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23"/>
            <p:cNvSpPr txBox="1"/>
            <p:nvPr/>
          </p:nvSpPr>
          <p:spPr>
            <a:xfrm>
              <a:off x="571500" y="1666875"/>
              <a:ext cx="36672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63B3ED"/>
                  </a:solidFill>
                  <a:latin typeface="Arial"/>
                  <a:ea typeface="Arial"/>
                  <a:cs typeface="Arial"/>
                  <a:sym typeface="Arial"/>
                </a:rPr>
                <a:t>Pseudocódigo</a:t>
              </a:r>
              <a:endParaRPr sz="1200" b="1">
                <a:solidFill>
                  <a:srgbClr val="63B3E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23"/>
            <p:cNvSpPr txBox="1"/>
            <p:nvPr/>
          </p:nvSpPr>
          <p:spPr>
            <a:xfrm>
              <a:off x="571500" y="2047875"/>
              <a:ext cx="36672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0" dirty="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primeraEdad = edades[0]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" sz="1300" dirty="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0" dirty="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300" b="0" dirty="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imprimir(edades[2])</a:t>
              </a:r>
              <a:endParaRPr sz="1300" b="0" dirty="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270" name="Google Shape;270;p23"/>
          <p:cNvGrpSpPr/>
          <p:nvPr/>
        </p:nvGrpSpPr>
        <p:grpSpPr>
          <a:xfrm>
            <a:off x="4714875" y="1524000"/>
            <a:ext cx="4048200" cy="1714500"/>
            <a:chOff x="4714875" y="1524000"/>
            <a:chExt cx="4048200" cy="1714500"/>
          </a:xfrm>
        </p:grpSpPr>
        <p:sp>
          <p:nvSpPr>
            <p:cNvPr id="271" name="Google Shape;271;p23"/>
            <p:cNvSpPr/>
            <p:nvPr/>
          </p:nvSpPr>
          <p:spPr>
            <a:xfrm>
              <a:off x="4714875" y="1524000"/>
              <a:ext cx="4048200" cy="1714500"/>
            </a:xfrm>
            <a:prstGeom prst="roundRect">
              <a:avLst>
                <a:gd name="adj" fmla="val 6666"/>
              </a:avLst>
            </a:prstGeom>
            <a:solidFill>
              <a:srgbClr val="2D374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23"/>
            <p:cNvSpPr txBox="1"/>
            <p:nvPr/>
          </p:nvSpPr>
          <p:spPr>
            <a:xfrm>
              <a:off x="4905375" y="1666875"/>
              <a:ext cx="36672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63B3ED"/>
                  </a:solidFill>
                  <a:latin typeface="Arial"/>
                  <a:ea typeface="Arial"/>
                  <a:cs typeface="Arial"/>
                  <a:sym typeface="Arial"/>
                </a:rPr>
                <a:t>Java</a:t>
              </a:r>
              <a:endParaRPr sz="1200" b="1">
                <a:solidFill>
                  <a:srgbClr val="63B3E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23"/>
            <p:cNvSpPr txBox="1"/>
            <p:nvPr/>
          </p:nvSpPr>
          <p:spPr>
            <a:xfrm>
              <a:off x="4905375" y="2047875"/>
              <a:ext cx="36672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0" dirty="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int primeraEdad = edades[0];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" sz="1300" dirty="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0" dirty="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300" b="0" dirty="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System.out.println(edades[2]);</a:t>
              </a:r>
              <a:endParaRPr sz="1300" b="0" dirty="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274" name="Google Shape;274;p23"/>
          <p:cNvGrpSpPr/>
          <p:nvPr/>
        </p:nvGrpSpPr>
        <p:grpSpPr>
          <a:xfrm>
            <a:off x="381000" y="3619500"/>
            <a:ext cx="8382000" cy="952500"/>
            <a:chOff x="381000" y="3619500"/>
            <a:chExt cx="8382000" cy="952500"/>
          </a:xfrm>
        </p:grpSpPr>
        <p:sp>
          <p:nvSpPr>
            <p:cNvPr id="275" name="Google Shape;275;p23"/>
            <p:cNvSpPr/>
            <p:nvPr/>
          </p:nvSpPr>
          <p:spPr>
            <a:xfrm>
              <a:off x="381000" y="3619500"/>
              <a:ext cx="8382000" cy="952500"/>
            </a:xfrm>
            <a:prstGeom prst="roundRect">
              <a:avLst>
                <a:gd name="adj" fmla="val 8000"/>
              </a:avLst>
            </a:prstGeom>
            <a:solidFill>
              <a:srgbClr val="EBF8FF"/>
            </a:solidFill>
            <a:ln w="9525" cap="flat" cmpd="sng">
              <a:solidFill>
                <a:srgbClr val="BEE3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23"/>
            <p:cNvSpPr txBox="1"/>
            <p:nvPr/>
          </p:nvSpPr>
          <p:spPr>
            <a:xfrm>
              <a:off x="666750" y="3619500"/>
              <a:ext cx="7810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2C5282"/>
                  </a:solidFill>
                  <a:latin typeface="Roboto"/>
                  <a:ea typeface="Roboto"/>
                  <a:cs typeface="Roboto"/>
                  <a:sym typeface="Roboto"/>
                </a:rPr>
                <a:t>Nota:</a:t>
              </a:r>
              <a:r>
                <a:rPr lang="en" sz="1300" b="0">
                  <a:solidFill>
                    <a:srgbClr val="2C5282"/>
                  </a:solidFill>
                  <a:latin typeface="Roboto"/>
                  <a:ea typeface="Roboto"/>
                  <a:cs typeface="Roboto"/>
                  <a:sym typeface="Roboto"/>
                </a:rPr>
                <a:t> Si </a:t>
              </a:r>
              <a:r>
                <a:rPr lang="en" sz="1300" b="1">
                  <a:solidFill>
                    <a:srgbClr val="2C5282"/>
                  </a:solidFill>
                  <a:latin typeface="Roboto"/>
                  <a:ea typeface="Roboto"/>
                  <a:cs typeface="Roboto"/>
                  <a:sym typeface="Roboto"/>
                </a:rPr>
                <a:t>edades[0]</a:t>
              </a:r>
              <a:r>
                <a:rPr lang="en" sz="1300" b="0">
                  <a:solidFill>
                    <a:srgbClr val="2C5282"/>
                  </a:solidFill>
                  <a:latin typeface="Roboto"/>
                  <a:ea typeface="Roboto"/>
                  <a:cs typeface="Roboto"/>
                  <a:sym typeface="Roboto"/>
                </a:rPr>
                <a:t> contiene el valor 25, la variable </a:t>
              </a:r>
              <a:r>
                <a:rPr lang="en" sz="1300" b="1">
                  <a:solidFill>
                    <a:srgbClr val="2C5282"/>
                  </a:solidFill>
                  <a:latin typeface="Roboto"/>
                  <a:ea typeface="Roboto"/>
                  <a:cs typeface="Roboto"/>
                  <a:sym typeface="Roboto"/>
                </a:rPr>
                <a:t>primeraEdad</a:t>
              </a:r>
              <a:r>
                <a:rPr lang="en" sz="1300" b="0">
                  <a:solidFill>
                    <a:srgbClr val="2C5282"/>
                  </a:solidFill>
                  <a:latin typeface="Roboto"/>
                  <a:ea typeface="Roboto"/>
                  <a:cs typeface="Roboto"/>
                  <a:sym typeface="Roboto"/>
                </a:rPr>
                <a:t> ahora también contendrá 25.</a:t>
              </a:r>
              <a:endParaRPr sz="1300" b="0">
                <a:solidFill>
                  <a:srgbClr val="2C528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24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24"/>
          <p:cNvSpPr txBox="1"/>
          <p:nvPr/>
        </p:nvSpPr>
        <p:spPr>
          <a:xfrm>
            <a:off x="381000" y="3810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Arreglos y Bucles: Escritura Eficiente</a:t>
            </a:r>
            <a:endParaRPr sz="3200" b="1">
              <a:solidFill>
                <a:srgbClr val="1A202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3" name="Google Shape;283;p24"/>
          <p:cNvSpPr txBox="1"/>
          <p:nvPr/>
        </p:nvSpPr>
        <p:spPr>
          <a:xfrm>
            <a:off x="381000" y="952500"/>
            <a:ext cx="83820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>
                <a:solidFill>
                  <a:srgbClr val="4A5568"/>
                </a:solidFill>
                <a:latin typeface="Roboto"/>
                <a:ea typeface="Roboto"/>
                <a:cs typeface="Roboto"/>
                <a:sym typeface="Roboto"/>
              </a:rPr>
              <a:t>La verdadera potencia de los arreglos se revela al combinarlos con bucles. Un bucle PARA es perfecto para llenar un arreglo de forma sistemática.</a:t>
            </a:r>
            <a:endParaRPr sz="1400" b="0">
              <a:solidFill>
                <a:srgbClr val="4A55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84" name="Google Shape;284;p24"/>
          <p:cNvGrpSpPr/>
          <p:nvPr/>
        </p:nvGrpSpPr>
        <p:grpSpPr>
          <a:xfrm>
            <a:off x="381000" y="1571625"/>
            <a:ext cx="4048200" cy="1714500"/>
            <a:chOff x="381000" y="1571625"/>
            <a:chExt cx="4048200" cy="1714500"/>
          </a:xfrm>
        </p:grpSpPr>
        <p:sp>
          <p:nvSpPr>
            <p:cNvPr id="285" name="Google Shape;285;p24"/>
            <p:cNvSpPr/>
            <p:nvPr/>
          </p:nvSpPr>
          <p:spPr>
            <a:xfrm>
              <a:off x="381000" y="1571625"/>
              <a:ext cx="4048200" cy="1714500"/>
            </a:xfrm>
            <a:prstGeom prst="roundRect">
              <a:avLst>
                <a:gd name="adj" fmla="val 6666"/>
              </a:avLst>
            </a:prstGeom>
            <a:solidFill>
              <a:srgbClr val="2D374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4"/>
            <p:cNvSpPr txBox="1"/>
            <p:nvPr/>
          </p:nvSpPr>
          <p:spPr>
            <a:xfrm>
              <a:off x="571500" y="1714500"/>
              <a:ext cx="36672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63B3ED"/>
                  </a:solidFill>
                  <a:latin typeface="Arial"/>
                  <a:ea typeface="Arial"/>
                  <a:cs typeface="Arial"/>
                  <a:sym typeface="Arial"/>
                </a:rPr>
                <a:t>Pseudocódigo</a:t>
              </a:r>
              <a:endParaRPr sz="1200" b="1">
                <a:solidFill>
                  <a:srgbClr val="63B3E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24"/>
            <p:cNvSpPr txBox="1"/>
            <p:nvPr/>
          </p:nvSpPr>
          <p:spPr>
            <a:xfrm>
              <a:off x="571500" y="2095500"/>
              <a:ext cx="36672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para </a:t>
              </a:r>
              <a:r>
                <a:rPr lang="en" sz="130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(entero i=0; i&lt;5;i=i+1)</a:t>
              </a:r>
              <a:endParaRPr sz="1300" b="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190500" marR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300" b="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le</a:t>
              </a:r>
              <a:r>
                <a:rPr lang="en" sz="130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a</a:t>
              </a:r>
              <a:r>
                <a:rPr lang="en" sz="1300" b="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 notas[i]</a:t>
              </a:r>
              <a:endParaRPr sz="1300" b="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300" b="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finpara</a:t>
              </a:r>
              <a:endParaRPr sz="1300" b="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288" name="Google Shape;288;p24"/>
          <p:cNvGrpSpPr/>
          <p:nvPr/>
        </p:nvGrpSpPr>
        <p:grpSpPr>
          <a:xfrm>
            <a:off x="4714875" y="1571625"/>
            <a:ext cx="4048200" cy="1714500"/>
            <a:chOff x="4714875" y="1571625"/>
            <a:chExt cx="4048200" cy="1714500"/>
          </a:xfrm>
        </p:grpSpPr>
        <p:sp>
          <p:nvSpPr>
            <p:cNvPr id="289" name="Google Shape;289;p24"/>
            <p:cNvSpPr/>
            <p:nvPr/>
          </p:nvSpPr>
          <p:spPr>
            <a:xfrm>
              <a:off x="4714875" y="1571625"/>
              <a:ext cx="4048200" cy="1714500"/>
            </a:xfrm>
            <a:prstGeom prst="roundRect">
              <a:avLst>
                <a:gd name="adj" fmla="val 6666"/>
              </a:avLst>
            </a:prstGeom>
            <a:solidFill>
              <a:srgbClr val="2D374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24"/>
            <p:cNvSpPr txBox="1"/>
            <p:nvPr/>
          </p:nvSpPr>
          <p:spPr>
            <a:xfrm>
              <a:off x="4905375" y="1714500"/>
              <a:ext cx="36672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63B3ED"/>
                  </a:solidFill>
                  <a:latin typeface="Arial"/>
                  <a:ea typeface="Arial"/>
                  <a:cs typeface="Arial"/>
                  <a:sym typeface="Arial"/>
                </a:rPr>
                <a:t>Java</a:t>
              </a:r>
              <a:endParaRPr sz="1200" b="1">
                <a:solidFill>
                  <a:srgbClr val="63B3E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24"/>
            <p:cNvSpPr txBox="1"/>
            <p:nvPr/>
          </p:nvSpPr>
          <p:spPr>
            <a:xfrm>
              <a:off x="4905375" y="2095500"/>
              <a:ext cx="36672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for (int i = 0; i &lt; 5; i++) {</a:t>
              </a:r>
              <a:endParaRPr sz="1300" b="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190500" marR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300" b="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notas[i] = scanner.nextInt();</a:t>
              </a:r>
              <a:endParaRPr sz="1300" b="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300" b="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300" b="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292" name="Google Shape;292;p24"/>
          <p:cNvGrpSpPr/>
          <p:nvPr/>
        </p:nvGrpSpPr>
        <p:grpSpPr>
          <a:xfrm>
            <a:off x="381000" y="3619500"/>
            <a:ext cx="8382000" cy="952500"/>
            <a:chOff x="381000" y="3619500"/>
            <a:chExt cx="8382000" cy="952500"/>
          </a:xfrm>
        </p:grpSpPr>
        <p:sp>
          <p:nvSpPr>
            <p:cNvPr id="293" name="Google Shape;293;p24"/>
            <p:cNvSpPr/>
            <p:nvPr/>
          </p:nvSpPr>
          <p:spPr>
            <a:xfrm>
              <a:off x="381000" y="3619500"/>
              <a:ext cx="8382000" cy="952500"/>
            </a:xfrm>
            <a:prstGeom prst="roundRect">
              <a:avLst>
                <a:gd name="adj" fmla="val 8000"/>
              </a:avLst>
            </a:prstGeom>
            <a:solidFill>
              <a:srgbClr val="EBF8FF"/>
            </a:solidFill>
            <a:ln w="9525" cap="flat" cmpd="sng">
              <a:solidFill>
                <a:srgbClr val="BEE3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24"/>
            <p:cNvSpPr txBox="1"/>
            <p:nvPr/>
          </p:nvSpPr>
          <p:spPr>
            <a:xfrm>
              <a:off x="666750" y="3619500"/>
              <a:ext cx="7810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0">
                  <a:solidFill>
                    <a:srgbClr val="2C5282"/>
                  </a:solidFill>
                  <a:latin typeface="Roboto"/>
                  <a:ea typeface="Roboto"/>
                  <a:cs typeface="Roboto"/>
                  <a:sym typeface="Roboto"/>
                </a:rPr>
                <a:t>La variable </a:t>
              </a:r>
              <a:r>
                <a:rPr lang="en" sz="1300" b="1">
                  <a:solidFill>
                    <a:srgbClr val="2C5282"/>
                  </a:solidFill>
                  <a:latin typeface="Roboto"/>
                  <a:ea typeface="Roboto"/>
                  <a:cs typeface="Roboto"/>
                  <a:sym typeface="Roboto"/>
                </a:rPr>
                <a:t>i</a:t>
              </a:r>
              <a:r>
                <a:rPr lang="en" sz="1300" b="0">
                  <a:solidFill>
                    <a:srgbClr val="2C5282"/>
                  </a:solidFill>
                  <a:latin typeface="Roboto"/>
                  <a:ea typeface="Roboto"/>
                  <a:cs typeface="Roboto"/>
                  <a:sym typeface="Roboto"/>
                </a:rPr>
                <a:t> del bucle se usa como </a:t>
              </a:r>
              <a:r>
                <a:rPr lang="en" sz="1300" b="1">
                  <a:solidFill>
                    <a:srgbClr val="2C5282"/>
                  </a:solidFill>
                  <a:latin typeface="Roboto"/>
                  <a:ea typeface="Roboto"/>
                  <a:cs typeface="Roboto"/>
                  <a:sym typeface="Roboto"/>
                </a:rPr>
                <a:t>índice del arreglo</a:t>
              </a:r>
              <a:r>
                <a:rPr lang="en" sz="1300" b="0">
                  <a:solidFill>
                    <a:srgbClr val="2C5282"/>
                  </a:solidFill>
                  <a:latin typeface="Roboto"/>
                  <a:ea typeface="Roboto"/>
                  <a:cs typeface="Roboto"/>
                  <a:sym typeface="Roboto"/>
                </a:rPr>
                <a:t>, permitiendo recorrer y llenar cada posición automáticamente.</a:t>
              </a:r>
              <a:endParaRPr sz="1300" b="0">
                <a:solidFill>
                  <a:srgbClr val="2C528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25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25"/>
          <p:cNvSpPr txBox="1"/>
          <p:nvPr/>
        </p:nvSpPr>
        <p:spPr>
          <a:xfrm>
            <a:off x="381000" y="3810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Arreglos y Bucles: Lectura y Recorrido</a:t>
            </a:r>
            <a:endParaRPr sz="3200" b="1">
              <a:solidFill>
                <a:srgbClr val="1A202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1" name="Google Shape;301;p25"/>
          <p:cNvSpPr txBox="1"/>
          <p:nvPr/>
        </p:nvSpPr>
        <p:spPr>
          <a:xfrm>
            <a:off x="381000" y="952500"/>
            <a:ext cx="83820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>
                <a:solidFill>
                  <a:srgbClr val="4A5568"/>
                </a:solidFill>
                <a:latin typeface="Roboto"/>
                <a:ea typeface="Roboto"/>
                <a:cs typeface="Roboto"/>
                <a:sym typeface="Roboto"/>
              </a:rPr>
              <a:t>De la misma forma, usamos bucles para recorrer el arreglo y procesar cada uno de sus elementos, por ejemplo, para mostrarlos en pantalla.</a:t>
            </a:r>
            <a:endParaRPr sz="1400" b="0">
              <a:solidFill>
                <a:srgbClr val="4A55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02" name="Google Shape;302;p25"/>
          <p:cNvGrpSpPr/>
          <p:nvPr/>
        </p:nvGrpSpPr>
        <p:grpSpPr>
          <a:xfrm>
            <a:off x="381000" y="1571625"/>
            <a:ext cx="4048200" cy="1714500"/>
            <a:chOff x="381000" y="1571625"/>
            <a:chExt cx="4048200" cy="1714500"/>
          </a:xfrm>
        </p:grpSpPr>
        <p:sp>
          <p:nvSpPr>
            <p:cNvPr id="303" name="Google Shape;303;p25"/>
            <p:cNvSpPr/>
            <p:nvPr/>
          </p:nvSpPr>
          <p:spPr>
            <a:xfrm>
              <a:off x="381000" y="1571625"/>
              <a:ext cx="4048200" cy="1714500"/>
            </a:xfrm>
            <a:prstGeom prst="roundRect">
              <a:avLst>
                <a:gd name="adj" fmla="val 6666"/>
              </a:avLst>
            </a:prstGeom>
            <a:solidFill>
              <a:srgbClr val="2D374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25"/>
            <p:cNvSpPr txBox="1"/>
            <p:nvPr/>
          </p:nvSpPr>
          <p:spPr>
            <a:xfrm>
              <a:off x="571500" y="1714500"/>
              <a:ext cx="36672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63B3ED"/>
                  </a:solidFill>
                  <a:latin typeface="Arial"/>
                  <a:ea typeface="Arial"/>
                  <a:cs typeface="Arial"/>
                  <a:sym typeface="Arial"/>
                </a:rPr>
                <a:t>Pseudocódigo</a:t>
              </a:r>
              <a:endParaRPr sz="1200" b="1">
                <a:solidFill>
                  <a:srgbClr val="63B3E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25"/>
            <p:cNvSpPr txBox="1"/>
            <p:nvPr/>
          </p:nvSpPr>
          <p:spPr>
            <a:xfrm>
              <a:off x="571500" y="2095500"/>
              <a:ext cx="36672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30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para (entero i=0; i&lt;5;i=i+1)</a:t>
              </a:r>
              <a:endParaRPr sz="1300" b="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190500" marR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300" b="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imprim</a:t>
              </a:r>
              <a:r>
                <a:rPr lang="en" sz="130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a</a:t>
              </a:r>
              <a:r>
                <a:rPr lang="en" sz="1300" b="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 (notas[i])</a:t>
              </a:r>
              <a:endParaRPr sz="1300" b="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300" b="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fin para</a:t>
              </a:r>
              <a:endParaRPr sz="1300" b="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306" name="Google Shape;306;p25"/>
          <p:cNvGrpSpPr/>
          <p:nvPr/>
        </p:nvGrpSpPr>
        <p:grpSpPr>
          <a:xfrm>
            <a:off x="4714875" y="1571625"/>
            <a:ext cx="4048200" cy="1714500"/>
            <a:chOff x="4714875" y="1571625"/>
            <a:chExt cx="4048200" cy="1714500"/>
          </a:xfrm>
        </p:grpSpPr>
        <p:sp>
          <p:nvSpPr>
            <p:cNvPr id="307" name="Google Shape;307;p25"/>
            <p:cNvSpPr/>
            <p:nvPr/>
          </p:nvSpPr>
          <p:spPr>
            <a:xfrm>
              <a:off x="4714875" y="1571625"/>
              <a:ext cx="4048200" cy="1714500"/>
            </a:xfrm>
            <a:prstGeom prst="roundRect">
              <a:avLst>
                <a:gd name="adj" fmla="val 6666"/>
              </a:avLst>
            </a:prstGeom>
            <a:solidFill>
              <a:srgbClr val="2D374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25"/>
            <p:cNvSpPr txBox="1"/>
            <p:nvPr/>
          </p:nvSpPr>
          <p:spPr>
            <a:xfrm>
              <a:off x="4905375" y="1714500"/>
              <a:ext cx="36672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63B3ED"/>
                  </a:solidFill>
                  <a:latin typeface="Arial"/>
                  <a:ea typeface="Arial"/>
                  <a:cs typeface="Arial"/>
                  <a:sym typeface="Arial"/>
                </a:rPr>
                <a:t>Java</a:t>
              </a:r>
              <a:endParaRPr sz="1200" b="1">
                <a:solidFill>
                  <a:srgbClr val="63B3E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25"/>
            <p:cNvSpPr txBox="1"/>
            <p:nvPr/>
          </p:nvSpPr>
          <p:spPr>
            <a:xfrm>
              <a:off x="4905375" y="2095500"/>
              <a:ext cx="36672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for (int i = 0; i &lt; 5; i++) {</a:t>
              </a:r>
              <a:endParaRPr sz="1300" b="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190500" marR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300" b="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System.out.println(notas[i]);</a:t>
              </a:r>
              <a:endParaRPr sz="1300" b="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300" b="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300" b="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310" name="Google Shape;310;p25"/>
          <p:cNvGrpSpPr/>
          <p:nvPr/>
        </p:nvGrpSpPr>
        <p:grpSpPr>
          <a:xfrm>
            <a:off x="381000" y="3619500"/>
            <a:ext cx="8382000" cy="952500"/>
            <a:chOff x="381000" y="3619500"/>
            <a:chExt cx="8382000" cy="952500"/>
          </a:xfrm>
        </p:grpSpPr>
        <p:sp>
          <p:nvSpPr>
            <p:cNvPr id="311" name="Google Shape;311;p25"/>
            <p:cNvSpPr/>
            <p:nvPr/>
          </p:nvSpPr>
          <p:spPr>
            <a:xfrm>
              <a:off x="381000" y="3619500"/>
              <a:ext cx="8382000" cy="952500"/>
            </a:xfrm>
            <a:prstGeom prst="roundRect">
              <a:avLst>
                <a:gd name="adj" fmla="val 8000"/>
              </a:avLst>
            </a:prstGeom>
            <a:solidFill>
              <a:srgbClr val="EBF8FF"/>
            </a:solidFill>
            <a:ln w="9525" cap="flat" cmpd="sng">
              <a:solidFill>
                <a:srgbClr val="BEE3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25"/>
            <p:cNvSpPr txBox="1"/>
            <p:nvPr/>
          </p:nvSpPr>
          <p:spPr>
            <a:xfrm>
              <a:off x="666750" y="3619500"/>
              <a:ext cx="7810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0">
                  <a:solidFill>
                    <a:srgbClr val="2C5282"/>
                  </a:solidFill>
                  <a:latin typeface="Roboto"/>
                  <a:ea typeface="Roboto"/>
                  <a:cs typeface="Roboto"/>
                  <a:sym typeface="Roboto"/>
                </a:rPr>
                <a:t>Este patrón de </a:t>
              </a:r>
              <a:r>
                <a:rPr lang="en" sz="1300" b="1">
                  <a:solidFill>
                    <a:srgbClr val="2C5282"/>
                  </a:solidFill>
                  <a:latin typeface="Roboto"/>
                  <a:ea typeface="Roboto"/>
                  <a:cs typeface="Roboto"/>
                  <a:sym typeface="Roboto"/>
                </a:rPr>
                <a:t>lectura/escritura</a:t>
              </a:r>
              <a:r>
                <a:rPr lang="en" sz="1300" b="0">
                  <a:solidFill>
                    <a:srgbClr val="2C5282"/>
                  </a:solidFill>
                  <a:latin typeface="Roboto"/>
                  <a:ea typeface="Roboto"/>
                  <a:cs typeface="Roboto"/>
                  <a:sym typeface="Roboto"/>
                </a:rPr>
                <a:t> es una de las técnicas más comunes en programación para manipular colecciones de datos de forma eficiente.</a:t>
              </a:r>
              <a:endParaRPr sz="1300" b="0">
                <a:solidFill>
                  <a:srgbClr val="2C528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9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9"/>
          <p:cNvSpPr txBox="1"/>
          <p:nvPr/>
        </p:nvSpPr>
        <p:spPr>
          <a:xfrm>
            <a:off x="1047750" y="381000"/>
            <a:ext cx="77154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Caso Maestro: Aprobados y Reprobados</a:t>
            </a:r>
            <a:endParaRPr sz="3200" b="1">
              <a:solidFill>
                <a:srgbClr val="1A202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" name="Google Shape;158;p19"/>
          <p:cNvSpPr txBox="1"/>
          <p:nvPr/>
        </p:nvSpPr>
        <p:spPr>
          <a:xfrm>
            <a:off x="381000" y="1047750"/>
            <a:ext cx="8382000" cy="6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>
                <a:solidFill>
                  <a:srgbClr val="4A5568"/>
                </a:solidFill>
                <a:latin typeface="Roboto"/>
                <a:ea typeface="Roboto"/>
                <a:cs typeface="Roboto"/>
                <a:sym typeface="Roboto"/>
              </a:rPr>
              <a:t>Problema: En un salón hay 40 estudiantes. Dada la nota definitiva de cada uno (almacenada en un arreglo), calcular cuántos ganaron (nota &gt;= 3.0) y cuántos perdieron la asignatura.</a:t>
            </a:r>
            <a:endParaRPr sz="1400" b="0">
              <a:solidFill>
                <a:srgbClr val="4A55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59" name="Google Shape;159;p19"/>
          <p:cNvGrpSpPr/>
          <p:nvPr/>
        </p:nvGrpSpPr>
        <p:grpSpPr>
          <a:xfrm>
            <a:off x="381000" y="1905000"/>
            <a:ext cx="4000500" cy="2667000"/>
            <a:chOff x="381000" y="1905000"/>
            <a:chExt cx="4000500" cy="2667000"/>
          </a:xfrm>
        </p:grpSpPr>
        <p:sp>
          <p:nvSpPr>
            <p:cNvPr id="160" name="Google Shape;160;p19"/>
            <p:cNvSpPr/>
            <p:nvPr/>
          </p:nvSpPr>
          <p:spPr>
            <a:xfrm>
              <a:off x="381000" y="1905000"/>
              <a:ext cx="4000500" cy="2667000"/>
            </a:xfrm>
            <a:prstGeom prst="roundRect">
              <a:avLst>
                <a:gd name="adj" fmla="val 4285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19"/>
            <p:cNvSpPr txBox="1"/>
            <p:nvPr/>
          </p:nvSpPr>
          <p:spPr>
            <a:xfrm>
              <a:off x="666750" y="2095500"/>
              <a:ext cx="3429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0">
                  <a:solidFill>
                    <a:srgbClr val="2D3748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Reglas de Negocio</a:t>
              </a:r>
              <a:endParaRPr sz="1600" b="0">
                <a:solidFill>
                  <a:srgbClr val="2D3748"/>
                </a:solidFill>
                <a:latin typeface="Roboto SemiBold"/>
                <a:ea typeface="Roboto SemiBold"/>
                <a:cs typeface="Roboto SemiBold"/>
                <a:sym typeface="Roboto SemiBold"/>
              </a:endParaRPr>
            </a:p>
          </p:txBody>
        </p:sp>
        <p:sp>
          <p:nvSpPr>
            <p:cNvPr id="162" name="Google Shape;162;p19"/>
            <p:cNvSpPr/>
            <p:nvPr/>
          </p:nvSpPr>
          <p:spPr>
            <a:xfrm>
              <a:off x="666750" y="2428875"/>
              <a:ext cx="381000" cy="28500"/>
            </a:xfrm>
            <a:prstGeom prst="rect">
              <a:avLst/>
            </a:prstGeom>
            <a:solidFill>
              <a:srgbClr val="3182C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19"/>
            <p:cNvSpPr txBox="1"/>
            <p:nvPr/>
          </p:nvSpPr>
          <p:spPr>
            <a:xfrm>
              <a:off x="666750" y="2619375"/>
              <a:ext cx="34290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457200" lvl="0" indent="-304800" algn="l" rtl="0">
                <a:spcBef>
                  <a:spcPts val="0"/>
                </a:spcBef>
                <a:spcAft>
                  <a:spcPts val="0"/>
                </a:spcAft>
                <a:buClr>
                  <a:srgbClr val="4A5568"/>
                </a:buClr>
                <a:buSzPts val="1200"/>
                <a:buFont typeface="Roboto"/>
                <a:buChar char="●"/>
              </a:pPr>
              <a:r>
                <a:rPr lang="en" sz="1200" b="0">
                  <a:solidFill>
                    <a:srgbClr val="4A5568"/>
                  </a:solidFill>
                  <a:latin typeface="Roboto"/>
                  <a:ea typeface="Roboto"/>
                  <a:cs typeface="Roboto"/>
                  <a:sym typeface="Roboto"/>
                </a:rPr>
                <a:t>Arreglo </a:t>
              </a:r>
              <a:r>
                <a:rPr lang="en" sz="1200" b="1">
                  <a:solidFill>
                    <a:srgbClr val="4A5568"/>
                  </a:solidFill>
                  <a:latin typeface="Roboto"/>
                  <a:ea typeface="Roboto"/>
                  <a:cs typeface="Roboto"/>
                  <a:sym typeface="Roboto"/>
                </a:rPr>
                <a:t>notas</a:t>
              </a:r>
              <a:r>
                <a:rPr lang="en" sz="1200" b="0">
                  <a:solidFill>
                    <a:srgbClr val="4A5568"/>
                  </a:solidFill>
                  <a:latin typeface="Roboto"/>
                  <a:ea typeface="Roboto"/>
                  <a:cs typeface="Roboto"/>
                  <a:sym typeface="Roboto"/>
                </a:rPr>
                <a:t> de tamaño 40.</a:t>
              </a:r>
              <a:endParaRPr sz="1200" b="0">
                <a:solidFill>
                  <a:srgbClr val="4A556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304800" algn="l" rtl="0">
                <a:spcBef>
                  <a:spcPts val="600"/>
                </a:spcBef>
                <a:spcAft>
                  <a:spcPts val="0"/>
                </a:spcAft>
                <a:buClr>
                  <a:srgbClr val="4A5568"/>
                </a:buClr>
                <a:buSzPts val="1200"/>
                <a:buFont typeface="Roboto"/>
                <a:buChar char="●"/>
              </a:pPr>
              <a:r>
                <a:rPr lang="en" sz="1200" b="0">
                  <a:solidFill>
                    <a:srgbClr val="4A5568"/>
                  </a:solidFill>
                  <a:latin typeface="Roboto"/>
                  <a:ea typeface="Roboto"/>
                  <a:cs typeface="Roboto"/>
                  <a:sym typeface="Roboto"/>
                </a:rPr>
                <a:t>Dos contadores: </a:t>
              </a:r>
              <a:r>
                <a:rPr lang="en" sz="1200" b="1">
                  <a:solidFill>
                    <a:srgbClr val="4A5568"/>
                  </a:solidFill>
                  <a:latin typeface="Roboto"/>
                  <a:ea typeface="Roboto"/>
                  <a:cs typeface="Roboto"/>
                  <a:sym typeface="Roboto"/>
                </a:rPr>
                <a:t>ganaron</a:t>
              </a:r>
              <a:r>
                <a:rPr lang="en" sz="1200" b="0">
                  <a:solidFill>
                    <a:srgbClr val="4A5568"/>
                  </a:solidFill>
                  <a:latin typeface="Roboto"/>
                  <a:ea typeface="Roboto"/>
                  <a:cs typeface="Roboto"/>
                  <a:sym typeface="Roboto"/>
                </a:rPr>
                <a:t> y </a:t>
              </a:r>
              <a:r>
                <a:rPr lang="en" sz="1200" b="1">
                  <a:solidFill>
                    <a:srgbClr val="4A5568"/>
                  </a:solidFill>
                  <a:latin typeface="Roboto"/>
                  <a:ea typeface="Roboto"/>
                  <a:cs typeface="Roboto"/>
                  <a:sym typeface="Roboto"/>
                </a:rPr>
                <a:t>perdieron</a:t>
              </a:r>
              <a:r>
                <a:rPr lang="en" sz="1200" b="0">
                  <a:solidFill>
                    <a:srgbClr val="4A5568"/>
                  </a:solidFill>
                  <a:latin typeface="Roboto"/>
                  <a:ea typeface="Roboto"/>
                  <a:cs typeface="Roboto"/>
                  <a:sym typeface="Roboto"/>
                </a:rPr>
                <a:t> inicializados en 0.</a:t>
              </a:r>
              <a:endParaRPr sz="1200" b="0">
                <a:solidFill>
                  <a:srgbClr val="4A556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304800" algn="l" rtl="0">
                <a:spcBef>
                  <a:spcPts val="600"/>
                </a:spcBef>
                <a:spcAft>
                  <a:spcPts val="600"/>
                </a:spcAft>
                <a:buClr>
                  <a:srgbClr val="4A5568"/>
                </a:buClr>
                <a:buSzPts val="1200"/>
                <a:buFont typeface="Roboto"/>
                <a:buChar char="●"/>
              </a:pPr>
              <a:r>
                <a:rPr lang="en" sz="1200" b="0">
                  <a:solidFill>
                    <a:srgbClr val="4A5568"/>
                  </a:solidFill>
                  <a:latin typeface="Roboto"/>
                  <a:ea typeface="Roboto"/>
                  <a:cs typeface="Roboto"/>
                  <a:sym typeface="Roboto"/>
                </a:rPr>
                <a:t>Se debe usar un condicional </a:t>
              </a:r>
              <a:r>
                <a:rPr lang="en" sz="1200" b="1">
                  <a:solidFill>
                    <a:srgbClr val="4A5568"/>
                  </a:solidFill>
                  <a:latin typeface="Roboto"/>
                  <a:ea typeface="Roboto"/>
                  <a:cs typeface="Roboto"/>
                  <a:sym typeface="Roboto"/>
                </a:rPr>
                <a:t>si / sino</a:t>
              </a:r>
              <a:r>
                <a:rPr lang="en" sz="1200" b="0">
                  <a:solidFill>
                    <a:srgbClr val="4A5568"/>
                  </a:solidFill>
                  <a:latin typeface="Roboto"/>
                  <a:ea typeface="Roboto"/>
                  <a:cs typeface="Roboto"/>
                  <a:sym typeface="Roboto"/>
                </a:rPr>
                <a:t> dentro del bucle de recorrido.</a:t>
              </a:r>
              <a:endParaRPr sz="1200" b="0">
                <a:solidFill>
                  <a:srgbClr val="4A556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64" name="Google Shape;164;p19"/>
          <p:cNvGrpSpPr/>
          <p:nvPr/>
        </p:nvGrpSpPr>
        <p:grpSpPr>
          <a:xfrm>
            <a:off x="4762500" y="1905000"/>
            <a:ext cx="4000500" cy="2667000"/>
            <a:chOff x="4762500" y="1905000"/>
            <a:chExt cx="4000500" cy="2667000"/>
          </a:xfrm>
        </p:grpSpPr>
        <p:sp>
          <p:nvSpPr>
            <p:cNvPr id="165" name="Google Shape;165;p19"/>
            <p:cNvSpPr/>
            <p:nvPr/>
          </p:nvSpPr>
          <p:spPr>
            <a:xfrm>
              <a:off x="4762500" y="1905000"/>
              <a:ext cx="4000500" cy="2667000"/>
            </a:xfrm>
            <a:prstGeom prst="roundRect">
              <a:avLst>
                <a:gd name="adj" fmla="val 4285"/>
              </a:avLst>
            </a:prstGeom>
            <a:solidFill>
              <a:srgbClr val="2D374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19"/>
            <p:cNvSpPr txBox="1"/>
            <p:nvPr/>
          </p:nvSpPr>
          <p:spPr>
            <a:xfrm>
              <a:off x="5048250" y="2190750"/>
              <a:ext cx="34290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48BB78"/>
                  </a:solidFill>
                  <a:latin typeface="Consolas"/>
                  <a:ea typeface="Consolas"/>
                  <a:cs typeface="Consolas"/>
                  <a:sym typeface="Consolas"/>
                </a:rPr>
                <a:t>para</a:t>
              </a:r>
              <a:r>
                <a:rPr lang="en" sz="130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 (entero </a:t>
              </a:r>
              <a:r>
                <a:rPr lang="en" sz="1300">
                  <a:solidFill>
                    <a:srgbClr val="B794F4"/>
                  </a:solidFill>
                  <a:latin typeface="Consolas"/>
                  <a:ea typeface="Consolas"/>
                  <a:cs typeface="Consolas"/>
                  <a:sym typeface="Consolas"/>
                </a:rPr>
                <a:t>i</a:t>
              </a:r>
              <a:r>
                <a:rPr lang="en" sz="130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 = </a:t>
              </a:r>
              <a:r>
                <a:rPr lang="en" sz="1300">
                  <a:solidFill>
                    <a:srgbClr val="F56565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r>
                <a:rPr lang="en" sz="130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; </a:t>
              </a:r>
              <a:r>
                <a:rPr lang="en" sz="1300">
                  <a:solidFill>
                    <a:srgbClr val="B794F4"/>
                  </a:solidFill>
                  <a:latin typeface="Consolas"/>
                  <a:ea typeface="Consolas"/>
                  <a:cs typeface="Consolas"/>
                  <a:sym typeface="Consolas"/>
                </a:rPr>
                <a:t>i</a:t>
              </a:r>
              <a:r>
                <a:rPr lang="en" sz="130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 &lt; </a:t>
              </a:r>
              <a:r>
                <a:rPr lang="en" sz="1300">
                  <a:solidFill>
                    <a:srgbClr val="F56565"/>
                  </a:solidFill>
                  <a:latin typeface="Consolas"/>
                  <a:ea typeface="Consolas"/>
                  <a:cs typeface="Consolas"/>
                  <a:sym typeface="Consolas"/>
                </a:rPr>
                <a:t>40</a:t>
              </a:r>
              <a:r>
                <a:rPr lang="en" sz="130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; </a:t>
              </a:r>
              <a:r>
                <a:rPr lang="en" sz="1300">
                  <a:solidFill>
                    <a:srgbClr val="B794F4"/>
                  </a:solidFill>
                  <a:latin typeface="Consolas"/>
                  <a:ea typeface="Consolas"/>
                  <a:cs typeface="Consolas"/>
                  <a:sym typeface="Consolas"/>
                </a:rPr>
                <a:t>i</a:t>
              </a:r>
              <a:r>
                <a:rPr lang="en" sz="130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 = </a:t>
              </a:r>
              <a:r>
                <a:rPr lang="en" sz="1300">
                  <a:solidFill>
                    <a:srgbClr val="B794F4"/>
                  </a:solidFill>
                  <a:latin typeface="Consolas"/>
                  <a:ea typeface="Consolas"/>
                  <a:cs typeface="Consolas"/>
                  <a:sym typeface="Consolas"/>
                </a:rPr>
                <a:t>i</a:t>
              </a:r>
              <a:r>
                <a:rPr lang="en" sz="130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 + </a:t>
              </a:r>
              <a:r>
                <a:rPr lang="en" sz="1300">
                  <a:solidFill>
                    <a:srgbClr val="F56565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r>
                <a:rPr lang="en" sz="130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) {</a:t>
              </a:r>
              <a:endParaRPr sz="13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19050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48BB78"/>
                  </a:solidFill>
                  <a:latin typeface="Consolas"/>
                  <a:ea typeface="Consolas"/>
                  <a:cs typeface="Consolas"/>
                  <a:sym typeface="Consolas"/>
                </a:rPr>
                <a:t>si</a:t>
              </a:r>
              <a:r>
                <a:rPr lang="en" sz="130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 (notas[</a:t>
              </a:r>
              <a:r>
                <a:rPr lang="en" sz="1300">
                  <a:solidFill>
                    <a:srgbClr val="B794F4"/>
                  </a:solidFill>
                  <a:latin typeface="Consolas"/>
                  <a:ea typeface="Consolas"/>
                  <a:cs typeface="Consolas"/>
                  <a:sym typeface="Consolas"/>
                </a:rPr>
                <a:t>i</a:t>
              </a:r>
              <a:r>
                <a:rPr lang="en" sz="130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] &gt;= </a:t>
              </a:r>
              <a:r>
                <a:rPr lang="en" sz="1300">
                  <a:solidFill>
                    <a:srgbClr val="F56565"/>
                  </a:solidFill>
                  <a:latin typeface="Consolas"/>
                  <a:ea typeface="Consolas"/>
                  <a:cs typeface="Consolas"/>
                  <a:sym typeface="Consolas"/>
                </a:rPr>
                <a:t>3.0</a:t>
              </a:r>
              <a:r>
                <a:rPr lang="en" sz="130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) {</a:t>
              </a:r>
              <a:endParaRPr sz="13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38100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B794F4"/>
                  </a:solidFill>
                  <a:latin typeface="Consolas"/>
                  <a:ea typeface="Consolas"/>
                  <a:cs typeface="Consolas"/>
                  <a:sym typeface="Consolas"/>
                </a:rPr>
                <a:t>ganaron</a:t>
              </a:r>
              <a:r>
                <a:rPr lang="en" sz="130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 = </a:t>
              </a:r>
              <a:r>
                <a:rPr lang="en" sz="1300">
                  <a:solidFill>
                    <a:srgbClr val="B794F4"/>
                  </a:solidFill>
                  <a:latin typeface="Consolas"/>
                  <a:ea typeface="Consolas"/>
                  <a:cs typeface="Consolas"/>
                  <a:sym typeface="Consolas"/>
                </a:rPr>
                <a:t>ganaron</a:t>
              </a:r>
              <a:r>
                <a:rPr lang="en" sz="130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 + </a:t>
              </a:r>
              <a:r>
                <a:rPr lang="en" sz="1300">
                  <a:solidFill>
                    <a:srgbClr val="F56565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r>
                <a:rPr lang="en" sz="130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;</a:t>
              </a:r>
              <a:endParaRPr sz="13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19050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} </a:t>
              </a:r>
              <a:r>
                <a:rPr lang="en" sz="1300">
                  <a:solidFill>
                    <a:srgbClr val="48BB78"/>
                  </a:solidFill>
                  <a:latin typeface="Consolas"/>
                  <a:ea typeface="Consolas"/>
                  <a:cs typeface="Consolas"/>
                  <a:sym typeface="Consolas"/>
                </a:rPr>
                <a:t>sino</a:t>
              </a:r>
              <a:r>
                <a:rPr lang="en" sz="130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 {</a:t>
              </a:r>
              <a:endParaRPr sz="13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38100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B794F4"/>
                  </a:solidFill>
                  <a:latin typeface="Consolas"/>
                  <a:ea typeface="Consolas"/>
                  <a:cs typeface="Consolas"/>
                  <a:sym typeface="Consolas"/>
                </a:rPr>
                <a:t>perdieron</a:t>
              </a:r>
              <a:r>
                <a:rPr lang="en" sz="130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 = </a:t>
              </a:r>
              <a:r>
                <a:rPr lang="en" sz="1300">
                  <a:solidFill>
                    <a:srgbClr val="B794F4"/>
                  </a:solidFill>
                  <a:latin typeface="Consolas"/>
                  <a:ea typeface="Consolas"/>
                  <a:cs typeface="Consolas"/>
                  <a:sym typeface="Consolas"/>
                </a:rPr>
                <a:t>perdieron</a:t>
              </a:r>
              <a:r>
                <a:rPr lang="en" sz="130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 + </a:t>
              </a:r>
              <a:r>
                <a:rPr lang="en" sz="1300">
                  <a:solidFill>
                    <a:srgbClr val="F56565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r>
                <a:rPr lang="en" sz="130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;</a:t>
              </a:r>
              <a:endParaRPr sz="13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19050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3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3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60" name="Google Shape;360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162425"/>
            <a:ext cx="3810000" cy="9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0" y="3786188"/>
            <a:ext cx="3429000" cy="13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28"/>
          <p:cNvSpPr txBox="1"/>
          <p:nvPr/>
        </p:nvSpPr>
        <p:spPr>
          <a:xfrm>
            <a:off x="1047750" y="381000"/>
            <a:ext cx="77154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Ejemplo Práctico: Promedio de Notas</a:t>
            </a:r>
            <a:endParaRPr sz="2800" b="1">
              <a:solidFill>
                <a:srgbClr val="1A202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5" name="Google Shape;365;p28"/>
          <p:cNvSpPr txBox="1"/>
          <p:nvPr/>
        </p:nvSpPr>
        <p:spPr>
          <a:xfrm>
            <a:off x="381000" y="1000125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90" b="0">
                <a:solidFill>
                  <a:srgbClr val="4A5568"/>
                </a:solidFill>
                <a:latin typeface="Roboto"/>
                <a:ea typeface="Roboto"/>
                <a:cs typeface="Roboto"/>
                <a:sym typeface="Roboto"/>
              </a:rPr>
              <a:t>Combinemos todo lo aprendido: crear, llenar con un bucle, recorrer con otro bucle para sumar y finalmente, calcular un promedio.</a:t>
            </a:r>
            <a:endParaRPr sz="1190" b="0">
              <a:solidFill>
                <a:srgbClr val="4A55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6" name="Google Shape;366;p28"/>
          <p:cNvSpPr/>
          <p:nvPr/>
        </p:nvSpPr>
        <p:spPr>
          <a:xfrm>
            <a:off x="381000" y="1524000"/>
            <a:ext cx="8382000" cy="2952900"/>
          </a:xfrm>
          <a:prstGeom prst="roundRect">
            <a:avLst>
              <a:gd name="adj" fmla="val 3870"/>
            </a:avLst>
          </a:prstGeom>
          <a:solidFill>
            <a:srgbClr val="1A202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28"/>
          <p:cNvSpPr txBox="1"/>
          <p:nvPr/>
        </p:nvSpPr>
        <p:spPr>
          <a:xfrm>
            <a:off x="666750" y="1714500"/>
            <a:ext cx="7810500" cy="25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8" dirty="0">
                <a:solidFill>
                  <a:srgbClr val="718096"/>
                </a:solidFill>
                <a:latin typeface="Consolas"/>
                <a:ea typeface="Consolas"/>
                <a:cs typeface="Consolas"/>
                <a:sym typeface="Consolas"/>
              </a:rPr>
              <a:t>// 1. Bucle para llenar el arreglo</a:t>
            </a:r>
            <a:endParaRPr sz="1008" dirty="0">
              <a:solidFill>
                <a:srgbClr val="71809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008" dirty="0">
                <a:solidFill>
                  <a:srgbClr val="4FD1C5"/>
                </a:solidFill>
                <a:latin typeface="Consolas"/>
                <a:ea typeface="Consolas"/>
                <a:cs typeface="Consolas"/>
                <a:sym typeface="Consolas"/>
              </a:rPr>
              <a:t>real</a:t>
            </a:r>
            <a:r>
              <a:rPr lang="en" sz="1008" dirty="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[] </a:t>
            </a:r>
            <a:r>
              <a:rPr lang="en" sz="1008" dirty="0">
                <a:solidFill>
                  <a:srgbClr val="B794F4"/>
                </a:solidFill>
                <a:latin typeface="Consolas"/>
                <a:ea typeface="Consolas"/>
                <a:cs typeface="Consolas"/>
                <a:sym typeface="Consolas"/>
              </a:rPr>
              <a:t>notas</a:t>
            </a:r>
            <a:r>
              <a:rPr lang="en" sz="1008" dirty="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1008" dirty="0">
                <a:solidFill>
                  <a:srgbClr val="4FD1C5"/>
                </a:solidFill>
                <a:latin typeface="Consolas"/>
                <a:ea typeface="Consolas"/>
                <a:cs typeface="Consolas"/>
                <a:sym typeface="Consolas"/>
              </a:rPr>
              <a:t>nuevo real</a:t>
            </a:r>
            <a:r>
              <a:rPr lang="en" sz="1008" dirty="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1008" dirty="0">
                <a:solidFill>
                  <a:srgbClr val="F56565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n" sz="1008" dirty="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008" dirty="0">
              <a:solidFill>
                <a:srgbClr val="E2E8F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8" dirty="0">
                <a:solidFill>
                  <a:srgbClr val="4FD1C5"/>
                </a:solidFill>
                <a:latin typeface="Consolas"/>
                <a:ea typeface="Consolas"/>
                <a:cs typeface="Consolas"/>
                <a:sym typeface="Consolas"/>
              </a:rPr>
              <a:t>para</a:t>
            </a:r>
            <a:r>
              <a:rPr lang="en" sz="1008" dirty="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8" dirty="0">
                <a:solidFill>
                  <a:srgbClr val="4FD1C5"/>
                </a:solidFill>
                <a:latin typeface="Consolas"/>
                <a:ea typeface="Consolas"/>
                <a:cs typeface="Consolas"/>
                <a:sym typeface="Consolas"/>
              </a:rPr>
              <a:t>entero</a:t>
            </a:r>
            <a:r>
              <a:rPr lang="en" sz="1008" dirty="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8" dirty="0">
                <a:solidFill>
                  <a:srgbClr val="B794F4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008" dirty="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1008" dirty="0">
                <a:solidFill>
                  <a:srgbClr val="F56565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008" dirty="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" sz="1008" dirty="0">
                <a:solidFill>
                  <a:srgbClr val="B794F4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008" dirty="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" sz="1008" dirty="0">
                <a:solidFill>
                  <a:srgbClr val="F56565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n" sz="1008" dirty="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" sz="1008" dirty="0">
                <a:solidFill>
                  <a:srgbClr val="B794F4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008" dirty="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1008" dirty="0">
                <a:solidFill>
                  <a:srgbClr val="B794F4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008" dirty="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" sz="1008" dirty="0">
                <a:solidFill>
                  <a:srgbClr val="F56565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008" dirty="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008" dirty="0">
              <a:solidFill>
                <a:srgbClr val="E2E8F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2540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8" dirty="0">
                <a:solidFill>
                  <a:srgbClr val="B794F4"/>
                </a:solidFill>
                <a:latin typeface="Consolas"/>
                <a:ea typeface="Consolas"/>
                <a:cs typeface="Consolas"/>
                <a:sym typeface="Consolas"/>
              </a:rPr>
              <a:t>L</a:t>
            </a:r>
            <a:r>
              <a:rPr lang="en" sz="1008" dirty="0">
                <a:solidFill>
                  <a:srgbClr val="B794F4"/>
                </a:solidFill>
                <a:latin typeface="Consolas"/>
                <a:ea typeface="Consolas"/>
                <a:cs typeface="Consolas"/>
                <a:sym typeface="Consolas"/>
              </a:rPr>
              <a:t>ea notas</a:t>
            </a:r>
            <a:r>
              <a:rPr lang="en" sz="1008" dirty="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1008" dirty="0">
                <a:solidFill>
                  <a:srgbClr val="B794F4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008" dirty="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008" dirty="0">
              <a:solidFill>
                <a:srgbClr val="E2E8F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8" dirty="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8" dirty="0">
              <a:solidFill>
                <a:srgbClr val="E2E8F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8" dirty="0">
                <a:solidFill>
                  <a:srgbClr val="718096"/>
                </a:solidFill>
                <a:latin typeface="Consolas"/>
                <a:ea typeface="Consolas"/>
                <a:cs typeface="Consolas"/>
                <a:sym typeface="Consolas"/>
              </a:rPr>
              <a:t>// 2. Bucle para sumar los elementos</a:t>
            </a:r>
            <a:endParaRPr sz="1008" dirty="0">
              <a:solidFill>
                <a:srgbClr val="71809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008" dirty="0">
                <a:solidFill>
                  <a:srgbClr val="4FD1C5"/>
                </a:solidFill>
                <a:latin typeface="Consolas"/>
                <a:ea typeface="Consolas"/>
                <a:cs typeface="Consolas"/>
                <a:sym typeface="Consolas"/>
              </a:rPr>
              <a:t>real</a:t>
            </a:r>
            <a:r>
              <a:rPr lang="en" sz="1008" dirty="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8" dirty="0">
                <a:solidFill>
                  <a:srgbClr val="B794F4"/>
                </a:solidFill>
                <a:latin typeface="Consolas"/>
                <a:ea typeface="Consolas"/>
                <a:cs typeface="Consolas"/>
                <a:sym typeface="Consolas"/>
              </a:rPr>
              <a:t>suma</a:t>
            </a:r>
            <a:r>
              <a:rPr lang="en" sz="1008" dirty="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1008" dirty="0">
                <a:solidFill>
                  <a:srgbClr val="F56565"/>
                </a:solidFill>
                <a:latin typeface="Consolas"/>
                <a:ea typeface="Consolas"/>
                <a:cs typeface="Consolas"/>
                <a:sym typeface="Consolas"/>
              </a:rPr>
              <a:t>0.0</a:t>
            </a:r>
            <a:endParaRPr sz="1008" dirty="0">
              <a:solidFill>
                <a:srgbClr val="E2E8F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8" dirty="0">
                <a:solidFill>
                  <a:srgbClr val="4FD1C5"/>
                </a:solidFill>
                <a:latin typeface="Consolas"/>
                <a:ea typeface="Consolas"/>
                <a:cs typeface="Consolas"/>
                <a:sym typeface="Consolas"/>
              </a:rPr>
              <a:t>para</a:t>
            </a:r>
            <a:r>
              <a:rPr lang="en" sz="1008" dirty="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8" dirty="0">
                <a:solidFill>
                  <a:srgbClr val="4FD1C5"/>
                </a:solidFill>
                <a:latin typeface="Consolas"/>
                <a:ea typeface="Consolas"/>
                <a:cs typeface="Consolas"/>
                <a:sym typeface="Consolas"/>
              </a:rPr>
              <a:t>entero</a:t>
            </a:r>
            <a:r>
              <a:rPr lang="en" sz="1008" dirty="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8" dirty="0">
                <a:solidFill>
                  <a:srgbClr val="B794F4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008" dirty="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1008" dirty="0">
                <a:solidFill>
                  <a:srgbClr val="F56565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008" dirty="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" sz="1008" dirty="0">
                <a:solidFill>
                  <a:srgbClr val="B794F4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008" dirty="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" sz="1008" dirty="0">
                <a:solidFill>
                  <a:srgbClr val="4FD1C5"/>
                </a:solidFill>
                <a:latin typeface="Consolas"/>
                <a:ea typeface="Consolas"/>
                <a:cs typeface="Consolas"/>
                <a:sym typeface="Consolas"/>
              </a:rPr>
              <a:t>longitud</a:t>
            </a:r>
            <a:r>
              <a:rPr lang="en" sz="1008" dirty="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8" dirty="0">
                <a:solidFill>
                  <a:srgbClr val="B794F4"/>
                </a:solidFill>
                <a:latin typeface="Consolas"/>
                <a:ea typeface="Consolas"/>
                <a:cs typeface="Consolas"/>
                <a:sym typeface="Consolas"/>
              </a:rPr>
              <a:t>notas</a:t>
            </a:r>
            <a:r>
              <a:rPr lang="en" sz="1008" dirty="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); </a:t>
            </a:r>
            <a:r>
              <a:rPr lang="en" sz="1008" dirty="0">
                <a:solidFill>
                  <a:srgbClr val="B794F4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008" dirty="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1008" dirty="0">
                <a:solidFill>
                  <a:srgbClr val="B794F4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008" dirty="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" sz="1008" dirty="0">
                <a:solidFill>
                  <a:srgbClr val="F56565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008" dirty="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008" dirty="0">
              <a:solidFill>
                <a:srgbClr val="E2E8F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2540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8" dirty="0">
                <a:solidFill>
                  <a:srgbClr val="B794F4"/>
                </a:solidFill>
                <a:latin typeface="Consolas"/>
                <a:ea typeface="Consolas"/>
                <a:cs typeface="Consolas"/>
                <a:sym typeface="Consolas"/>
              </a:rPr>
              <a:t>suma</a:t>
            </a:r>
            <a:r>
              <a:rPr lang="en" sz="1008" dirty="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1008" dirty="0">
                <a:solidFill>
                  <a:srgbClr val="B794F4"/>
                </a:solidFill>
                <a:latin typeface="Consolas"/>
                <a:ea typeface="Consolas"/>
                <a:cs typeface="Consolas"/>
                <a:sym typeface="Consolas"/>
              </a:rPr>
              <a:t>suma</a:t>
            </a:r>
            <a:r>
              <a:rPr lang="en" sz="1008" dirty="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" sz="1008" dirty="0">
                <a:solidFill>
                  <a:srgbClr val="B794F4"/>
                </a:solidFill>
                <a:latin typeface="Consolas"/>
                <a:ea typeface="Consolas"/>
                <a:cs typeface="Consolas"/>
                <a:sym typeface="Consolas"/>
              </a:rPr>
              <a:t>notas</a:t>
            </a:r>
            <a:r>
              <a:rPr lang="en" sz="1008" dirty="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1008" dirty="0">
                <a:solidFill>
                  <a:srgbClr val="B794F4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008" dirty="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008" dirty="0">
              <a:solidFill>
                <a:srgbClr val="E2E8F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8" dirty="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8" dirty="0">
              <a:solidFill>
                <a:srgbClr val="E2E8F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8" dirty="0">
                <a:solidFill>
                  <a:srgbClr val="718096"/>
                </a:solidFill>
                <a:latin typeface="Consolas"/>
                <a:ea typeface="Consolas"/>
                <a:cs typeface="Consolas"/>
                <a:sym typeface="Consolas"/>
              </a:rPr>
              <a:t>// 3. Cálculo del promedio</a:t>
            </a:r>
            <a:endParaRPr sz="1008" dirty="0">
              <a:solidFill>
                <a:srgbClr val="71809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008" dirty="0">
                <a:solidFill>
                  <a:srgbClr val="4FD1C5"/>
                </a:solidFill>
                <a:latin typeface="Consolas"/>
                <a:ea typeface="Consolas"/>
                <a:cs typeface="Consolas"/>
                <a:sym typeface="Consolas"/>
              </a:rPr>
              <a:t>real</a:t>
            </a:r>
            <a:r>
              <a:rPr lang="en" sz="1008" dirty="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8" dirty="0">
                <a:solidFill>
                  <a:srgbClr val="B794F4"/>
                </a:solidFill>
                <a:latin typeface="Consolas"/>
                <a:ea typeface="Consolas"/>
                <a:cs typeface="Consolas"/>
                <a:sym typeface="Consolas"/>
              </a:rPr>
              <a:t>promedio</a:t>
            </a:r>
            <a:r>
              <a:rPr lang="en" sz="1008" dirty="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1008" dirty="0">
                <a:solidFill>
                  <a:srgbClr val="B794F4"/>
                </a:solidFill>
                <a:latin typeface="Consolas"/>
                <a:ea typeface="Consolas"/>
                <a:cs typeface="Consolas"/>
                <a:sym typeface="Consolas"/>
              </a:rPr>
              <a:t>suma</a:t>
            </a:r>
            <a:r>
              <a:rPr lang="en" sz="1008" dirty="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/ </a:t>
            </a:r>
            <a:r>
              <a:rPr lang="en" sz="1008" dirty="0">
                <a:solidFill>
                  <a:srgbClr val="4FD1C5"/>
                </a:solidFill>
                <a:latin typeface="Consolas"/>
                <a:ea typeface="Consolas"/>
                <a:cs typeface="Consolas"/>
                <a:sym typeface="Consolas"/>
              </a:rPr>
              <a:t>longitud</a:t>
            </a:r>
            <a:r>
              <a:rPr lang="en" sz="1008" dirty="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8" dirty="0">
                <a:solidFill>
                  <a:srgbClr val="B794F4"/>
                </a:solidFill>
                <a:latin typeface="Consolas"/>
                <a:ea typeface="Consolas"/>
                <a:cs typeface="Consolas"/>
                <a:sym typeface="Consolas"/>
              </a:rPr>
              <a:t>notas</a:t>
            </a:r>
            <a:r>
              <a:rPr lang="en" sz="1008" dirty="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8" dirty="0">
              <a:solidFill>
                <a:srgbClr val="E2E8F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8" dirty="0">
                <a:solidFill>
                  <a:srgbClr val="4FD1C5"/>
                </a:solidFill>
                <a:latin typeface="Consolas"/>
                <a:ea typeface="Consolas"/>
                <a:cs typeface="Consolas"/>
                <a:sym typeface="Consolas"/>
              </a:rPr>
              <a:t>imprimir</a:t>
            </a:r>
            <a:r>
              <a:rPr lang="en" sz="1008" dirty="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8" dirty="0">
                <a:solidFill>
                  <a:srgbClr val="B794F4"/>
                </a:solidFill>
                <a:latin typeface="Consolas"/>
                <a:ea typeface="Consolas"/>
                <a:cs typeface="Consolas"/>
                <a:sym typeface="Consolas"/>
              </a:rPr>
              <a:t>promedio</a:t>
            </a:r>
            <a:r>
              <a:rPr lang="en" sz="1008" dirty="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8" dirty="0">
              <a:solidFill>
                <a:srgbClr val="E2E8F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8" name="Google Shape;368;p28"/>
          <p:cNvSpPr txBox="1"/>
          <p:nvPr/>
        </p:nvSpPr>
        <p:spPr>
          <a:xfrm>
            <a:off x="381000" y="4572000"/>
            <a:ext cx="8382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rPr>
              <a:t>Nota: La función longitud(vector) nos da el tamaño del arreglo.</a:t>
            </a:r>
            <a:endParaRPr sz="1200" b="1">
              <a:solidFill>
                <a:srgbClr val="2D374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30"/>
          <p:cNvSpPr/>
          <p:nvPr/>
        </p:nvSpPr>
        <p:spPr>
          <a:xfrm>
            <a:off x="4000500" y="1333500"/>
            <a:ext cx="1143000" cy="1143000"/>
          </a:xfrm>
          <a:prstGeom prst="ellipse">
            <a:avLst/>
          </a:prstGeom>
          <a:solidFill>
            <a:srgbClr val="BEE3F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30"/>
          <p:cNvSpPr txBox="1"/>
          <p:nvPr/>
        </p:nvSpPr>
        <p:spPr>
          <a:xfrm>
            <a:off x="4333875" y="1666875"/>
            <a:ext cx="4764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2C5282"/>
                </a:solidFill>
                <a:latin typeface="Roboto"/>
                <a:ea typeface="Roboto"/>
                <a:cs typeface="Roboto"/>
                <a:sym typeface="Roboto"/>
              </a:rPr>
              <a:t>#</a:t>
            </a:r>
            <a:endParaRPr sz="2400" b="1">
              <a:solidFill>
                <a:srgbClr val="2C528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8" name="Google Shape;398;p30"/>
          <p:cNvSpPr txBox="1"/>
          <p:nvPr/>
        </p:nvSpPr>
        <p:spPr>
          <a:xfrm>
            <a:off x="381000" y="266700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 b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Casos de Estudio</a:t>
            </a:r>
            <a:endParaRPr sz="4200" b="1">
              <a:solidFill>
                <a:srgbClr val="1A202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9" name="Google Shape;399;p30"/>
          <p:cNvSpPr txBox="1"/>
          <p:nvPr/>
        </p:nvSpPr>
        <p:spPr>
          <a:xfrm>
            <a:off x="381000" y="3429000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0">
                <a:solidFill>
                  <a:srgbClr val="4A5568"/>
                </a:solidFill>
                <a:latin typeface="Roboto"/>
                <a:ea typeface="Roboto"/>
                <a:cs typeface="Roboto"/>
                <a:sym typeface="Roboto"/>
              </a:rPr>
              <a:t>Explorando aplicaciones prácticas y algoritmos con arreglos</a:t>
            </a:r>
            <a:endParaRPr sz="1800" b="0">
              <a:solidFill>
                <a:srgbClr val="4A55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00" name="Google Shape;400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90975" y="4181475"/>
            <a:ext cx="1162200" cy="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30"/>
          <p:cNvPicPr preferRelativeResize="0"/>
          <p:nvPr/>
        </p:nvPicPr>
        <p:blipFill rotWithShape="1">
          <a:blip r:embed="rId4">
            <a:alphaModFix/>
          </a:blip>
          <a:srcRect b="10"/>
          <a:stretch/>
        </p:blipFill>
        <p:spPr>
          <a:xfrm>
            <a:off x="0" y="4162425"/>
            <a:ext cx="3810000" cy="9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30"/>
          <p:cNvPicPr preferRelativeResize="0"/>
          <p:nvPr/>
        </p:nvPicPr>
        <p:blipFill rotWithShape="1">
          <a:blip r:embed="rId5">
            <a:alphaModFix/>
          </a:blip>
          <a:srcRect b="10"/>
          <a:stretch/>
        </p:blipFill>
        <p:spPr>
          <a:xfrm>
            <a:off x="5715000" y="3786188"/>
            <a:ext cx="3429000" cy="13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31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31"/>
          <p:cNvSpPr txBox="1"/>
          <p:nvPr/>
        </p:nvSpPr>
        <p:spPr>
          <a:xfrm>
            <a:off x="1047750" y="381000"/>
            <a:ext cx="77154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Caso 1: Invertir un Arreglo</a:t>
            </a:r>
            <a:endParaRPr sz="2800" b="1">
              <a:solidFill>
                <a:srgbClr val="1A202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1" name="Google Shape;411;p31"/>
          <p:cNvSpPr txBox="1"/>
          <p:nvPr/>
        </p:nvSpPr>
        <p:spPr>
          <a:xfrm>
            <a:off x="381000" y="9525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Enunciado:</a:t>
            </a:r>
            <a:r>
              <a:rPr lang="en" sz="1400" b="0">
                <a:solidFill>
                  <a:srgbClr val="4A5568"/>
                </a:solidFill>
                <a:latin typeface="Roboto"/>
                <a:ea typeface="Roboto"/>
                <a:cs typeface="Roboto"/>
                <a:sym typeface="Roboto"/>
              </a:rPr>
              <a:t> Dado un arreglo de 5 números enteros, crea un segundo arreglo que contenga los mismos elementos pero en orden inverso.</a:t>
            </a:r>
            <a:endParaRPr sz="1400" b="0">
              <a:solidFill>
                <a:srgbClr val="4A55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2" name="Google Shape;412;p31"/>
          <p:cNvSpPr/>
          <p:nvPr/>
        </p:nvSpPr>
        <p:spPr>
          <a:xfrm>
            <a:off x="762000" y="1714500"/>
            <a:ext cx="7620000" cy="2857500"/>
          </a:xfrm>
          <a:prstGeom prst="roundRect">
            <a:avLst>
              <a:gd name="adj" fmla="val 5333"/>
            </a:avLst>
          </a:prstGeom>
          <a:solidFill>
            <a:srgbClr val="EDF2F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31"/>
          <p:cNvSpPr txBox="1"/>
          <p:nvPr/>
        </p:nvSpPr>
        <p:spPr>
          <a:xfrm>
            <a:off x="952500" y="1905000"/>
            <a:ext cx="7239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rPr>
              <a:t>Pistas de Solución</a:t>
            </a:r>
            <a:endParaRPr sz="1800" b="1">
              <a:solidFill>
                <a:srgbClr val="2D374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4" name="Google Shape;414;p31"/>
          <p:cNvSpPr txBox="1"/>
          <p:nvPr/>
        </p:nvSpPr>
        <p:spPr>
          <a:xfrm>
            <a:off x="1143000" y="2381250"/>
            <a:ext cx="6858000" cy="20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300"/>
              <a:buFont typeface="Roboto"/>
              <a:buChar char="●"/>
            </a:pPr>
            <a:r>
              <a:rPr lang="en" sz="1300" b="0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rPr>
              <a:t>Necesitarás dos arreglos: original y invertido, ambos del mismo tamaño.</a:t>
            </a:r>
            <a:endParaRPr sz="1300" b="0">
              <a:solidFill>
                <a:srgbClr val="2D3748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spcBef>
                <a:spcPts val="900"/>
              </a:spcBef>
              <a:spcAft>
                <a:spcPts val="0"/>
              </a:spcAft>
              <a:buClr>
                <a:srgbClr val="2D3748"/>
              </a:buClr>
              <a:buSzPts val="1300"/>
              <a:buFont typeface="Roboto"/>
              <a:buChar char="●"/>
            </a:pPr>
            <a:r>
              <a:rPr lang="en" sz="1300" b="0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rPr>
              <a:t>Recorre el arreglo original de principio a fin (índice i de 0 a 4).</a:t>
            </a:r>
            <a:endParaRPr sz="1300" b="0">
              <a:solidFill>
                <a:srgbClr val="2D3748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spcBef>
                <a:spcPts val="900"/>
              </a:spcBef>
              <a:spcAft>
                <a:spcPts val="0"/>
              </a:spcAft>
              <a:buClr>
                <a:srgbClr val="2D3748"/>
              </a:buClr>
              <a:buSzPts val="1300"/>
              <a:buFont typeface="Roboto"/>
              <a:buChar char="●"/>
            </a:pPr>
            <a:r>
              <a:rPr lang="en" sz="1300" b="0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rPr>
              <a:t>En cada paso, asigna el elemento original[i] a una posición en el arreglo invertido.</a:t>
            </a:r>
            <a:endParaRPr sz="1300" b="0">
              <a:solidFill>
                <a:srgbClr val="2D3748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spcBef>
                <a:spcPts val="900"/>
              </a:spcBef>
              <a:spcAft>
                <a:spcPts val="0"/>
              </a:spcAft>
              <a:buClr>
                <a:srgbClr val="2D3748"/>
              </a:buClr>
              <a:buSzPts val="1300"/>
              <a:buFont typeface="Roboto"/>
              <a:buChar char="●"/>
            </a:pPr>
            <a:r>
              <a:rPr lang="en" sz="1300" b="0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rPr>
              <a:t>Piensa: si i crece, el índice del arreglo invertido debe decrecer. ¿Qué fórmula puedes usar? (Ej: tamaño - 1 - i).</a:t>
            </a:r>
            <a:endParaRPr sz="1300" b="0">
              <a:solidFill>
                <a:srgbClr val="2D374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33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33"/>
          <p:cNvSpPr txBox="1"/>
          <p:nvPr/>
        </p:nvSpPr>
        <p:spPr>
          <a:xfrm>
            <a:off x="1047750" y="381000"/>
            <a:ext cx="77154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Caso 2: Encontrar el Número Mayor</a:t>
            </a:r>
            <a:endParaRPr sz="2800" b="1">
              <a:solidFill>
                <a:srgbClr val="1A202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7" name="Google Shape;437;p33"/>
          <p:cNvSpPr txBox="1"/>
          <p:nvPr/>
        </p:nvSpPr>
        <p:spPr>
          <a:xfrm>
            <a:off x="381000" y="9525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Enunciado:</a:t>
            </a:r>
            <a:r>
              <a:rPr lang="en" sz="1400" b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Leer 5 números en un arreglo y determinar cuál es el mayor de todos.</a:t>
            </a:r>
            <a:endParaRPr sz="1400" b="0">
              <a:solidFill>
                <a:srgbClr val="1A202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8" name="Google Shape;438;p33"/>
          <p:cNvSpPr/>
          <p:nvPr/>
        </p:nvSpPr>
        <p:spPr>
          <a:xfrm>
            <a:off x="762000" y="1714500"/>
            <a:ext cx="7620000" cy="2857500"/>
          </a:xfrm>
          <a:prstGeom prst="roundRect">
            <a:avLst>
              <a:gd name="adj" fmla="val 5333"/>
            </a:avLst>
          </a:prstGeom>
          <a:solidFill>
            <a:srgbClr val="EDF2F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33"/>
          <p:cNvSpPr txBox="1"/>
          <p:nvPr/>
        </p:nvSpPr>
        <p:spPr>
          <a:xfrm>
            <a:off x="952500" y="1905000"/>
            <a:ext cx="7239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rPr>
              <a:t>Pistas de Solución</a:t>
            </a:r>
            <a:endParaRPr sz="1800" b="1">
              <a:solidFill>
                <a:srgbClr val="2D374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0" name="Google Shape;440;p33"/>
          <p:cNvSpPr txBox="1"/>
          <p:nvPr/>
        </p:nvSpPr>
        <p:spPr>
          <a:xfrm>
            <a:off x="1143000" y="2381250"/>
            <a:ext cx="6858000" cy="20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300"/>
              <a:buFont typeface="Roboto"/>
              <a:buChar char="●"/>
            </a:pPr>
            <a:r>
              <a:rPr lang="en" sz="1300" b="0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rPr>
              <a:t>Crea una variable </a:t>
            </a:r>
            <a:r>
              <a:rPr lang="en" sz="1300" b="0" i="1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rPr>
              <a:t>mayor</a:t>
            </a:r>
            <a:r>
              <a:rPr lang="en" sz="1300" b="0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rPr>
              <a:t> para guardar el número más grande encontrado hasta el momento.</a:t>
            </a:r>
            <a:endParaRPr sz="1300" b="0">
              <a:solidFill>
                <a:srgbClr val="2D3748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spcBef>
                <a:spcPts val="900"/>
              </a:spcBef>
              <a:spcAft>
                <a:spcPts val="0"/>
              </a:spcAft>
              <a:buClr>
                <a:srgbClr val="2D3748"/>
              </a:buClr>
              <a:buSzPts val="1300"/>
              <a:buFont typeface="Roboto"/>
              <a:buChar char="●"/>
            </a:pPr>
            <a:r>
              <a:rPr lang="en" sz="1300" b="0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rPr>
              <a:t>Inicializa </a:t>
            </a:r>
            <a:r>
              <a:rPr lang="en" sz="1300" b="0" i="1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rPr>
              <a:t>mayor</a:t>
            </a:r>
            <a:r>
              <a:rPr lang="en" sz="1300" b="0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rPr>
              <a:t> con el primer elemento del arreglo (numeros[0]).</a:t>
            </a:r>
            <a:endParaRPr sz="1300" b="0">
              <a:solidFill>
                <a:srgbClr val="2D3748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spcBef>
                <a:spcPts val="900"/>
              </a:spcBef>
              <a:spcAft>
                <a:spcPts val="0"/>
              </a:spcAft>
              <a:buClr>
                <a:srgbClr val="2D3748"/>
              </a:buClr>
              <a:buSzPts val="1300"/>
              <a:buFont typeface="Roboto"/>
              <a:buChar char="●"/>
            </a:pPr>
            <a:r>
              <a:rPr lang="en" sz="1300" b="0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rPr>
              <a:t>Recorre el arreglo a partir del </a:t>
            </a:r>
            <a:r>
              <a:rPr lang="en" sz="1300" b="1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rPr>
              <a:t>segundo</a:t>
            </a:r>
            <a:r>
              <a:rPr lang="en" sz="1300" b="0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rPr>
              <a:t> elemento (índice 1).</a:t>
            </a:r>
            <a:endParaRPr sz="1300" b="0">
              <a:solidFill>
                <a:srgbClr val="2D3748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spcBef>
                <a:spcPts val="900"/>
              </a:spcBef>
              <a:spcAft>
                <a:spcPts val="0"/>
              </a:spcAft>
              <a:buClr>
                <a:srgbClr val="2D3748"/>
              </a:buClr>
              <a:buSzPts val="1300"/>
              <a:buFont typeface="Roboto"/>
              <a:buChar char="●"/>
            </a:pPr>
            <a:r>
              <a:rPr lang="en" sz="1300" b="0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rPr>
              <a:t>Dentro del bucle, compara el elemento actual (numeros[i]) con </a:t>
            </a:r>
            <a:r>
              <a:rPr lang="en" sz="1300" b="0" i="1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rPr>
              <a:t>mayor</a:t>
            </a:r>
            <a:r>
              <a:rPr lang="en" sz="1300" b="0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rPr>
              <a:t>. Si es más grande, actualiza el valor de </a:t>
            </a:r>
            <a:r>
              <a:rPr lang="en" sz="1300" b="0" i="1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rPr>
              <a:t>mayor</a:t>
            </a:r>
            <a:r>
              <a:rPr lang="en" sz="1300" b="0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300" b="0">
              <a:solidFill>
                <a:srgbClr val="2D374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34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34"/>
          <p:cNvSpPr txBox="1"/>
          <p:nvPr/>
        </p:nvSpPr>
        <p:spPr>
          <a:xfrm>
            <a:off x="1047750" y="381000"/>
            <a:ext cx="77154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Caso 3: Contar Pares e Impares</a:t>
            </a:r>
            <a:endParaRPr sz="2800" b="1">
              <a:solidFill>
                <a:srgbClr val="1A202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9" name="Google Shape;449;p34"/>
          <p:cNvSpPr txBox="1"/>
          <p:nvPr/>
        </p:nvSpPr>
        <p:spPr>
          <a:xfrm>
            <a:off x="381000" y="9525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Enunciado:</a:t>
            </a:r>
            <a:r>
              <a:rPr lang="en" sz="140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Dado un arreglo de enteros, contar cuántos de sus elementos son números pares y cuántos son impares.</a:t>
            </a:r>
            <a:endParaRPr sz="1400">
              <a:solidFill>
                <a:srgbClr val="1A202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0" name="Google Shape;450;p34"/>
          <p:cNvSpPr/>
          <p:nvPr/>
        </p:nvSpPr>
        <p:spPr>
          <a:xfrm>
            <a:off x="762000" y="1714500"/>
            <a:ext cx="7620000" cy="2857500"/>
          </a:xfrm>
          <a:prstGeom prst="roundRect">
            <a:avLst>
              <a:gd name="adj" fmla="val 5333"/>
            </a:avLst>
          </a:prstGeom>
          <a:solidFill>
            <a:srgbClr val="EDF2F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34"/>
          <p:cNvSpPr txBox="1"/>
          <p:nvPr/>
        </p:nvSpPr>
        <p:spPr>
          <a:xfrm>
            <a:off x="952500" y="1905000"/>
            <a:ext cx="7239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rPr>
              <a:t>Pistas de Solución</a:t>
            </a:r>
            <a:endParaRPr sz="1800" b="1">
              <a:solidFill>
                <a:srgbClr val="2D374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2" name="Google Shape;452;p34"/>
          <p:cNvSpPr txBox="1"/>
          <p:nvPr/>
        </p:nvSpPr>
        <p:spPr>
          <a:xfrm>
            <a:off x="1143000" y="2381250"/>
            <a:ext cx="6858000" cy="20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300"/>
              <a:buFont typeface="Roboto"/>
              <a:buChar char="●"/>
            </a:pPr>
            <a:r>
              <a:rPr lang="en" sz="1300" b="0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rPr>
              <a:t>Necesitarás dos contadores: </a:t>
            </a:r>
            <a:r>
              <a:rPr lang="en" sz="1300" b="0" i="1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rPr>
              <a:t>contadorPares</a:t>
            </a:r>
            <a:r>
              <a:rPr lang="en" sz="1300" b="0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rPr>
              <a:t> y </a:t>
            </a:r>
            <a:r>
              <a:rPr lang="en" sz="1300" b="0" i="1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rPr>
              <a:t>contadorImpares</a:t>
            </a:r>
            <a:r>
              <a:rPr lang="en" sz="1300" b="0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rPr>
              <a:t>, ambos inicializados en 0.</a:t>
            </a:r>
            <a:endParaRPr sz="1300" b="0">
              <a:solidFill>
                <a:srgbClr val="2D3748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spcBef>
                <a:spcPts val="900"/>
              </a:spcBef>
              <a:spcAft>
                <a:spcPts val="0"/>
              </a:spcAft>
              <a:buClr>
                <a:srgbClr val="2D3748"/>
              </a:buClr>
              <a:buSzPts val="1300"/>
              <a:buFont typeface="Roboto"/>
              <a:buChar char="●"/>
            </a:pPr>
            <a:r>
              <a:rPr lang="en" sz="1300" b="0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rPr>
              <a:t>Recorre todo el arreglo con un bucle.</a:t>
            </a:r>
            <a:endParaRPr sz="1300" b="0">
              <a:solidFill>
                <a:srgbClr val="2D3748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spcBef>
                <a:spcPts val="900"/>
              </a:spcBef>
              <a:spcAft>
                <a:spcPts val="0"/>
              </a:spcAft>
              <a:buClr>
                <a:srgbClr val="2D3748"/>
              </a:buClr>
              <a:buSzPts val="1300"/>
              <a:buFont typeface="Roboto"/>
              <a:buChar char="●"/>
            </a:pPr>
            <a:r>
              <a:rPr lang="en" sz="1300" b="0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rPr>
              <a:t>Dentro del bucle, usa el operador módulo </a:t>
            </a:r>
            <a:r>
              <a:rPr lang="en" sz="1300" b="1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rPr>
              <a:t>%</a:t>
            </a:r>
            <a:r>
              <a:rPr lang="en" sz="1300" b="0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rPr>
              <a:t>. Si </a:t>
            </a:r>
            <a:r>
              <a:rPr lang="en" sz="1300" b="0">
                <a:solidFill>
                  <a:srgbClr val="2D3748"/>
                </a:solidFill>
                <a:latin typeface="Consolas"/>
                <a:ea typeface="Consolas"/>
                <a:cs typeface="Consolas"/>
                <a:sym typeface="Consolas"/>
              </a:rPr>
              <a:t>numero % 2 == 0</a:t>
            </a:r>
            <a:r>
              <a:rPr lang="en" sz="1300" b="0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rPr>
              <a:t>, el número es par.</a:t>
            </a:r>
            <a:endParaRPr sz="1300" b="0">
              <a:solidFill>
                <a:srgbClr val="2D3748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spcBef>
                <a:spcPts val="900"/>
              </a:spcBef>
              <a:spcAft>
                <a:spcPts val="0"/>
              </a:spcAft>
              <a:buClr>
                <a:srgbClr val="2D3748"/>
              </a:buClr>
              <a:buSzPts val="1300"/>
              <a:buFont typeface="Roboto"/>
              <a:buChar char="●"/>
            </a:pPr>
            <a:r>
              <a:rPr lang="en" sz="1300" b="0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rPr>
              <a:t>Incrementa el contador correspondiente en cada caso.</a:t>
            </a:r>
            <a:endParaRPr sz="1300" b="0">
              <a:solidFill>
                <a:srgbClr val="2D374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3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35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35"/>
          <p:cNvSpPr txBox="1"/>
          <p:nvPr/>
        </p:nvSpPr>
        <p:spPr>
          <a:xfrm>
            <a:off x="1047750" y="381000"/>
            <a:ext cx="77154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Caso 4: Frecuencia de un Número</a:t>
            </a:r>
            <a:endParaRPr sz="2800" b="1">
              <a:solidFill>
                <a:srgbClr val="1A202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1" name="Google Shape;461;p35"/>
          <p:cNvSpPr txBox="1"/>
          <p:nvPr/>
        </p:nvSpPr>
        <p:spPr>
          <a:xfrm>
            <a:off x="381000" y="9525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Enunciado:</a:t>
            </a:r>
            <a:r>
              <a:rPr lang="en" sz="140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Leer un arreglo de números y un número adicional N. Contar cuántas veces aparece N dentro del arreglo.</a:t>
            </a:r>
            <a:endParaRPr sz="1400">
              <a:solidFill>
                <a:srgbClr val="1A202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2" name="Google Shape;462;p35"/>
          <p:cNvSpPr/>
          <p:nvPr/>
        </p:nvSpPr>
        <p:spPr>
          <a:xfrm>
            <a:off x="762000" y="1714500"/>
            <a:ext cx="7620000" cy="2857500"/>
          </a:xfrm>
          <a:prstGeom prst="roundRect">
            <a:avLst>
              <a:gd name="adj" fmla="val 5333"/>
            </a:avLst>
          </a:prstGeom>
          <a:solidFill>
            <a:srgbClr val="EDF2F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35"/>
          <p:cNvSpPr txBox="1"/>
          <p:nvPr/>
        </p:nvSpPr>
        <p:spPr>
          <a:xfrm>
            <a:off x="952500" y="1905000"/>
            <a:ext cx="7239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rPr>
              <a:t>Pistas de Solución</a:t>
            </a:r>
            <a:endParaRPr sz="1800" b="1">
              <a:solidFill>
                <a:srgbClr val="2D374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4" name="Google Shape;464;p35"/>
          <p:cNvSpPr txBox="1"/>
          <p:nvPr/>
        </p:nvSpPr>
        <p:spPr>
          <a:xfrm>
            <a:off x="1143000" y="2381250"/>
            <a:ext cx="6858000" cy="20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300"/>
              <a:buFont typeface="Roboto"/>
              <a:buChar char="●"/>
            </a:pPr>
            <a:r>
              <a:rPr lang="en" sz="1300" b="0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rPr>
              <a:t>Necesitarás una variable </a:t>
            </a:r>
            <a:r>
              <a:rPr lang="en" sz="1300" b="0" i="1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rPr>
              <a:t>numeroBuscado</a:t>
            </a:r>
            <a:r>
              <a:rPr lang="en" sz="1300" b="0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rPr>
              <a:t> y un contador.</a:t>
            </a:r>
            <a:endParaRPr sz="1300" b="0">
              <a:solidFill>
                <a:srgbClr val="2D3748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spcBef>
                <a:spcPts val="900"/>
              </a:spcBef>
              <a:spcAft>
                <a:spcPts val="0"/>
              </a:spcAft>
              <a:buClr>
                <a:srgbClr val="2D3748"/>
              </a:buClr>
              <a:buSzPts val="1300"/>
              <a:buFont typeface="Roboto"/>
              <a:buChar char="●"/>
            </a:pPr>
            <a:r>
              <a:rPr lang="en" sz="1300" b="0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rPr>
              <a:t>Después de llenar el arreglo, lee el valor de </a:t>
            </a:r>
            <a:r>
              <a:rPr lang="en" sz="1300" b="0" i="1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rPr>
              <a:t>numeroBuscado</a:t>
            </a:r>
            <a:r>
              <a:rPr lang="en" sz="1300" b="0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300" b="0">
              <a:solidFill>
                <a:srgbClr val="2D3748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spcBef>
                <a:spcPts val="900"/>
              </a:spcBef>
              <a:spcAft>
                <a:spcPts val="0"/>
              </a:spcAft>
              <a:buClr>
                <a:srgbClr val="2D3748"/>
              </a:buClr>
              <a:buSzPts val="1300"/>
              <a:buFont typeface="Roboto"/>
              <a:buChar char="●"/>
            </a:pPr>
            <a:r>
              <a:rPr lang="en" sz="1300" b="0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rPr>
              <a:t>Recorre el arreglo. En cada iteración, compara si el elemento actual es igual a </a:t>
            </a:r>
            <a:r>
              <a:rPr lang="en" sz="1300" b="0" i="1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rPr>
              <a:t>numeroBuscado</a:t>
            </a:r>
            <a:r>
              <a:rPr lang="en" sz="1300" b="0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300" b="0">
              <a:solidFill>
                <a:srgbClr val="2D3748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spcBef>
                <a:spcPts val="900"/>
              </a:spcBef>
              <a:spcAft>
                <a:spcPts val="0"/>
              </a:spcAft>
              <a:buClr>
                <a:srgbClr val="2D3748"/>
              </a:buClr>
              <a:buSzPts val="1300"/>
              <a:buFont typeface="Roboto"/>
              <a:buChar char="●"/>
            </a:pPr>
            <a:r>
              <a:rPr lang="en" sz="1300" b="0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rPr>
              <a:t>Si son iguales, incrementa tu contador.</a:t>
            </a:r>
            <a:endParaRPr sz="1300" b="0">
              <a:solidFill>
                <a:srgbClr val="2D374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1765</Words>
  <Application>Microsoft Office PowerPoint</Application>
  <PresentationFormat>On-screen Show (16:9)</PresentationFormat>
  <Paragraphs>215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Consolas</vt:lpstr>
      <vt:lpstr>Roboto</vt:lpstr>
      <vt:lpstr>Roboto SemiBold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SEBASTIAN MONTOYA VILLADA</cp:lastModifiedBy>
  <cp:revision>1</cp:revision>
  <dcterms:modified xsi:type="dcterms:W3CDTF">2026-04-27T01:48:57Z</dcterms:modified>
</cp:coreProperties>
</file>