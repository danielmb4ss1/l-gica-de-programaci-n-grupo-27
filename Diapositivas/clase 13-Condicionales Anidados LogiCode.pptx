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61" r:id="rId9"/>
    <p:sldId id="281" r:id="rId10"/>
    <p:sldId id="282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83" r:id="rId22"/>
    <p:sldId id="284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Poppins" panose="000005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0D1A18-F220-49E1-A99F-8656639C029B}">
  <a:tblStyle styleId="{080D1A18-F220-49E1-A99F-8656639C02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95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75484" y="2057400"/>
            <a:ext cx="824103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Estructura Condicional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Anidada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71700" y="4267200"/>
            <a:ext cx="7848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Jerarquías de Evaluación, Indentación y Análisis Lógico en LogiCode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566987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315527" y="2900362"/>
            <a:ext cx="756094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I. Teoría de Anidamiento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948112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Evaluaciones que dependen del resultado estricto de evaluaciones previas.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2712"/>
            <a:ext cx="5286375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52712"/>
            <a:ext cx="528637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0432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Definición Técnica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586162"/>
            <a:ext cx="4505325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estructuras condicionales anidadas ocurren cuando una o más sentencias condicionales (si / sino)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encuentran contenidas textualmente dentro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bloque de otra sentencia condicional primaria.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30432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Jerarquía de Evaluación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586162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Esto crea un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árbol de decisiones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Significa que el compilador solamente evaluará la condición interna si, y solo si, el resultado de la condición externa le permite ingresar a ese bloque específico.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Condicionales Anidados: Fundamentos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04" grpId="0"/>
      <p:bldP spid="1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425"/>
            <a:ext cx="34290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57425"/>
            <a:ext cx="34290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57425"/>
            <a:ext cx="34290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866775" y="3286125"/>
            <a:ext cx="22902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1. Dentro del "si"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3829050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sub-condición solo se activa si la primera pregunta fue afirmativa (Verdadera). Es el modelo estándar para verificar pre-requisitos escalonados.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676775" y="3286125"/>
            <a:ext cx="271033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2. Dentro del "sino"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76775" y="382905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sub-condición se activa solo si la primera pregunta falló (Falsa). Muy común para aplicar filtros en cascada (ej. ¿Es positivo? No -&gt; ¿Es negativo?).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486775" y="3286125"/>
            <a:ext cx="281035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3. En ambas ramas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86775" y="382905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pueden construir lógicas profundas introduciendo evaluaciones complejas tanto en el bloque afirmativo como en el negativo simultáneamente.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003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26003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Posibilidades de Anidamiento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116" grpId="0"/>
      <p:bldP spid="117" grpId="0"/>
      <p:bldP spid="118" grpId="0"/>
      <p:bldP spid="119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5286375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962025" y="28241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Dependencia</a:t>
            </a:r>
            <a:r>
              <a:rPr lang="en-US" sz="21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Directa</a:t>
            </a:r>
            <a:endParaRPr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962025" y="3367087"/>
            <a:ext cx="45053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Observa cómo la condición 2 está completamente encapsulada entre el primer si y su respectivo sino.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62025" y="4043362"/>
            <a:ext cx="45053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 la condición 1 resulta Falsa, el procesador jamás leerá ni evaluará la condición 2. Saltará instantáneamente a ejecutar las instrucciones_C.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Teórico: Anidar en el "si"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654BE5-19C2-1325-7497-C3E1BF4A0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040799"/>
            <a:ext cx="4506326" cy="3719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  <p:bldP spid="1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3413760"/>
          </a:xfrm>
          <a:prstGeom prst="rect">
            <a:avLst/>
          </a:prstGeom>
          <a:solidFill>
            <a:srgbClr val="4A8FE7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3" name="Shape 1"/>
          <p:cNvSpPr/>
          <p:nvPr/>
        </p:nvSpPr>
        <p:spPr>
          <a:xfrm>
            <a:off x="0" y="3413760"/>
            <a:ext cx="97536" cy="34442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Dependencia Directa (Anidar en el "si")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402080"/>
            <a:ext cx="11216640" cy="5059680"/>
          </a:xfrm>
          <a:prstGeom prst="roundRect">
            <a:avLst>
              <a:gd name="adj" fmla="val 361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6" name="Shape 4"/>
          <p:cNvSpPr/>
          <p:nvPr/>
        </p:nvSpPr>
        <p:spPr>
          <a:xfrm>
            <a:off x="853440" y="1706880"/>
            <a:ext cx="10485120" cy="44500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419" sz="1867"/>
          </a:p>
        </p:txBody>
      </p:sp>
      <p:sp>
        <p:nvSpPr>
          <p:cNvPr id="7" name="Text 5"/>
          <p:cNvSpPr/>
          <p:nvPr/>
        </p:nvSpPr>
        <p:spPr>
          <a:xfrm>
            <a:off x="1219200" y="195072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304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1219200" y="256032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puede acceder al laboratorio solo si cumple AMBAS condiciones: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1463040" y="3230880"/>
            <a:ext cx="91440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matriculado en </a:t>
            </a:r>
            <a:r>
              <a:rPr lang="en-US" sz="1867" dirty="0" err="1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(1=</a:t>
            </a:r>
            <a:r>
              <a:rPr lang="en-US" sz="1867" dirty="0" err="1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0=no)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además tiene </a:t>
            </a:r>
            <a:r>
              <a:rPr lang="en-US" sz="1867" dirty="0" err="1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active (“Si”, “no”)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219200" y="451104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segunda condición solo se evalúa si la primera es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verdadera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733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indicarselo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matriculado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3413760"/>
          </a:xfrm>
          <a:prstGeom prst="rect">
            <a:avLst/>
          </a:prstGeom>
          <a:solidFill>
            <a:srgbClr val="4A8FE7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3" name="Shape 1"/>
          <p:cNvSpPr/>
          <p:nvPr/>
        </p:nvSpPr>
        <p:spPr>
          <a:xfrm>
            <a:off x="0" y="3413760"/>
            <a:ext cx="97536" cy="34442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Dependencia Directa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402080"/>
            <a:ext cx="11216640" cy="5059680"/>
          </a:xfrm>
          <a:prstGeom prst="roundRect">
            <a:avLst>
              <a:gd name="adj" fmla="val 361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6" name="Shape 4"/>
          <p:cNvSpPr/>
          <p:nvPr/>
        </p:nvSpPr>
        <p:spPr>
          <a:xfrm>
            <a:off x="853440" y="1706880"/>
            <a:ext cx="10485120" cy="44500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419" sz="1867"/>
          </a:p>
        </p:txBody>
      </p:sp>
      <p:sp>
        <p:nvSpPr>
          <p:cNvPr id="7" name="Text 5"/>
          <p:cNvSpPr/>
          <p:nvPr/>
        </p:nvSpPr>
        <p:spPr>
          <a:xfrm>
            <a:off x="1219200" y="182880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304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LogiCode</a:t>
            </a:r>
            <a:endParaRPr lang="en-US" sz="2667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9997440" cy="3535680"/>
          </a:xfrm>
          <a:prstGeom prst="roundRect">
            <a:avLst>
              <a:gd name="adj" fmla="val 3448"/>
            </a:avLst>
          </a:prstGeom>
          <a:solidFill>
            <a:srgbClr val="1E2235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9" name="Text 7"/>
          <p:cNvSpPr/>
          <p:nvPr/>
        </p:nvSpPr>
        <p:spPr>
          <a:xfrm>
            <a:off x="1463040" y="2499360"/>
            <a:ext cx="926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entero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matriculado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reserva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matriculado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reserva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matriculado </a:t>
            </a: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33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 </a:t>
            </a: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"si"</a:t>
            </a:r>
            <a:r>
              <a:rPr lang="en-US" sz="1333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33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"Acceso permitido"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33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33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"Falta reserva"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33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33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</a:t>
            </a:r>
            <a:r>
              <a:rPr lang="en-US" sz="1333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está matriculado"</a:t>
            </a:r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3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endParaRPr lang="en-US" sz="13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1725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62025" y="2762250"/>
            <a:ext cx="473059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Filtrado por Descarte (Cascada)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25" y="3705225"/>
            <a:ext cx="4505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 la condición 1 falla, entramos al bloque del sino exterior.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62025" y="4114800"/>
            <a:ext cx="450532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Pero en vez de ejecutar una acción definitiva de inmediato, abrimos un nuevo si para someter el dato a un segundo filtro (condición 2) antes de proceder.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Teórico: Anidar en el "sino"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1B532-DFDC-E6AA-9101-D87635D39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033297"/>
            <a:ext cx="4934639" cy="4163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  <p:bldP spid="156" grpId="0"/>
      <p:bldP spid="1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3413760"/>
          </a:xfrm>
          <a:prstGeom prst="rect">
            <a:avLst/>
          </a:prstGeom>
          <a:solidFill>
            <a:srgbClr val="4A8FE7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3" name="Shape 1"/>
          <p:cNvSpPr/>
          <p:nvPr/>
        </p:nvSpPr>
        <p:spPr>
          <a:xfrm>
            <a:off x="0" y="3413760"/>
            <a:ext cx="97536" cy="34442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Filtrado por Descarte (Anidar en el "sino")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402080"/>
            <a:ext cx="11216640" cy="5059680"/>
          </a:xfrm>
          <a:prstGeom prst="roundRect">
            <a:avLst>
              <a:gd name="adj" fmla="val 361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6" name="Shape 4"/>
          <p:cNvSpPr/>
          <p:nvPr/>
        </p:nvSpPr>
        <p:spPr>
          <a:xfrm>
            <a:off x="853440" y="1706880"/>
            <a:ext cx="10485120" cy="44500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419" sz="1867"/>
          </a:p>
        </p:txBody>
      </p:sp>
      <p:sp>
        <p:nvSpPr>
          <p:cNvPr id="7" name="Text 5"/>
          <p:cNvSpPr/>
          <p:nvPr/>
        </p:nvSpPr>
        <p:spPr>
          <a:xfrm>
            <a:off x="1219200" y="195072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304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1219200" y="256032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un número en categorías excluyentes: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1463040" y="3108960"/>
            <a:ext cx="91440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positivo → "Positivo"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no, revisar si es negativo → "Negativo"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es ninguno → "Es Cero"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219200" y="469392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filtros en cascada: cada "sino" refina la clasificación.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3413760"/>
          </a:xfrm>
          <a:prstGeom prst="rect">
            <a:avLst/>
          </a:prstGeom>
          <a:solidFill>
            <a:srgbClr val="4A8FE7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3" name="Shape 1"/>
          <p:cNvSpPr/>
          <p:nvPr/>
        </p:nvSpPr>
        <p:spPr>
          <a:xfrm>
            <a:off x="0" y="3413760"/>
            <a:ext cx="97536" cy="34442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Filtrado por Descarte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402080"/>
            <a:ext cx="11216640" cy="5059680"/>
          </a:xfrm>
          <a:prstGeom prst="roundRect">
            <a:avLst>
              <a:gd name="adj" fmla="val 361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6" name="Shape 4"/>
          <p:cNvSpPr/>
          <p:nvPr/>
        </p:nvSpPr>
        <p:spPr>
          <a:xfrm>
            <a:off x="853440" y="1706880"/>
            <a:ext cx="10485120" cy="44500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419" sz="1867"/>
          </a:p>
        </p:txBody>
      </p:sp>
      <p:sp>
        <p:nvSpPr>
          <p:cNvPr id="7" name="Text 5"/>
          <p:cNvSpPr/>
          <p:nvPr/>
        </p:nvSpPr>
        <p:spPr>
          <a:xfrm>
            <a:off x="1219200" y="188976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304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LogiCode</a:t>
            </a:r>
            <a:endParaRPr lang="en-US" sz="2667" dirty="0"/>
          </a:p>
        </p:txBody>
      </p:sp>
      <p:sp>
        <p:nvSpPr>
          <p:cNvPr id="8" name="Shape 6"/>
          <p:cNvSpPr/>
          <p:nvPr/>
        </p:nvSpPr>
        <p:spPr>
          <a:xfrm>
            <a:off x="1097280" y="2560320"/>
            <a:ext cx="9997440" cy="3352800"/>
          </a:xfrm>
          <a:prstGeom prst="roundRect">
            <a:avLst>
              <a:gd name="adj" fmla="val 3636"/>
            </a:avLst>
          </a:prstGeom>
          <a:solidFill>
            <a:srgbClr val="1E2235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9" name="Text 7"/>
          <p:cNvSpPr/>
          <p:nvPr/>
        </p:nvSpPr>
        <p:spPr>
          <a:xfrm>
            <a:off x="1463040" y="2682240"/>
            <a:ext cx="9265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entero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67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"Positivo"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67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"Negativo"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67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Cero"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endParaRPr lang="en-US" sz="146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5286375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962025" y="2357437"/>
            <a:ext cx="473059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Cómo lo procesa la computadora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62025" y="3300412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procesador no lee todo el código de golpe. Construye un mapa de rutas exclusivas.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104900" y="39576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200150" y="39576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flujo general llega al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Nivel 1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decisión.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104900" y="43576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200150" y="435768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ruta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exige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flujo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un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Nivel 2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subordinado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1117488" y="51006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1165113" y="5038724"/>
            <a:ext cx="42672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Cada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nivel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abierto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requiere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propia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instrucción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cierre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finsi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cierres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fusionan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 final.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Estructura del Árbol de Decisiones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66341-5E63-D0F9-D57F-6CDDEA2BE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153" y="1876128"/>
            <a:ext cx="5068007" cy="4248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/>
      <p:bldP spid="178" grpId="0"/>
      <p:bldP spid="180" grpId="0"/>
      <p:bldP spid="181" grpId="0"/>
      <p:bldP spid="182" grpId="0"/>
      <p:bldP spid="183" grpId="0"/>
      <p:bldP spid="184" grpId="0"/>
      <p:bldP spid="1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50344" y="3057525"/>
            <a:ext cx="1049131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II. Indentación y Buenas Prácticas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2790825" y="4105275"/>
            <a:ext cx="661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secreto para mantener el control estructural de los bloques profundos.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7475"/>
            <a:ext cx="52863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57475"/>
            <a:ext cx="528637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962025" y="30480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Ubicación Jerárquica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62025" y="3590925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 estructuras anidadas es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vital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saber dónde comienza y termina un bloque para garantizar que las instrucciones queden en la capa correcta del algoritmo.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24650" y="30480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¿Qué es Tabular?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24650" y="35909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Consiste en utilizar espacios (o la tecla </a:t>
            </a: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al principio de cada línea para empujar el texto hacia la derecha, creando una "escalera" visual que revela la subordinación lógica y ayuda a encontrar errores.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 Regla de Oro: Indentar o Tabular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/>
      <p:bldP spid="203" grpId="0"/>
      <p:bldP spid="204" grpId="0"/>
      <p:bldP spid="2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Impacto Visual: Bueno vs Malo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499F07-EC01-5A55-163D-F1993795E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71" y="1839555"/>
            <a:ext cx="10488489" cy="39248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1850469" y="3057525"/>
            <a:ext cx="849106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III. Caso de Estudio Práctico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3919537" y="4105275"/>
            <a:ext cx="43529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Calculando Notas y Habilitaciones Estudiantiles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9362"/>
            <a:ext cx="52863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19362"/>
            <a:ext cx="5286375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962025" y="29098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Requisito Funcional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962025" y="3452812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Capturar 3 notas. Mostrar un mensaje indicando si Ganó o Perdió.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Además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 los estudiantes que perdieron, se les debe mostrar condicionalmente si pueden o no habilitar.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724650" y="29098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Reglas de Negocio Clave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724650" y="3452812"/>
            <a:ext cx="4505325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Se gana si el promedio &gt;= 3.0.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Un estudiante que pierde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solo puede habilitar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 su promedio &gt;= 2.0.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Si es menor a 2.0, pierde definitivamente sin opción a habilitar.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Fase de Análisis Lógico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/>
      <p:bldP spid="247" grpId="0"/>
      <p:bldP spid="248" grpId="0"/>
      <p:bldP spid="24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6012"/>
            <a:ext cx="5286375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962025" y="27765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Identificando la Ruta Lógica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104900" y="3319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200150" y="3319462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Decisión Padre: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¿El promedio aprueba directo (&gt;= 3.0)? Si es así, gana y finaliza.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104900" y="39766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200150" y="3976687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Decisión Hija (Dentro del "sino"):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Solo si no ganó, entramos a revisar el "Plan B".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104900" y="46339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200150" y="4633912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¿El promedio le alcanza al menos para habilitar (&gt;= 2.0)?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Desglosando el Árbol del Problema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EA0F7-6078-5A51-7DA6-07CDD6902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116" y="2224088"/>
            <a:ext cx="5201376" cy="3791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/>
      <p:bldP spid="261" grpId="0"/>
      <p:bldP spid="262" grpId="0"/>
      <p:bldP spid="263" grpId="0"/>
      <p:bldP spid="264" grpId="0"/>
      <p:bldP spid="265" grpId="0"/>
      <p:bldP spid="26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528637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962025" y="27432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Definiendo la Victoria Inicial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962025" y="3286125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Primero estructuramos el esqueleto principal del problema. Calculamos y montamos la gran bifurcación de ganar o perder.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962025" y="42005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Hasta aquí, el código es simplemente un condicional doble tradicional.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1: La Condición Externa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37EBF-004A-B36A-983B-77129FEB5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7" y="1818970"/>
            <a:ext cx="5201376" cy="4363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/>
      <p:bldP spid="284" grpId="0"/>
      <p:bldP spid="2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2687"/>
            <a:ext cx="5286375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962025" y="28432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La Evaluación Secundaria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962025" y="33861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regla exige evaluar la habilitación </a:t>
            </a: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solamente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los que perdieron. Por tanto, el nuevo condicional debe incrustarse textualmente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dentro del bloque sino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962025" y="4300537"/>
            <a:ext cx="45053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Estando en el sino, ya garantizamos que el promedio es menor a 3.0. Solo falta revisar el límite inferior (2.0).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Paso 2: Anidando la Sub-Condición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86E9E-5497-D653-DA2A-37B0FC092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999971"/>
            <a:ext cx="5144218" cy="4001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0"/>
      <p:bldP spid="311" grpId="0"/>
      <p:bldP spid="3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528637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/>
        </p:nvSpPr>
        <p:spPr>
          <a:xfrm>
            <a:off x="962025" y="27432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Revisión del Código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962025" y="3286125"/>
            <a:ext cx="45053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Observa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doble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 palabra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finsi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estrictamente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obligatorio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36" name="Google Shape;336;p28"/>
          <p:cNvSpPr txBox="1"/>
          <p:nvPr/>
        </p:nvSpPr>
        <p:spPr>
          <a:xfrm>
            <a:off x="962025" y="3952875"/>
            <a:ext cx="450532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finsi interior cierra la validación secundaria de la habilitación. El finsi exterior cierra la estructura general de aprobación.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Algoritmo LogiCode Final Ensamblado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47241-3698-6AC8-A748-85DB1271C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1809444"/>
            <a:ext cx="5020376" cy="4382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" grpId="0"/>
      <p:bldP spid="335" grpId="0"/>
      <p:bldP spid="3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3413760"/>
          </a:xfrm>
          <a:prstGeom prst="rect">
            <a:avLst/>
          </a:prstGeom>
          <a:solidFill>
            <a:srgbClr val="4A8FE7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3" name="Shape 1"/>
          <p:cNvSpPr/>
          <p:nvPr/>
        </p:nvSpPr>
        <p:spPr>
          <a:xfrm>
            <a:off x="0" y="3413760"/>
            <a:ext cx="97536" cy="34442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Compuesto: Sistema de Descuentos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402080"/>
            <a:ext cx="11216640" cy="5059680"/>
          </a:xfrm>
          <a:prstGeom prst="roundRect">
            <a:avLst>
              <a:gd name="adj" fmla="val 361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6" name="Shape 4"/>
          <p:cNvSpPr/>
          <p:nvPr/>
        </p:nvSpPr>
        <p:spPr>
          <a:xfrm>
            <a:off x="792480" y="1645920"/>
            <a:ext cx="505968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419" sz="1867"/>
          </a:p>
        </p:txBody>
      </p:sp>
      <p:sp>
        <p:nvSpPr>
          <p:cNvPr id="7" name="Text 5"/>
          <p:cNvSpPr/>
          <p:nvPr/>
        </p:nvSpPr>
        <p:spPr>
          <a:xfrm>
            <a:off x="1158240" y="1889760"/>
            <a:ext cx="4328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304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miembro VIP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58240" y="243840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monto de compra: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1036320" y="2987040"/>
            <a:ext cx="4572000" cy="2865120"/>
          </a:xfrm>
          <a:prstGeom prst="roundRect">
            <a:avLst>
              <a:gd name="adj" fmla="val 3404"/>
            </a:avLst>
          </a:prstGeom>
          <a:solidFill>
            <a:srgbClr val="1E2235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10" name="Text 8"/>
          <p:cNvSpPr/>
          <p:nvPr/>
        </p:nvSpPr>
        <p:spPr>
          <a:xfrm>
            <a:off x="1280160" y="3169920"/>
            <a:ext cx="4084320" cy="249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montoCompra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descuento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descuento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339840" y="1645920"/>
            <a:ext cx="505968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419" sz="1867"/>
          </a:p>
        </p:txBody>
      </p:sp>
      <p:sp>
        <p:nvSpPr>
          <p:cNvPr id="12" name="Text 10"/>
          <p:cNvSpPr/>
          <p:nvPr/>
        </p:nvSpPr>
        <p:spPr>
          <a:xfrm>
            <a:off x="6705600" y="1889760"/>
            <a:ext cx="4328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304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es VIP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05600" y="243840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si es estudiante: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6583680" y="2987040"/>
            <a:ext cx="4572000" cy="2865120"/>
          </a:xfrm>
          <a:prstGeom prst="roundRect">
            <a:avLst>
              <a:gd name="adj" fmla="val 3404"/>
            </a:avLst>
          </a:prstGeom>
          <a:solidFill>
            <a:srgbClr val="1E2235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15" name="Text 13"/>
          <p:cNvSpPr/>
          <p:nvPr/>
        </p:nvSpPr>
        <p:spPr>
          <a:xfrm>
            <a:off x="6827520" y="3169920"/>
            <a:ext cx="4084320" cy="249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esEstudiante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"si"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descuento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descuento </a:t>
            </a:r>
            <a:r>
              <a:rPr lang="en-US" sz="1467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7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67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endParaRPr lang="en-US" sz="146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3413760"/>
          </a:xfrm>
          <a:prstGeom prst="rect">
            <a:avLst/>
          </a:prstGeom>
          <a:solidFill>
            <a:srgbClr val="4A8FE7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3" name="Shape 1"/>
          <p:cNvSpPr/>
          <p:nvPr/>
        </p:nvSpPr>
        <p:spPr>
          <a:xfrm>
            <a:off x="0" y="3413760"/>
            <a:ext cx="97536" cy="34442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Anidamiento en Ambas Ramas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280160"/>
            <a:ext cx="11216640" cy="5364480"/>
          </a:xfrm>
          <a:prstGeom prst="roundRect">
            <a:avLst>
              <a:gd name="adj" fmla="val 340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6" name="Shape 4"/>
          <p:cNvSpPr/>
          <p:nvPr/>
        </p:nvSpPr>
        <p:spPr>
          <a:xfrm>
            <a:off x="853440" y="1463040"/>
            <a:ext cx="10485120" cy="49987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419" sz="1867"/>
          </a:p>
        </p:txBody>
      </p:sp>
      <p:sp>
        <p:nvSpPr>
          <p:cNvPr id="7" name="Text 5"/>
          <p:cNvSpPr/>
          <p:nvPr/>
        </p:nvSpPr>
        <p:spPr>
          <a:xfrm>
            <a:off x="1219200" y="152400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304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LogiCode</a:t>
            </a:r>
            <a:endParaRPr lang="en-US" sz="2667" dirty="0"/>
          </a:p>
        </p:txBody>
      </p:sp>
      <p:sp>
        <p:nvSpPr>
          <p:cNvPr id="8" name="Shape 6"/>
          <p:cNvSpPr/>
          <p:nvPr/>
        </p:nvSpPr>
        <p:spPr>
          <a:xfrm>
            <a:off x="1097280" y="2072640"/>
            <a:ext cx="9997440" cy="4145280"/>
          </a:xfrm>
          <a:prstGeom prst="roundRect">
            <a:avLst>
              <a:gd name="adj" fmla="val 2941"/>
            </a:avLst>
          </a:prstGeom>
          <a:solidFill>
            <a:srgbClr val="1E2235"/>
          </a:solidFill>
          <a:ln/>
        </p:spPr>
        <p:txBody>
          <a:bodyPr/>
          <a:lstStyle/>
          <a:p>
            <a:endParaRPr lang="es-419" sz="1867"/>
          </a:p>
        </p:txBody>
      </p:sp>
      <p:sp>
        <p:nvSpPr>
          <p:cNvPr id="9" name="Text 7"/>
          <p:cNvSpPr/>
          <p:nvPr/>
        </p:nvSpPr>
        <p:spPr>
          <a:xfrm>
            <a:off x="1463040" y="2133600"/>
            <a:ext cx="9265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esVip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esEstudiante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montoCompra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descuento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esVip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montoCompra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esEstudiante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esVip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"si"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montoCompra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descuento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descuento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esEstudiante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"si"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descuento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descuento 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b="1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finsi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 err="1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"Descuento aplicado: “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formatear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(descuento,1)</a:t>
            </a:r>
            <a:r>
              <a:rPr lang="en-US" sz="12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"%“)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9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325278" y="3057525"/>
            <a:ext cx="1154144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IV. Pruebas de Escritorio y Debugging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3305175" y="4105275"/>
            <a:ext cx="5581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Verificando las ramas del algoritmo y cazando errores lógicos.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0"/>
          <p:cNvSpPr/>
          <p:nvPr/>
        </p:nvSpPr>
        <p:spPr>
          <a:xfrm>
            <a:off x="571500" y="2162175"/>
            <a:ext cx="11049000" cy="3086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" name="Google Shape;370;p30"/>
          <p:cNvGraphicFramePr/>
          <p:nvPr/>
        </p:nvGraphicFramePr>
        <p:xfrm>
          <a:off x="571500" y="2162175"/>
          <a:ext cx="11039500" cy="3086125"/>
        </p:xfrm>
        <a:graphic>
          <a:graphicData uri="http://schemas.openxmlformats.org/drawingml/2006/table">
            <a:tbl>
              <a:tblPr firstRow="1" bandRow="1">
                <a:noFill/>
                <a:tableStyleId>{080D1A18-F220-49E1-A99F-8656639C029B}</a:tableStyleId>
              </a:tblPr>
              <a:tblGrid>
                <a:gridCol w="181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N1, N2, N3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Promedio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Mensaje 1 (Externo)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Mensaje 2 (Interno Anidado)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3, 5, 1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1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(Ignorado, no entra al sino)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2, 3, 2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PERDIO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Puede habilitar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4, 4.5, 5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1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(Ignorado, no entra al sino)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2.5, 1.5, 1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1.66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PERDIO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puede Habilitar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1" name="Google Shape;371;p30"/>
          <p:cNvSpPr/>
          <p:nvPr/>
        </p:nvSpPr>
        <p:spPr>
          <a:xfrm>
            <a:off x="576262" y="2795587"/>
            <a:ext cx="1816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2393156" y="2795587"/>
            <a:ext cx="18481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/>
          <p:nvPr/>
        </p:nvSpPr>
        <p:spPr>
          <a:xfrm>
            <a:off x="4241303" y="2795587"/>
            <a:ext cx="3096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7338268" y="2795587"/>
            <a:ext cx="4277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576262" y="3405187"/>
            <a:ext cx="1816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2393156" y="3405187"/>
            <a:ext cx="18481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4241303" y="3405187"/>
            <a:ext cx="3096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7338268" y="3405187"/>
            <a:ext cx="4277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576262" y="4014787"/>
            <a:ext cx="1816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2393156" y="4014787"/>
            <a:ext cx="18481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4241303" y="4014787"/>
            <a:ext cx="3096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7338268" y="4014787"/>
            <a:ext cx="4277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576262" y="4624387"/>
            <a:ext cx="1816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2393156" y="4624387"/>
            <a:ext cx="18481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4241303" y="4624387"/>
            <a:ext cx="3096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7338268" y="4624387"/>
            <a:ext cx="4277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Tabla de Traza: Evaluación en Ejecución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Crítico: Errores Comunes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D7207-F670-8940-6A8A-A70C02D91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77" y="1580812"/>
            <a:ext cx="10478962" cy="48393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2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2695575" y="3057525"/>
            <a:ext cx="6800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V. Práctica Autónoma</a:t>
            </a:r>
            <a:endParaRPr/>
          </a:p>
        </p:txBody>
      </p:sp>
      <p:sp>
        <p:nvSpPr>
          <p:cNvPr id="426" name="Google Shape;426;p32"/>
          <p:cNvSpPr txBox="1"/>
          <p:nvPr/>
        </p:nvSpPr>
        <p:spPr>
          <a:xfrm>
            <a:off x="3262312" y="4105275"/>
            <a:ext cx="5667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Desarrolla los retos de lógica algorítmica en tu entorno virtual.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5286375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76375"/>
            <a:ext cx="528637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3"/>
          <p:cNvSpPr txBox="1"/>
          <p:nvPr/>
        </p:nvSpPr>
        <p:spPr>
          <a:xfrm>
            <a:off x="962025" y="1866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Requerimiento del Negocio</a:t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962025" y="240982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sistema de seguridad valida el acceso.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962025" y="2809875"/>
            <a:ext cx="4505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Lee un entero edad y un texto doc ("si" o "no").</a:t>
            </a:r>
            <a:endParaRPr/>
          </a:p>
        </p:txBody>
      </p:sp>
      <p:sp>
        <p:nvSpPr>
          <p:cNvPr id="437" name="Google Shape;437;p33"/>
          <p:cNvSpPr txBox="1"/>
          <p:nvPr/>
        </p:nvSpPr>
        <p:spPr>
          <a:xfrm>
            <a:off x="962025" y="3219450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Si la edad es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mayor o igual a 18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evalúa un nuevo condicional. Si tiene documento ("si"), imprime: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Puede ingresar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Si no lo tiene ("no"), imprime: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Falta documento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38" name="Google Shape;438;p33"/>
          <p:cNvSpPr txBox="1"/>
          <p:nvPr/>
        </p:nvSpPr>
        <p:spPr>
          <a:xfrm>
            <a:off x="962025" y="413385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 Si es menor de 18 años, el sistema asume rechazo e imprime directo: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Menor de edad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6724650" y="1866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Casos de Prueba (Juez)</a:t>
            </a:r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6724650" y="2409825"/>
            <a:ext cx="4505325" cy="3533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1" name="Google Shape;441;p33"/>
          <p:cNvGraphicFramePr/>
          <p:nvPr>
            <p:extLst>
              <p:ext uri="{D42A27DB-BD31-4B8C-83A1-F6EECF244321}">
                <p14:modId xmlns:p14="http://schemas.microsoft.com/office/powerpoint/2010/main" val="1193817471"/>
              </p:ext>
            </p:extLst>
          </p:nvPr>
        </p:nvGraphicFramePr>
        <p:xfrm>
          <a:off x="6724650" y="2409825"/>
          <a:ext cx="4495800" cy="3533800"/>
        </p:xfrm>
        <a:graphic>
          <a:graphicData uri="http://schemas.openxmlformats.org/drawingml/2006/table">
            <a:tbl>
              <a:tblPr firstRow="1" bandRow="1">
                <a:noFill/>
                <a:tableStyleId>{080D1A18-F220-49E1-A99F-8656639C029B}</a:tableStyleId>
              </a:tblPr>
              <a:tblGrid>
                <a:gridCol w="247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3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Entradas (edad, doc)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Salida Esperada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</a:t>
                      </a:r>
                      <a:r>
                        <a:rPr lang="en-US" sz="135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</a:t>
                      </a: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Puede ingresar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"no"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Falta documento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</a:t>
                      </a:r>
                      <a:r>
                        <a:rPr lang="en-US" sz="135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</a:t>
                      </a: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Menor de </a:t>
                      </a:r>
                      <a:r>
                        <a:rPr lang="en-US" sz="135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edad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2" name="Google Shape;442;p33"/>
          <p:cNvSpPr/>
          <p:nvPr/>
        </p:nvSpPr>
        <p:spPr>
          <a:xfrm>
            <a:off x="6729412" y="3328987"/>
            <a:ext cx="24784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3"/>
          <p:cNvSpPr/>
          <p:nvPr/>
        </p:nvSpPr>
        <p:spPr>
          <a:xfrm>
            <a:off x="9207847" y="3328987"/>
            <a:ext cx="2017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3"/>
          <p:cNvSpPr/>
          <p:nvPr/>
        </p:nvSpPr>
        <p:spPr>
          <a:xfrm>
            <a:off x="6729412" y="4195762"/>
            <a:ext cx="24784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3"/>
          <p:cNvSpPr/>
          <p:nvPr/>
        </p:nvSpPr>
        <p:spPr>
          <a:xfrm>
            <a:off x="9207847" y="4195762"/>
            <a:ext cx="2017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3"/>
          <p:cNvSpPr/>
          <p:nvPr/>
        </p:nvSpPr>
        <p:spPr>
          <a:xfrm>
            <a:off x="6729412" y="5062537"/>
            <a:ext cx="24784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3"/>
          <p:cNvSpPr/>
          <p:nvPr/>
        </p:nvSpPr>
        <p:spPr>
          <a:xfrm>
            <a:off x="9207847" y="5062537"/>
            <a:ext cx="2017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3"/>
          <p:cNvSpPr txBox="1"/>
          <p:nvPr/>
        </p:nvSpPr>
        <p:spPr>
          <a:xfrm>
            <a:off x="571500" y="5238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Control de Acceso (Anidar en el "si")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81200"/>
            <a:ext cx="528637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81200"/>
            <a:ext cx="528637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4"/>
          <p:cNvSpPr txBox="1"/>
          <p:nvPr/>
        </p:nvSpPr>
        <p:spPr>
          <a:xfrm>
            <a:off x="962025" y="23717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Requerimiento del Negocio</a:t>
            </a:r>
            <a:endParaRPr/>
          </a:p>
        </p:txBody>
      </p:sp>
      <p:sp>
        <p:nvSpPr>
          <p:cNvPr id="457" name="Google Shape;457;p34"/>
          <p:cNvSpPr txBox="1"/>
          <p:nvPr/>
        </p:nvSpPr>
        <p:spPr>
          <a:xfrm>
            <a:off x="962025" y="2914650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Clasifica un número usando un filtro en cascada.</a:t>
            </a:r>
            <a:endParaRPr/>
          </a:p>
        </p:txBody>
      </p:sp>
      <p:sp>
        <p:nvSpPr>
          <p:cNvPr id="458" name="Google Shape;458;p34"/>
          <p:cNvSpPr txBox="1"/>
          <p:nvPr/>
        </p:nvSpPr>
        <p:spPr>
          <a:xfrm>
            <a:off x="962025" y="3314700"/>
            <a:ext cx="4505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Declara y lee una variable entero num.</a:t>
            </a:r>
            <a:endParaRPr/>
          </a:p>
        </p:txBody>
      </p:sp>
      <p:sp>
        <p:nvSpPr>
          <p:cNvPr id="459" name="Google Shape;459;p34"/>
          <p:cNvSpPr txBox="1"/>
          <p:nvPr/>
        </p:nvSpPr>
        <p:spPr>
          <a:xfrm>
            <a:off x="962025" y="372427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Si el número es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mayor a 0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imprime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Positivo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60" name="Google Shape;460;p34"/>
          <p:cNvSpPr txBox="1"/>
          <p:nvPr/>
        </p:nvSpPr>
        <p:spPr>
          <a:xfrm>
            <a:off x="962025" y="41243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 Si no lo es,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anida un nuevo condicional en el sino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Evalúa si el número es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menor a 0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de ser así, imprime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Negativo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61" name="Google Shape;461;p34"/>
          <p:cNvSpPr txBox="1"/>
          <p:nvPr/>
        </p:nvSpPr>
        <p:spPr>
          <a:xfrm>
            <a:off x="962025" y="478155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 Si falla ambas evaluaciones, imprime por descarte total: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 Cero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62" name="Google Shape;462;p34"/>
          <p:cNvSpPr txBox="1"/>
          <p:nvPr/>
        </p:nvSpPr>
        <p:spPr>
          <a:xfrm>
            <a:off x="6724650" y="23717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Casos de Prueba (Juez)</a:t>
            </a:r>
            <a:endParaRPr/>
          </a:p>
        </p:txBody>
      </p:sp>
      <p:sp>
        <p:nvSpPr>
          <p:cNvPr id="463" name="Google Shape;463;p34"/>
          <p:cNvSpPr/>
          <p:nvPr/>
        </p:nvSpPr>
        <p:spPr>
          <a:xfrm>
            <a:off x="6724650" y="2914650"/>
            <a:ext cx="4505325" cy="2476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4" name="Google Shape;464;p34"/>
          <p:cNvGraphicFramePr/>
          <p:nvPr/>
        </p:nvGraphicFramePr>
        <p:xfrm>
          <a:off x="6724650" y="2914650"/>
          <a:ext cx="4495800" cy="2476500"/>
        </p:xfrm>
        <a:graphic>
          <a:graphicData uri="http://schemas.openxmlformats.org/drawingml/2006/table">
            <a:tbl>
              <a:tblPr firstRow="1" bandRow="1">
                <a:noFill/>
                <a:tableStyleId>{080D1A18-F220-49E1-A99F-8656639C029B}</a:tableStyleId>
              </a:tblPr>
              <a:tblGrid>
                <a:gridCol w="21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Entrada (num)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Salida Esperada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Positivo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Negativo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 Cero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5" name="Google Shape;465;p34"/>
          <p:cNvSpPr/>
          <p:nvPr/>
        </p:nvSpPr>
        <p:spPr>
          <a:xfrm>
            <a:off x="6729412" y="3548062"/>
            <a:ext cx="2167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8896945" y="3548062"/>
            <a:ext cx="2328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6729412" y="4157662"/>
            <a:ext cx="2167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8896945" y="4157662"/>
            <a:ext cx="2328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6729412" y="4767262"/>
            <a:ext cx="2167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8896945" y="4767262"/>
            <a:ext cx="2328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Clasificador Numérico (Cascada)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5"/>
          <p:cNvSpPr txBox="1"/>
          <p:nvPr/>
        </p:nvSpPr>
        <p:spPr>
          <a:xfrm>
            <a:off x="295275" y="23764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¿Listos para programar?</a:t>
            </a:r>
            <a:endParaRPr/>
          </a:p>
        </p:txBody>
      </p:sp>
      <p:sp>
        <p:nvSpPr>
          <p:cNvPr id="478" name="Google Shape;478;p35"/>
          <p:cNvSpPr txBox="1"/>
          <p:nvPr/>
        </p:nvSpPr>
        <p:spPr>
          <a:xfrm>
            <a:off x="571500" y="3709987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Abran sus editores LogiCode. Construyan sus propios árboles de decisión.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Recuerden usar siempre la tecla TAB para mantener un código limpio y legible.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1629</Words>
  <Application>Microsoft Office PowerPoint</Application>
  <PresentationFormat>Widescreen</PresentationFormat>
  <Paragraphs>164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Consolas</vt:lpstr>
      <vt:lpstr>Poppins</vt:lpstr>
      <vt:lpstr>Lato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2026-03-11T02:30:11Z</dcterms:modified>
</cp:coreProperties>
</file>