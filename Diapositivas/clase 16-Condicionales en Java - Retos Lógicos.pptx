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Fira Code" panose="020B0809050000020004" pitchFamily="49" charset="0"/>
      <p:regular r:id="rId22"/>
      <p:bold r:id="rId23"/>
    </p:embeddedFont>
    <p:embeddedFont>
      <p:font typeface="Inter" panose="020B0604020202020204" charset="0"/>
      <p:regular r:id="rId24"/>
      <p:bold r:id="rId25"/>
      <p:italic r:id="rId26"/>
      <p:boldItalic r:id="rId27"/>
    </p:embeddedFont>
    <p:embeddedFont>
      <p:font typeface="Inter SemiBold" panose="020B0604020202020204" charset="0"/>
      <p:regular r:id="rId28"/>
      <p:bold r:id="rId29"/>
      <p:italic r:id="rId30"/>
      <p:boldItalic r:id="rId31"/>
    </p:embeddedFont>
    <p:embeddedFont>
      <p:font typeface="Poppins" panose="00000500000000000000" pitchFamily="2" charset="0"/>
      <p:regular r:id="rId32"/>
      <p:bold r:id="rId33"/>
      <p:italic r:id="rId34"/>
      <p:boldItalic r:id="rId35"/>
    </p:embeddedFont>
    <p:embeddedFont>
      <p:font typeface="Poppins SemiBold" panose="000007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2150" y="1523107"/>
            <a:ext cx="6477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80398" y="2570857"/>
            <a:ext cx="9631203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Programando</a:t>
            </a:r>
            <a:r>
              <a:rPr lang="en-US" sz="42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2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Decisiones</a:t>
            </a:r>
            <a:r>
              <a:rPr lang="en-US" sz="42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2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42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Java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619749" y="3210817"/>
            <a:ext cx="9525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534792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Lee los enunciados, analiza las instrucciones algorítmicas y construye tus propios condicionales directamente en tu IDE.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2726084"/>
            <a:ext cx="3429000" cy="341173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66750" y="476250"/>
            <a:ext cx="11401425" cy="46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poder de la Lógica Booleana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66750" y="1005780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333500" y="1564034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Antes de escribir un condicional, el programa debe hacer una pregunta cerrada. Las respuestas en Java solo pueden ser (Verdadero) o (Falso).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391525" y="3745259"/>
            <a:ext cx="2980372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Bifurcaciones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91525" y="4156620"/>
            <a:ext cx="2838450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Los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condicionales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rompen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lectura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lineal del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programa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dotando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inteligencia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 software para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reaccionar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entorno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91525" y="3068984"/>
            <a:ext cx="49530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4184B9-E167-E7D8-A809-44AFFC5B0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1" y="2660053"/>
            <a:ext cx="3715268" cy="35437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B6FBE1-4B3B-BD2A-8239-5886834E34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6250" y="2764842"/>
            <a:ext cx="3410426" cy="33342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326951"/>
            <a:ext cx="5191125" cy="505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66750" y="476250"/>
            <a:ext cx="11401425" cy="469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Condicional Simple: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666750" y="1012626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1075" y="447675"/>
            <a:ext cx="5905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666750" y="2746771"/>
            <a:ext cx="5450681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Filtro Principal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6750" y="3158132"/>
            <a:ext cx="5191125" cy="946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palabra reservada funciona como una puerta de seguridad. Si la condición se cumple, la puerta se abre y ejecuta el bloque.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66750" y="4218830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la condición NO se cumple, simplemente ignora el bloque y continúa con el resto del código.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77025" y="1622226"/>
            <a:ext cx="4780597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de Uso Local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6677025" y="2033587"/>
            <a:ext cx="45529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"En el Metro de Medellín, si el saldo de la tarjeta Cívica es menor a $3,210 COP, el torniquete debe mostrar una alerta roja indicando: </a:t>
            </a:r>
            <a:r>
              <a:rPr lang="en-US" sz="165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'Saldo insuficiente, recargue'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."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82950" y="2719982"/>
            <a:ext cx="4191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1641276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20105"/>
            <a:ext cx="10858500" cy="168205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666750" y="476250"/>
            <a:ext cx="11401425" cy="46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¡A Programar!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666750" y="1005780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4879" y="526702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019175" y="1710630"/>
            <a:ext cx="1066133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1: Control de Torniquete (Metro)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19175" y="2221110"/>
            <a:ext cx="10153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Crear un programa que alerte a los usuarios con saldo bajo en su tarjeta de transporte.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20FFF1-169B-5596-9AA8-CD4732487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308" y="3192660"/>
            <a:ext cx="10631384" cy="3477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326951"/>
            <a:ext cx="5191125" cy="505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666750" y="476250"/>
            <a:ext cx="11401425" cy="469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Condicional Doble: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666750" y="1012626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7725" y="447675"/>
            <a:ext cx="20574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6677025" y="1622226"/>
            <a:ext cx="4780597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D28D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de Uso Local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677025" y="2033587"/>
            <a:ext cx="4552950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"Un sistema de Domótica evalúa la temperatura ambiente. Si supera los 28.5°C, enciende automáticamente el Aire Acondicionado. De lo contrario, simplemente abre las persianas."</a:t>
            </a:r>
            <a:endParaRPr/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1641276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F7B58-7396-FFC0-0F74-BD80D29E97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395" y="2639743"/>
            <a:ext cx="5239481" cy="24292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20105"/>
            <a:ext cx="10858500" cy="168205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666750" y="476250"/>
            <a:ext cx="11401425" cy="46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¡A Programar!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666750" y="1005780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8100" y="550960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1019175" y="1710630"/>
            <a:ext cx="1066133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D28D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2: Clima Inteligente (Smart Home)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019175" y="2221110"/>
            <a:ext cx="10153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Configurar un sensor simulado que reaccione al clima actual.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27DD03-77A2-A408-7D5C-59F3EBEF9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024" y="3096909"/>
            <a:ext cx="10755226" cy="35533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2393751"/>
            <a:ext cx="5238750" cy="398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93751"/>
            <a:ext cx="5238750" cy="398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3935908"/>
            <a:ext cx="46482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3650158"/>
            <a:ext cx="46482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666750" y="476250"/>
            <a:ext cx="1140142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</a:t>
            </a:r>
            <a:r>
              <a:rPr lang="en-US" sz="2850" b="0" i="0" u="none" strike="noStrike" cap="none" dirty="0" err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Lógica</a:t>
            </a:r>
            <a:r>
              <a:rPr lang="en-US" sz="28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850" b="0" i="0" u="none" strike="noStrike" cap="none" dirty="0" err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Compuesta</a:t>
            </a:r>
            <a:r>
              <a:rPr lang="en-US" sz="28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         ,        )</a:t>
            </a:r>
            <a:endParaRPr dirty="0"/>
          </a:p>
        </p:txBody>
      </p:sp>
      <p:sp>
        <p:nvSpPr>
          <p:cNvPr id="213" name="Google Shape;213;p19"/>
          <p:cNvSpPr/>
          <p:nvPr/>
        </p:nvSpPr>
        <p:spPr>
          <a:xfrm>
            <a:off x="666750" y="1012626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29175" y="493237"/>
            <a:ext cx="5905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54052" y="467447"/>
            <a:ext cx="5905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666750" y="1326951"/>
            <a:ext cx="1085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problemas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vida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pregunta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 basta.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Necesitamos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múltiples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estados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mismo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tiempo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17" name="Google Shape;217;p19"/>
          <p:cNvSpPr txBox="1"/>
          <p:nvPr/>
        </p:nvSpPr>
        <p:spPr>
          <a:xfrm>
            <a:off x="962025" y="2736651"/>
            <a:ext cx="488061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91C1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</a:t>
            </a:r>
            <a:r>
              <a:rPr lang="en-US" sz="2100" b="0" i="0" u="none" strike="noStrike" cap="none" dirty="0" err="1">
                <a:solidFill>
                  <a:srgbClr val="B91C1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Operador</a:t>
            </a:r>
            <a:r>
              <a:rPr lang="en-US" sz="2100" b="0" i="0" u="none" strike="noStrike" cap="none" dirty="0">
                <a:solidFill>
                  <a:srgbClr val="B91C1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AND (        )</a:t>
            </a:r>
            <a:endParaRPr dirty="0"/>
          </a:p>
        </p:txBody>
      </p:sp>
      <p:sp>
        <p:nvSpPr>
          <p:cNvPr id="218" name="Google Shape;218;p19"/>
          <p:cNvSpPr txBox="1"/>
          <p:nvPr/>
        </p:nvSpPr>
        <p:spPr>
          <a:xfrm>
            <a:off x="962025" y="3173908"/>
            <a:ext cx="4648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Exige que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TODAS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las condiciones sean verdaderas.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581775" y="2736651"/>
            <a:ext cx="488061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</a:t>
            </a:r>
            <a:r>
              <a:rPr lang="en-US" sz="2100" b="0" i="0" u="none" strike="noStrike" cap="none" dirty="0" err="1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Operador</a:t>
            </a:r>
            <a:r>
              <a:rPr lang="en-US" sz="2100" b="0" i="0" u="none" strike="noStrike" cap="none" dirty="0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OR (           )</a:t>
            </a:r>
            <a:endParaRPr dirty="0"/>
          </a:p>
        </p:txBody>
      </p:sp>
      <p:sp>
        <p:nvSpPr>
          <p:cNvPr id="220" name="Google Shape;220;p19"/>
          <p:cNvSpPr txBox="1"/>
          <p:nvPr/>
        </p:nvSpPr>
        <p:spPr>
          <a:xfrm>
            <a:off x="6581775" y="3173908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Exige que al menos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condición sea verdadera.</a:t>
            </a:r>
            <a:endParaRPr/>
          </a:p>
        </p:txBody>
      </p:sp>
      <p:pic>
        <p:nvPicPr>
          <p:cNvPr id="221" name="Google Shape;22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02330" y="2733924"/>
            <a:ext cx="4762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1152525" y="4126408"/>
            <a:ext cx="4267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Ej: Delivery en Medellín:</a:t>
            </a:r>
            <a:r>
              <a:rPr lang="en-US" sz="1350" b="0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"El restaurante debe estar abierto </a:t>
            </a:r>
            <a:r>
              <a:rPr lang="en-US" sz="1350" b="1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Y (&amp;&amp;)</a:t>
            </a:r>
            <a:r>
              <a:rPr lang="en-US" sz="1350" b="0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debe haber un Rappitendero a menos de 2km."</a:t>
            </a:r>
            <a:endParaRPr/>
          </a:p>
        </p:txBody>
      </p:sp>
      <p:pic>
        <p:nvPicPr>
          <p:cNvPr id="223" name="Google Shape;22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05875" y="2688133"/>
            <a:ext cx="4762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6772275" y="3840658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Ej: Pico y Placa:</a:t>
            </a:r>
            <a:r>
              <a:rPr lang="en-US" sz="1350" b="0" i="0" u="none" strike="noStrike" cap="non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 "Si la placa termina en 7 </a:t>
            </a:r>
            <a:r>
              <a:rPr lang="en-US" sz="1350" b="1" i="0" u="none" strike="noStrike" cap="non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O (||)</a:t>
            </a:r>
            <a:r>
              <a:rPr lang="en-US" sz="1350" b="0" i="0" u="none" strike="noStrike" cap="non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 termina en 9, tienes restricción de movilidad hoy."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20105"/>
            <a:ext cx="10858500" cy="199638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666750" y="476250"/>
            <a:ext cx="11401425" cy="46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¡A Programar!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66750" y="1005780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92855" y="586680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1019175" y="1710630"/>
            <a:ext cx="1066133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91C1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3: Prevención de Fraude Bancario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1019175" y="2221110"/>
            <a:ext cx="101536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 banco aprueba transacciones grandes solo si cumplen rigurosas reglas de seguridad combinadas.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C22D7E-E224-2E5C-3029-7D3BB10270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87" y="3541516"/>
            <a:ext cx="10212225" cy="31627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326951"/>
            <a:ext cx="5191125" cy="505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666750" y="476250"/>
            <a:ext cx="11401425" cy="469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Multicondicional: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666750" y="1012626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1025" y="447675"/>
            <a:ext cx="16383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666750" y="2748557"/>
            <a:ext cx="5450681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Escalera de Opciones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66750" y="3159918"/>
            <a:ext cx="51911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Evalúa condiciones en cascada de arriba a abajo. Al encontrar la primera verdadera, ejecuta su bloque y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salta todo lo demás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66750" y="4217193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orden es vital: debes ir filtrando de lo más restrictivo a lo más general.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677025" y="1622226"/>
            <a:ext cx="4780597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4785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de Uso Local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677025" y="2033587"/>
            <a:ext cx="45529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"Reglas de envío e-commerce: Compras &gt; $200k tienen Envío Gratis. Compras &gt; $100k pagan $5,000. El resto paga tarifa plena de $12,000."</a:t>
            </a:r>
            <a:endParaRPr/>
          </a:p>
        </p:txBody>
      </p:sp>
      <p:pic>
        <p:nvPicPr>
          <p:cNvPr id="266" name="Google Shape;26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1641276"/>
            <a:ext cx="2762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20105"/>
            <a:ext cx="10858500" cy="168205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666750" y="476250"/>
            <a:ext cx="11401425" cy="46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¡A Programar!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666750" y="1005780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93439" y="586680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1019175" y="1710630"/>
            <a:ext cx="1066133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4: Categoría de Tarifas de Servicio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1019175" y="2221110"/>
            <a:ext cx="10153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Asignar una tarifa de envío basada en el total del carrito de compras.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E830D8-CEF5-986E-7217-9A88348A5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492" y="3287910"/>
            <a:ext cx="10317015" cy="34294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326951"/>
            <a:ext cx="5191125" cy="5054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206329"/>
            <a:ext cx="519112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666750" y="476250"/>
            <a:ext cx="1140142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</a:t>
            </a:r>
            <a:r>
              <a:rPr lang="en-US" sz="2850" b="0" i="0" u="none" strike="noStrike" cap="none" dirty="0" err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Operador</a:t>
            </a:r>
            <a:r>
              <a:rPr lang="en-US" sz="28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850" b="0" i="0" u="none" strike="noStrike" cap="none" dirty="0" err="1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Ternario</a:t>
            </a:r>
            <a:r>
              <a:rPr lang="en-US" sz="28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          )</a:t>
            </a:r>
            <a:endParaRPr dirty="0"/>
          </a:p>
        </p:txBody>
      </p:sp>
      <p:sp>
        <p:nvSpPr>
          <p:cNvPr id="300" name="Google Shape;300;p23"/>
          <p:cNvSpPr/>
          <p:nvPr/>
        </p:nvSpPr>
        <p:spPr>
          <a:xfrm>
            <a:off x="666750" y="1012626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0" y="447675"/>
            <a:ext cx="8001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 txBox="1"/>
          <p:nvPr/>
        </p:nvSpPr>
        <p:spPr>
          <a:xfrm>
            <a:off x="666750" y="2702272"/>
            <a:ext cx="5450681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Decisiones de "una sola línea"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666750" y="3113633"/>
            <a:ext cx="5191125" cy="94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 un atajo exclusivo para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asignar un valor a una variable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forma rápida, reemplazando un básico.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6677025" y="1622226"/>
            <a:ext cx="4780597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de Uso Local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6677025" y="2033587"/>
            <a:ext cx="45529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"En una App, si son más de las 18:00 (variable booleana esDeNoche), la variable String de Tema debe guardar el valor 'Dark'. Si no, guardar 'Light'."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809625" y="4349204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var =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condición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) ? "Valor True" : "Valor False";</a:t>
            </a:r>
            <a:endParaRPr dirty="0"/>
          </a:p>
        </p:txBody>
      </p:sp>
      <p:pic>
        <p:nvPicPr>
          <p:cNvPr id="308" name="Google Shape;30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1641276"/>
            <a:ext cx="1905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20105"/>
            <a:ext cx="10858500" cy="168205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4"/>
          <p:cNvSpPr txBox="1"/>
          <p:nvPr/>
        </p:nvSpPr>
        <p:spPr>
          <a:xfrm>
            <a:off x="666750" y="476250"/>
            <a:ext cx="11401425" cy="46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¡A Programar!</a:t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666750" y="1005780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1925" y="553343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4"/>
          <p:cNvSpPr txBox="1"/>
          <p:nvPr/>
        </p:nvSpPr>
        <p:spPr>
          <a:xfrm>
            <a:off x="1019175" y="1710630"/>
            <a:ext cx="1066133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5: Tema de Aplicación (Ternario)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1019175" y="2221110"/>
            <a:ext cx="10153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Asignar el tema visual de una app usando el operador ternario en una sola línea de código.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AE342D-15CA-06DB-DF9B-F7FB9063A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702" y="3287910"/>
            <a:ext cx="10412278" cy="33913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326951"/>
            <a:ext cx="5191125" cy="5054798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5"/>
          <p:cNvSpPr txBox="1"/>
          <p:nvPr/>
        </p:nvSpPr>
        <p:spPr>
          <a:xfrm>
            <a:off x="666750" y="476250"/>
            <a:ext cx="11401425" cy="469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6. Selección Múltiple:</a:t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666750" y="1012626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0" y="447675"/>
            <a:ext cx="14287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5"/>
          <p:cNvSpPr txBox="1"/>
          <p:nvPr/>
        </p:nvSpPr>
        <p:spPr>
          <a:xfrm>
            <a:off x="666750" y="2748557"/>
            <a:ext cx="5450681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Gestor de Menús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666750" y="3159918"/>
            <a:ext cx="51911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 usa cuando no evaluamos rangos (&lt;, &gt;), sino valores exactos (1, 2, 3 o "A", "B").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666750" y="3902868"/>
            <a:ext cx="51911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Mejora drásticamente la lectura del código. Java evalúa la variable y salta directamente al "caso" que coincida exacto.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6677025" y="1622226"/>
            <a:ext cx="4780597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 de Uso Local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6677025" y="2033587"/>
            <a:ext cx="45529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"Menú de un cajero Bancolombia: Según el dígito ingresado (1, 2 o 3), redirigir al módulo de Retiros, Consignaciones o Consulta de Saldo respectivamente."</a:t>
            </a:r>
            <a:endParaRPr/>
          </a:p>
        </p:txBody>
      </p:sp>
      <p:pic>
        <p:nvPicPr>
          <p:cNvPr id="350" name="Google Shape;35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1641276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20105"/>
            <a:ext cx="10858500" cy="168205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6"/>
          <p:cNvSpPr txBox="1"/>
          <p:nvPr/>
        </p:nvSpPr>
        <p:spPr>
          <a:xfrm>
            <a:off x="666750" y="476250"/>
            <a:ext cx="11401425" cy="46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¡A Programar!</a:t>
            </a:r>
            <a:endParaRPr/>
          </a:p>
        </p:txBody>
      </p:sp>
      <p:sp>
        <p:nvSpPr>
          <p:cNvPr id="358" name="Google Shape;358;p26"/>
          <p:cNvSpPr/>
          <p:nvPr/>
        </p:nvSpPr>
        <p:spPr>
          <a:xfrm>
            <a:off x="666750" y="1005780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29431" y="548580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6"/>
          <p:cNvSpPr txBox="1"/>
          <p:nvPr/>
        </p:nvSpPr>
        <p:spPr>
          <a:xfrm>
            <a:off x="1019175" y="1710630"/>
            <a:ext cx="1066133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6: Menú Cajero Automático (Switch)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1019175" y="2221110"/>
            <a:ext cx="10153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Simular el flujo de opciones de un menú interactivo bancario.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D8B606-9AFF-46E2-CF86-A36715004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981" y="3192660"/>
            <a:ext cx="10046844" cy="34469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7837" y="1602134"/>
            <a:ext cx="10763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7"/>
          <p:cNvSpPr txBox="1"/>
          <p:nvPr/>
        </p:nvSpPr>
        <p:spPr>
          <a:xfrm>
            <a:off x="2635567" y="2840384"/>
            <a:ext cx="6920865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Reto Final Integrador</a:t>
            </a:r>
            <a:endParaRPr/>
          </a:p>
        </p:txBody>
      </p:sp>
      <p:sp>
        <p:nvSpPr>
          <p:cNvPr id="388" name="Google Shape;388;p27"/>
          <p:cNvSpPr txBox="1"/>
          <p:nvPr/>
        </p:nvSpPr>
        <p:spPr>
          <a:xfrm>
            <a:off x="1809750" y="3952875"/>
            <a:ext cx="85725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 hora de mezclar condicionales simples, anidados y operadores lógicos complejos en un clásico ejercicio de algoritmia.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Prepárate para estructurar tu pensamiento lógico.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20105"/>
            <a:ext cx="10858500" cy="512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3950" y="2891730"/>
            <a:ext cx="10010775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8"/>
          <p:cNvSpPr txBox="1"/>
          <p:nvPr/>
        </p:nvSpPr>
        <p:spPr>
          <a:xfrm>
            <a:off x="666750" y="476250"/>
            <a:ext cx="11401425" cy="46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juego del cercano - (12875)</a:t>
            </a:r>
            <a:endParaRPr/>
          </a:p>
        </p:txBody>
      </p:sp>
      <p:sp>
        <p:nvSpPr>
          <p:cNvPr id="396" name="Google Shape;396;p28"/>
          <p:cNvSpPr/>
          <p:nvPr/>
        </p:nvSpPr>
        <p:spPr>
          <a:xfrm>
            <a:off x="666750" y="1005780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 txBox="1"/>
          <p:nvPr/>
        </p:nvSpPr>
        <p:spPr>
          <a:xfrm>
            <a:off x="1123950" y="1710630"/>
            <a:ext cx="100107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C1D95"/>
                </a:solidFill>
                <a:latin typeface="Inter"/>
                <a:ea typeface="Inter"/>
                <a:cs typeface="Inter"/>
                <a:sym typeface="Inter"/>
              </a:rPr>
              <a:t>En una rifa se organiza un juego que consiste en asignar un número diferente a cada uno de tres participantes.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1" u="none" strike="noStrike" cap="none">
                <a:solidFill>
                  <a:srgbClr val="4C1D95"/>
                </a:solidFill>
                <a:latin typeface="Inter"/>
                <a:ea typeface="Inter"/>
                <a:cs typeface="Inter"/>
                <a:sym typeface="Inter"/>
              </a:rPr>
              <a:t>(El sistema recibe tres números reales: N1, N2, N3).</a:t>
            </a:r>
            <a:endParaRPr/>
          </a:p>
        </p:txBody>
      </p:sp>
      <p:sp>
        <p:nvSpPr>
          <p:cNvPr id="398" name="Google Shape;398;p28"/>
          <p:cNvSpPr txBox="1"/>
          <p:nvPr/>
        </p:nvSpPr>
        <p:spPr>
          <a:xfrm>
            <a:off x="1123950" y="5596830"/>
            <a:ext cx="100107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B21B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Misión: Determinar y anunciar en orden al primer y segundo ganador.</a:t>
            </a:r>
            <a:endParaRPr/>
          </a:p>
        </p:txBody>
      </p:sp>
      <p:sp>
        <p:nvSpPr>
          <p:cNvPr id="399" name="Google Shape;399;p28"/>
          <p:cNvSpPr txBox="1"/>
          <p:nvPr/>
        </p:nvSpPr>
        <p:spPr>
          <a:xfrm>
            <a:off x="1371600" y="3139380"/>
            <a:ext cx="9515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B21B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Reglas de los ganadores:</a:t>
            </a:r>
            <a:endParaRPr/>
          </a:p>
        </p:txBody>
      </p:sp>
      <p:pic>
        <p:nvPicPr>
          <p:cNvPr id="400" name="Google Shape;40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3950" y="564445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71600" y="318700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8"/>
          <p:cNvSpPr txBox="1"/>
          <p:nvPr/>
        </p:nvSpPr>
        <p:spPr>
          <a:xfrm>
            <a:off x="1447800" y="3625155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3" name="Google Shape;403;p28"/>
          <p:cNvSpPr txBox="1"/>
          <p:nvPr/>
        </p:nvSpPr>
        <p:spPr>
          <a:xfrm>
            <a:off x="1562100" y="3625155"/>
            <a:ext cx="93249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primer ganador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será aquel que tenga el número medio entre los tres asignados (es decir, el número que no es ni el mayor ni el menor).</a:t>
            </a:r>
            <a:endParaRPr/>
          </a:p>
        </p:txBody>
      </p:sp>
      <p:sp>
        <p:nvSpPr>
          <p:cNvPr id="404" name="Google Shape;404;p28"/>
          <p:cNvSpPr txBox="1"/>
          <p:nvPr/>
        </p:nvSpPr>
        <p:spPr>
          <a:xfrm>
            <a:off x="1447800" y="4368105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1562100" y="4368105"/>
            <a:ext cx="93249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segundo ganador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será el participante cuyo número esté más cerca del número del primer ganador.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20105"/>
            <a:ext cx="10858500" cy="189830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9"/>
          <p:cNvSpPr txBox="1"/>
          <p:nvPr/>
        </p:nvSpPr>
        <p:spPr>
          <a:xfrm>
            <a:off x="666750" y="476250"/>
            <a:ext cx="11401425" cy="46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Desglose Lógico: Paso 1 - El Medio</a:t>
            </a:r>
            <a:endParaRPr/>
          </a:p>
        </p:txBody>
      </p:sp>
      <p:sp>
        <p:nvSpPr>
          <p:cNvPr id="413" name="Google Shape;413;p29"/>
          <p:cNvSpPr/>
          <p:nvPr/>
        </p:nvSpPr>
        <p:spPr>
          <a:xfrm>
            <a:off x="666750" y="1005780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9"/>
          <p:cNvSpPr txBox="1"/>
          <p:nvPr/>
        </p:nvSpPr>
        <p:spPr>
          <a:xfrm>
            <a:off x="1019175" y="1710630"/>
            <a:ext cx="1066133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D28D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Objetivo: Encontrar al ganador número 1.</a:t>
            </a:r>
            <a:endParaRPr/>
          </a:p>
        </p:txBody>
      </p:sp>
      <p:sp>
        <p:nvSpPr>
          <p:cNvPr id="415" name="Google Shape;415;p29"/>
          <p:cNvSpPr txBox="1"/>
          <p:nvPr/>
        </p:nvSpPr>
        <p:spPr>
          <a:xfrm>
            <a:off x="1019175" y="2175420"/>
            <a:ext cx="101536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"Medio" es el número que se encuentra entre los otros dos. Debes evaluar cada variable individualmente para saber cuál quedó en el centro usando y .</a:t>
            </a:r>
            <a:endParaRPr/>
          </a:p>
        </p:txBody>
      </p:sp>
      <p:pic>
        <p:nvPicPr>
          <p:cNvPr id="417" name="Google Shape;41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1575" y="2461170"/>
            <a:ext cx="3810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81650" y="2461170"/>
            <a:ext cx="3810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5154AA-9B8C-3A2A-87FB-D4B4D796E8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539" y="3408907"/>
            <a:ext cx="10164594" cy="33151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20105"/>
            <a:ext cx="10858500" cy="1898302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0"/>
          <p:cNvSpPr txBox="1"/>
          <p:nvPr/>
        </p:nvSpPr>
        <p:spPr>
          <a:xfrm>
            <a:off x="666750" y="476250"/>
            <a:ext cx="11401425" cy="46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Desglose Lógico: Paso 2 - Distancias</a:t>
            </a:r>
            <a:endParaRPr/>
          </a:p>
        </p:txBody>
      </p:sp>
      <p:sp>
        <p:nvSpPr>
          <p:cNvPr id="447" name="Google Shape;447;p30"/>
          <p:cNvSpPr/>
          <p:nvPr/>
        </p:nvSpPr>
        <p:spPr>
          <a:xfrm>
            <a:off x="666750" y="1005780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 txBox="1"/>
          <p:nvPr/>
        </p:nvSpPr>
        <p:spPr>
          <a:xfrm>
            <a:off x="1019175" y="1710630"/>
            <a:ext cx="1066133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Objetivo: Saber quién está "más cerca" del ganador 1.</a:t>
            </a:r>
            <a:endParaRPr/>
          </a:p>
        </p:txBody>
      </p:sp>
      <p:sp>
        <p:nvSpPr>
          <p:cNvPr id="449" name="Google Shape;449;p30"/>
          <p:cNvSpPr txBox="1"/>
          <p:nvPr/>
        </p:nvSpPr>
        <p:spPr>
          <a:xfrm>
            <a:off x="1019175" y="2175420"/>
            <a:ext cx="101536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Necesitamos restar el valor del Medio a los otros dos. Las distancias no pueden ser negativas, por lo que usamos la función de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Valor Absoluto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Java: .</a:t>
            </a:r>
            <a:endParaRPr/>
          </a:p>
        </p:txBody>
      </p:sp>
      <p:pic>
        <p:nvPicPr>
          <p:cNvPr id="451" name="Google Shape;45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2589736"/>
            <a:ext cx="12192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DC83B2-4F07-2FF1-9B40-B76BEB290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912" y="3780341"/>
            <a:ext cx="10259857" cy="27340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20105"/>
            <a:ext cx="10858500" cy="189354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1"/>
          <p:cNvSpPr txBox="1"/>
          <p:nvPr/>
        </p:nvSpPr>
        <p:spPr>
          <a:xfrm>
            <a:off x="666750" y="476250"/>
            <a:ext cx="11401425" cy="46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Desglose Lógico: Paso 3 - El 2do Ganador</a:t>
            </a:r>
            <a:endParaRPr/>
          </a:p>
        </p:txBody>
      </p:sp>
      <p:sp>
        <p:nvSpPr>
          <p:cNvPr id="473" name="Google Shape;473;p31"/>
          <p:cNvSpPr/>
          <p:nvPr/>
        </p:nvSpPr>
        <p:spPr>
          <a:xfrm>
            <a:off x="666750" y="1005780"/>
            <a:ext cx="10858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1"/>
          <p:cNvSpPr txBox="1"/>
          <p:nvPr/>
        </p:nvSpPr>
        <p:spPr>
          <a:xfrm>
            <a:off x="1019175" y="1710630"/>
            <a:ext cx="1066133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4785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Objetivo: Comparar resultados finales e imprimir.</a:t>
            </a:r>
            <a:endParaRPr/>
          </a:p>
        </p:txBody>
      </p:sp>
      <p:sp>
        <p:nvSpPr>
          <p:cNvPr id="475" name="Google Shape;475;p31"/>
          <p:cNvSpPr txBox="1"/>
          <p:nvPr/>
        </p:nvSpPr>
        <p:spPr>
          <a:xfrm>
            <a:off x="1019175" y="2175420"/>
            <a:ext cx="101536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Teniendo la "Distancia 1" y la "Distancia 2", abrimos un nuevo bloque condicional para decidir quién gana o si es un empate.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E46269-A953-7303-8999-EAEE9D603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74" y="3499395"/>
            <a:ext cx="10221751" cy="32770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1023</Words>
  <Application>Microsoft Office PowerPoint</Application>
  <PresentationFormat>Panorámica</PresentationFormat>
  <Paragraphs>78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Calibri</vt:lpstr>
      <vt:lpstr>Arial</vt:lpstr>
      <vt:lpstr>Inter SemiBold</vt:lpstr>
      <vt:lpstr>Fira Code</vt:lpstr>
      <vt:lpstr>Poppins SemiBold</vt:lpstr>
      <vt:lpstr>Inter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2</cp:revision>
  <dcterms:modified xsi:type="dcterms:W3CDTF">2026-03-24T19:50:16Z</dcterms:modified>
</cp:coreProperties>
</file>