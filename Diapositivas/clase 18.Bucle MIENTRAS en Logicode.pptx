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540" r:id="rId3"/>
    <p:sldId id="257" r:id="rId4"/>
    <p:sldId id="258" r:id="rId5"/>
    <p:sldId id="541" r:id="rId6"/>
    <p:sldId id="542" r:id="rId7"/>
    <p:sldId id="539" r:id="rId8"/>
    <p:sldId id="266" r:id="rId9"/>
    <p:sldId id="267" r:id="rId10"/>
    <p:sldId id="259" r:id="rId11"/>
    <p:sldId id="262" r:id="rId12"/>
    <p:sldId id="264" r:id="rId13"/>
    <p:sldId id="268" r:id="rId14"/>
    <p:sldId id="269" r:id="rId15"/>
    <p:sldId id="270" r:id="rId16"/>
    <p:sldId id="261" r:id="rId17"/>
    <p:sldId id="271" r:id="rId18"/>
  </p:sldIdLst>
  <p:sldSz cx="12192000" cy="6858000"/>
  <p:notesSz cx="6858000" cy="9144000"/>
  <p:embeddedFontLst>
    <p:embeddedFont>
      <p:font typeface="Fira Code" panose="020B0809050000020004" pitchFamily="49" charset="0"/>
      <p:regular r:id="rId20"/>
    </p:embeddedFont>
    <p:embeddedFont>
      <p:font typeface="Fira Code SemiBold" panose="020B0604020202020204" charset="0"/>
      <p:regular r:id="rId21"/>
      <p:bold r:id="rId22"/>
    </p:embeddedFont>
    <p:embeddedFont>
      <p:font typeface="Inter" panose="020B0604020202020204" charset="0"/>
      <p:regular r:id="rId23"/>
      <p:bold r:id="rId24"/>
      <p:italic r:id="rId25"/>
      <p:boldItalic r:id="rId26"/>
    </p:embeddedFont>
    <p:embeddedFont>
      <p:font typeface="Merriweather" panose="00000500000000000000" pitchFamily="2" charset="0"/>
      <p:regular r:id="rId27"/>
      <p:bold r:id="rId28"/>
      <p:italic r:id="rId29"/>
      <p:boldItalic r:id="rId30"/>
    </p:embeddedFont>
    <p:embeddedFont>
      <p:font typeface="Merriweather Black" panose="00000A00000000000000" pitchFamily="2" charset="0"/>
      <p:bold r:id="rId31"/>
      <p:boldItalic r:id="rId32"/>
    </p:embeddedFont>
    <p:embeddedFont>
      <p:font typeface="Plus Jakarta Sans" panose="020B0604020202020204" charset="0"/>
      <p:regular r:id="rId33"/>
      <p:bold r:id="rId34"/>
      <p:italic r:id="rId35"/>
      <p:boldItalic r:id="rId36"/>
    </p:embeddedFont>
    <p:embeddedFont>
      <p:font typeface="Plus Jakarta Sans ExtraBold" panose="020B0604020202020204" charset="0"/>
      <p:bold r:id="rId37"/>
      <p:boldItalic r:id="rId38"/>
    </p:embeddedFont>
    <p:embeddedFont>
      <p:font typeface="Plus Jakarta Sans Medium" panose="020B060402020202020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AB55EA8-C110-4C67-A9A3-10402BDAB99D}">
  <a:tblStyle styleId="{EAB55EA8-C110-4C67-A9A3-10402BDAB99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0" d="100"/>
          <a:sy n="150" d="100"/>
        </p:scale>
        <p:origin x="654" y="13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9" Type="http://schemas.openxmlformats.org/officeDocument/2006/relationships/font" Target="fonts/font20.fntdata"/><Relationship Id="rId21" Type="http://schemas.openxmlformats.org/officeDocument/2006/relationships/font" Target="fonts/font2.fntdata"/><Relationship Id="rId34" Type="http://schemas.openxmlformats.org/officeDocument/2006/relationships/font" Target="fonts/font15.fntdata"/><Relationship Id="rId42" Type="http://schemas.openxmlformats.org/officeDocument/2006/relationships/font" Target="fonts/font2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font" Target="fonts/font18.fntdata"/><Relationship Id="rId40" Type="http://schemas.openxmlformats.org/officeDocument/2006/relationships/font" Target="fonts/font21.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font" Target="fonts/font19.fntdata"/><Relationship Id="rId46" Type="http://schemas.openxmlformats.org/officeDocument/2006/relationships/tableStyles" Target="tableStyles.xml"/><Relationship Id="rId20" Type="http://schemas.openxmlformats.org/officeDocument/2006/relationships/font" Target="fonts/font1.fntdata"/><Relationship Id="rId41" Type="http://schemas.openxmlformats.org/officeDocument/2006/relationships/font" Target="fonts/font2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EE4CA-E37B-5567-CE36-606E82323E8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D5DE4AC-3F17-40B7-9DF4-BAE6C22514E6}"/>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EE77F305-7542-E0F3-B73A-B29DF40209A5}"/>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4CD8051F-C8E5-18AE-0CF3-29114EEC00B5}"/>
              </a:ext>
            </a:extLst>
          </p:cNvPr>
          <p:cNvSpPr>
            <a:spLocks noGrp="1"/>
          </p:cNvSpPr>
          <p:nvPr>
            <p:ph type="sldNum" sz="quarter" idx="5"/>
          </p:nvPr>
        </p:nvSpPr>
        <p:spPr/>
        <p:txBody>
          <a:bodyPr/>
          <a:lstStyle/>
          <a:p>
            <a:fld id="{FD6A6DC4-62F6-D744-9B5A-2471E53D2276}" type="slidenum">
              <a:rPr lang="es-CO" smtClean="0"/>
              <a:t>7</a:t>
            </a:fld>
            <a:endParaRPr lang="es-CO"/>
          </a:p>
        </p:txBody>
      </p:sp>
    </p:spTree>
    <p:extLst>
      <p:ext uri="{BB962C8B-B14F-4D97-AF65-F5344CB8AC3E}">
        <p14:creationId xmlns:p14="http://schemas.microsoft.com/office/powerpoint/2010/main" val="30732335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jpe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34.png"/><Relationship Id="rId7"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5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17.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34.png"/><Relationship Id="rId7" Type="http://schemas.openxmlformats.org/officeDocument/2006/relationships/image" Target="../media/image58.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2240518" y="2183159"/>
            <a:ext cx="7710963" cy="1462980"/>
          </a:xfrm>
          <a:prstGeom prst="rect">
            <a:avLst/>
          </a:prstGeom>
          <a:noFill/>
          <a:ln>
            <a:noFill/>
          </a:ln>
        </p:spPr>
        <p:txBody>
          <a:bodyPr spcFirstLastPara="1" wrap="square" lIns="0" tIns="0" rIns="0" bIns="0" anchor="t" anchorCtr="0">
            <a:spAutoFit/>
          </a:bodyPr>
          <a:lstStyle/>
          <a:p>
            <a:pPr marL="0" marR="0" lvl="0" indent="0" algn="ctr" rtl="0">
              <a:lnSpc>
                <a:spcPct val="119979"/>
              </a:lnSpc>
              <a:spcBef>
                <a:spcPts val="0"/>
              </a:spcBef>
              <a:spcAft>
                <a:spcPts val="0"/>
              </a:spcAft>
              <a:buNone/>
            </a:pPr>
            <a:r>
              <a:rPr lang="en-US" sz="4800" b="0" i="0" u="none" strike="noStrike" cap="none">
                <a:solidFill>
                  <a:srgbClr val="0F172A"/>
                </a:solidFill>
                <a:latin typeface="Merriweather Black"/>
                <a:ea typeface="Merriweather Black"/>
                <a:cs typeface="Merriweather Black"/>
                <a:sym typeface="Merriweather Black"/>
              </a:rPr>
              <a:t>Estructuras Repetitivas:</a:t>
            </a:r>
            <a:br>
              <a:rPr lang="en-US" sz="1800" b="0" i="0" u="none" strike="noStrike" cap="none">
                <a:solidFill>
                  <a:schemeClr val="dk1"/>
                </a:solidFill>
                <a:latin typeface="Calibri"/>
                <a:ea typeface="Calibri"/>
                <a:cs typeface="Calibri"/>
                <a:sym typeface="Calibri"/>
              </a:rPr>
            </a:br>
            <a:r>
              <a:rPr lang="en-US" sz="4800" b="0" i="0" u="none" strike="noStrike" cap="none">
                <a:solidFill>
                  <a:srgbClr val="0F172A"/>
                </a:solidFill>
                <a:latin typeface="Merriweather Black"/>
                <a:ea typeface="Merriweather Black"/>
                <a:cs typeface="Merriweather Black"/>
                <a:sym typeface="Merriweather Black"/>
              </a:rPr>
              <a:t> El Bucle MIENTRAS</a:t>
            </a:r>
            <a:endParaRPr/>
          </a:p>
        </p:txBody>
      </p:sp>
      <p:sp>
        <p:nvSpPr>
          <p:cNvPr id="86" name="Google Shape;86;p13"/>
          <p:cNvSpPr/>
          <p:nvPr/>
        </p:nvSpPr>
        <p:spPr>
          <a:xfrm>
            <a:off x="5715000" y="3884265"/>
            <a:ext cx="762000" cy="47625"/>
          </a:xfrm>
          <a:prstGeom prst="roundRect">
            <a:avLst>
              <a:gd name="adj" fmla="val 50000"/>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 name="Google Shape;87;p13"/>
          <p:cNvSpPr txBox="1"/>
          <p:nvPr/>
        </p:nvSpPr>
        <p:spPr>
          <a:xfrm>
            <a:off x="3205162" y="4360515"/>
            <a:ext cx="5781675"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475569"/>
                </a:solidFill>
                <a:latin typeface="Inter"/>
                <a:ea typeface="Inter"/>
                <a:cs typeface="Inter"/>
                <a:sym typeface="Inter"/>
              </a:rPr>
              <a:t>Análisis Teórico y Práctico con Sintaxis Oficial de Logicode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1395413" y="756344"/>
            <a:ext cx="2571750" cy="342900"/>
          </a:xfrm>
          <a:prstGeom prst="rect">
            <a:avLst/>
          </a:prstGeom>
          <a:noFill/>
          <a:ln>
            <a:noFill/>
          </a:ln>
        </p:spPr>
      </p:pic>
      <p:pic>
        <p:nvPicPr>
          <p:cNvPr id="86" name="Google Shape;86;p13" descr="image.png"/>
          <p:cNvPicPr preferRelativeResize="0"/>
          <p:nvPr/>
        </p:nvPicPr>
        <p:blipFill rotWithShape="1">
          <a:blip r:embed="rId5">
            <a:alphaModFix/>
          </a:blip>
          <a:srcRect/>
          <a:stretch/>
        </p:blipFill>
        <p:spPr>
          <a:xfrm>
            <a:off x="6886575" y="708719"/>
            <a:ext cx="4543425" cy="5440412"/>
          </a:xfrm>
          <a:prstGeom prst="rect">
            <a:avLst/>
          </a:prstGeom>
          <a:noFill/>
          <a:ln>
            <a:noFill/>
          </a:ln>
        </p:spPr>
      </p:pic>
      <p:pic>
        <p:nvPicPr>
          <p:cNvPr id="87" name="Google Shape;87;p13" descr="image.png"/>
          <p:cNvPicPr preferRelativeResize="0"/>
          <p:nvPr/>
        </p:nvPicPr>
        <p:blipFill rotWithShape="1">
          <a:blip r:embed="rId6">
            <a:alphaModFix/>
          </a:blip>
          <a:srcRect/>
          <a:stretch/>
        </p:blipFill>
        <p:spPr>
          <a:xfrm>
            <a:off x="7277100" y="1099244"/>
            <a:ext cx="714375" cy="714375"/>
          </a:xfrm>
          <a:prstGeom prst="rect">
            <a:avLst/>
          </a:prstGeom>
          <a:noFill/>
          <a:ln>
            <a:noFill/>
          </a:ln>
        </p:spPr>
      </p:pic>
      <p:pic>
        <p:nvPicPr>
          <p:cNvPr id="88" name="Google Shape;88;p13" descr="image.png"/>
          <p:cNvPicPr preferRelativeResize="0"/>
          <p:nvPr/>
        </p:nvPicPr>
        <p:blipFill rotWithShape="1">
          <a:blip r:embed="rId7">
            <a:alphaModFix/>
          </a:blip>
          <a:srcRect/>
          <a:stretch/>
        </p:blipFill>
        <p:spPr>
          <a:xfrm>
            <a:off x="7277100" y="3636615"/>
            <a:ext cx="3762375" cy="1152525"/>
          </a:xfrm>
          <a:prstGeom prst="rect">
            <a:avLst/>
          </a:prstGeom>
          <a:noFill/>
          <a:ln>
            <a:noFill/>
          </a:ln>
        </p:spPr>
      </p:pic>
      <p:sp>
        <p:nvSpPr>
          <p:cNvPr id="89" name="Google Shape;89;p13"/>
          <p:cNvSpPr txBox="1"/>
          <p:nvPr/>
        </p:nvSpPr>
        <p:spPr>
          <a:xfrm>
            <a:off x="762000" y="1387923"/>
            <a:ext cx="5830728" cy="9971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br>
              <a:rPr lang="en-US" sz="1800" b="0" i="0" u="none" strike="noStrike" cap="none" dirty="0">
                <a:solidFill>
                  <a:schemeClr val="dk1"/>
                </a:solidFill>
                <a:latin typeface="Calibri"/>
                <a:ea typeface="Calibri"/>
                <a:cs typeface="Calibri"/>
                <a:sym typeface="Calibri"/>
              </a:rPr>
            </a:br>
            <a:r>
              <a:rPr lang="en-US" sz="3600" b="0" i="0" u="none" strike="noStrike" cap="none" dirty="0" err="1">
                <a:solidFill>
                  <a:srgbClr val="0F172A"/>
                </a:solidFill>
                <a:latin typeface="Plus Jakarta Sans ExtraBold"/>
                <a:ea typeface="Plus Jakarta Sans ExtraBold"/>
                <a:cs typeface="Plus Jakarta Sans ExtraBold"/>
                <a:sym typeface="Plus Jakarta Sans ExtraBold"/>
              </a:rPr>
              <a:t>Bucle</a:t>
            </a:r>
            <a:r>
              <a:rPr lang="en-US" sz="3600" b="0" i="0" u="none" strike="noStrike" cap="none" dirty="0">
                <a:solidFill>
                  <a:srgbClr val="0F172A"/>
                </a:solidFill>
                <a:latin typeface="Plus Jakarta Sans ExtraBold"/>
                <a:ea typeface="Plus Jakarta Sans ExtraBold"/>
                <a:cs typeface="Plus Jakarta Sans ExtraBold"/>
                <a:sym typeface="Plus Jakarta Sans ExtraBold"/>
              </a:rPr>
              <a:t> MIENTRAS</a:t>
            </a:r>
            <a:endParaRPr dirty="0"/>
          </a:p>
        </p:txBody>
      </p:sp>
      <p:sp>
        <p:nvSpPr>
          <p:cNvPr id="90" name="Google Shape;90;p13"/>
          <p:cNvSpPr txBox="1"/>
          <p:nvPr/>
        </p:nvSpPr>
        <p:spPr>
          <a:xfrm>
            <a:off x="761999" y="2574031"/>
            <a:ext cx="5553075" cy="123825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475569"/>
                </a:solidFill>
                <a:latin typeface="Plus Jakarta Sans"/>
                <a:ea typeface="Plus Jakarta Sans"/>
                <a:cs typeface="Plus Jakarta Sans"/>
                <a:sym typeface="Plus Jakarta Sans"/>
              </a:rPr>
              <a:t>El </a:t>
            </a:r>
            <a:r>
              <a:rPr lang="en-US" sz="1500" b="0" i="0" u="none" strike="noStrike" cap="none" dirty="0" err="1">
                <a:solidFill>
                  <a:srgbClr val="475569"/>
                </a:solidFill>
                <a:latin typeface="Plus Jakarta Sans"/>
                <a:ea typeface="Plus Jakarta Sans"/>
                <a:cs typeface="Plus Jakarta Sans"/>
                <a:sym typeface="Plus Jakarta Sans"/>
              </a:rPr>
              <a:t>bucle</a:t>
            </a:r>
            <a:r>
              <a:rPr lang="en-US" sz="1500" b="0" i="0" u="none" strike="noStrike" cap="none" dirty="0">
                <a:solidFill>
                  <a:srgbClr val="475569"/>
                </a:solidFill>
                <a:latin typeface="Plus Jakarta Sans"/>
                <a:ea typeface="Plus Jakarta Sans"/>
                <a:cs typeface="Plus Jakarta Sans"/>
                <a:sym typeface="Plus Jakarta Sans"/>
              </a:rPr>
              <a:t> while es la </a:t>
            </a:r>
            <a:r>
              <a:rPr lang="en-US" sz="1500" b="0" i="0" u="none" strike="noStrike" cap="none" dirty="0" err="1">
                <a:solidFill>
                  <a:srgbClr val="475569"/>
                </a:solidFill>
                <a:latin typeface="Plus Jakarta Sans"/>
                <a:ea typeface="Plus Jakarta Sans"/>
                <a:cs typeface="Plus Jakarta Sans"/>
                <a:sym typeface="Plus Jakarta Sans"/>
              </a:rPr>
              <a:t>respuesta</a:t>
            </a:r>
            <a:r>
              <a:rPr lang="en-US" sz="1500" b="0" i="0" u="none" strike="noStrike" cap="none" dirty="0">
                <a:solidFill>
                  <a:srgbClr val="475569"/>
                </a:solidFill>
                <a:latin typeface="Plus Jakarta Sans"/>
                <a:ea typeface="Plus Jakarta Sans"/>
                <a:cs typeface="Plus Jakarta Sans"/>
                <a:sym typeface="Plus Jakarta Sans"/>
              </a:rPr>
              <a:t> de la </a:t>
            </a:r>
            <a:r>
              <a:rPr lang="en-US" sz="1500" b="0" i="0" u="none" strike="noStrike" cap="none" dirty="0" err="1">
                <a:solidFill>
                  <a:srgbClr val="475569"/>
                </a:solidFill>
                <a:latin typeface="Plus Jakarta Sans"/>
                <a:ea typeface="Plus Jakarta Sans"/>
                <a:cs typeface="Plus Jakarta Sans"/>
                <a:sym typeface="Plus Jakarta Sans"/>
              </a:rPr>
              <a:t>programación</a:t>
            </a:r>
            <a:r>
              <a:rPr lang="en-US" sz="1500" b="0" i="0" u="none" strike="noStrike" cap="none" dirty="0">
                <a:solidFill>
                  <a:srgbClr val="475569"/>
                </a:solidFill>
                <a:latin typeface="Plus Jakarta Sans"/>
                <a:ea typeface="Plus Jakarta Sans"/>
                <a:cs typeface="Plus Jakarta Sans"/>
                <a:sym typeface="Plus Jakarta Sans"/>
              </a:rPr>
              <a:t> a la </a:t>
            </a:r>
            <a:r>
              <a:rPr lang="en-US" sz="1500" b="0" i="0" u="none" strike="noStrike" cap="none" dirty="0" err="1">
                <a:solidFill>
                  <a:srgbClr val="475569"/>
                </a:solidFill>
                <a:latin typeface="Plus Jakarta Sans"/>
                <a:ea typeface="Plus Jakarta Sans"/>
                <a:cs typeface="Plus Jakarta Sans"/>
                <a:sym typeface="Plus Jakarta Sans"/>
              </a:rPr>
              <a:t>incertidumbre</a:t>
            </a:r>
            <a:r>
              <a:rPr lang="en-US" sz="1500" b="0" i="0" u="none" strike="noStrike" cap="none" dirty="0">
                <a:solidFill>
                  <a:srgbClr val="475569"/>
                </a:solidFill>
                <a:latin typeface="Plus Jakarta Sans"/>
                <a:ea typeface="Plus Jakarta Sans"/>
                <a:cs typeface="Plus Jakarta Sans"/>
                <a:sym typeface="Plus Jakarta Sans"/>
              </a:rPr>
              <a:t>. En </a:t>
            </a:r>
            <a:r>
              <a:rPr lang="en-US" sz="1500" b="0" i="0" u="none" strike="noStrike" cap="none" dirty="0" err="1">
                <a:solidFill>
                  <a:srgbClr val="475569"/>
                </a:solidFill>
                <a:latin typeface="Plus Jakarta Sans"/>
                <a:ea typeface="Plus Jakarta Sans"/>
                <a:cs typeface="Plus Jakarta Sans"/>
                <a:sym typeface="Plus Jakarta Sans"/>
              </a:rPr>
              <a:t>lugar</a:t>
            </a:r>
            <a:r>
              <a:rPr lang="en-US" sz="1500" b="0" i="0" u="none" strike="noStrike" cap="none" dirty="0">
                <a:solidFill>
                  <a:srgbClr val="475569"/>
                </a:solidFill>
                <a:latin typeface="Plus Jakarta Sans"/>
                <a:ea typeface="Plus Jakarta Sans"/>
                <a:cs typeface="Plus Jakarta Sans"/>
                <a:sym typeface="Plus Jakarta Sans"/>
              </a:rPr>
              <a:t> de </a:t>
            </a:r>
            <a:r>
              <a:rPr lang="en-US" sz="1500" b="0" i="0" u="none" strike="noStrike" cap="none" dirty="0" err="1">
                <a:solidFill>
                  <a:srgbClr val="475569"/>
                </a:solidFill>
                <a:latin typeface="Plus Jakarta Sans"/>
                <a:ea typeface="Plus Jakarta Sans"/>
                <a:cs typeface="Plus Jakarta Sans"/>
                <a:sym typeface="Plus Jakarta Sans"/>
              </a:rPr>
              <a:t>ejecutarse</a:t>
            </a:r>
            <a:r>
              <a:rPr lang="en-US" sz="1500" b="0" i="0" u="none" strike="noStrike" cap="none" dirty="0">
                <a:solidFill>
                  <a:srgbClr val="475569"/>
                </a:solidFill>
                <a:latin typeface="Plus Jakarta Sans"/>
                <a:ea typeface="Plus Jakarta Sans"/>
                <a:cs typeface="Plus Jakarta Sans"/>
                <a:sym typeface="Plus Jakarta Sans"/>
              </a:rPr>
              <a:t> un </a:t>
            </a:r>
            <a:r>
              <a:rPr lang="en-US" sz="1500" b="0" i="0" u="none" strike="noStrike" cap="none" dirty="0" err="1">
                <a:solidFill>
                  <a:srgbClr val="475569"/>
                </a:solidFill>
                <a:latin typeface="Plus Jakarta Sans"/>
                <a:ea typeface="Plus Jakarta Sans"/>
                <a:cs typeface="Plus Jakarta Sans"/>
                <a:sym typeface="Plus Jakarta Sans"/>
              </a:rPr>
              <a:t>número</a:t>
            </a:r>
            <a:r>
              <a:rPr lang="en-US" sz="1500" b="0" i="0" u="none" strike="noStrike" cap="none" dirty="0">
                <a:solidFill>
                  <a:srgbClr val="475569"/>
                </a:solidFill>
                <a:latin typeface="Plus Jakarta Sans"/>
                <a:ea typeface="Plus Jakarta Sans"/>
                <a:cs typeface="Plus Jakarta Sans"/>
                <a:sym typeface="Plus Jakarta Sans"/>
              </a:rPr>
              <a:t> </a:t>
            </a:r>
            <a:r>
              <a:rPr lang="en-US" sz="1500" b="0" i="0" u="none" strike="noStrike" cap="none" dirty="0" err="1">
                <a:solidFill>
                  <a:srgbClr val="475569"/>
                </a:solidFill>
                <a:latin typeface="Plus Jakarta Sans"/>
                <a:ea typeface="Plus Jakarta Sans"/>
                <a:cs typeface="Plus Jakarta Sans"/>
                <a:sym typeface="Plus Jakarta Sans"/>
              </a:rPr>
              <a:t>fijo</a:t>
            </a:r>
            <a:r>
              <a:rPr lang="en-US" sz="1500" b="0" i="0" u="none" strike="noStrike" cap="none" dirty="0">
                <a:solidFill>
                  <a:srgbClr val="475569"/>
                </a:solidFill>
                <a:latin typeface="Plus Jakarta Sans"/>
                <a:ea typeface="Plus Jakarta Sans"/>
                <a:cs typeface="Plus Jakarta Sans"/>
                <a:sym typeface="Plus Jakarta Sans"/>
              </a:rPr>
              <a:t> de </a:t>
            </a:r>
            <a:r>
              <a:rPr lang="en-US" sz="1500" b="0" i="0" u="none" strike="noStrike" cap="none" dirty="0" err="1">
                <a:solidFill>
                  <a:srgbClr val="475569"/>
                </a:solidFill>
                <a:latin typeface="Plus Jakarta Sans"/>
                <a:ea typeface="Plus Jakarta Sans"/>
                <a:cs typeface="Plus Jakarta Sans"/>
                <a:sym typeface="Plus Jakarta Sans"/>
              </a:rPr>
              <a:t>veces</a:t>
            </a:r>
            <a:r>
              <a:rPr lang="en-US" sz="1500" b="0" i="0" u="none" strike="noStrike" cap="none" dirty="0">
                <a:solidFill>
                  <a:srgbClr val="475569"/>
                </a:solidFill>
                <a:latin typeface="Plus Jakarta Sans"/>
                <a:ea typeface="Plus Jakarta Sans"/>
                <a:cs typeface="Plus Jakarta Sans"/>
                <a:sym typeface="Plus Jakarta Sans"/>
              </a:rPr>
              <a:t>, </a:t>
            </a:r>
            <a:r>
              <a:rPr lang="en-US" sz="1500" b="0" i="0" u="none" strike="noStrike" cap="none" dirty="0" err="1">
                <a:solidFill>
                  <a:srgbClr val="475569"/>
                </a:solidFill>
                <a:latin typeface="Plus Jakarta Sans"/>
                <a:ea typeface="Plus Jakarta Sans"/>
                <a:cs typeface="Plus Jakarta Sans"/>
                <a:sym typeface="Plus Jakarta Sans"/>
              </a:rPr>
              <a:t>este</a:t>
            </a:r>
            <a:r>
              <a:rPr lang="en-US" sz="1500" b="0" i="0" u="none" strike="noStrike" cap="none" dirty="0">
                <a:solidFill>
                  <a:srgbClr val="475569"/>
                </a:solidFill>
                <a:latin typeface="Plus Jakarta Sans"/>
                <a:ea typeface="Plus Jakarta Sans"/>
                <a:cs typeface="Plus Jakarta Sans"/>
                <a:sym typeface="Plus Jakarta Sans"/>
              </a:rPr>
              <a:t> </a:t>
            </a:r>
            <a:r>
              <a:rPr lang="en-US" sz="1500" b="0" i="0" u="none" strike="noStrike" cap="none" dirty="0" err="1">
                <a:solidFill>
                  <a:srgbClr val="475569"/>
                </a:solidFill>
                <a:latin typeface="Plus Jakarta Sans"/>
                <a:ea typeface="Plus Jakarta Sans"/>
                <a:cs typeface="Plus Jakarta Sans"/>
                <a:sym typeface="Plus Jakarta Sans"/>
              </a:rPr>
              <a:t>ciclo</a:t>
            </a:r>
            <a:r>
              <a:rPr lang="en-US" sz="1500" b="0" i="0" u="none" strike="noStrike" cap="none" dirty="0">
                <a:solidFill>
                  <a:srgbClr val="475569"/>
                </a:solidFill>
                <a:latin typeface="Plus Jakarta Sans"/>
                <a:ea typeface="Plus Jakarta Sans"/>
                <a:cs typeface="Plus Jakarta Sans"/>
                <a:sym typeface="Plus Jakarta Sans"/>
              </a:rPr>
              <a:t> se </a:t>
            </a:r>
            <a:r>
              <a:rPr lang="en-US" sz="1500" b="0" i="0" u="none" strike="noStrike" cap="none" dirty="0" err="1">
                <a:solidFill>
                  <a:srgbClr val="475569"/>
                </a:solidFill>
                <a:latin typeface="Plus Jakarta Sans"/>
                <a:ea typeface="Plus Jakarta Sans"/>
                <a:cs typeface="Plus Jakarta Sans"/>
                <a:sym typeface="Plus Jakarta Sans"/>
              </a:rPr>
              <a:t>ejecuta</a:t>
            </a:r>
            <a:r>
              <a:rPr lang="en-US" sz="1500" b="0" i="0" u="none" strike="noStrike" cap="none" dirty="0">
                <a:solidFill>
                  <a:srgbClr val="475569"/>
                </a:solidFill>
                <a:latin typeface="Plus Jakarta Sans"/>
                <a:ea typeface="Plus Jakarta Sans"/>
                <a:cs typeface="Plus Jakarta Sans"/>
                <a:sym typeface="Plus Jakarta Sans"/>
              </a:rPr>
              <a:t> </a:t>
            </a:r>
            <a:r>
              <a:rPr lang="en-US" sz="1500" b="1" i="0" u="none" strike="noStrike" cap="none" dirty="0" err="1">
                <a:solidFill>
                  <a:srgbClr val="0F172A"/>
                </a:solidFill>
                <a:latin typeface="Plus Jakarta Sans"/>
                <a:ea typeface="Plus Jakarta Sans"/>
                <a:cs typeface="Plus Jakarta Sans"/>
                <a:sym typeface="Plus Jakarta Sans"/>
              </a:rPr>
              <a:t>mientras</a:t>
            </a:r>
            <a:r>
              <a:rPr lang="en-US" sz="1500" b="1" i="0" u="none" strike="noStrike" cap="none" dirty="0">
                <a:solidFill>
                  <a:srgbClr val="0F172A"/>
                </a:solidFill>
                <a:latin typeface="Plus Jakarta Sans"/>
                <a:ea typeface="Plus Jakarta Sans"/>
                <a:cs typeface="Plus Jakarta Sans"/>
                <a:sym typeface="Plus Jakarta Sans"/>
              </a:rPr>
              <a:t> </a:t>
            </a:r>
            <a:r>
              <a:rPr lang="en-US" sz="1500" b="1" i="0" u="none" strike="noStrike" cap="none" dirty="0" err="1">
                <a:solidFill>
                  <a:srgbClr val="0F172A"/>
                </a:solidFill>
                <a:latin typeface="Plus Jakarta Sans"/>
                <a:ea typeface="Plus Jakarta Sans"/>
                <a:cs typeface="Plus Jakarta Sans"/>
                <a:sym typeface="Plus Jakarta Sans"/>
              </a:rPr>
              <a:t>una</a:t>
            </a:r>
            <a:r>
              <a:rPr lang="en-US" sz="1500" b="1" i="0" u="none" strike="noStrike" cap="none" dirty="0">
                <a:solidFill>
                  <a:srgbClr val="0F172A"/>
                </a:solidFill>
                <a:latin typeface="Plus Jakarta Sans"/>
                <a:ea typeface="Plus Jakarta Sans"/>
                <a:cs typeface="Plus Jakarta Sans"/>
                <a:sym typeface="Plus Jakarta Sans"/>
              </a:rPr>
              <a:t> </a:t>
            </a:r>
            <a:r>
              <a:rPr lang="en-US" sz="1500" b="1" i="0" u="none" strike="noStrike" cap="none" dirty="0" err="1">
                <a:solidFill>
                  <a:srgbClr val="0F172A"/>
                </a:solidFill>
                <a:latin typeface="Plus Jakarta Sans"/>
                <a:ea typeface="Plus Jakarta Sans"/>
                <a:cs typeface="Plus Jakarta Sans"/>
                <a:sym typeface="Plus Jakarta Sans"/>
              </a:rPr>
              <a:t>condición</a:t>
            </a:r>
            <a:r>
              <a:rPr lang="en-US" sz="1500" b="1" i="0" u="none" strike="noStrike" cap="none" dirty="0">
                <a:solidFill>
                  <a:srgbClr val="0F172A"/>
                </a:solidFill>
                <a:latin typeface="Plus Jakarta Sans"/>
                <a:ea typeface="Plus Jakarta Sans"/>
                <a:cs typeface="Plus Jakarta Sans"/>
                <a:sym typeface="Plus Jakarta Sans"/>
              </a:rPr>
              <a:t> </a:t>
            </a:r>
            <a:r>
              <a:rPr lang="en-US" sz="1500" b="1" i="0" u="none" strike="noStrike" cap="none" dirty="0" err="1">
                <a:solidFill>
                  <a:srgbClr val="0F172A"/>
                </a:solidFill>
                <a:latin typeface="Plus Jakarta Sans"/>
                <a:ea typeface="Plus Jakarta Sans"/>
                <a:cs typeface="Plus Jakarta Sans"/>
                <a:sym typeface="Plus Jakarta Sans"/>
              </a:rPr>
              <a:t>específica</a:t>
            </a:r>
            <a:r>
              <a:rPr lang="en-US" sz="1500" b="1" i="0" u="none" strike="noStrike" cap="none" dirty="0">
                <a:solidFill>
                  <a:srgbClr val="0F172A"/>
                </a:solidFill>
                <a:latin typeface="Plus Jakarta Sans"/>
                <a:ea typeface="Plus Jakarta Sans"/>
                <a:cs typeface="Plus Jakarta Sans"/>
                <a:sym typeface="Plus Jakarta Sans"/>
              </a:rPr>
              <a:t> se </a:t>
            </a:r>
            <a:r>
              <a:rPr lang="en-US" sz="1500" b="1" i="0" u="none" strike="noStrike" cap="none" dirty="0" err="1">
                <a:solidFill>
                  <a:srgbClr val="0F172A"/>
                </a:solidFill>
                <a:latin typeface="Plus Jakarta Sans"/>
                <a:ea typeface="Plus Jakarta Sans"/>
                <a:cs typeface="Plus Jakarta Sans"/>
                <a:sym typeface="Plus Jakarta Sans"/>
              </a:rPr>
              <a:t>mantenga</a:t>
            </a:r>
            <a:r>
              <a:rPr lang="en-US" sz="1500" b="1" i="0" u="none" strike="noStrike" cap="none" dirty="0">
                <a:solidFill>
                  <a:srgbClr val="0F172A"/>
                </a:solidFill>
                <a:latin typeface="Plus Jakarta Sans"/>
                <a:ea typeface="Plus Jakarta Sans"/>
                <a:cs typeface="Plus Jakarta Sans"/>
                <a:sym typeface="Plus Jakarta Sans"/>
              </a:rPr>
              <a:t> </a:t>
            </a:r>
            <a:r>
              <a:rPr lang="en-US" sz="1500" b="1" i="0" u="none" strike="noStrike" cap="none" dirty="0" err="1">
                <a:solidFill>
                  <a:srgbClr val="0F172A"/>
                </a:solidFill>
                <a:latin typeface="Plus Jakarta Sans"/>
                <a:ea typeface="Plus Jakarta Sans"/>
                <a:cs typeface="Plus Jakarta Sans"/>
                <a:sym typeface="Plus Jakarta Sans"/>
              </a:rPr>
              <a:t>verdadera</a:t>
            </a:r>
            <a:r>
              <a:rPr lang="en-US" sz="1500" b="1" i="0" u="none" strike="noStrike" cap="none" dirty="0">
                <a:solidFill>
                  <a:srgbClr val="0F172A"/>
                </a:solidFill>
                <a:latin typeface="Plus Jakarta Sans"/>
                <a:ea typeface="Plus Jakarta Sans"/>
                <a:cs typeface="Plus Jakarta Sans"/>
                <a:sym typeface="Plus Jakarta Sans"/>
              </a:rPr>
              <a:t>.</a:t>
            </a:r>
            <a:endParaRPr dirty="0"/>
          </a:p>
        </p:txBody>
      </p:sp>
      <p:sp>
        <p:nvSpPr>
          <p:cNvPr id="91" name="Google Shape;91;p13"/>
          <p:cNvSpPr txBox="1"/>
          <p:nvPr/>
        </p:nvSpPr>
        <p:spPr>
          <a:xfrm>
            <a:off x="761999" y="4212877"/>
            <a:ext cx="555307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475569"/>
                </a:solidFill>
                <a:latin typeface="Plus Jakarta Sans"/>
                <a:ea typeface="Plus Jakarta Sans"/>
                <a:cs typeface="Plus Jakarta Sans"/>
                <a:sym typeface="Plus Jakarta Sans"/>
              </a:rPr>
              <a:t>Su mayor </a:t>
            </a:r>
            <a:r>
              <a:rPr lang="en-US" sz="1500" b="0" i="0" u="none" strike="noStrike" cap="none" dirty="0" err="1">
                <a:solidFill>
                  <a:srgbClr val="475569"/>
                </a:solidFill>
                <a:latin typeface="Plus Jakarta Sans"/>
                <a:ea typeface="Plus Jakarta Sans"/>
                <a:cs typeface="Plus Jakarta Sans"/>
                <a:sym typeface="Plus Jakarta Sans"/>
              </a:rPr>
              <a:t>fortaleza</a:t>
            </a:r>
            <a:r>
              <a:rPr lang="en-US" sz="1500" b="0" i="0" u="none" strike="noStrike" cap="none" dirty="0">
                <a:solidFill>
                  <a:srgbClr val="475569"/>
                </a:solidFill>
                <a:latin typeface="Plus Jakarta Sans"/>
                <a:ea typeface="Plus Jakarta Sans"/>
                <a:cs typeface="Plus Jakarta Sans"/>
                <a:sym typeface="Plus Jakarta Sans"/>
              </a:rPr>
              <a:t> es la </a:t>
            </a:r>
            <a:r>
              <a:rPr lang="en-US" sz="1500" b="0" i="0" u="none" strike="noStrike" cap="none" dirty="0" err="1">
                <a:solidFill>
                  <a:srgbClr val="475569"/>
                </a:solidFill>
                <a:latin typeface="Plus Jakarta Sans"/>
                <a:ea typeface="Plus Jakarta Sans"/>
                <a:cs typeface="Plus Jakarta Sans"/>
                <a:sym typeface="Plus Jakarta Sans"/>
              </a:rPr>
              <a:t>capacidad</a:t>
            </a:r>
            <a:r>
              <a:rPr lang="en-US" sz="1500" b="0" i="0" u="none" strike="noStrike" cap="none" dirty="0">
                <a:solidFill>
                  <a:srgbClr val="475569"/>
                </a:solidFill>
                <a:latin typeface="Plus Jakarta Sans"/>
                <a:ea typeface="Plus Jakarta Sans"/>
                <a:cs typeface="Plus Jakarta Sans"/>
                <a:sym typeface="Plus Jakarta Sans"/>
              </a:rPr>
              <a:t> de </a:t>
            </a:r>
            <a:r>
              <a:rPr lang="en-US" sz="1500" b="0" i="0" u="none" strike="noStrike" cap="none" dirty="0" err="1">
                <a:solidFill>
                  <a:srgbClr val="475569"/>
                </a:solidFill>
                <a:latin typeface="Plus Jakarta Sans"/>
                <a:ea typeface="Plus Jakarta Sans"/>
                <a:cs typeface="Plus Jakarta Sans"/>
                <a:sym typeface="Plus Jakarta Sans"/>
              </a:rPr>
              <a:t>adaptarse</a:t>
            </a:r>
            <a:r>
              <a:rPr lang="en-US" sz="1500" b="0" i="0" u="none" strike="noStrike" cap="none" dirty="0">
                <a:solidFill>
                  <a:srgbClr val="475569"/>
                </a:solidFill>
                <a:latin typeface="Plus Jakarta Sans"/>
                <a:ea typeface="Plus Jakarta Sans"/>
                <a:cs typeface="Plus Jakarta Sans"/>
                <a:sym typeface="Plus Jakarta Sans"/>
              </a:rPr>
              <a:t> a </a:t>
            </a:r>
            <a:r>
              <a:rPr lang="en-US" sz="1500" b="0" i="0" u="none" strike="noStrike" cap="none" dirty="0" err="1">
                <a:solidFill>
                  <a:srgbClr val="475569"/>
                </a:solidFill>
                <a:latin typeface="Plus Jakarta Sans"/>
                <a:ea typeface="Plus Jakarta Sans"/>
                <a:cs typeface="Plus Jakarta Sans"/>
                <a:sym typeface="Plus Jakarta Sans"/>
              </a:rPr>
              <a:t>situaciones</a:t>
            </a:r>
            <a:r>
              <a:rPr lang="en-US" sz="1500" b="0" i="0" u="none" strike="noStrike" cap="none" dirty="0">
                <a:solidFill>
                  <a:srgbClr val="475569"/>
                </a:solidFill>
                <a:latin typeface="Plus Jakarta Sans"/>
                <a:ea typeface="Plus Jakarta Sans"/>
                <a:cs typeface="Plus Jakarta Sans"/>
                <a:sym typeface="Plus Jakarta Sans"/>
              </a:rPr>
              <a:t> </a:t>
            </a:r>
            <a:r>
              <a:rPr lang="en-US" sz="1500" b="0" i="0" u="none" strike="noStrike" cap="none" dirty="0" err="1">
                <a:solidFill>
                  <a:srgbClr val="475569"/>
                </a:solidFill>
                <a:latin typeface="Plus Jakarta Sans"/>
                <a:ea typeface="Plus Jakarta Sans"/>
                <a:cs typeface="Plus Jakarta Sans"/>
                <a:sym typeface="Plus Jakarta Sans"/>
              </a:rPr>
              <a:t>dinámicas</a:t>
            </a:r>
            <a:r>
              <a:rPr lang="en-US" sz="1500" b="0" i="0" u="none" strike="noStrike" cap="none" dirty="0">
                <a:solidFill>
                  <a:srgbClr val="475569"/>
                </a:solidFill>
                <a:latin typeface="Plus Jakarta Sans"/>
                <a:ea typeface="Plus Jakarta Sans"/>
                <a:cs typeface="Plus Jakarta Sans"/>
                <a:sym typeface="Plus Jakarta Sans"/>
              </a:rPr>
              <a:t>, </a:t>
            </a:r>
            <a:r>
              <a:rPr lang="en-US" sz="1500" b="0" i="0" u="none" strike="noStrike" cap="none" dirty="0" err="1">
                <a:solidFill>
                  <a:srgbClr val="475569"/>
                </a:solidFill>
                <a:latin typeface="Plus Jakarta Sans"/>
                <a:ea typeface="Plus Jakarta Sans"/>
                <a:cs typeface="Plus Jakarta Sans"/>
                <a:sym typeface="Plus Jakarta Sans"/>
              </a:rPr>
              <a:t>donde</a:t>
            </a:r>
            <a:r>
              <a:rPr lang="en-US" sz="1500" b="0" i="0" u="none" strike="noStrike" cap="none" dirty="0">
                <a:solidFill>
                  <a:srgbClr val="475569"/>
                </a:solidFill>
                <a:latin typeface="Plus Jakarta Sans"/>
                <a:ea typeface="Plus Jakarta Sans"/>
                <a:cs typeface="Plus Jakarta Sans"/>
                <a:sym typeface="Plus Jakarta Sans"/>
              </a:rPr>
              <a:t> la </a:t>
            </a:r>
            <a:r>
              <a:rPr lang="en-US" sz="1500" b="0" i="0" u="none" strike="noStrike" cap="none" dirty="0" err="1">
                <a:solidFill>
                  <a:srgbClr val="475569"/>
                </a:solidFill>
                <a:latin typeface="Plus Jakarta Sans"/>
                <a:ea typeface="Plus Jakarta Sans"/>
                <a:cs typeface="Plus Jakarta Sans"/>
                <a:sym typeface="Plus Jakarta Sans"/>
              </a:rPr>
              <a:t>decisión</a:t>
            </a:r>
            <a:r>
              <a:rPr lang="en-US" sz="1500" b="0" i="0" u="none" strike="noStrike" cap="none" dirty="0">
                <a:solidFill>
                  <a:srgbClr val="475569"/>
                </a:solidFill>
                <a:latin typeface="Plus Jakarta Sans"/>
                <a:ea typeface="Plus Jakarta Sans"/>
                <a:cs typeface="Plus Jakarta Sans"/>
                <a:sym typeface="Plus Jakarta Sans"/>
              </a:rPr>
              <a:t> de </a:t>
            </a:r>
            <a:r>
              <a:rPr lang="en-US" sz="1500" b="0" i="0" u="none" strike="noStrike" cap="none" dirty="0" err="1">
                <a:solidFill>
                  <a:srgbClr val="475569"/>
                </a:solidFill>
                <a:latin typeface="Plus Jakarta Sans"/>
                <a:ea typeface="Plus Jakarta Sans"/>
                <a:cs typeface="Plus Jakarta Sans"/>
                <a:sym typeface="Plus Jakarta Sans"/>
              </a:rPr>
              <a:t>parar</a:t>
            </a:r>
            <a:r>
              <a:rPr lang="en-US" sz="1500" b="0" i="0" u="none" strike="noStrike" cap="none" dirty="0">
                <a:solidFill>
                  <a:srgbClr val="475569"/>
                </a:solidFill>
                <a:latin typeface="Plus Jakarta Sans"/>
                <a:ea typeface="Plus Jakarta Sans"/>
                <a:cs typeface="Plus Jakarta Sans"/>
                <a:sym typeface="Plus Jakarta Sans"/>
              </a:rPr>
              <a:t> </a:t>
            </a:r>
            <a:r>
              <a:rPr lang="en-US" sz="1500" b="0" i="0" u="none" strike="noStrike" cap="none" dirty="0" err="1">
                <a:solidFill>
                  <a:srgbClr val="475569"/>
                </a:solidFill>
                <a:latin typeface="Plus Jakarta Sans"/>
                <a:ea typeface="Plus Jakarta Sans"/>
                <a:cs typeface="Plus Jakarta Sans"/>
                <a:sym typeface="Plus Jakarta Sans"/>
              </a:rPr>
              <a:t>depende</a:t>
            </a:r>
            <a:r>
              <a:rPr lang="en-US" sz="1500" b="0" i="0" u="none" strike="noStrike" cap="none" dirty="0">
                <a:solidFill>
                  <a:srgbClr val="475569"/>
                </a:solidFill>
                <a:latin typeface="Plus Jakarta Sans"/>
                <a:ea typeface="Plus Jakarta Sans"/>
                <a:cs typeface="Plus Jakarta Sans"/>
                <a:sym typeface="Plus Jakarta Sans"/>
              </a:rPr>
              <a:t> de un </a:t>
            </a:r>
            <a:r>
              <a:rPr lang="en-US" sz="1500" b="0" i="0" u="none" strike="noStrike" cap="none" dirty="0" err="1">
                <a:solidFill>
                  <a:srgbClr val="475569"/>
                </a:solidFill>
                <a:latin typeface="Plus Jakarta Sans"/>
                <a:ea typeface="Plus Jakarta Sans"/>
                <a:cs typeface="Plus Jakarta Sans"/>
                <a:sym typeface="Plus Jakarta Sans"/>
              </a:rPr>
              <a:t>evento</a:t>
            </a:r>
            <a:r>
              <a:rPr lang="en-US" sz="1500" b="0" i="0" u="none" strike="noStrike" cap="none" dirty="0">
                <a:solidFill>
                  <a:srgbClr val="475569"/>
                </a:solidFill>
                <a:latin typeface="Plus Jakarta Sans"/>
                <a:ea typeface="Plus Jakarta Sans"/>
                <a:cs typeface="Plus Jakarta Sans"/>
                <a:sym typeface="Plus Jakarta Sans"/>
              </a:rPr>
              <a:t>, </a:t>
            </a:r>
            <a:r>
              <a:rPr lang="en-US" sz="1500" b="0" i="0" u="none" strike="noStrike" cap="none" dirty="0" err="1">
                <a:solidFill>
                  <a:srgbClr val="475569"/>
                </a:solidFill>
                <a:latin typeface="Plus Jakarta Sans"/>
                <a:ea typeface="Plus Jakarta Sans"/>
                <a:cs typeface="Plus Jakarta Sans"/>
                <a:sym typeface="Plus Jakarta Sans"/>
              </a:rPr>
              <a:t>una</a:t>
            </a:r>
            <a:r>
              <a:rPr lang="en-US" sz="1500" b="0" i="0" u="none" strike="noStrike" cap="none" dirty="0">
                <a:solidFill>
                  <a:srgbClr val="475569"/>
                </a:solidFill>
                <a:latin typeface="Plus Jakarta Sans"/>
                <a:ea typeface="Plus Jakarta Sans"/>
                <a:cs typeface="Plus Jakarta Sans"/>
                <a:sym typeface="Plus Jakarta Sans"/>
              </a:rPr>
              <a:t> entrada del </a:t>
            </a:r>
            <a:r>
              <a:rPr lang="en-US" sz="1500" b="0" i="0" u="none" strike="noStrike" cap="none" dirty="0" err="1">
                <a:solidFill>
                  <a:srgbClr val="475569"/>
                </a:solidFill>
                <a:latin typeface="Plus Jakarta Sans"/>
                <a:ea typeface="Plus Jakarta Sans"/>
                <a:cs typeface="Plus Jakarta Sans"/>
                <a:sym typeface="Plus Jakarta Sans"/>
              </a:rPr>
              <a:t>usuario</a:t>
            </a:r>
            <a:r>
              <a:rPr lang="en-US" sz="1500" b="0" i="0" u="none" strike="noStrike" cap="none" dirty="0">
                <a:solidFill>
                  <a:srgbClr val="475569"/>
                </a:solidFill>
                <a:latin typeface="Plus Jakarta Sans"/>
                <a:ea typeface="Plus Jakarta Sans"/>
                <a:cs typeface="Plus Jakarta Sans"/>
                <a:sym typeface="Plus Jakarta Sans"/>
              </a:rPr>
              <a:t> o </a:t>
            </a:r>
            <a:r>
              <a:rPr lang="en-US" sz="1500" b="0" i="0" u="none" strike="noStrike" cap="none" dirty="0" err="1">
                <a:solidFill>
                  <a:srgbClr val="475569"/>
                </a:solidFill>
                <a:latin typeface="Plus Jakarta Sans"/>
                <a:ea typeface="Plus Jakarta Sans"/>
                <a:cs typeface="Plus Jakarta Sans"/>
                <a:sym typeface="Plus Jakarta Sans"/>
              </a:rPr>
              <a:t>el</a:t>
            </a:r>
            <a:r>
              <a:rPr lang="en-US" sz="1500" b="0" i="0" u="none" strike="noStrike" cap="none" dirty="0">
                <a:solidFill>
                  <a:srgbClr val="475569"/>
                </a:solidFill>
                <a:latin typeface="Plus Jakarta Sans"/>
                <a:ea typeface="Plus Jakarta Sans"/>
                <a:cs typeface="Plus Jakarta Sans"/>
                <a:sym typeface="Plus Jakarta Sans"/>
              </a:rPr>
              <a:t> </a:t>
            </a:r>
            <a:r>
              <a:rPr lang="en-US" sz="1500" b="0" i="0" u="none" strike="noStrike" cap="none" dirty="0" err="1">
                <a:solidFill>
                  <a:srgbClr val="475569"/>
                </a:solidFill>
                <a:latin typeface="Plus Jakarta Sans"/>
                <a:ea typeface="Plus Jakarta Sans"/>
                <a:cs typeface="Plus Jakarta Sans"/>
                <a:sym typeface="Plus Jakarta Sans"/>
              </a:rPr>
              <a:t>estado</a:t>
            </a:r>
            <a:r>
              <a:rPr lang="en-US" sz="1500" b="0" i="0" u="none" strike="noStrike" cap="none" dirty="0">
                <a:solidFill>
                  <a:srgbClr val="475569"/>
                </a:solidFill>
                <a:latin typeface="Plus Jakarta Sans"/>
                <a:ea typeface="Plus Jakarta Sans"/>
                <a:cs typeface="Plus Jakarta Sans"/>
                <a:sym typeface="Plus Jakarta Sans"/>
              </a:rPr>
              <a:t> de </a:t>
            </a:r>
            <a:r>
              <a:rPr lang="en-US" sz="1500" b="0" i="0" u="none" strike="noStrike" cap="none" dirty="0" err="1">
                <a:solidFill>
                  <a:srgbClr val="475569"/>
                </a:solidFill>
                <a:latin typeface="Plus Jakarta Sans"/>
                <a:ea typeface="Plus Jakarta Sans"/>
                <a:cs typeface="Plus Jakarta Sans"/>
                <a:sym typeface="Plus Jakarta Sans"/>
              </a:rPr>
              <a:t>una</a:t>
            </a:r>
            <a:r>
              <a:rPr lang="en-US" sz="1500" b="0" i="0" u="none" strike="noStrike" cap="none" dirty="0">
                <a:solidFill>
                  <a:srgbClr val="475569"/>
                </a:solidFill>
                <a:latin typeface="Plus Jakarta Sans"/>
                <a:ea typeface="Plus Jakarta Sans"/>
                <a:cs typeface="Plus Jakarta Sans"/>
                <a:sym typeface="Plus Jakarta Sans"/>
              </a:rPr>
              <a:t> variable.</a:t>
            </a:r>
            <a:endParaRPr dirty="0"/>
          </a:p>
        </p:txBody>
      </p:sp>
      <p:pic>
        <p:nvPicPr>
          <p:cNvPr id="92" name="Google Shape;92;p13" descr="image.png"/>
          <p:cNvPicPr preferRelativeResize="0"/>
          <p:nvPr/>
        </p:nvPicPr>
        <p:blipFill rotWithShape="1">
          <a:blip r:embed="rId8">
            <a:alphaModFix/>
          </a:blip>
          <a:srcRect/>
          <a:stretch/>
        </p:blipFill>
        <p:spPr>
          <a:xfrm>
            <a:off x="1124664" y="823366"/>
            <a:ext cx="123825" cy="133350"/>
          </a:xfrm>
          <a:prstGeom prst="rect">
            <a:avLst/>
          </a:prstGeom>
          <a:noFill/>
          <a:ln>
            <a:noFill/>
          </a:ln>
        </p:spPr>
      </p:pic>
      <p:sp>
        <p:nvSpPr>
          <p:cNvPr id="93" name="Google Shape;93;p13"/>
          <p:cNvSpPr txBox="1"/>
          <p:nvPr/>
        </p:nvSpPr>
        <p:spPr>
          <a:xfrm>
            <a:off x="7277100" y="2051744"/>
            <a:ext cx="3950493"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0F172A"/>
                </a:solidFill>
                <a:latin typeface="Plus Jakarta Sans ExtraBold"/>
                <a:ea typeface="Plus Jakarta Sans ExtraBold"/>
                <a:cs typeface="Plus Jakarta Sans ExtraBold"/>
                <a:sym typeface="Plus Jakarta Sans ExtraBold"/>
              </a:rPr>
              <a:t>La Analogía de la Sopa</a:t>
            </a:r>
            <a:endParaRPr/>
          </a:p>
        </p:txBody>
      </p:sp>
      <p:sp>
        <p:nvSpPr>
          <p:cNvPr id="94" name="Google Shape;94;p13"/>
          <p:cNvSpPr txBox="1"/>
          <p:nvPr/>
        </p:nvSpPr>
        <p:spPr>
          <a:xfrm>
            <a:off x="7277100" y="2575619"/>
            <a:ext cx="3762375"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Plus Jakarta Sans"/>
                <a:ea typeface="Plus Jakarta Sans"/>
                <a:cs typeface="Plus Jakarta Sans"/>
                <a:sym typeface="Plus Jakarta Sans"/>
              </a:rPr>
              <a:t>No dices "voy a dar exactamente 25 cucharadas". Simplemente sigues comiendo hasta terminar.</a:t>
            </a:r>
            <a:endParaRPr/>
          </a:p>
        </p:txBody>
      </p:sp>
      <p:sp>
        <p:nvSpPr>
          <p:cNvPr id="95" name="Google Shape;95;p13"/>
          <p:cNvSpPr txBox="1"/>
          <p:nvPr/>
        </p:nvSpPr>
        <p:spPr>
          <a:xfrm>
            <a:off x="7277100" y="5027265"/>
            <a:ext cx="3762375"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475569"/>
                </a:solidFill>
                <a:latin typeface="Plus Jakarta Sans"/>
                <a:ea typeface="Plus Jakarta Sans"/>
                <a:cs typeface="Plus Jakarta Sans"/>
                <a:sym typeface="Plus Jakarta Sans"/>
              </a:rPr>
              <a:t>La condición es el estado del plato. El ciclo termina de forma natural cuando la condición se vuelve falsa.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P spid="91" grpId="0"/>
      <p:bldP spid="93" grpId="0"/>
      <p:bldP spid="94" grpId="0"/>
      <p:bldP spid="9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3" name="Google Shape;93;p14"/>
          <p:cNvSpPr/>
          <p:nvPr/>
        </p:nvSpPr>
        <p:spPr>
          <a:xfrm>
            <a:off x="571500" y="1338262"/>
            <a:ext cx="11049000" cy="1742956"/>
          </a:xfrm>
          <a:prstGeom prst="rect">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94" name="Google Shape;94;p14"/>
          <p:cNvSpPr txBox="1"/>
          <p:nvPr/>
        </p:nvSpPr>
        <p:spPr>
          <a:xfrm>
            <a:off x="809625" y="1419225"/>
            <a:ext cx="11166084" cy="1661993"/>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800" b="1" i="0" u="none" strike="noStrike" cap="none" dirty="0" err="1">
                <a:solidFill>
                  <a:srgbClr val="0F172A"/>
                </a:solidFill>
                <a:latin typeface="Inter"/>
                <a:ea typeface="Inter"/>
                <a:cs typeface="Inter"/>
                <a:sym typeface="Inter"/>
              </a:rPr>
              <a:t>Concepto</a:t>
            </a:r>
            <a:r>
              <a:rPr lang="en-US" sz="1800" b="1" i="0" u="none" strike="noStrike" cap="none" dirty="0">
                <a:solidFill>
                  <a:srgbClr val="0F172A"/>
                </a:solidFill>
                <a:latin typeface="Inter"/>
                <a:ea typeface="Inter"/>
                <a:cs typeface="Inter"/>
                <a:sym typeface="Inter"/>
              </a:rPr>
              <a:t> de </a:t>
            </a:r>
            <a:r>
              <a:rPr lang="en-US" sz="1800" b="1" i="0" u="none" strike="noStrike" cap="none" dirty="0" err="1">
                <a:solidFill>
                  <a:srgbClr val="0F172A"/>
                </a:solidFill>
                <a:latin typeface="Inter"/>
                <a:ea typeface="Inter"/>
                <a:cs typeface="Inter"/>
                <a:sym typeface="Inter"/>
              </a:rPr>
              <a:t>Iteración</a:t>
            </a:r>
            <a:r>
              <a:rPr lang="en-US" sz="1800" b="1" i="0" u="none" strike="noStrike" cap="none" dirty="0">
                <a:solidFill>
                  <a:srgbClr val="0F172A"/>
                </a:solidFill>
                <a:latin typeface="Inter"/>
                <a:ea typeface="Inter"/>
                <a:cs typeface="Inter"/>
                <a:sym typeface="Inter"/>
              </a:rPr>
              <a:t> </a:t>
            </a:r>
            <a:r>
              <a:rPr lang="en-US" sz="1800" b="1" i="0" u="none" strike="noStrike" cap="none" dirty="0" err="1">
                <a:solidFill>
                  <a:srgbClr val="0F172A"/>
                </a:solidFill>
                <a:latin typeface="Inter"/>
                <a:ea typeface="Inter"/>
                <a:cs typeface="Inter"/>
                <a:sym typeface="Inter"/>
              </a:rPr>
              <a:t>Indefinida</a:t>
            </a:r>
            <a:r>
              <a:rPr lang="en-US" sz="1800" b="0" i="0" u="none" strike="noStrike" cap="none" dirty="0">
                <a:solidFill>
                  <a:srgbClr val="334155"/>
                </a:solidFill>
                <a:latin typeface="Inter"/>
                <a:ea typeface="Inter"/>
                <a:cs typeface="Inter"/>
                <a:sym typeface="Inter"/>
              </a:rPr>
              <a:t> El </a:t>
            </a:r>
            <a:r>
              <a:rPr lang="en-US" sz="1800" b="0" i="0" u="none" strike="noStrike" cap="none" dirty="0" err="1">
                <a:solidFill>
                  <a:srgbClr val="334155"/>
                </a:solidFill>
                <a:latin typeface="Inter"/>
                <a:ea typeface="Inter"/>
                <a:cs typeface="Inter"/>
                <a:sym typeface="Inter"/>
              </a:rPr>
              <a:t>bucle</a:t>
            </a:r>
            <a:r>
              <a:rPr lang="en-US" sz="1800" b="0" i="0" u="none" strike="noStrike" cap="none" dirty="0">
                <a:solidFill>
                  <a:srgbClr val="334155"/>
                </a:solidFill>
                <a:latin typeface="Inter"/>
                <a:ea typeface="Inter"/>
                <a:cs typeface="Inter"/>
                <a:sym typeface="Inter"/>
              </a:rPr>
              <a:t> </a:t>
            </a:r>
            <a:r>
              <a:rPr lang="en-US" sz="1800" b="0" i="0" u="none" strike="noStrike" cap="none" dirty="0" err="1">
                <a:solidFill>
                  <a:srgbClr val="334155"/>
                </a:solidFill>
                <a:latin typeface="Inter"/>
                <a:ea typeface="Inter"/>
                <a:cs typeface="Inter"/>
                <a:sym typeface="Inter"/>
              </a:rPr>
              <a:t>mientras</a:t>
            </a:r>
            <a:r>
              <a:rPr lang="en-US" sz="1800" b="0" i="0" u="none" strike="noStrike" cap="none" dirty="0">
                <a:solidFill>
                  <a:srgbClr val="334155"/>
                </a:solidFill>
                <a:latin typeface="Inter"/>
                <a:ea typeface="Inter"/>
                <a:cs typeface="Inter"/>
                <a:sym typeface="Inter"/>
              </a:rPr>
              <a:t> es </a:t>
            </a:r>
            <a:r>
              <a:rPr lang="en-US" sz="1800" b="0" i="0" u="none" strike="noStrike" cap="none" dirty="0" err="1">
                <a:solidFill>
                  <a:srgbClr val="334155"/>
                </a:solidFill>
                <a:latin typeface="Inter"/>
                <a:ea typeface="Inter"/>
                <a:cs typeface="Inter"/>
                <a:sym typeface="Inter"/>
              </a:rPr>
              <a:t>una</a:t>
            </a:r>
            <a:r>
              <a:rPr lang="en-US" sz="1800" b="0" i="0" u="none" strike="noStrike" cap="none" dirty="0">
                <a:solidFill>
                  <a:srgbClr val="334155"/>
                </a:solidFill>
                <a:latin typeface="Inter"/>
                <a:ea typeface="Inter"/>
                <a:cs typeface="Inter"/>
                <a:sym typeface="Inter"/>
              </a:rPr>
              <a:t> </a:t>
            </a:r>
            <a:r>
              <a:rPr lang="en-US" sz="1800" b="0" i="0" u="none" strike="noStrike" cap="none" dirty="0" err="1">
                <a:solidFill>
                  <a:srgbClr val="334155"/>
                </a:solidFill>
                <a:latin typeface="Inter"/>
                <a:ea typeface="Inter"/>
                <a:cs typeface="Inter"/>
                <a:sym typeface="Inter"/>
              </a:rPr>
              <a:t>estructura</a:t>
            </a:r>
            <a:r>
              <a:rPr lang="en-US" sz="1800" b="0" i="0" u="none" strike="noStrike" cap="none" dirty="0">
                <a:solidFill>
                  <a:srgbClr val="334155"/>
                </a:solidFill>
                <a:latin typeface="Inter"/>
                <a:ea typeface="Inter"/>
                <a:cs typeface="Inter"/>
                <a:sym typeface="Inter"/>
              </a:rPr>
              <a:t> de control de </a:t>
            </a:r>
            <a:r>
              <a:rPr lang="en-US" sz="1800" b="0" i="0" u="none" strike="noStrike" cap="none" dirty="0" err="1">
                <a:solidFill>
                  <a:srgbClr val="334155"/>
                </a:solidFill>
                <a:latin typeface="Inter"/>
                <a:ea typeface="Inter"/>
                <a:cs typeface="Inter"/>
                <a:sym typeface="Inter"/>
              </a:rPr>
              <a:t>flujo</a:t>
            </a:r>
            <a:r>
              <a:rPr lang="en-US" sz="1800" b="0" i="0" u="none" strike="noStrike" cap="none" dirty="0">
                <a:solidFill>
                  <a:srgbClr val="334155"/>
                </a:solidFill>
                <a:latin typeface="Inter"/>
                <a:ea typeface="Inter"/>
                <a:cs typeface="Inter"/>
                <a:sym typeface="Inter"/>
              </a:rPr>
              <a:t> </a:t>
            </a:r>
            <a:r>
              <a:rPr lang="en-US" sz="1800" b="0" i="0" u="none" strike="noStrike" cap="none" dirty="0" err="1">
                <a:solidFill>
                  <a:srgbClr val="334155"/>
                </a:solidFill>
                <a:latin typeface="Inter"/>
                <a:ea typeface="Inter"/>
                <a:cs typeface="Inter"/>
                <a:sym typeface="Inter"/>
              </a:rPr>
              <a:t>que</a:t>
            </a:r>
            <a:r>
              <a:rPr lang="en-US" sz="1800" b="0" i="0" u="none" strike="noStrike" cap="none" dirty="0">
                <a:solidFill>
                  <a:srgbClr val="334155"/>
                </a:solidFill>
                <a:latin typeface="Inter"/>
                <a:ea typeface="Inter"/>
                <a:cs typeface="Inter"/>
                <a:sym typeface="Inter"/>
              </a:rPr>
              <a:t> </a:t>
            </a:r>
            <a:r>
              <a:rPr lang="en-US" sz="1800" b="0" i="0" u="none" strike="noStrike" cap="none" dirty="0" err="1">
                <a:solidFill>
                  <a:srgbClr val="334155"/>
                </a:solidFill>
                <a:latin typeface="Inter"/>
                <a:ea typeface="Inter"/>
                <a:cs typeface="Inter"/>
                <a:sym typeface="Inter"/>
              </a:rPr>
              <a:t>ejecuta</a:t>
            </a:r>
            <a:r>
              <a:rPr lang="en-US" sz="1800" b="0" i="0" u="none" strike="noStrike" cap="none" dirty="0">
                <a:solidFill>
                  <a:srgbClr val="334155"/>
                </a:solidFill>
                <a:latin typeface="Inter"/>
                <a:ea typeface="Inter"/>
                <a:cs typeface="Inter"/>
                <a:sym typeface="Inter"/>
              </a:rPr>
              <a:t> </a:t>
            </a:r>
            <a:r>
              <a:rPr lang="en-US" sz="1800" b="0" i="0" u="none" strike="noStrike" cap="none" dirty="0" err="1">
                <a:solidFill>
                  <a:srgbClr val="334155"/>
                </a:solidFill>
                <a:latin typeface="Inter"/>
                <a:ea typeface="Inter"/>
                <a:cs typeface="Inter"/>
                <a:sym typeface="Inter"/>
              </a:rPr>
              <a:t>repetidamente</a:t>
            </a:r>
            <a:r>
              <a:rPr lang="en-US" sz="1800" b="0" i="0" u="none" strike="noStrike" cap="none" dirty="0">
                <a:solidFill>
                  <a:srgbClr val="334155"/>
                </a:solidFill>
                <a:latin typeface="Inter"/>
                <a:ea typeface="Inter"/>
                <a:cs typeface="Inter"/>
                <a:sym typeface="Inter"/>
              </a:rPr>
              <a:t> un </a:t>
            </a:r>
            <a:r>
              <a:rPr lang="en-US" sz="1800" b="0" i="0" u="none" strike="noStrike" cap="none" dirty="0" err="1">
                <a:solidFill>
                  <a:srgbClr val="334155"/>
                </a:solidFill>
                <a:latin typeface="Inter"/>
                <a:ea typeface="Inter"/>
                <a:cs typeface="Inter"/>
                <a:sym typeface="Inter"/>
              </a:rPr>
              <a:t>bloque</a:t>
            </a:r>
            <a:r>
              <a:rPr lang="en-US" sz="1800" b="0" i="0" u="none" strike="noStrike" cap="none" dirty="0">
                <a:solidFill>
                  <a:srgbClr val="334155"/>
                </a:solidFill>
                <a:latin typeface="Inter"/>
                <a:ea typeface="Inter"/>
                <a:cs typeface="Inter"/>
                <a:sym typeface="Inter"/>
              </a:rPr>
              <a:t> de </a:t>
            </a:r>
            <a:r>
              <a:rPr lang="en-US" sz="1800" b="0" i="0" u="none" strike="noStrike" cap="none" dirty="0" err="1">
                <a:solidFill>
                  <a:srgbClr val="334155"/>
                </a:solidFill>
                <a:latin typeface="Inter"/>
                <a:ea typeface="Inter"/>
                <a:cs typeface="Inter"/>
                <a:sym typeface="Inter"/>
              </a:rPr>
              <a:t>código</a:t>
            </a:r>
            <a:r>
              <a:rPr lang="en-US" sz="1800" b="0" i="0" u="none" strike="noStrike" cap="none" dirty="0">
                <a:solidFill>
                  <a:srgbClr val="334155"/>
                </a:solidFill>
                <a:latin typeface="Inter"/>
                <a:ea typeface="Inter"/>
                <a:cs typeface="Inter"/>
                <a:sym typeface="Inter"/>
              </a:rPr>
              <a:t> </a:t>
            </a:r>
            <a:r>
              <a:rPr lang="en-US" sz="1800" b="0" i="1" u="none" strike="noStrike" cap="none" dirty="0" err="1">
                <a:solidFill>
                  <a:srgbClr val="334155"/>
                </a:solidFill>
                <a:latin typeface="Inter"/>
                <a:ea typeface="Inter"/>
                <a:cs typeface="Inter"/>
                <a:sym typeface="Inter"/>
              </a:rPr>
              <a:t>siempre</a:t>
            </a:r>
            <a:r>
              <a:rPr lang="en-US" sz="1800" b="0" i="1" u="none" strike="noStrike" cap="none" dirty="0">
                <a:solidFill>
                  <a:srgbClr val="334155"/>
                </a:solidFill>
                <a:latin typeface="Inter"/>
                <a:ea typeface="Inter"/>
                <a:cs typeface="Inter"/>
                <a:sym typeface="Inter"/>
              </a:rPr>
              <a:t> y </a:t>
            </a:r>
            <a:r>
              <a:rPr lang="en-US" sz="1800" b="0" i="1" u="none" strike="noStrike" cap="none" dirty="0" err="1">
                <a:solidFill>
                  <a:srgbClr val="334155"/>
                </a:solidFill>
                <a:latin typeface="Inter"/>
                <a:ea typeface="Inter"/>
                <a:cs typeface="Inter"/>
                <a:sym typeface="Inter"/>
              </a:rPr>
              <a:t>cuando</a:t>
            </a:r>
            <a:r>
              <a:rPr lang="en-US" sz="1800" b="0" i="0" u="none" strike="noStrike" cap="none" dirty="0">
                <a:solidFill>
                  <a:srgbClr val="334155"/>
                </a:solidFill>
                <a:latin typeface="Inter"/>
                <a:ea typeface="Inter"/>
                <a:cs typeface="Inter"/>
                <a:sym typeface="Inter"/>
              </a:rPr>
              <a:t> </a:t>
            </a:r>
            <a:r>
              <a:rPr lang="en-US" sz="1800" b="0" i="0" u="none" strike="noStrike" cap="none" dirty="0" err="1">
                <a:solidFill>
                  <a:srgbClr val="334155"/>
                </a:solidFill>
                <a:latin typeface="Inter"/>
                <a:ea typeface="Inter"/>
                <a:cs typeface="Inter"/>
                <a:sym typeface="Inter"/>
              </a:rPr>
              <a:t>una</a:t>
            </a:r>
            <a:r>
              <a:rPr lang="en-US" sz="1800" b="0" i="0" u="none" strike="noStrike" cap="none" dirty="0">
                <a:solidFill>
                  <a:srgbClr val="334155"/>
                </a:solidFill>
                <a:latin typeface="Inter"/>
                <a:ea typeface="Inter"/>
                <a:cs typeface="Inter"/>
                <a:sym typeface="Inter"/>
              </a:rPr>
              <a:t> </a:t>
            </a:r>
            <a:r>
              <a:rPr lang="en-US" sz="1800" b="0" i="0" u="none" strike="noStrike" cap="none" dirty="0" err="1">
                <a:solidFill>
                  <a:srgbClr val="334155"/>
                </a:solidFill>
                <a:latin typeface="Inter"/>
                <a:ea typeface="Inter"/>
                <a:cs typeface="Inter"/>
                <a:sym typeface="Inter"/>
              </a:rPr>
              <a:t>condición</a:t>
            </a:r>
            <a:r>
              <a:rPr lang="en-US" sz="1800" b="0" i="0" u="none" strike="noStrike" cap="none" dirty="0">
                <a:solidFill>
                  <a:srgbClr val="334155"/>
                </a:solidFill>
                <a:latin typeface="Inter"/>
                <a:ea typeface="Inter"/>
                <a:cs typeface="Inter"/>
                <a:sym typeface="Inter"/>
              </a:rPr>
              <a:t> </a:t>
            </a:r>
            <a:r>
              <a:rPr lang="en-US" sz="1800" b="0" i="0" u="none" strike="noStrike" cap="none" dirty="0" err="1">
                <a:solidFill>
                  <a:srgbClr val="334155"/>
                </a:solidFill>
                <a:latin typeface="Inter"/>
                <a:ea typeface="Inter"/>
                <a:cs typeface="Inter"/>
                <a:sym typeface="Inter"/>
              </a:rPr>
              <a:t>booleana</a:t>
            </a:r>
            <a:r>
              <a:rPr lang="en-US" sz="1800" b="0" i="0" u="none" strike="noStrike" cap="none" dirty="0">
                <a:solidFill>
                  <a:srgbClr val="334155"/>
                </a:solidFill>
                <a:latin typeface="Inter"/>
                <a:ea typeface="Inter"/>
                <a:cs typeface="Inter"/>
                <a:sym typeface="Inter"/>
              </a:rPr>
              <a:t> </a:t>
            </a:r>
            <a:r>
              <a:rPr lang="en-US" sz="1800" b="0" i="0" u="none" strike="noStrike" cap="none" dirty="0" err="1">
                <a:solidFill>
                  <a:srgbClr val="334155"/>
                </a:solidFill>
                <a:latin typeface="Inter"/>
                <a:ea typeface="Inter"/>
                <a:cs typeface="Inter"/>
                <a:sym typeface="Inter"/>
              </a:rPr>
              <a:t>específica</a:t>
            </a:r>
            <a:r>
              <a:rPr lang="en-US" sz="1800" b="0" i="0" u="none" strike="noStrike" cap="none" dirty="0">
                <a:solidFill>
                  <a:srgbClr val="334155"/>
                </a:solidFill>
                <a:latin typeface="Inter"/>
                <a:ea typeface="Inter"/>
                <a:cs typeface="Inter"/>
                <a:sym typeface="Inter"/>
              </a:rPr>
              <a:t> se </a:t>
            </a:r>
            <a:r>
              <a:rPr lang="en-US" sz="1800" b="0" i="0" u="none" strike="noStrike" cap="none" dirty="0" err="1">
                <a:solidFill>
                  <a:srgbClr val="334155"/>
                </a:solidFill>
                <a:latin typeface="Inter"/>
                <a:ea typeface="Inter"/>
                <a:cs typeface="Inter"/>
                <a:sym typeface="Inter"/>
              </a:rPr>
              <a:t>evalúe</a:t>
            </a:r>
            <a:r>
              <a:rPr lang="en-US" sz="1800" b="0" i="0" u="none" strike="noStrike" cap="none" dirty="0">
                <a:solidFill>
                  <a:srgbClr val="334155"/>
                </a:solidFill>
                <a:latin typeface="Inter"/>
                <a:ea typeface="Inter"/>
                <a:cs typeface="Inter"/>
                <a:sym typeface="Inter"/>
              </a:rPr>
              <a:t> </a:t>
            </a:r>
            <a:r>
              <a:rPr lang="en-US" sz="1800" b="0" i="0" u="none" strike="noStrike" cap="none" dirty="0" err="1">
                <a:solidFill>
                  <a:srgbClr val="334155"/>
                </a:solidFill>
                <a:latin typeface="Inter"/>
                <a:ea typeface="Inter"/>
                <a:cs typeface="Inter"/>
                <a:sym typeface="Inter"/>
              </a:rPr>
              <a:t>como</a:t>
            </a:r>
            <a:r>
              <a:rPr lang="en-US" sz="1800" b="0" i="0" u="none" strike="noStrike" cap="none" dirty="0">
                <a:solidFill>
                  <a:srgbClr val="334155"/>
                </a:solidFill>
                <a:latin typeface="Inter"/>
                <a:ea typeface="Inter"/>
                <a:cs typeface="Inter"/>
                <a:sym typeface="Inter"/>
              </a:rPr>
              <a:t> </a:t>
            </a:r>
            <a:r>
              <a:rPr lang="en-US" sz="1800" b="0" i="0" u="none" strike="noStrike" cap="none" dirty="0" err="1">
                <a:solidFill>
                  <a:srgbClr val="334155"/>
                </a:solidFill>
                <a:latin typeface="Inter"/>
                <a:ea typeface="Inter"/>
                <a:cs typeface="Inter"/>
                <a:sym typeface="Inter"/>
              </a:rPr>
              <a:t>Verdadera</a:t>
            </a:r>
            <a:r>
              <a:rPr lang="en-US" sz="1800" b="0" i="0" u="none" strike="noStrike" cap="none" dirty="0">
                <a:solidFill>
                  <a:srgbClr val="334155"/>
                </a:solidFill>
                <a:latin typeface="Inter"/>
                <a:ea typeface="Inter"/>
                <a:cs typeface="Inter"/>
                <a:sym typeface="Inter"/>
              </a:rPr>
              <a:t>. A </a:t>
            </a:r>
            <a:r>
              <a:rPr lang="en-US" sz="1800" b="0" i="0" u="none" strike="noStrike" cap="none" dirty="0" err="1">
                <a:solidFill>
                  <a:srgbClr val="334155"/>
                </a:solidFill>
                <a:latin typeface="Inter"/>
                <a:ea typeface="Inter"/>
                <a:cs typeface="Inter"/>
                <a:sym typeface="Inter"/>
              </a:rPr>
              <a:t>diferencia</a:t>
            </a:r>
            <a:r>
              <a:rPr lang="en-US" sz="1800" b="0" i="0" u="none" strike="noStrike" cap="none" dirty="0">
                <a:solidFill>
                  <a:srgbClr val="334155"/>
                </a:solidFill>
                <a:latin typeface="Inter"/>
                <a:ea typeface="Inter"/>
                <a:cs typeface="Inter"/>
                <a:sym typeface="Inter"/>
              </a:rPr>
              <a:t> del </a:t>
            </a:r>
            <a:r>
              <a:rPr lang="en-US" sz="1800" b="0" i="0" u="none" strike="noStrike" cap="none" dirty="0" err="1">
                <a:solidFill>
                  <a:srgbClr val="334155"/>
                </a:solidFill>
                <a:latin typeface="Inter"/>
                <a:ea typeface="Inter"/>
                <a:cs typeface="Inter"/>
                <a:sym typeface="Inter"/>
              </a:rPr>
              <a:t>ciclo</a:t>
            </a:r>
            <a:r>
              <a:rPr lang="en-US" sz="1800" b="0" i="0" u="none" strike="noStrike" cap="none" dirty="0">
                <a:solidFill>
                  <a:srgbClr val="334155"/>
                </a:solidFill>
                <a:latin typeface="Inter"/>
                <a:ea typeface="Inter"/>
                <a:cs typeface="Inter"/>
                <a:sym typeface="Inter"/>
              </a:rPr>
              <a:t> para, no </a:t>
            </a:r>
            <a:r>
              <a:rPr lang="en-US" sz="1800" b="0" i="0" u="none" strike="noStrike" cap="none" dirty="0" err="1">
                <a:solidFill>
                  <a:srgbClr val="334155"/>
                </a:solidFill>
                <a:latin typeface="Inter"/>
                <a:ea typeface="Inter"/>
                <a:cs typeface="Inter"/>
                <a:sym typeface="Inter"/>
              </a:rPr>
              <a:t>requiere</a:t>
            </a:r>
            <a:r>
              <a:rPr lang="en-US" sz="1800" b="0" i="0" u="none" strike="noStrike" cap="none" dirty="0">
                <a:solidFill>
                  <a:srgbClr val="334155"/>
                </a:solidFill>
                <a:latin typeface="Inter"/>
                <a:ea typeface="Inter"/>
                <a:cs typeface="Inter"/>
                <a:sym typeface="Inter"/>
              </a:rPr>
              <a:t> </a:t>
            </a:r>
            <a:r>
              <a:rPr lang="en-US" sz="1800" b="0" i="0" u="none" strike="noStrike" cap="none" dirty="0" err="1">
                <a:solidFill>
                  <a:srgbClr val="334155"/>
                </a:solidFill>
                <a:latin typeface="Inter"/>
                <a:ea typeface="Inter"/>
                <a:cs typeface="Inter"/>
                <a:sym typeface="Inter"/>
              </a:rPr>
              <a:t>conocer</a:t>
            </a:r>
            <a:r>
              <a:rPr lang="en-US" sz="1800" b="0" i="0" u="none" strike="noStrike" cap="none" dirty="0">
                <a:solidFill>
                  <a:srgbClr val="334155"/>
                </a:solidFill>
                <a:latin typeface="Inter"/>
                <a:ea typeface="Inter"/>
                <a:cs typeface="Inter"/>
                <a:sym typeface="Inter"/>
              </a:rPr>
              <a:t> de </a:t>
            </a:r>
            <a:r>
              <a:rPr lang="en-US" sz="1800" b="0" i="0" u="none" strike="noStrike" cap="none" dirty="0" err="1">
                <a:solidFill>
                  <a:srgbClr val="334155"/>
                </a:solidFill>
                <a:latin typeface="Inter"/>
                <a:ea typeface="Inter"/>
                <a:cs typeface="Inter"/>
                <a:sym typeface="Inter"/>
              </a:rPr>
              <a:t>antemano</a:t>
            </a:r>
            <a:r>
              <a:rPr lang="en-US" sz="1800" b="0" i="0" u="none" strike="noStrike" cap="none" dirty="0">
                <a:solidFill>
                  <a:srgbClr val="334155"/>
                </a:solidFill>
                <a:latin typeface="Inter"/>
                <a:ea typeface="Inter"/>
                <a:cs typeface="Inter"/>
                <a:sym typeface="Inter"/>
              </a:rPr>
              <a:t> </a:t>
            </a:r>
            <a:r>
              <a:rPr lang="en-US" sz="1800" b="0" i="0" u="none" strike="noStrike" cap="none" dirty="0" err="1">
                <a:solidFill>
                  <a:srgbClr val="334155"/>
                </a:solidFill>
                <a:latin typeface="Inter"/>
                <a:ea typeface="Inter"/>
                <a:cs typeface="Inter"/>
                <a:sym typeface="Inter"/>
              </a:rPr>
              <a:t>cuántas</a:t>
            </a:r>
            <a:r>
              <a:rPr lang="en-US" sz="1800" b="0" i="0" u="none" strike="noStrike" cap="none" dirty="0">
                <a:solidFill>
                  <a:srgbClr val="334155"/>
                </a:solidFill>
                <a:latin typeface="Inter"/>
                <a:ea typeface="Inter"/>
                <a:cs typeface="Inter"/>
                <a:sym typeface="Inter"/>
              </a:rPr>
              <a:t> </a:t>
            </a:r>
            <a:r>
              <a:rPr lang="en-US" sz="1800" b="0" i="0" u="none" strike="noStrike" cap="none" dirty="0" err="1">
                <a:solidFill>
                  <a:srgbClr val="334155"/>
                </a:solidFill>
                <a:latin typeface="Inter"/>
                <a:ea typeface="Inter"/>
                <a:cs typeface="Inter"/>
                <a:sym typeface="Inter"/>
              </a:rPr>
              <a:t>vueltas</a:t>
            </a:r>
            <a:r>
              <a:rPr lang="en-US" sz="1800" b="0" i="0" u="none" strike="noStrike" cap="none" dirty="0">
                <a:solidFill>
                  <a:srgbClr val="334155"/>
                </a:solidFill>
                <a:latin typeface="Inter"/>
                <a:ea typeface="Inter"/>
                <a:cs typeface="Inter"/>
                <a:sym typeface="Inter"/>
              </a:rPr>
              <a:t> se </a:t>
            </a:r>
            <a:r>
              <a:rPr lang="en-US" sz="1800" b="0" i="0" u="none" strike="noStrike" cap="none" dirty="0" err="1">
                <a:solidFill>
                  <a:srgbClr val="334155"/>
                </a:solidFill>
                <a:latin typeface="Inter"/>
                <a:ea typeface="Inter"/>
                <a:cs typeface="Inter"/>
                <a:sym typeface="Inter"/>
              </a:rPr>
              <a:t>darán</a:t>
            </a:r>
            <a:r>
              <a:rPr lang="en-US" sz="1800" b="0" i="0" u="none" strike="noStrike" cap="none" dirty="0">
                <a:solidFill>
                  <a:srgbClr val="334155"/>
                </a:solidFill>
                <a:latin typeface="Inter"/>
                <a:ea typeface="Inter"/>
                <a:cs typeface="Inter"/>
                <a:sym typeface="Inter"/>
              </a:rPr>
              <a:t>.</a:t>
            </a:r>
            <a:endParaRPr sz="1800" dirty="0"/>
          </a:p>
        </p:txBody>
      </p:sp>
      <p:sp>
        <p:nvSpPr>
          <p:cNvPr id="95" name="Google Shape;95;p14"/>
          <p:cNvSpPr/>
          <p:nvPr/>
        </p:nvSpPr>
        <p:spPr>
          <a:xfrm>
            <a:off x="571500" y="1338262"/>
            <a:ext cx="38100" cy="1528762"/>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96" name="Google Shape;96;p14"/>
          <p:cNvSpPr/>
          <p:nvPr/>
        </p:nvSpPr>
        <p:spPr>
          <a:xfrm>
            <a:off x="571500" y="3162181"/>
            <a:ext cx="11049000" cy="1862137"/>
          </a:xfrm>
          <a:prstGeom prst="rect">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97" name="Google Shape;97;p14"/>
          <p:cNvSpPr txBox="1"/>
          <p:nvPr/>
        </p:nvSpPr>
        <p:spPr>
          <a:xfrm>
            <a:off x="809625" y="3248025"/>
            <a:ext cx="10572750" cy="124649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800" b="1" i="0" u="none" strike="noStrike" cap="none">
                <a:solidFill>
                  <a:srgbClr val="0F172A"/>
                </a:solidFill>
                <a:latin typeface="Inter"/>
                <a:ea typeface="Inter"/>
                <a:cs typeface="Inter"/>
                <a:sym typeface="Inter"/>
              </a:rPr>
              <a:t>Evaluación de Pre-Condición</a:t>
            </a:r>
            <a:r>
              <a:rPr lang="en-US" sz="1800" b="0" i="0" u="none" strike="noStrike" cap="none">
                <a:solidFill>
                  <a:srgbClr val="334155"/>
                </a:solidFill>
                <a:latin typeface="Inter"/>
                <a:ea typeface="Inter"/>
                <a:cs typeface="Inter"/>
                <a:sym typeface="Inter"/>
              </a:rPr>
              <a:t> La condición se verifica </a:t>
            </a:r>
            <a:r>
              <a:rPr lang="en-US" sz="1800" b="1" i="0" u="none" strike="noStrike" cap="none">
                <a:solidFill>
                  <a:srgbClr val="0F172A"/>
                </a:solidFill>
                <a:latin typeface="Inter"/>
                <a:ea typeface="Inter"/>
                <a:cs typeface="Inter"/>
                <a:sym typeface="Inter"/>
              </a:rPr>
              <a:t>antes</a:t>
            </a:r>
            <a:r>
              <a:rPr lang="en-US" sz="1800" b="0" i="0" u="none" strike="noStrike" cap="none">
                <a:solidFill>
                  <a:srgbClr val="334155"/>
                </a:solidFill>
                <a:latin typeface="Inter"/>
                <a:ea typeface="Inter"/>
                <a:cs typeface="Inter"/>
                <a:sym typeface="Inter"/>
              </a:rPr>
              <a:t> de ejecutar el interior del bucle. Si en la primera evaluación la condición resulta ser Falsa, el contenido del bucle es completamente ignorado (se ejecuta 0 veces).</a:t>
            </a:r>
            <a:endParaRPr sz="1800"/>
          </a:p>
        </p:txBody>
      </p:sp>
      <p:sp>
        <p:nvSpPr>
          <p:cNvPr id="98" name="Google Shape;98;p14"/>
          <p:cNvSpPr/>
          <p:nvPr/>
        </p:nvSpPr>
        <p:spPr>
          <a:xfrm>
            <a:off x="571500" y="3057525"/>
            <a:ext cx="38100" cy="1862137"/>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99" name="Google Shape;99;p14"/>
          <p:cNvSpPr/>
          <p:nvPr/>
        </p:nvSpPr>
        <p:spPr>
          <a:xfrm>
            <a:off x="571500" y="5110161"/>
            <a:ext cx="11049000" cy="1436995"/>
          </a:xfrm>
          <a:prstGeom prst="rect">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100" name="Google Shape;100;p14"/>
          <p:cNvSpPr txBox="1"/>
          <p:nvPr/>
        </p:nvSpPr>
        <p:spPr>
          <a:xfrm>
            <a:off x="809625" y="5300662"/>
            <a:ext cx="10572750" cy="124649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800" b="1" i="0" u="none" strike="noStrike" cap="none">
                <a:solidFill>
                  <a:srgbClr val="0F172A"/>
                </a:solidFill>
                <a:latin typeface="Inter"/>
                <a:ea typeface="Inter"/>
                <a:cs typeface="Inter"/>
                <a:sym typeface="Inter"/>
              </a:rPr>
              <a:t>Dependencia Lógica Dinámica</a:t>
            </a:r>
            <a:r>
              <a:rPr lang="en-US" sz="1800" b="0" i="0" u="none" strike="noStrike" cap="none">
                <a:solidFill>
                  <a:srgbClr val="334155"/>
                </a:solidFill>
                <a:latin typeface="Inter"/>
                <a:ea typeface="Inter"/>
                <a:cs typeface="Inter"/>
                <a:sym typeface="Inter"/>
              </a:rPr>
              <a:t> La continuidad del ciclo no depende obligatoriamente de un contador numérico, sino del estado de las variables. Esto lo hace ideal para interactuar con entradas del usuario (ej. pedir una contraseña hasta que sea correcta).</a:t>
            </a:r>
            <a:endParaRPr sz="1800"/>
          </a:p>
        </p:txBody>
      </p:sp>
      <p:sp>
        <p:nvSpPr>
          <p:cNvPr id="101" name="Google Shape;101;p14"/>
          <p:cNvSpPr/>
          <p:nvPr/>
        </p:nvSpPr>
        <p:spPr>
          <a:xfrm>
            <a:off x="571500" y="5110162"/>
            <a:ext cx="38100" cy="12573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102" name="Google Shape;102;p14"/>
          <p:cNvSpPr txBox="1"/>
          <p:nvPr/>
        </p:nvSpPr>
        <p:spPr>
          <a:xfrm>
            <a:off x="571500" y="476250"/>
            <a:ext cx="11601450"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1D4ED8"/>
                </a:solidFill>
                <a:latin typeface="Merriweather"/>
                <a:ea typeface="Merriweather"/>
                <a:cs typeface="Merriweather"/>
                <a:sym typeface="Merriweather"/>
              </a:rPr>
              <a:t>Fundamentos Teóricos: ¿Qué es el ciclo MIENTRAS?</a:t>
            </a:r>
            <a:endParaRPr/>
          </a:p>
        </p:txBody>
      </p:sp>
      <p:sp>
        <p:nvSpPr>
          <p:cNvPr id="103" name="Google Shape;103;p14"/>
          <p:cNvSpPr/>
          <p:nvPr/>
        </p:nvSpPr>
        <p:spPr>
          <a:xfrm>
            <a:off x="571500" y="10191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94" grpId="0"/>
      <p:bldP spid="95" grpId="0" animBg="1"/>
      <p:bldP spid="96" grpId="0" animBg="1"/>
      <p:bldP spid="97" grpId="0"/>
      <p:bldP spid="98" grpId="0" animBg="1"/>
      <p:bldP spid="99" grpId="0" animBg="1"/>
      <p:bldP spid="100" grpId="0"/>
      <p:bldP spid="10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7"/>
        <p:cNvGrpSpPr/>
        <p:nvPr/>
      </p:nvGrpSpPr>
      <p:grpSpPr>
        <a:xfrm>
          <a:off x="0" y="0"/>
          <a:ext cx="0" cy="0"/>
          <a:chOff x="0" y="0"/>
          <a:chExt cx="0" cy="0"/>
        </a:xfrm>
      </p:grpSpPr>
      <p:pic>
        <p:nvPicPr>
          <p:cNvPr id="108" name="Google Shape;108;p15" descr="image.png"/>
          <p:cNvPicPr preferRelativeResize="0"/>
          <p:nvPr/>
        </p:nvPicPr>
        <p:blipFill rotWithShape="1">
          <a:blip r:embed="rId3">
            <a:alphaModFix/>
          </a:blip>
          <a:srcRect/>
          <a:stretch/>
        </p:blipFill>
        <p:spPr>
          <a:xfrm>
            <a:off x="0" y="-28400"/>
            <a:ext cx="12192000" cy="6858000"/>
          </a:xfrm>
          <a:prstGeom prst="rect">
            <a:avLst/>
          </a:prstGeom>
          <a:noFill/>
          <a:ln>
            <a:noFill/>
          </a:ln>
        </p:spPr>
      </p:pic>
      <p:pic>
        <p:nvPicPr>
          <p:cNvPr id="109" name="Google Shape;109;p15" descr="image.png"/>
          <p:cNvPicPr preferRelativeResize="0"/>
          <p:nvPr/>
        </p:nvPicPr>
        <p:blipFill rotWithShape="1">
          <a:blip r:embed="rId4">
            <a:alphaModFix/>
          </a:blip>
          <a:srcRect/>
          <a:stretch/>
        </p:blipFill>
        <p:spPr>
          <a:xfrm>
            <a:off x="571500" y="4702968"/>
            <a:ext cx="5334000" cy="876300"/>
          </a:xfrm>
          <a:prstGeom prst="rect">
            <a:avLst/>
          </a:prstGeom>
          <a:noFill/>
          <a:ln>
            <a:noFill/>
          </a:ln>
        </p:spPr>
      </p:pic>
      <p:sp>
        <p:nvSpPr>
          <p:cNvPr id="111" name="Google Shape;111;p15"/>
          <p:cNvSpPr txBox="1"/>
          <p:nvPr/>
        </p:nvSpPr>
        <p:spPr>
          <a:xfrm>
            <a:off x="571500" y="2126456"/>
            <a:ext cx="5600700"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dirty="0">
                <a:solidFill>
                  <a:srgbClr val="0F172A"/>
                </a:solidFill>
                <a:latin typeface="Merriweather"/>
                <a:ea typeface="Merriweather"/>
                <a:cs typeface="Merriweather"/>
                <a:sym typeface="Merriweather"/>
              </a:rPr>
              <a:t>Los 3 </a:t>
            </a:r>
            <a:r>
              <a:rPr lang="en-US" sz="1950" b="1" i="0" u="none" strike="noStrike" cap="none" dirty="0" err="1">
                <a:solidFill>
                  <a:srgbClr val="0F172A"/>
                </a:solidFill>
                <a:latin typeface="Merriweather"/>
                <a:ea typeface="Merriweather"/>
                <a:cs typeface="Merriweather"/>
                <a:sym typeface="Merriweather"/>
              </a:rPr>
              <a:t>Componentes</a:t>
            </a:r>
            <a:r>
              <a:rPr lang="en-US" sz="1950" b="1" i="0" u="none" strike="noStrike" cap="none" dirty="0">
                <a:solidFill>
                  <a:srgbClr val="0F172A"/>
                </a:solidFill>
                <a:latin typeface="Merriweather"/>
                <a:ea typeface="Merriweather"/>
                <a:cs typeface="Merriweather"/>
                <a:sym typeface="Merriweather"/>
              </a:rPr>
              <a:t> Vitales</a:t>
            </a:r>
            <a:endParaRPr dirty="0"/>
          </a:p>
        </p:txBody>
      </p:sp>
      <p:sp>
        <p:nvSpPr>
          <p:cNvPr id="112" name="Google Shape;112;p15"/>
          <p:cNvSpPr txBox="1"/>
          <p:nvPr/>
        </p:nvSpPr>
        <p:spPr>
          <a:xfrm>
            <a:off x="638175" y="2619375"/>
            <a:ext cx="324800" cy="21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334155"/>
                </a:solidFill>
                <a:latin typeface="Inter"/>
                <a:ea typeface="Inter"/>
                <a:cs typeface="Inter"/>
                <a:sym typeface="Inter"/>
              </a:rPr>
              <a:t>1.</a:t>
            </a:r>
            <a:endParaRPr/>
          </a:p>
        </p:txBody>
      </p:sp>
      <p:sp>
        <p:nvSpPr>
          <p:cNvPr id="113" name="Google Shape;113;p15"/>
          <p:cNvSpPr txBox="1"/>
          <p:nvPr/>
        </p:nvSpPr>
        <p:spPr>
          <a:xfrm>
            <a:off x="762000" y="2555415"/>
            <a:ext cx="5334000" cy="657872"/>
          </a:xfrm>
          <a:prstGeom prst="rect">
            <a:avLst/>
          </a:prstGeom>
          <a:noFill/>
          <a:ln>
            <a:noFill/>
          </a:ln>
        </p:spPr>
        <p:txBody>
          <a:bodyPr spcFirstLastPara="1" wrap="square" lIns="123825" tIns="0" rIns="0" bIns="0" anchor="t" anchorCtr="0">
            <a:spAutoFit/>
          </a:bodyPr>
          <a:lstStyle/>
          <a:p>
            <a:pPr marL="0" marR="0" lvl="0" indent="0" algn="l" rtl="0">
              <a:lnSpc>
                <a:spcPct val="149964"/>
              </a:lnSpc>
              <a:spcBef>
                <a:spcPts val="0"/>
              </a:spcBef>
              <a:spcAft>
                <a:spcPts val="0"/>
              </a:spcAft>
              <a:buNone/>
            </a:pPr>
            <a:r>
              <a:rPr lang="en-US" sz="1425" b="1" i="0" u="none" strike="noStrike" cap="none" dirty="0" err="1">
                <a:solidFill>
                  <a:srgbClr val="334155"/>
                </a:solidFill>
                <a:latin typeface="Inter"/>
                <a:ea typeface="Inter"/>
                <a:cs typeface="Inter"/>
                <a:sym typeface="Inter"/>
              </a:rPr>
              <a:t>Inicialización</a:t>
            </a:r>
            <a:r>
              <a:rPr lang="en-US" sz="1425" b="1" i="0" u="none" strike="noStrike" cap="none" dirty="0">
                <a:solidFill>
                  <a:srgbClr val="334155"/>
                </a:solidFill>
                <a:latin typeface="Inter"/>
                <a:ea typeface="Inter"/>
                <a:cs typeface="Inter"/>
                <a:sym typeface="Inter"/>
              </a:rPr>
              <a:t>:</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Declarar</a:t>
            </a:r>
            <a:r>
              <a:rPr lang="en-US" sz="1425" b="0" i="0" u="none" strike="noStrike" cap="none" dirty="0">
                <a:solidFill>
                  <a:srgbClr val="334155"/>
                </a:solidFill>
                <a:latin typeface="Inter"/>
                <a:ea typeface="Inter"/>
                <a:cs typeface="Inter"/>
                <a:sym typeface="Inter"/>
              </a:rPr>
              <a:t> y </a:t>
            </a:r>
            <a:r>
              <a:rPr lang="en-US" sz="1425" b="0" i="0" u="none" strike="noStrike" cap="none" dirty="0" err="1">
                <a:solidFill>
                  <a:srgbClr val="334155"/>
                </a:solidFill>
                <a:latin typeface="Inter"/>
                <a:ea typeface="Inter"/>
                <a:cs typeface="Inter"/>
                <a:sym typeface="Inter"/>
              </a:rPr>
              <a:t>dar</a:t>
            </a:r>
            <a:r>
              <a:rPr lang="en-US" sz="1425" b="0" i="0" u="none" strike="noStrike" cap="none" dirty="0">
                <a:solidFill>
                  <a:srgbClr val="334155"/>
                </a:solidFill>
                <a:latin typeface="Inter"/>
                <a:ea typeface="Inter"/>
                <a:cs typeface="Inter"/>
                <a:sym typeface="Inter"/>
              </a:rPr>
              <a:t> un valor </a:t>
            </a:r>
            <a:r>
              <a:rPr lang="en-US" sz="1425" b="0" i="0" u="none" strike="noStrike" cap="none" dirty="0" err="1">
                <a:solidFill>
                  <a:srgbClr val="334155"/>
                </a:solidFill>
                <a:latin typeface="Inter"/>
                <a:ea typeface="Inter"/>
                <a:cs typeface="Inter"/>
                <a:sym typeface="Inter"/>
              </a:rPr>
              <a:t>inicial</a:t>
            </a:r>
            <a:r>
              <a:rPr lang="en-US" sz="1425" b="0" i="0" u="none" strike="noStrike" cap="none" dirty="0">
                <a:solidFill>
                  <a:srgbClr val="334155"/>
                </a:solidFill>
                <a:latin typeface="Inter"/>
                <a:ea typeface="Inter"/>
                <a:cs typeface="Inter"/>
                <a:sym typeface="Inter"/>
              </a:rPr>
              <a:t> a la variable de control antes del </a:t>
            </a:r>
            <a:r>
              <a:rPr lang="en-US" sz="1425" b="0" i="0" u="none" strike="noStrike" cap="none" dirty="0" err="1">
                <a:solidFill>
                  <a:srgbClr val="334155"/>
                </a:solidFill>
                <a:latin typeface="Inter"/>
                <a:ea typeface="Inter"/>
                <a:cs typeface="Inter"/>
                <a:sym typeface="Inter"/>
              </a:rPr>
              <a:t>bucle</a:t>
            </a:r>
            <a:r>
              <a:rPr lang="en-US" sz="1425" b="0" i="0" u="none" strike="noStrike" cap="none" dirty="0">
                <a:solidFill>
                  <a:srgbClr val="334155"/>
                </a:solidFill>
                <a:latin typeface="Inter"/>
                <a:ea typeface="Inter"/>
                <a:cs typeface="Inter"/>
                <a:sym typeface="Inter"/>
              </a:rPr>
              <a:t>.</a:t>
            </a:r>
            <a:endParaRPr dirty="0"/>
          </a:p>
        </p:txBody>
      </p:sp>
      <p:sp>
        <p:nvSpPr>
          <p:cNvPr id="114" name="Google Shape;114;p15"/>
          <p:cNvSpPr txBox="1"/>
          <p:nvPr/>
        </p:nvSpPr>
        <p:spPr>
          <a:xfrm>
            <a:off x="600075" y="3162300"/>
            <a:ext cx="290578" cy="21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dirty="0">
                <a:solidFill>
                  <a:srgbClr val="334155"/>
                </a:solidFill>
                <a:latin typeface="Inter"/>
                <a:ea typeface="Inter"/>
                <a:cs typeface="Inter"/>
                <a:sym typeface="Inter"/>
              </a:rPr>
              <a:t>2.</a:t>
            </a:r>
            <a:endParaRPr dirty="0"/>
          </a:p>
        </p:txBody>
      </p:sp>
      <p:sp>
        <p:nvSpPr>
          <p:cNvPr id="115" name="Google Shape;115;p15"/>
          <p:cNvSpPr txBox="1"/>
          <p:nvPr/>
        </p:nvSpPr>
        <p:spPr>
          <a:xfrm>
            <a:off x="762000" y="3129131"/>
            <a:ext cx="5334000" cy="657872"/>
          </a:xfrm>
          <a:prstGeom prst="rect">
            <a:avLst/>
          </a:prstGeom>
          <a:noFill/>
          <a:ln>
            <a:noFill/>
          </a:ln>
        </p:spPr>
        <p:txBody>
          <a:bodyPr spcFirstLastPara="1" wrap="square" lIns="161925" tIns="0" rIns="0" bIns="0" anchor="t" anchorCtr="0">
            <a:spAutoFit/>
          </a:bodyPr>
          <a:lstStyle/>
          <a:p>
            <a:pPr marL="0" marR="0" lvl="0" indent="0" algn="l" rtl="0">
              <a:lnSpc>
                <a:spcPct val="149964"/>
              </a:lnSpc>
              <a:spcBef>
                <a:spcPts val="0"/>
              </a:spcBef>
              <a:spcAft>
                <a:spcPts val="0"/>
              </a:spcAft>
              <a:buNone/>
            </a:pPr>
            <a:r>
              <a:rPr lang="en-US" sz="1425" b="1" i="0" u="none" strike="noStrike" cap="none" dirty="0" err="1">
                <a:solidFill>
                  <a:srgbClr val="334155"/>
                </a:solidFill>
                <a:latin typeface="Inter"/>
                <a:ea typeface="Inter"/>
                <a:cs typeface="Inter"/>
                <a:sym typeface="Inter"/>
              </a:rPr>
              <a:t>Condición</a:t>
            </a:r>
            <a:r>
              <a:rPr lang="en-US" sz="1425" b="1" i="0" u="none" strike="noStrike" cap="none" dirty="0">
                <a:solidFill>
                  <a:srgbClr val="334155"/>
                </a:solidFill>
                <a:latin typeface="Inter"/>
                <a:ea typeface="Inter"/>
                <a:cs typeface="Inter"/>
                <a:sym typeface="Inter"/>
              </a:rPr>
              <a:t>:</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Expresión</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lógica</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relacional</a:t>
            </a:r>
            <a:r>
              <a:rPr lang="en-US" sz="1425" b="0" i="0" u="none" strike="noStrike" cap="none" dirty="0">
                <a:solidFill>
                  <a:srgbClr val="334155"/>
                </a:solidFill>
                <a:latin typeface="Inter"/>
                <a:ea typeface="Inter"/>
                <a:cs typeface="Inter"/>
                <a:sym typeface="Inter"/>
              </a:rPr>
              <a:t> o </a:t>
            </a:r>
            <a:r>
              <a:rPr lang="en-US" sz="1425" b="0" i="0" u="none" strike="noStrike" cap="none" dirty="0" err="1">
                <a:solidFill>
                  <a:srgbClr val="334155"/>
                </a:solidFill>
                <a:latin typeface="Inter"/>
                <a:ea typeface="Inter"/>
                <a:cs typeface="Inter"/>
                <a:sym typeface="Inter"/>
              </a:rPr>
              <a:t>booleana</a:t>
            </a:r>
            <a:r>
              <a:rPr lang="en-US" sz="1425" b="0" i="0" u="none" strike="noStrike" cap="none" dirty="0">
                <a:solidFill>
                  <a:srgbClr val="334155"/>
                </a:solidFill>
                <a:latin typeface="Inter"/>
                <a:ea typeface="Inter"/>
                <a:cs typeface="Inter"/>
                <a:sym typeface="Inter"/>
              </a:rPr>
              <a:t>) entre </a:t>
            </a:r>
            <a:r>
              <a:rPr lang="en-US" sz="1425" b="0" i="0" u="none" strike="noStrike" cap="none" dirty="0" err="1">
                <a:solidFill>
                  <a:srgbClr val="334155"/>
                </a:solidFill>
                <a:latin typeface="Inter"/>
                <a:ea typeface="Inter"/>
                <a:cs typeface="Inter"/>
                <a:sym typeface="Inter"/>
              </a:rPr>
              <a:t>paréntesis</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que</a:t>
            </a:r>
            <a:r>
              <a:rPr lang="en-US" sz="1425" b="0" i="0" u="none" strike="noStrike" cap="none" dirty="0">
                <a:solidFill>
                  <a:srgbClr val="334155"/>
                </a:solidFill>
                <a:latin typeface="Inter"/>
                <a:ea typeface="Inter"/>
                <a:cs typeface="Inter"/>
                <a:sym typeface="Inter"/>
              </a:rPr>
              <a:t> se </a:t>
            </a:r>
            <a:r>
              <a:rPr lang="en-US" sz="1425" b="0" i="0" u="none" strike="noStrike" cap="none" dirty="0" err="1">
                <a:solidFill>
                  <a:srgbClr val="334155"/>
                </a:solidFill>
                <a:latin typeface="Inter"/>
                <a:ea typeface="Inter"/>
                <a:cs typeface="Inter"/>
                <a:sym typeface="Inter"/>
              </a:rPr>
              <a:t>evalúa</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en</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cada</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vuelta</a:t>
            </a:r>
            <a:r>
              <a:rPr lang="en-US" sz="1425" b="0" i="0" u="none" strike="noStrike" cap="none" dirty="0">
                <a:solidFill>
                  <a:srgbClr val="334155"/>
                </a:solidFill>
                <a:latin typeface="Inter"/>
                <a:ea typeface="Inter"/>
                <a:cs typeface="Inter"/>
                <a:sym typeface="Inter"/>
              </a:rPr>
              <a:t>.</a:t>
            </a:r>
            <a:endParaRPr dirty="0"/>
          </a:p>
        </p:txBody>
      </p:sp>
      <p:sp>
        <p:nvSpPr>
          <p:cNvPr id="116" name="Google Shape;116;p15"/>
          <p:cNvSpPr txBox="1"/>
          <p:nvPr/>
        </p:nvSpPr>
        <p:spPr>
          <a:xfrm>
            <a:off x="600075" y="3795556"/>
            <a:ext cx="290578" cy="21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dirty="0">
                <a:solidFill>
                  <a:srgbClr val="334155"/>
                </a:solidFill>
                <a:latin typeface="Inter"/>
                <a:ea typeface="Inter"/>
                <a:cs typeface="Inter"/>
                <a:sym typeface="Inter"/>
              </a:rPr>
              <a:t>3.</a:t>
            </a:r>
            <a:endParaRPr dirty="0"/>
          </a:p>
        </p:txBody>
      </p:sp>
      <p:sp>
        <p:nvSpPr>
          <p:cNvPr id="117" name="Google Shape;117;p15"/>
          <p:cNvSpPr txBox="1"/>
          <p:nvPr/>
        </p:nvSpPr>
        <p:spPr>
          <a:xfrm>
            <a:off x="762000" y="3707606"/>
            <a:ext cx="5334000" cy="986809"/>
          </a:xfrm>
          <a:prstGeom prst="rect">
            <a:avLst/>
          </a:prstGeom>
          <a:noFill/>
          <a:ln>
            <a:noFill/>
          </a:ln>
        </p:spPr>
        <p:txBody>
          <a:bodyPr spcFirstLastPara="1" wrap="square" lIns="161925" tIns="0" rIns="0" bIns="0" anchor="t" anchorCtr="0">
            <a:spAutoFit/>
          </a:bodyPr>
          <a:lstStyle/>
          <a:p>
            <a:pPr marL="0" marR="0" lvl="0" indent="0" algn="l" rtl="0">
              <a:lnSpc>
                <a:spcPct val="149964"/>
              </a:lnSpc>
              <a:spcBef>
                <a:spcPts val="0"/>
              </a:spcBef>
              <a:spcAft>
                <a:spcPts val="0"/>
              </a:spcAft>
              <a:buNone/>
            </a:pPr>
            <a:r>
              <a:rPr lang="en-US" sz="1425" b="1" i="0" u="none" strike="noStrike" cap="none" dirty="0" err="1">
                <a:solidFill>
                  <a:srgbClr val="334155"/>
                </a:solidFill>
                <a:latin typeface="Inter"/>
                <a:ea typeface="Inter"/>
                <a:cs typeface="Inter"/>
                <a:sym typeface="Inter"/>
              </a:rPr>
              <a:t>Alteración</a:t>
            </a:r>
            <a:r>
              <a:rPr lang="en-US" sz="1425" b="1" i="0" u="none" strike="noStrike" cap="none" dirty="0">
                <a:solidFill>
                  <a:srgbClr val="334155"/>
                </a:solidFill>
                <a:latin typeface="Inter"/>
                <a:ea typeface="Inter"/>
                <a:cs typeface="Inter"/>
                <a:sym typeface="Inter"/>
              </a:rPr>
              <a:t>:</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Instrucción</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dentro</a:t>
            </a:r>
            <a:r>
              <a:rPr lang="en-US" sz="1425" b="0" i="0" u="none" strike="noStrike" cap="none" dirty="0">
                <a:solidFill>
                  <a:srgbClr val="334155"/>
                </a:solidFill>
                <a:latin typeface="Inter"/>
                <a:ea typeface="Inter"/>
                <a:cs typeface="Inter"/>
                <a:sym typeface="Inter"/>
              </a:rPr>
              <a:t> del </a:t>
            </a:r>
            <a:r>
              <a:rPr lang="en-US" sz="1425" b="0" i="0" u="none" strike="noStrike" cap="none" dirty="0" err="1">
                <a:solidFill>
                  <a:srgbClr val="334155"/>
                </a:solidFill>
                <a:latin typeface="Inter"/>
                <a:ea typeface="Inter"/>
                <a:cs typeface="Inter"/>
                <a:sym typeface="Inter"/>
              </a:rPr>
              <a:t>bucle</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que</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modifica</a:t>
            </a:r>
            <a:r>
              <a:rPr lang="en-US" sz="1425" b="0" i="0" u="none" strike="noStrike" cap="none" dirty="0">
                <a:solidFill>
                  <a:srgbClr val="334155"/>
                </a:solidFill>
                <a:latin typeface="Inter"/>
                <a:ea typeface="Inter"/>
                <a:cs typeface="Inter"/>
                <a:sym typeface="Inter"/>
              </a:rPr>
              <a:t> la variable de control para </a:t>
            </a:r>
            <a:r>
              <a:rPr lang="en-US" sz="1425" b="0" i="0" u="none" strike="noStrike" cap="none" dirty="0" err="1">
                <a:solidFill>
                  <a:srgbClr val="334155"/>
                </a:solidFill>
                <a:latin typeface="Inter"/>
                <a:ea typeface="Inter"/>
                <a:cs typeface="Inter"/>
                <a:sym typeface="Inter"/>
              </a:rPr>
              <a:t>que</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en</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algún</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momento</a:t>
            </a:r>
            <a:r>
              <a:rPr lang="en-US" sz="1425" b="0" i="0" u="none" strike="noStrike" cap="none" dirty="0">
                <a:solidFill>
                  <a:srgbClr val="334155"/>
                </a:solidFill>
                <a:latin typeface="Inter"/>
                <a:ea typeface="Inter"/>
                <a:cs typeface="Inter"/>
                <a:sym typeface="Inter"/>
              </a:rPr>
              <a:t>, la </a:t>
            </a:r>
            <a:r>
              <a:rPr lang="en-US" sz="1425" b="0" i="0" u="none" strike="noStrike" cap="none" dirty="0" err="1">
                <a:solidFill>
                  <a:srgbClr val="334155"/>
                </a:solidFill>
                <a:latin typeface="Inter"/>
                <a:ea typeface="Inter"/>
                <a:cs typeface="Inter"/>
                <a:sym typeface="Inter"/>
              </a:rPr>
              <a:t>condición</a:t>
            </a:r>
            <a:r>
              <a:rPr lang="en-US" sz="1425" b="0" i="0" u="none" strike="noStrike" cap="none" dirty="0">
                <a:solidFill>
                  <a:srgbClr val="334155"/>
                </a:solidFill>
                <a:latin typeface="Inter"/>
                <a:ea typeface="Inter"/>
                <a:cs typeface="Inter"/>
                <a:sym typeface="Inter"/>
              </a:rPr>
              <a:t> sea falsa (</a:t>
            </a:r>
            <a:r>
              <a:rPr lang="en-US" sz="1425" b="0" i="0" u="none" strike="noStrike" cap="none" dirty="0" err="1">
                <a:solidFill>
                  <a:srgbClr val="334155"/>
                </a:solidFill>
                <a:latin typeface="Inter"/>
                <a:ea typeface="Inter"/>
                <a:cs typeface="Inter"/>
                <a:sym typeface="Inter"/>
              </a:rPr>
              <a:t>evita</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el</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bucle</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infinito</a:t>
            </a:r>
            <a:r>
              <a:rPr lang="en-US" sz="1425" b="0" i="0" u="none" strike="noStrike" cap="none" dirty="0">
                <a:solidFill>
                  <a:srgbClr val="334155"/>
                </a:solidFill>
                <a:latin typeface="Inter"/>
                <a:ea typeface="Inter"/>
                <a:cs typeface="Inter"/>
                <a:sym typeface="Inter"/>
              </a:rPr>
              <a:t>).</a:t>
            </a:r>
            <a:endParaRPr dirty="0"/>
          </a:p>
        </p:txBody>
      </p:sp>
      <p:sp>
        <p:nvSpPr>
          <p:cNvPr id="118" name="Google Shape;118;p15"/>
          <p:cNvSpPr txBox="1"/>
          <p:nvPr/>
        </p:nvSpPr>
        <p:spPr>
          <a:xfrm>
            <a:off x="771525" y="4902993"/>
            <a:ext cx="4933950" cy="4762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dirty="0">
                <a:solidFill>
                  <a:srgbClr val="334155"/>
                </a:solidFill>
                <a:latin typeface="Inter"/>
                <a:ea typeface="Inter"/>
                <a:cs typeface="Inter"/>
                <a:sym typeface="Inter"/>
              </a:rPr>
              <a:t>Regla </a:t>
            </a:r>
            <a:r>
              <a:rPr lang="en-US" sz="1200" b="1" i="0" u="none" strike="noStrike" cap="none" dirty="0" err="1">
                <a:solidFill>
                  <a:srgbClr val="334155"/>
                </a:solidFill>
                <a:latin typeface="Inter"/>
                <a:ea typeface="Inter"/>
                <a:cs typeface="Inter"/>
                <a:sym typeface="Inter"/>
              </a:rPr>
              <a:t>Logicode</a:t>
            </a:r>
            <a:r>
              <a:rPr lang="en-US" sz="1200" b="1" i="0" u="none" strike="noStrike" cap="none" dirty="0">
                <a:solidFill>
                  <a:srgbClr val="334155"/>
                </a:solidFill>
                <a:latin typeface="Inter"/>
                <a:ea typeface="Inter"/>
                <a:cs typeface="Inter"/>
                <a:sym typeface="Inter"/>
              </a:rPr>
              <a:t>:</a:t>
            </a:r>
            <a:r>
              <a:rPr lang="en-US" sz="1200" b="0" i="0" u="none" strike="noStrike" cap="none" dirty="0">
                <a:solidFill>
                  <a:srgbClr val="334155"/>
                </a:solidFill>
                <a:latin typeface="Inter"/>
                <a:ea typeface="Inter"/>
                <a:cs typeface="Inter"/>
                <a:sym typeface="Inter"/>
              </a:rPr>
              <a:t> No se </a:t>
            </a:r>
            <a:r>
              <a:rPr lang="en-US" sz="1200" b="0" i="0" u="none" strike="noStrike" cap="none" dirty="0" err="1">
                <a:solidFill>
                  <a:srgbClr val="334155"/>
                </a:solidFill>
                <a:latin typeface="Inter"/>
                <a:ea typeface="Inter"/>
                <a:cs typeface="Inter"/>
                <a:sym typeface="Inter"/>
              </a:rPr>
              <a:t>usan</a:t>
            </a:r>
            <a:r>
              <a:rPr lang="en-US" sz="1200" b="0" i="0" u="none" strike="noStrike" cap="none" dirty="0">
                <a:solidFill>
                  <a:srgbClr val="334155"/>
                </a:solidFill>
                <a:latin typeface="Inter"/>
                <a:ea typeface="Inter"/>
                <a:cs typeface="Inter"/>
                <a:sym typeface="Inter"/>
              </a:rPr>
              <a:t> </a:t>
            </a:r>
            <a:r>
              <a:rPr lang="en-US" sz="1200" b="0" i="0" u="none" strike="noStrike" cap="none" dirty="0" err="1">
                <a:solidFill>
                  <a:srgbClr val="334155"/>
                </a:solidFill>
                <a:latin typeface="Inter"/>
                <a:ea typeface="Inter"/>
                <a:cs typeface="Inter"/>
                <a:sym typeface="Inter"/>
              </a:rPr>
              <a:t>llaves</a:t>
            </a:r>
            <a:r>
              <a:rPr lang="en-US" sz="1200" b="0" i="0" u="none" strike="noStrike" cap="none" dirty="0">
                <a:solidFill>
                  <a:srgbClr val="334155"/>
                </a:solidFill>
                <a:latin typeface="Inter"/>
                <a:ea typeface="Inter"/>
                <a:cs typeface="Inter"/>
                <a:sym typeface="Inter"/>
              </a:rPr>
              <a:t> {}. Se </a:t>
            </a:r>
            <a:r>
              <a:rPr lang="en-US" sz="1200" b="0" i="0" u="none" strike="noStrike" cap="none" dirty="0" err="1">
                <a:solidFill>
                  <a:srgbClr val="334155"/>
                </a:solidFill>
                <a:latin typeface="Inter"/>
                <a:ea typeface="Inter"/>
                <a:cs typeface="Inter"/>
                <a:sym typeface="Inter"/>
              </a:rPr>
              <a:t>delimita</a:t>
            </a:r>
            <a:r>
              <a:rPr lang="en-US" sz="1200" b="0" i="0" u="none" strike="noStrike" cap="none" dirty="0">
                <a:solidFill>
                  <a:srgbClr val="334155"/>
                </a:solidFill>
                <a:latin typeface="Inter"/>
                <a:ea typeface="Inter"/>
                <a:cs typeface="Inter"/>
                <a:sym typeface="Inter"/>
              </a:rPr>
              <a:t> </a:t>
            </a:r>
            <a:r>
              <a:rPr lang="en-US" sz="1200" b="0" i="0" u="none" strike="noStrike" cap="none" dirty="0" err="1">
                <a:solidFill>
                  <a:srgbClr val="334155"/>
                </a:solidFill>
                <a:latin typeface="Inter"/>
                <a:ea typeface="Inter"/>
                <a:cs typeface="Inter"/>
                <a:sym typeface="Inter"/>
              </a:rPr>
              <a:t>estrictamente</a:t>
            </a:r>
            <a:r>
              <a:rPr lang="en-US" sz="1200" b="0" i="0" u="none" strike="noStrike" cap="none" dirty="0">
                <a:solidFill>
                  <a:srgbClr val="334155"/>
                </a:solidFill>
                <a:latin typeface="Inter"/>
                <a:ea typeface="Inter"/>
                <a:cs typeface="Inter"/>
                <a:sym typeface="Inter"/>
              </a:rPr>
              <a:t> con </a:t>
            </a:r>
            <a:r>
              <a:rPr lang="en-US" sz="1200" b="0" i="0" u="none" strike="noStrike" cap="none" dirty="0" err="1">
                <a:solidFill>
                  <a:srgbClr val="334155"/>
                </a:solidFill>
                <a:latin typeface="Inter"/>
                <a:ea typeface="Inter"/>
                <a:cs typeface="Inter"/>
                <a:sym typeface="Inter"/>
              </a:rPr>
              <a:t>mientras</a:t>
            </a:r>
            <a:r>
              <a:rPr lang="en-US" sz="1200" b="0" i="0" u="none" strike="noStrike" cap="none" dirty="0">
                <a:solidFill>
                  <a:srgbClr val="334155"/>
                </a:solidFill>
                <a:latin typeface="Inter"/>
                <a:ea typeface="Inter"/>
                <a:cs typeface="Inter"/>
                <a:sym typeface="Inter"/>
              </a:rPr>
              <a:t>() y </a:t>
            </a:r>
            <a:r>
              <a:rPr lang="en-US" sz="1200" b="0" i="0" u="none" strike="noStrike" cap="none" dirty="0" err="1">
                <a:solidFill>
                  <a:srgbClr val="334155"/>
                </a:solidFill>
                <a:latin typeface="Inter"/>
                <a:ea typeface="Inter"/>
                <a:cs typeface="Inter"/>
                <a:sym typeface="Inter"/>
              </a:rPr>
              <a:t>finmientras</a:t>
            </a:r>
            <a:r>
              <a:rPr lang="en-US" sz="1200" b="0" i="0" u="none" strike="noStrike" cap="none" dirty="0">
                <a:solidFill>
                  <a:srgbClr val="334155"/>
                </a:solidFill>
                <a:latin typeface="Inter"/>
                <a:ea typeface="Inter"/>
                <a:cs typeface="Inter"/>
                <a:sym typeface="Inter"/>
              </a:rPr>
              <a:t>.</a:t>
            </a:r>
            <a:endParaRPr dirty="0"/>
          </a:p>
        </p:txBody>
      </p:sp>
      <p:sp>
        <p:nvSpPr>
          <p:cNvPr id="119" name="Google Shape;119;p15"/>
          <p:cNvSpPr txBox="1"/>
          <p:nvPr/>
        </p:nvSpPr>
        <p:spPr>
          <a:xfrm>
            <a:off x="571500" y="476250"/>
            <a:ext cx="11601450"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1D4ED8"/>
                </a:solidFill>
                <a:latin typeface="Merriweather"/>
                <a:ea typeface="Merriweather"/>
                <a:cs typeface="Merriweather"/>
                <a:sym typeface="Merriweather"/>
              </a:rPr>
              <a:t>Anatomía y Sintaxis en Logicode</a:t>
            </a:r>
            <a:endParaRPr/>
          </a:p>
        </p:txBody>
      </p:sp>
      <p:sp>
        <p:nvSpPr>
          <p:cNvPr id="120" name="Google Shape;120;p15"/>
          <p:cNvSpPr/>
          <p:nvPr/>
        </p:nvSpPr>
        <p:spPr>
          <a:xfrm>
            <a:off x="571500" y="10191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19DD3916-AAAF-BB5E-588C-429D2DD544DD}"/>
              </a:ext>
            </a:extLst>
          </p:cNvPr>
          <p:cNvPicPr>
            <a:picLocks noChangeAspect="1"/>
          </p:cNvPicPr>
          <p:nvPr/>
        </p:nvPicPr>
        <p:blipFill>
          <a:blip r:embed="rId5"/>
          <a:srcRect l="38" r="1301" b="337"/>
          <a:stretch>
            <a:fillRect/>
          </a:stretch>
        </p:blipFill>
        <p:spPr>
          <a:xfrm>
            <a:off x="6330769" y="2160261"/>
            <a:ext cx="5842181" cy="321898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3" grpId="0"/>
      <p:bldP spid="114" grpId="0"/>
      <p:bldP spid="115" grpId="0"/>
      <p:bldP spid="116" grpId="0"/>
      <p:bldP spid="117" grpId="0"/>
      <p:bldP spid="1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1" name="Google Shape;101;p14" descr="image.png"/>
          <p:cNvPicPr preferRelativeResize="0"/>
          <p:nvPr/>
        </p:nvPicPr>
        <p:blipFill rotWithShape="1">
          <a:blip r:embed="rId4">
            <a:alphaModFix/>
          </a:blip>
          <a:srcRect/>
          <a:stretch/>
        </p:blipFill>
        <p:spPr>
          <a:xfrm>
            <a:off x="762000" y="2463105"/>
            <a:ext cx="3333750" cy="3728144"/>
          </a:xfrm>
          <a:prstGeom prst="rect">
            <a:avLst/>
          </a:prstGeom>
          <a:noFill/>
          <a:ln>
            <a:noFill/>
          </a:ln>
        </p:spPr>
      </p:pic>
      <p:pic>
        <p:nvPicPr>
          <p:cNvPr id="102" name="Google Shape;102;p14" descr="image.png"/>
          <p:cNvPicPr preferRelativeResize="0"/>
          <p:nvPr/>
        </p:nvPicPr>
        <p:blipFill rotWithShape="1">
          <a:blip r:embed="rId5">
            <a:alphaModFix/>
          </a:blip>
          <a:srcRect/>
          <a:stretch/>
        </p:blipFill>
        <p:spPr>
          <a:xfrm>
            <a:off x="4429125" y="2463105"/>
            <a:ext cx="3333750" cy="3728144"/>
          </a:xfrm>
          <a:prstGeom prst="rect">
            <a:avLst/>
          </a:prstGeom>
          <a:noFill/>
          <a:ln>
            <a:noFill/>
          </a:ln>
        </p:spPr>
      </p:pic>
      <p:pic>
        <p:nvPicPr>
          <p:cNvPr id="103" name="Google Shape;103;p14" descr="image.png"/>
          <p:cNvPicPr preferRelativeResize="0"/>
          <p:nvPr/>
        </p:nvPicPr>
        <p:blipFill rotWithShape="1">
          <a:blip r:embed="rId6">
            <a:alphaModFix/>
          </a:blip>
          <a:srcRect/>
          <a:stretch/>
        </p:blipFill>
        <p:spPr>
          <a:xfrm>
            <a:off x="8096250" y="2463105"/>
            <a:ext cx="3333750" cy="3728144"/>
          </a:xfrm>
          <a:prstGeom prst="rect">
            <a:avLst/>
          </a:prstGeom>
          <a:noFill/>
          <a:ln>
            <a:noFill/>
          </a:ln>
        </p:spPr>
      </p:pic>
      <p:sp>
        <p:nvSpPr>
          <p:cNvPr id="104" name="Google Shape;104;p14"/>
          <p:cNvSpPr txBox="1"/>
          <p:nvPr/>
        </p:nvSpPr>
        <p:spPr>
          <a:xfrm>
            <a:off x="762000" y="666750"/>
            <a:ext cx="11201400" cy="5485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00" b="0" i="0" u="none" strike="noStrike" cap="none">
                <a:solidFill>
                  <a:srgbClr val="0F172A"/>
                </a:solidFill>
                <a:latin typeface="Plus Jakarta Sans ExtraBold"/>
                <a:ea typeface="Plus Jakarta Sans ExtraBold"/>
                <a:cs typeface="Plus Jakarta Sans ExtraBold"/>
                <a:sym typeface="Plus Jakarta Sans ExtraBold"/>
              </a:rPr>
              <a:t>Casos de Uso en Código Real</a:t>
            </a:r>
            <a:endParaRPr/>
          </a:p>
        </p:txBody>
      </p:sp>
      <p:sp>
        <p:nvSpPr>
          <p:cNvPr id="105" name="Google Shape;105;p14"/>
          <p:cNvSpPr txBox="1"/>
          <p:nvPr/>
        </p:nvSpPr>
        <p:spPr>
          <a:xfrm>
            <a:off x="762000" y="1405830"/>
            <a:ext cx="10001250" cy="62865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475569"/>
                </a:solidFill>
                <a:latin typeface="Plus Jakarta Sans Medium"/>
                <a:ea typeface="Plus Jakarta Sans Medium"/>
                <a:cs typeface="Plus Jakarta Sans Medium"/>
                <a:sym typeface="Plus Jakarta Sans Medium"/>
              </a:rPr>
              <a:t>Las </a:t>
            </a:r>
            <a:r>
              <a:rPr lang="en-US" sz="1500" b="0" i="0" u="none" strike="noStrike" cap="none" dirty="0" err="1">
                <a:solidFill>
                  <a:srgbClr val="475569"/>
                </a:solidFill>
                <a:latin typeface="Plus Jakarta Sans Medium"/>
                <a:ea typeface="Plus Jakarta Sans Medium"/>
                <a:cs typeface="Plus Jakarta Sans Medium"/>
                <a:sym typeface="Plus Jakarta Sans Medium"/>
              </a:rPr>
              <a:t>analogías</a:t>
            </a:r>
            <a:r>
              <a:rPr lang="en-US" sz="1500" b="0" i="0" u="none" strike="noStrike" cap="none" dirty="0">
                <a:solidFill>
                  <a:srgbClr val="475569"/>
                </a:solidFill>
                <a:latin typeface="Plus Jakarta Sans Medium"/>
                <a:ea typeface="Plus Jakarta Sans Medium"/>
                <a:cs typeface="Plus Jakarta Sans Medium"/>
                <a:sym typeface="Plus Jakarta Sans Medium"/>
              </a:rPr>
              <a:t> son </a:t>
            </a:r>
            <a:r>
              <a:rPr lang="en-US" sz="1500" b="0" i="0" u="none" strike="noStrike" cap="none" dirty="0" err="1">
                <a:solidFill>
                  <a:srgbClr val="475569"/>
                </a:solidFill>
                <a:latin typeface="Plus Jakarta Sans Medium"/>
                <a:ea typeface="Plus Jakarta Sans Medium"/>
                <a:cs typeface="Plus Jakarta Sans Medium"/>
                <a:sym typeface="Plus Jakarta Sans Medium"/>
              </a:rPr>
              <a:t>útiles</a:t>
            </a:r>
            <a:r>
              <a:rPr lang="en-US" sz="1500" b="0" i="0" u="none" strike="noStrike" cap="none" dirty="0">
                <a:solidFill>
                  <a:srgbClr val="475569"/>
                </a:solidFill>
                <a:latin typeface="Plus Jakarta Sans Medium"/>
                <a:ea typeface="Plus Jakarta Sans Medium"/>
                <a:cs typeface="Plus Jakarta Sans Medium"/>
                <a:sym typeface="Plus Jakarta Sans Medium"/>
              </a:rPr>
              <a:t>, </a:t>
            </a:r>
            <a:r>
              <a:rPr lang="en-US" sz="1500" b="0" i="0" u="none" strike="noStrike" cap="none" dirty="0" err="1">
                <a:solidFill>
                  <a:srgbClr val="475569"/>
                </a:solidFill>
                <a:latin typeface="Plus Jakarta Sans Medium"/>
                <a:ea typeface="Plus Jakarta Sans Medium"/>
                <a:cs typeface="Plus Jakarta Sans Medium"/>
                <a:sym typeface="Plus Jakarta Sans Medium"/>
              </a:rPr>
              <a:t>pero</a:t>
            </a:r>
            <a:r>
              <a:rPr lang="en-US" sz="1500" b="0" i="0" u="none" strike="noStrike" cap="none" dirty="0">
                <a:solidFill>
                  <a:srgbClr val="475569"/>
                </a:solidFill>
                <a:latin typeface="Plus Jakarta Sans Medium"/>
                <a:ea typeface="Plus Jakarta Sans Medium"/>
                <a:cs typeface="Plus Jakarta Sans Medium"/>
                <a:sym typeface="Plus Jakarta Sans Medium"/>
              </a:rPr>
              <a:t> </a:t>
            </a:r>
            <a:r>
              <a:rPr lang="en-US" sz="1500" b="0" i="0" u="none" strike="noStrike" cap="none" dirty="0" err="1">
                <a:solidFill>
                  <a:srgbClr val="475569"/>
                </a:solidFill>
                <a:latin typeface="Plus Jakarta Sans Medium"/>
                <a:ea typeface="Plus Jakarta Sans Medium"/>
                <a:cs typeface="Plus Jakarta Sans Medium"/>
                <a:sym typeface="Plus Jakarta Sans Medium"/>
              </a:rPr>
              <a:t>el</a:t>
            </a:r>
            <a:r>
              <a:rPr lang="en-US" sz="1500" b="0" i="0" u="none" strike="noStrike" cap="none" dirty="0">
                <a:solidFill>
                  <a:srgbClr val="475569"/>
                </a:solidFill>
                <a:latin typeface="Plus Jakarta Sans Medium"/>
                <a:ea typeface="Plus Jakarta Sans Medium"/>
                <a:cs typeface="Plus Jakarta Sans Medium"/>
                <a:sym typeface="Plus Jakarta Sans Medium"/>
              </a:rPr>
              <a:t> MIENTRAS es </a:t>
            </a:r>
            <a:r>
              <a:rPr lang="en-US" sz="1500" b="0" i="0" u="none" strike="noStrike" cap="none" dirty="0" err="1">
                <a:solidFill>
                  <a:srgbClr val="475569"/>
                </a:solidFill>
                <a:latin typeface="Plus Jakarta Sans Medium"/>
                <a:ea typeface="Plus Jakarta Sans Medium"/>
                <a:cs typeface="Plus Jakarta Sans Medium"/>
                <a:sym typeface="Plus Jakarta Sans Medium"/>
              </a:rPr>
              <a:t>el</a:t>
            </a:r>
            <a:r>
              <a:rPr lang="en-US" sz="1500" b="0" i="0" u="none" strike="noStrike" cap="none" dirty="0">
                <a:solidFill>
                  <a:srgbClr val="475569"/>
                </a:solidFill>
                <a:latin typeface="Plus Jakarta Sans Medium"/>
                <a:ea typeface="Plus Jakarta Sans Medium"/>
                <a:cs typeface="Plus Jakarta Sans Medium"/>
                <a:sym typeface="Plus Jakarta Sans Medium"/>
              </a:rPr>
              <a:t> motor principal </a:t>
            </a:r>
            <a:r>
              <a:rPr lang="en-US" sz="1500" b="0" i="0" u="none" strike="noStrike" cap="none" dirty="0" err="1">
                <a:solidFill>
                  <a:srgbClr val="475569"/>
                </a:solidFill>
                <a:latin typeface="Plus Jakarta Sans Medium"/>
                <a:ea typeface="Plus Jakarta Sans Medium"/>
                <a:cs typeface="Plus Jakarta Sans Medium"/>
                <a:sym typeface="Plus Jakarta Sans Medium"/>
              </a:rPr>
              <a:t>detrás</a:t>
            </a:r>
            <a:r>
              <a:rPr lang="en-US" sz="1500" b="0" i="0" u="none" strike="noStrike" cap="none" dirty="0">
                <a:solidFill>
                  <a:srgbClr val="475569"/>
                </a:solidFill>
                <a:latin typeface="Plus Jakarta Sans Medium"/>
                <a:ea typeface="Plus Jakarta Sans Medium"/>
                <a:cs typeface="Plus Jakarta Sans Medium"/>
                <a:sym typeface="Plus Jakarta Sans Medium"/>
              </a:rPr>
              <a:t> de la </a:t>
            </a:r>
            <a:r>
              <a:rPr lang="en-US" sz="1500" b="0" i="0" u="none" strike="noStrike" cap="none" dirty="0" err="1">
                <a:solidFill>
                  <a:srgbClr val="475569"/>
                </a:solidFill>
                <a:latin typeface="Plus Jakarta Sans Medium"/>
                <a:ea typeface="Plus Jakarta Sans Medium"/>
                <a:cs typeface="Plus Jakarta Sans Medium"/>
                <a:sym typeface="Plus Jakarta Sans Medium"/>
              </a:rPr>
              <a:t>mayoría</a:t>
            </a:r>
            <a:r>
              <a:rPr lang="en-US" sz="1500" b="0" i="0" u="none" strike="noStrike" cap="none" dirty="0">
                <a:solidFill>
                  <a:srgbClr val="475569"/>
                </a:solidFill>
                <a:latin typeface="Plus Jakarta Sans Medium"/>
                <a:ea typeface="Plus Jakarta Sans Medium"/>
                <a:cs typeface="Plus Jakarta Sans Medium"/>
                <a:sym typeface="Plus Jakarta Sans Medium"/>
              </a:rPr>
              <a:t> de </a:t>
            </a:r>
            <a:r>
              <a:rPr lang="en-US" sz="1500" b="0" i="0" u="none" strike="noStrike" cap="none" dirty="0" err="1">
                <a:solidFill>
                  <a:srgbClr val="475569"/>
                </a:solidFill>
                <a:latin typeface="Plus Jakarta Sans Medium"/>
                <a:ea typeface="Plus Jakarta Sans Medium"/>
                <a:cs typeface="Plus Jakarta Sans Medium"/>
                <a:sym typeface="Plus Jakarta Sans Medium"/>
              </a:rPr>
              <a:t>los</a:t>
            </a:r>
            <a:r>
              <a:rPr lang="en-US" sz="1500" b="0" i="0" u="none" strike="noStrike" cap="none" dirty="0">
                <a:solidFill>
                  <a:srgbClr val="475569"/>
                </a:solidFill>
                <a:latin typeface="Plus Jakarta Sans Medium"/>
                <a:ea typeface="Plus Jakarta Sans Medium"/>
                <a:cs typeface="Plus Jakarta Sans Medium"/>
                <a:sym typeface="Plus Jakarta Sans Medium"/>
              </a:rPr>
              <a:t> </a:t>
            </a:r>
            <a:r>
              <a:rPr lang="en-US" sz="1500" b="0" i="0" u="none" strike="noStrike" cap="none" dirty="0" err="1">
                <a:solidFill>
                  <a:srgbClr val="475569"/>
                </a:solidFill>
                <a:latin typeface="Plus Jakarta Sans Medium"/>
                <a:ea typeface="Plus Jakarta Sans Medium"/>
                <a:cs typeface="Plus Jakarta Sans Medium"/>
                <a:sym typeface="Plus Jakarta Sans Medium"/>
              </a:rPr>
              <a:t>procesos</a:t>
            </a:r>
            <a:r>
              <a:rPr lang="en-US" sz="1500" b="0" i="0" u="none" strike="noStrike" cap="none" dirty="0">
                <a:solidFill>
                  <a:srgbClr val="475569"/>
                </a:solidFill>
                <a:latin typeface="Plus Jakarta Sans Medium"/>
                <a:ea typeface="Plus Jakarta Sans Medium"/>
                <a:cs typeface="Plus Jakarta Sans Medium"/>
                <a:sym typeface="Plus Jakarta Sans Medium"/>
              </a:rPr>
              <a:t> </a:t>
            </a:r>
            <a:r>
              <a:rPr lang="en-US" sz="1500" b="0" i="0" u="none" strike="noStrike" cap="none" dirty="0" err="1">
                <a:solidFill>
                  <a:srgbClr val="475569"/>
                </a:solidFill>
                <a:latin typeface="Plus Jakarta Sans Medium"/>
                <a:ea typeface="Plus Jakarta Sans Medium"/>
                <a:cs typeface="Plus Jakarta Sans Medium"/>
                <a:sym typeface="Plus Jakarta Sans Medium"/>
              </a:rPr>
              <a:t>interactivos</a:t>
            </a:r>
            <a:r>
              <a:rPr lang="en-US" sz="1500" b="0" i="0" u="none" strike="noStrike" cap="none" dirty="0">
                <a:solidFill>
                  <a:srgbClr val="475569"/>
                </a:solidFill>
                <a:latin typeface="Plus Jakarta Sans Medium"/>
                <a:ea typeface="Plus Jakarta Sans Medium"/>
                <a:cs typeface="Plus Jakarta Sans Medium"/>
                <a:sym typeface="Plus Jakarta Sans Medium"/>
              </a:rPr>
              <a:t>, </a:t>
            </a:r>
            <a:r>
              <a:rPr lang="en-US" sz="1500" b="0" i="0" u="none" strike="noStrike" cap="none" dirty="0" err="1">
                <a:solidFill>
                  <a:srgbClr val="475569"/>
                </a:solidFill>
                <a:latin typeface="Plus Jakarta Sans Medium"/>
                <a:ea typeface="Plus Jakarta Sans Medium"/>
                <a:cs typeface="Plus Jakarta Sans Medium"/>
                <a:sym typeface="Plus Jakarta Sans Medium"/>
              </a:rPr>
              <a:t>asíncronos</a:t>
            </a:r>
            <a:r>
              <a:rPr lang="en-US" sz="1500" b="0" i="0" u="none" strike="noStrike" cap="none" dirty="0">
                <a:solidFill>
                  <a:srgbClr val="475569"/>
                </a:solidFill>
                <a:latin typeface="Plus Jakarta Sans Medium"/>
                <a:ea typeface="Plus Jakarta Sans Medium"/>
                <a:cs typeface="Plus Jakarta Sans Medium"/>
                <a:sym typeface="Plus Jakarta Sans Medium"/>
              </a:rPr>
              <a:t> y </a:t>
            </a:r>
            <a:r>
              <a:rPr lang="en-US" sz="1500" b="0" i="0" u="none" strike="noStrike" cap="none" dirty="0" err="1">
                <a:solidFill>
                  <a:srgbClr val="475569"/>
                </a:solidFill>
                <a:latin typeface="Plus Jakarta Sans Medium"/>
                <a:ea typeface="Plus Jakarta Sans Medium"/>
                <a:cs typeface="Plus Jakarta Sans Medium"/>
                <a:sym typeface="Plus Jakarta Sans Medium"/>
              </a:rPr>
              <a:t>continuos</a:t>
            </a:r>
            <a:r>
              <a:rPr lang="en-US" sz="1500" b="0" i="0" u="none" strike="noStrike" cap="none" dirty="0">
                <a:solidFill>
                  <a:srgbClr val="475569"/>
                </a:solidFill>
                <a:latin typeface="Plus Jakarta Sans Medium"/>
                <a:ea typeface="Plus Jakarta Sans Medium"/>
                <a:cs typeface="Plus Jakarta Sans Medium"/>
                <a:sym typeface="Plus Jakarta Sans Medium"/>
              </a:rPr>
              <a:t> </a:t>
            </a:r>
            <a:r>
              <a:rPr lang="en-US" sz="1500" b="0" i="0" u="none" strike="noStrike" cap="none" dirty="0" err="1">
                <a:solidFill>
                  <a:srgbClr val="475569"/>
                </a:solidFill>
                <a:latin typeface="Plus Jakarta Sans Medium"/>
                <a:ea typeface="Plus Jakarta Sans Medium"/>
                <a:cs typeface="Plus Jakarta Sans Medium"/>
                <a:sym typeface="Plus Jakarta Sans Medium"/>
              </a:rPr>
              <a:t>en</a:t>
            </a:r>
            <a:r>
              <a:rPr lang="en-US" sz="1500" b="0" i="0" u="none" strike="noStrike" cap="none" dirty="0">
                <a:solidFill>
                  <a:srgbClr val="475569"/>
                </a:solidFill>
                <a:latin typeface="Plus Jakarta Sans Medium"/>
                <a:ea typeface="Plus Jakarta Sans Medium"/>
                <a:cs typeface="Plus Jakarta Sans Medium"/>
                <a:sym typeface="Plus Jakarta Sans Medium"/>
              </a:rPr>
              <a:t> </a:t>
            </a:r>
            <a:r>
              <a:rPr lang="en-US" sz="1500" b="0" i="0" u="none" strike="noStrike" cap="none" dirty="0" err="1">
                <a:solidFill>
                  <a:srgbClr val="475569"/>
                </a:solidFill>
                <a:latin typeface="Plus Jakarta Sans Medium"/>
                <a:ea typeface="Plus Jakarta Sans Medium"/>
                <a:cs typeface="Plus Jakarta Sans Medium"/>
                <a:sym typeface="Plus Jakarta Sans Medium"/>
              </a:rPr>
              <a:t>el</a:t>
            </a:r>
            <a:r>
              <a:rPr lang="en-US" sz="1500" b="0" i="0" u="none" strike="noStrike" cap="none" dirty="0">
                <a:solidFill>
                  <a:srgbClr val="475569"/>
                </a:solidFill>
                <a:latin typeface="Plus Jakarta Sans Medium"/>
                <a:ea typeface="Plus Jakarta Sans Medium"/>
                <a:cs typeface="Plus Jakarta Sans Medium"/>
                <a:sym typeface="Plus Jakarta Sans Medium"/>
              </a:rPr>
              <a:t> software </a:t>
            </a:r>
            <a:r>
              <a:rPr lang="en-US" sz="1500" b="0" i="0" u="none" strike="noStrike" cap="none" dirty="0" err="1">
                <a:solidFill>
                  <a:srgbClr val="475569"/>
                </a:solidFill>
                <a:latin typeface="Plus Jakarta Sans Medium"/>
                <a:ea typeface="Plus Jakarta Sans Medium"/>
                <a:cs typeface="Plus Jakarta Sans Medium"/>
                <a:sym typeface="Plus Jakarta Sans Medium"/>
              </a:rPr>
              <a:t>moderno</a:t>
            </a:r>
            <a:r>
              <a:rPr lang="en-US" sz="1500" b="0" i="0" u="none" strike="noStrike" cap="none" dirty="0">
                <a:solidFill>
                  <a:srgbClr val="475569"/>
                </a:solidFill>
                <a:latin typeface="Plus Jakarta Sans Medium"/>
                <a:ea typeface="Plus Jakarta Sans Medium"/>
                <a:cs typeface="Plus Jakarta Sans Medium"/>
                <a:sym typeface="Plus Jakarta Sans Medium"/>
              </a:rPr>
              <a:t>.</a:t>
            </a:r>
            <a:endParaRPr dirty="0"/>
          </a:p>
        </p:txBody>
      </p:sp>
      <p:pic>
        <p:nvPicPr>
          <p:cNvPr id="106" name="Google Shape;106;p14" descr="image.png"/>
          <p:cNvPicPr preferRelativeResize="0"/>
          <p:nvPr/>
        </p:nvPicPr>
        <p:blipFill rotWithShape="1">
          <a:blip r:embed="rId7">
            <a:alphaModFix/>
          </a:blip>
          <a:srcRect/>
          <a:stretch/>
        </p:blipFill>
        <p:spPr>
          <a:xfrm>
            <a:off x="1104900" y="2882205"/>
            <a:ext cx="609600" cy="609600"/>
          </a:xfrm>
          <a:prstGeom prst="rect">
            <a:avLst/>
          </a:prstGeom>
          <a:noFill/>
          <a:ln>
            <a:noFill/>
          </a:ln>
        </p:spPr>
      </p:pic>
      <p:sp>
        <p:nvSpPr>
          <p:cNvPr id="107" name="Google Shape;107;p14"/>
          <p:cNvSpPr txBox="1"/>
          <p:nvPr/>
        </p:nvSpPr>
        <p:spPr>
          <a:xfrm>
            <a:off x="1104900" y="3729930"/>
            <a:ext cx="2780347" cy="29706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1800" b="0" i="0" u="none" strike="noStrike" cap="none">
                <a:solidFill>
                  <a:srgbClr val="0F172A"/>
                </a:solidFill>
                <a:latin typeface="Plus Jakarta Sans ExtraBold"/>
                <a:ea typeface="Plus Jakarta Sans ExtraBold"/>
                <a:cs typeface="Plus Jakarta Sans ExtraBold"/>
                <a:sym typeface="Plus Jakarta Sans ExtraBold"/>
              </a:rPr>
              <a:t>Validación de Entrada</a:t>
            </a:r>
            <a:endParaRPr/>
          </a:p>
        </p:txBody>
      </p:sp>
      <p:sp>
        <p:nvSpPr>
          <p:cNvPr id="108" name="Google Shape;108;p14"/>
          <p:cNvSpPr txBox="1"/>
          <p:nvPr/>
        </p:nvSpPr>
        <p:spPr>
          <a:xfrm>
            <a:off x="1104900" y="4169866"/>
            <a:ext cx="2647950" cy="1553765"/>
          </a:xfrm>
          <a:prstGeom prst="rect">
            <a:avLst/>
          </a:prstGeom>
          <a:noFill/>
          <a:ln>
            <a:noFill/>
          </a:ln>
        </p:spPr>
        <p:txBody>
          <a:bodyPr spcFirstLastPara="1" wrap="square" lIns="0" tIns="0" rIns="0" bIns="0" anchor="t" anchorCtr="0">
            <a:spAutoFit/>
          </a:bodyPr>
          <a:lstStyle/>
          <a:p>
            <a:pPr marL="0" marR="0" lvl="0" indent="0" algn="l" rtl="0">
              <a:lnSpc>
                <a:spcPct val="159921"/>
              </a:lnSpc>
              <a:spcBef>
                <a:spcPts val="0"/>
              </a:spcBef>
              <a:spcAft>
                <a:spcPts val="0"/>
              </a:spcAft>
              <a:buNone/>
            </a:pPr>
            <a:r>
              <a:rPr lang="en-US" sz="1275" b="1" i="0" u="none" strike="noStrike" cap="none">
                <a:solidFill>
                  <a:srgbClr val="0F172A"/>
                </a:solidFill>
                <a:latin typeface="Plus Jakarta Sans"/>
                <a:ea typeface="Plus Jakarta Sans"/>
                <a:cs typeface="Plus Jakarta Sans"/>
                <a:sym typeface="Plus Jakarta Sans"/>
              </a:rPr>
              <a:t>MIENTRAS</a:t>
            </a:r>
            <a:r>
              <a:rPr lang="en-US" sz="1275" b="0" i="0" u="none" strike="noStrike" cap="none">
                <a:solidFill>
                  <a:srgbClr val="475569"/>
                </a:solidFill>
                <a:latin typeface="Plus Jakarta Sans"/>
                <a:ea typeface="Plus Jakarta Sans"/>
                <a:cs typeface="Plus Jakarta Sans"/>
                <a:sym typeface="Plus Jakarta Sans"/>
              </a:rPr>
              <a:t> la contraseña ingresada sea incorrecta, el sistema sigue mostrando el mensaje de error. El flujo del programa no avanza hasta que el usuario acierte la credencial.</a:t>
            </a:r>
            <a:endParaRPr/>
          </a:p>
        </p:txBody>
      </p:sp>
      <p:pic>
        <p:nvPicPr>
          <p:cNvPr id="109" name="Google Shape;109;p14" descr="image.png"/>
          <p:cNvPicPr preferRelativeResize="0"/>
          <p:nvPr/>
        </p:nvPicPr>
        <p:blipFill rotWithShape="1">
          <a:blip r:embed="rId8">
            <a:alphaModFix/>
          </a:blip>
          <a:srcRect/>
          <a:stretch/>
        </p:blipFill>
        <p:spPr>
          <a:xfrm>
            <a:off x="4772025" y="2882205"/>
            <a:ext cx="609600" cy="609600"/>
          </a:xfrm>
          <a:prstGeom prst="rect">
            <a:avLst/>
          </a:prstGeom>
          <a:noFill/>
          <a:ln>
            <a:noFill/>
          </a:ln>
        </p:spPr>
      </p:pic>
      <p:sp>
        <p:nvSpPr>
          <p:cNvPr id="110" name="Google Shape;110;p14"/>
          <p:cNvSpPr txBox="1"/>
          <p:nvPr/>
        </p:nvSpPr>
        <p:spPr>
          <a:xfrm>
            <a:off x="4772025" y="3729930"/>
            <a:ext cx="2780347" cy="29706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1800" b="0" i="0" u="none" strike="noStrike" cap="none">
                <a:solidFill>
                  <a:srgbClr val="0F172A"/>
                </a:solidFill>
                <a:latin typeface="Plus Jakarta Sans ExtraBold"/>
                <a:ea typeface="Plus Jakarta Sans ExtraBold"/>
                <a:cs typeface="Plus Jakarta Sans ExtraBold"/>
                <a:sym typeface="Plus Jakarta Sans ExtraBold"/>
              </a:rPr>
              <a:t>Ciclo de Juego (Loop)</a:t>
            </a:r>
            <a:endParaRPr/>
          </a:p>
        </p:txBody>
      </p:sp>
      <p:sp>
        <p:nvSpPr>
          <p:cNvPr id="111" name="Google Shape;111;p14"/>
          <p:cNvSpPr txBox="1"/>
          <p:nvPr/>
        </p:nvSpPr>
        <p:spPr>
          <a:xfrm>
            <a:off x="4772025" y="4169866"/>
            <a:ext cx="2647950" cy="1563290"/>
          </a:xfrm>
          <a:prstGeom prst="rect">
            <a:avLst/>
          </a:prstGeom>
          <a:noFill/>
          <a:ln>
            <a:noFill/>
          </a:ln>
        </p:spPr>
        <p:txBody>
          <a:bodyPr spcFirstLastPara="1" wrap="square" lIns="0" tIns="0" rIns="0" bIns="0" anchor="t" anchorCtr="0">
            <a:spAutoFit/>
          </a:bodyPr>
          <a:lstStyle/>
          <a:p>
            <a:pPr marL="0" marR="0" lvl="0" indent="0" algn="l" rtl="0">
              <a:lnSpc>
                <a:spcPct val="159921"/>
              </a:lnSpc>
              <a:spcBef>
                <a:spcPts val="0"/>
              </a:spcBef>
              <a:spcAft>
                <a:spcPts val="0"/>
              </a:spcAft>
              <a:buNone/>
            </a:pPr>
            <a:r>
              <a:rPr lang="en-US" sz="1275" b="1" i="0" u="none" strike="noStrike" cap="none">
                <a:solidFill>
                  <a:srgbClr val="0F172A"/>
                </a:solidFill>
                <a:latin typeface="Plus Jakarta Sans"/>
                <a:ea typeface="Plus Jakarta Sans"/>
                <a:cs typeface="Plus Jakarta Sans"/>
                <a:sym typeface="Plus Jakarta Sans"/>
              </a:rPr>
              <a:t>MIENTRAS</a:t>
            </a:r>
            <a:r>
              <a:rPr lang="en-US" sz="1275" b="0" i="0" u="none" strike="noStrike" cap="none">
                <a:solidFill>
                  <a:srgbClr val="475569"/>
                </a:solidFill>
                <a:latin typeface="Plus Jakarta Sans"/>
                <a:ea typeface="Plus Jakarta Sans"/>
                <a:cs typeface="Plus Jakarta Sans"/>
                <a:sym typeface="Plus Jakarta Sans"/>
              </a:rPr>
              <a:t> el jugador no presione "Salir" (o gameOver == false), el motor del juego sigue ejecutando cálculos de física, procesando inputs y renderizando frames a 60fps.</a:t>
            </a:r>
            <a:endParaRPr/>
          </a:p>
        </p:txBody>
      </p:sp>
      <p:pic>
        <p:nvPicPr>
          <p:cNvPr id="112" name="Google Shape;112;p14" descr="image.png"/>
          <p:cNvPicPr preferRelativeResize="0"/>
          <p:nvPr/>
        </p:nvPicPr>
        <p:blipFill rotWithShape="1">
          <a:blip r:embed="rId9">
            <a:alphaModFix/>
          </a:blip>
          <a:srcRect/>
          <a:stretch/>
        </p:blipFill>
        <p:spPr>
          <a:xfrm>
            <a:off x="8439150" y="2882205"/>
            <a:ext cx="609600" cy="609600"/>
          </a:xfrm>
          <a:prstGeom prst="rect">
            <a:avLst/>
          </a:prstGeom>
          <a:noFill/>
          <a:ln>
            <a:noFill/>
          </a:ln>
        </p:spPr>
      </p:pic>
      <p:sp>
        <p:nvSpPr>
          <p:cNvPr id="113" name="Google Shape;113;p14"/>
          <p:cNvSpPr txBox="1"/>
          <p:nvPr/>
        </p:nvSpPr>
        <p:spPr>
          <a:xfrm>
            <a:off x="8439150" y="3729930"/>
            <a:ext cx="2780347" cy="29706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1800" b="0" i="0" u="none" strike="noStrike" cap="none">
                <a:solidFill>
                  <a:srgbClr val="0F172A"/>
                </a:solidFill>
                <a:latin typeface="Plus Jakarta Sans ExtraBold"/>
                <a:ea typeface="Plus Jakarta Sans ExtraBold"/>
                <a:cs typeface="Plus Jakarta Sans ExtraBold"/>
                <a:sym typeface="Plus Jakarta Sans ExtraBold"/>
              </a:rPr>
              <a:t>Procesamiento Masivo</a:t>
            </a:r>
            <a:endParaRPr/>
          </a:p>
        </p:txBody>
      </p:sp>
      <p:sp>
        <p:nvSpPr>
          <p:cNvPr id="114" name="Google Shape;114;p14"/>
          <p:cNvSpPr txBox="1"/>
          <p:nvPr/>
        </p:nvSpPr>
        <p:spPr>
          <a:xfrm>
            <a:off x="8439150" y="4169866"/>
            <a:ext cx="2647950" cy="1294804"/>
          </a:xfrm>
          <a:prstGeom prst="rect">
            <a:avLst/>
          </a:prstGeom>
          <a:noFill/>
          <a:ln>
            <a:noFill/>
          </a:ln>
        </p:spPr>
        <p:txBody>
          <a:bodyPr spcFirstLastPara="1" wrap="square" lIns="0" tIns="0" rIns="0" bIns="0" anchor="t" anchorCtr="0">
            <a:spAutoFit/>
          </a:bodyPr>
          <a:lstStyle/>
          <a:p>
            <a:pPr marL="0" marR="0" lvl="0" indent="0" algn="l" rtl="0">
              <a:lnSpc>
                <a:spcPct val="159921"/>
              </a:lnSpc>
              <a:spcBef>
                <a:spcPts val="0"/>
              </a:spcBef>
              <a:spcAft>
                <a:spcPts val="0"/>
              </a:spcAft>
              <a:buNone/>
            </a:pPr>
            <a:r>
              <a:rPr lang="en-US" sz="1275" b="1" i="0" u="none" strike="noStrike" cap="none">
                <a:solidFill>
                  <a:srgbClr val="0F172A"/>
                </a:solidFill>
                <a:latin typeface="Plus Jakarta Sans"/>
                <a:ea typeface="Plus Jakarta Sans"/>
                <a:cs typeface="Plus Jakarta Sans"/>
                <a:sym typeface="Plus Jakarta Sans"/>
              </a:rPr>
              <a:t>MIENTRAS</a:t>
            </a:r>
            <a:r>
              <a:rPr lang="en-US" sz="1275" b="0" i="0" u="none" strike="noStrike" cap="none">
                <a:solidFill>
                  <a:srgbClr val="475569"/>
                </a:solidFill>
                <a:latin typeface="Plus Jakarta Sans"/>
                <a:ea typeface="Plus Jakarta Sans"/>
                <a:cs typeface="Plus Jakarta Sans"/>
                <a:sym typeface="Plus Jakarta Sans"/>
              </a:rPr>
              <a:t> no se llegue al final de un archivo de registros (EOF), el programa lee la siguiente línea en memoria, la procesa y la inserta en la base de datos de destino.</a:t>
            </a:r>
            <a:endParaRPr/>
          </a:p>
        </p:txBody>
      </p:sp>
      <p:pic>
        <p:nvPicPr>
          <p:cNvPr id="115" name="Google Shape;115;p14" descr="image.png"/>
          <p:cNvPicPr preferRelativeResize="0"/>
          <p:nvPr/>
        </p:nvPicPr>
        <p:blipFill rotWithShape="1">
          <a:blip r:embed="rId10">
            <a:alphaModFix/>
          </a:blip>
          <a:srcRect/>
          <a:stretch/>
        </p:blipFill>
        <p:spPr>
          <a:xfrm>
            <a:off x="1257300" y="3034605"/>
            <a:ext cx="304800" cy="304800"/>
          </a:xfrm>
          <a:prstGeom prst="rect">
            <a:avLst/>
          </a:prstGeom>
          <a:noFill/>
          <a:ln>
            <a:noFill/>
          </a:ln>
        </p:spPr>
      </p:pic>
      <p:pic>
        <p:nvPicPr>
          <p:cNvPr id="116" name="Google Shape;116;p14" descr="image.png"/>
          <p:cNvPicPr preferRelativeResize="0"/>
          <p:nvPr/>
        </p:nvPicPr>
        <p:blipFill rotWithShape="1">
          <a:blip r:embed="rId11">
            <a:alphaModFix/>
          </a:blip>
          <a:srcRect/>
          <a:stretch/>
        </p:blipFill>
        <p:spPr>
          <a:xfrm>
            <a:off x="4886325" y="3034605"/>
            <a:ext cx="381000" cy="304800"/>
          </a:xfrm>
          <a:prstGeom prst="rect">
            <a:avLst/>
          </a:prstGeom>
          <a:noFill/>
          <a:ln>
            <a:noFill/>
          </a:ln>
        </p:spPr>
      </p:pic>
      <p:pic>
        <p:nvPicPr>
          <p:cNvPr id="117" name="Google Shape;117;p14" descr="image.png"/>
          <p:cNvPicPr preferRelativeResize="0"/>
          <p:nvPr/>
        </p:nvPicPr>
        <p:blipFill rotWithShape="1">
          <a:blip r:embed="rId12">
            <a:alphaModFix/>
          </a:blip>
          <a:srcRect/>
          <a:stretch/>
        </p:blipFill>
        <p:spPr>
          <a:xfrm>
            <a:off x="8610600" y="3034605"/>
            <a:ext cx="266700" cy="304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p:bldP spid="107" grpId="0"/>
      <p:bldP spid="108" grpId="0"/>
      <p:bldP spid="110" grpId="0"/>
      <p:bldP spid="111" grpId="0"/>
      <p:bldP spid="113" grpId="0"/>
      <p:bldP spid="1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pic>
        <p:nvPicPr>
          <p:cNvPr id="122" name="Google Shape;122;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3" name="Google Shape;123;p15" descr="image.png"/>
          <p:cNvPicPr preferRelativeResize="0"/>
          <p:nvPr/>
        </p:nvPicPr>
        <p:blipFill rotWithShape="1">
          <a:blip r:embed="rId4">
            <a:alphaModFix/>
          </a:blip>
          <a:srcRect/>
          <a:stretch/>
        </p:blipFill>
        <p:spPr>
          <a:xfrm>
            <a:off x="762000" y="2444055"/>
            <a:ext cx="5143500" cy="3747194"/>
          </a:xfrm>
          <a:prstGeom prst="rect">
            <a:avLst/>
          </a:prstGeom>
          <a:noFill/>
          <a:ln>
            <a:noFill/>
          </a:ln>
        </p:spPr>
      </p:pic>
      <p:pic>
        <p:nvPicPr>
          <p:cNvPr id="124" name="Google Shape;124;p15" descr="image.png"/>
          <p:cNvPicPr preferRelativeResize="0"/>
          <p:nvPr/>
        </p:nvPicPr>
        <p:blipFill rotWithShape="1">
          <a:blip r:embed="rId5">
            <a:alphaModFix/>
          </a:blip>
          <a:srcRect/>
          <a:stretch/>
        </p:blipFill>
        <p:spPr>
          <a:xfrm>
            <a:off x="6286500" y="2444055"/>
            <a:ext cx="5143500" cy="3747194"/>
          </a:xfrm>
          <a:prstGeom prst="rect">
            <a:avLst/>
          </a:prstGeom>
          <a:noFill/>
          <a:ln>
            <a:noFill/>
          </a:ln>
        </p:spPr>
      </p:pic>
      <p:pic>
        <p:nvPicPr>
          <p:cNvPr id="125" name="Google Shape;125;p15" descr="image.png"/>
          <p:cNvPicPr preferRelativeResize="0"/>
          <p:nvPr/>
        </p:nvPicPr>
        <p:blipFill rotWithShape="1">
          <a:blip r:embed="rId6">
            <a:alphaModFix/>
          </a:blip>
          <a:srcRect/>
          <a:stretch/>
        </p:blipFill>
        <p:spPr>
          <a:xfrm>
            <a:off x="771525" y="2453580"/>
            <a:ext cx="5124450" cy="428625"/>
          </a:xfrm>
          <a:prstGeom prst="rect">
            <a:avLst/>
          </a:prstGeom>
          <a:noFill/>
          <a:ln>
            <a:noFill/>
          </a:ln>
        </p:spPr>
      </p:pic>
      <p:pic>
        <p:nvPicPr>
          <p:cNvPr id="126" name="Google Shape;126;p15" descr="image.png"/>
          <p:cNvPicPr preferRelativeResize="0"/>
          <p:nvPr/>
        </p:nvPicPr>
        <p:blipFill rotWithShape="1">
          <a:blip r:embed="rId6">
            <a:alphaModFix/>
          </a:blip>
          <a:srcRect/>
          <a:stretch/>
        </p:blipFill>
        <p:spPr>
          <a:xfrm>
            <a:off x="6296025" y="2453580"/>
            <a:ext cx="5124450" cy="428625"/>
          </a:xfrm>
          <a:prstGeom prst="rect">
            <a:avLst/>
          </a:prstGeom>
          <a:noFill/>
          <a:ln>
            <a:noFill/>
          </a:ln>
        </p:spPr>
      </p:pic>
      <p:sp>
        <p:nvSpPr>
          <p:cNvPr id="127" name="Google Shape;127;p15"/>
          <p:cNvSpPr txBox="1"/>
          <p:nvPr/>
        </p:nvSpPr>
        <p:spPr>
          <a:xfrm>
            <a:off x="762000" y="666750"/>
            <a:ext cx="11201400" cy="5485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00" b="0" i="0" u="none" strike="noStrike" cap="none">
                <a:solidFill>
                  <a:srgbClr val="0F172A"/>
                </a:solidFill>
                <a:latin typeface="Plus Jakarta Sans ExtraBold"/>
                <a:ea typeface="Plus Jakarta Sans ExtraBold"/>
                <a:cs typeface="Plus Jakarta Sans ExtraBold"/>
                <a:sym typeface="Plus Jakarta Sans ExtraBold"/>
              </a:rPr>
              <a:t>Estructura Base (Pseudocódigo)</a:t>
            </a:r>
            <a:endParaRPr/>
          </a:p>
        </p:txBody>
      </p:sp>
      <p:sp>
        <p:nvSpPr>
          <p:cNvPr id="128" name="Google Shape;128;p15"/>
          <p:cNvSpPr txBox="1"/>
          <p:nvPr/>
        </p:nvSpPr>
        <p:spPr>
          <a:xfrm>
            <a:off x="762000" y="1405830"/>
            <a:ext cx="1000125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75569"/>
                </a:solidFill>
                <a:latin typeface="Plus Jakarta Sans Medium"/>
                <a:ea typeface="Plus Jakarta Sans Medium"/>
                <a:cs typeface="Plus Jakarta Sans Medium"/>
                <a:sym typeface="Plus Jakarta Sans Medium"/>
              </a:rPr>
              <a:t>A la izquierda un contador simple que iterará 11 veces. A la derecha, una variación que incrementa de a dos pasos por iteración.</a:t>
            </a:r>
            <a:endParaRPr/>
          </a:p>
        </p:txBody>
      </p:sp>
      <p:sp>
        <p:nvSpPr>
          <p:cNvPr id="129" name="Google Shape;129;p15"/>
          <p:cNvSpPr txBox="1"/>
          <p:nvPr/>
        </p:nvSpPr>
        <p:spPr>
          <a:xfrm>
            <a:off x="1057275" y="3167955"/>
            <a:ext cx="4552950" cy="2492990"/>
          </a:xfrm>
          <a:prstGeom prst="rect">
            <a:avLst/>
          </a:prstGeom>
          <a:noFill/>
          <a:ln>
            <a:noFill/>
          </a:ln>
        </p:spPr>
        <p:txBody>
          <a:bodyPr spcFirstLastPara="1" wrap="square" lIns="0" tIns="0" rIns="0" bIns="0" anchor="t" anchorCtr="0">
            <a:spAutoFit/>
          </a:bodyPr>
          <a:lstStyle/>
          <a:p>
            <a:pPr marL="0" marR="0" lvl="0" indent="0" algn="l" rtl="0">
              <a:lnSpc>
                <a:spcPct val="180000"/>
              </a:lnSpc>
              <a:spcBef>
                <a:spcPts val="0"/>
              </a:spcBef>
              <a:spcAft>
                <a:spcPts val="0"/>
              </a:spcAft>
              <a:buNone/>
            </a:pPr>
            <a:r>
              <a:rPr lang="en-US" sz="1500" b="0" i="0" u="none" strike="noStrike" cap="none" dirty="0">
                <a:solidFill>
                  <a:srgbClr val="ADB5BD"/>
                </a:solidFill>
                <a:latin typeface="Fira Code"/>
                <a:ea typeface="Fira Code"/>
                <a:cs typeface="Fira Code"/>
                <a:sym typeface="Fira Code"/>
              </a:rPr>
              <a:t>1 </a:t>
            </a:r>
            <a:r>
              <a:rPr lang="en-US" sz="1500" b="0" i="0" u="none" strike="noStrike" cap="none" dirty="0" err="1">
                <a:solidFill>
                  <a:srgbClr val="D73A49"/>
                </a:solidFill>
                <a:latin typeface="Fira Code"/>
                <a:ea typeface="Fira Code"/>
                <a:cs typeface="Fira Code"/>
                <a:sym typeface="Fira Code"/>
              </a:rPr>
              <a:t>entero</a:t>
            </a:r>
            <a:r>
              <a:rPr lang="en-US" sz="1500" b="0" i="0" u="none" strike="noStrike" cap="none" dirty="0">
                <a:solidFill>
                  <a:srgbClr val="1E293B"/>
                </a:solidFill>
                <a:latin typeface="Fira Code"/>
                <a:ea typeface="Fira Code"/>
                <a:cs typeface="Fira Code"/>
                <a:sym typeface="Fira Code"/>
              </a:rPr>
              <a:t> </a:t>
            </a:r>
            <a:r>
              <a:rPr lang="en-US" sz="1500" b="0" i="0" u="none" strike="noStrike" cap="none" dirty="0" err="1">
                <a:solidFill>
                  <a:srgbClr val="24292E"/>
                </a:solidFill>
                <a:latin typeface="Fira Code"/>
                <a:ea typeface="Fira Code"/>
                <a:cs typeface="Fira Code"/>
                <a:sym typeface="Fira Code"/>
              </a:rPr>
              <a:t>i</a:t>
            </a:r>
            <a:r>
              <a:rPr lang="en-US" sz="1500" b="0" i="0" u="none" strike="noStrike" cap="none" dirty="0">
                <a:solidFill>
                  <a:srgbClr val="1E293B"/>
                </a:solidFill>
                <a:latin typeface="Fira Code"/>
                <a:ea typeface="Fira Code"/>
                <a:cs typeface="Fira Code"/>
                <a:sym typeface="Fira Code"/>
              </a:rPr>
              <a:t> </a:t>
            </a:r>
            <a:r>
              <a:rPr lang="en-US" sz="1500" b="0" i="0" u="none" strike="noStrike" cap="none" dirty="0">
                <a:solidFill>
                  <a:srgbClr val="D73A49"/>
                </a:solidFill>
                <a:latin typeface="Fira Code"/>
                <a:ea typeface="Fira Code"/>
                <a:cs typeface="Fira Code"/>
                <a:sym typeface="Fira Code"/>
              </a:rPr>
              <a:t>=</a:t>
            </a:r>
            <a:r>
              <a:rPr lang="en-US" sz="1500" b="0" i="0" u="none" strike="noStrike" cap="none" dirty="0">
                <a:solidFill>
                  <a:srgbClr val="1E293B"/>
                </a:solidFill>
                <a:latin typeface="Fira Code"/>
                <a:ea typeface="Fira Code"/>
                <a:cs typeface="Fira Code"/>
                <a:sym typeface="Fira Code"/>
              </a:rPr>
              <a:t> </a:t>
            </a:r>
            <a:r>
              <a:rPr lang="en-US" sz="1500" b="0" i="0" u="none" strike="noStrike" cap="none" dirty="0">
                <a:solidFill>
                  <a:srgbClr val="005CC5"/>
                </a:solidFill>
                <a:latin typeface="Fira Code"/>
                <a:ea typeface="Fira Code"/>
                <a:cs typeface="Fira Code"/>
                <a:sym typeface="Fira Code"/>
              </a:rPr>
              <a:t>0</a:t>
            </a:r>
            <a:r>
              <a:rPr lang="en-US" sz="1500" b="0" i="0" u="none" strike="noStrike" cap="none" dirty="0">
                <a:solidFill>
                  <a:srgbClr val="1E293B"/>
                </a:solidFill>
                <a:latin typeface="Fira Code"/>
                <a:ea typeface="Fira Code"/>
                <a:cs typeface="Fira Code"/>
                <a:sym typeface="Fira Code"/>
              </a:rPr>
              <a:t> </a:t>
            </a:r>
          </a:p>
          <a:p>
            <a:pPr marL="0" marR="0" lvl="0" indent="0" algn="l" rtl="0">
              <a:lnSpc>
                <a:spcPct val="180000"/>
              </a:lnSpc>
              <a:spcBef>
                <a:spcPts val="0"/>
              </a:spcBef>
              <a:spcAft>
                <a:spcPts val="0"/>
              </a:spcAft>
              <a:buNone/>
            </a:pPr>
            <a:r>
              <a:rPr lang="en-US" sz="1500" b="0" i="0" u="none" strike="noStrike" cap="none" dirty="0">
                <a:solidFill>
                  <a:srgbClr val="ADB5BD"/>
                </a:solidFill>
                <a:latin typeface="Fira Code"/>
                <a:ea typeface="Fira Code"/>
                <a:cs typeface="Fira Code"/>
                <a:sym typeface="Fira Code"/>
              </a:rPr>
              <a:t>2</a:t>
            </a:r>
            <a:r>
              <a:rPr lang="en-US" sz="1500" b="0" i="0" u="none" strike="noStrike" cap="none" dirty="0">
                <a:solidFill>
                  <a:srgbClr val="1E293B"/>
                </a:solidFill>
                <a:latin typeface="Fira Code"/>
                <a:ea typeface="Fira Code"/>
                <a:cs typeface="Fira Code"/>
                <a:sym typeface="Fira Code"/>
              </a:rPr>
              <a:t> </a:t>
            </a:r>
          </a:p>
          <a:p>
            <a:pPr marL="0" marR="0" lvl="0" indent="0" algn="l" rtl="0">
              <a:lnSpc>
                <a:spcPct val="180000"/>
              </a:lnSpc>
              <a:spcBef>
                <a:spcPts val="0"/>
              </a:spcBef>
              <a:spcAft>
                <a:spcPts val="0"/>
              </a:spcAft>
              <a:buNone/>
            </a:pPr>
            <a:r>
              <a:rPr lang="en-US" sz="1500" b="0" i="0" u="none" strike="noStrike" cap="none" dirty="0">
                <a:solidFill>
                  <a:srgbClr val="ADB5BD"/>
                </a:solidFill>
                <a:latin typeface="Fira Code"/>
                <a:ea typeface="Fira Code"/>
                <a:cs typeface="Fira Code"/>
                <a:sym typeface="Fira Code"/>
              </a:rPr>
              <a:t>3 </a:t>
            </a:r>
            <a:r>
              <a:rPr lang="en-US" sz="1500" b="0" i="0" u="none" strike="noStrike" cap="none" dirty="0" err="1">
                <a:solidFill>
                  <a:srgbClr val="D73A49"/>
                </a:solidFill>
                <a:latin typeface="Fira Code SemiBold"/>
                <a:ea typeface="Fira Code SemiBold"/>
                <a:cs typeface="Fira Code SemiBold"/>
                <a:sym typeface="Fira Code SemiBold"/>
              </a:rPr>
              <a:t>mientras</a:t>
            </a:r>
            <a:r>
              <a:rPr lang="en-US" sz="1500" b="0" i="0" u="none" strike="noStrike" cap="none" dirty="0">
                <a:solidFill>
                  <a:srgbClr val="1E293B"/>
                </a:solidFill>
                <a:latin typeface="Fira Code"/>
                <a:ea typeface="Fira Code"/>
                <a:cs typeface="Fira Code"/>
                <a:sym typeface="Fira Code"/>
              </a:rPr>
              <a:t> (</a:t>
            </a:r>
            <a:r>
              <a:rPr lang="en-US" sz="1500" b="0" i="0" u="none" strike="noStrike" cap="none" dirty="0" err="1">
                <a:solidFill>
                  <a:srgbClr val="24292E"/>
                </a:solidFill>
                <a:latin typeface="Fira Code"/>
                <a:ea typeface="Fira Code"/>
                <a:cs typeface="Fira Code"/>
                <a:sym typeface="Fira Code"/>
              </a:rPr>
              <a:t>i</a:t>
            </a:r>
            <a:r>
              <a:rPr lang="en-US" sz="1500" b="0" i="0" u="none" strike="noStrike" cap="none" dirty="0">
                <a:solidFill>
                  <a:srgbClr val="1E293B"/>
                </a:solidFill>
                <a:latin typeface="Fira Code"/>
                <a:ea typeface="Fira Code"/>
                <a:cs typeface="Fira Code"/>
                <a:sym typeface="Fira Code"/>
              </a:rPr>
              <a:t> </a:t>
            </a:r>
            <a:r>
              <a:rPr lang="en-US" sz="1500" b="0" i="0" u="none" strike="noStrike" cap="none" dirty="0">
                <a:solidFill>
                  <a:srgbClr val="D73A49"/>
                </a:solidFill>
                <a:latin typeface="Fira Code"/>
                <a:ea typeface="Fira Code"/>
                <a:cs typeface="Fira Code"/>
                <a:sym typeface="Fira Code"/>
              </a:rPr>
              <a:t>&lt;=</a:t>
            </a:r>
            <a:r>
              <a:rPr lang="en-US" sz="1500" b="0" i="0" u="none" strike="noStrike" cap="none" dirty="0">
                <a:solidFill>
                  <a:srgbClr val="1E293B"/>
                </a:solidFill>
                <a:latin typeface="Fira Code"/>
                <a:ea typeface="Fira Code"/>
                <a:cs typeface="Fira Code"/>
                <a:sym typeface="Fira Code"/>
              </a:rPr>
              <a:t> </a:t>
            </a:r>
            <a:r>
              <a:rPr lang="en-US" sz="1500" b="0" i="0" u="none" strike="noStrike" cap="none" dirty="0">
                <a:solidFill>
                  <a:srgbClr val="005CC5"/>
                </a:solidFill>
                <a:latin typeface="Fira Code"/>
                <a:ea typeface="Fira Code"/>
                <a:cs typeface="Fira Code"/>
                <a:sym typeface="Fira Code"/>
              </a:rPr>
              <a:t>10</a:t>
            </a:r>
            <a:r>
              <a:rPr lang="en-US" sz="1500" b="0" i="0" u="none" strike="noStrike" cap="none" dirty="0">
                <a:solidFill>
                  <a:srgbClr val="1E293B"/>
                </a:solidFill>
                <a:latin typeface="Fira Code"/>
                <a:ea typeface="Fira Code"/>
                <a:cs typeface="Fira Code"/>
                <a:sym typeface="Fira Code"/>
              </a:rPr>
              <a:t>) </a:t>
            </a:r>
          </a:p>
          <a:p>
            <a:pPr marL="0" marR="0" lvl="0" indent="0" algn="l" rtl="0">
              <a:lnSpc>
                <a:spcPct val="180000"/>
              </a:lnSpc>
              <a:spcBef>
                <a:spcPts val="0"/>
              </a:spcBef>
              <a:spcAft>
                <a:spcPts val="0"/>
              </a:spcAft>
              <a:buNone/>
            </a:pPr>
            <a:r>
              <a:rPr lang="en-US" sz="1500" b="0" i="0" u="none" strike="noStrike" cap="none" dirty="0">
                <a:solidFill>
                  <a:srgbClr val="ADB5BD"/>
                </a:solidFill>
                <a:latin typeface="Fira Code"/>
                <a:ea typeface="Fira Code"/>
                <a:cs typeface="Fira Code"/>
                <a:sym typeface="Fira Code"/>
              </a:rPr>
              <a:t>4</a:t>
            </a:r>
            <a:r>
              <a:rPr lang="en-US" sz="1500" b="0" i="0" u="none" strike="noStrike" cap="none" dirty="0">
                <a:solidFill>
                  <a:srgbClr val="1E293B"/>
                </a:solidFill>
                <a:latin typeface="Fira Code"/>
                <a:ea typeface="Fira Code"/>
                <a:cs typeface="Fira Code"/>
                <a:sym typeface="Fira Code"/>
              </a:rPr>
              <a:t> </a:t>
            </a:r>
            <a:r>
              <a:rPr lang="en-US" sz="1500" b="0" i="0" u="none" strike="noStrike" cap="none" dirty="0" err="1">
                <a:solidFill>
                  <a:srgbClr val="24292E"/>
                </a:solidFill>
                <a:latin typeface="Fira Code"/>
                <a:ea typeface="Fira Code"/>
                <a:cs typeface="Fira Code"/>
                <a:sym typeface="Fira Code"/>
              </a:rPr>
              <a:t>proceso_logico</a:t>
            </a:r>
            <a:r>
              <a:rPr lang="en-US" sz="1500" b="0" i="0" u="none" strike="noStrike" cap="none" dirty="0">
                <a:solidFill>
                  <a:srgbClr val="1E293B"/>
                </a:solidFill>
                <a:latin typeface="Fira Code"/>
                <a:ea typeface="Fira Code"/>
                <a:cs typeface="Fira Code"/>
                <a:sym typeface="Fira Code"/>
              </a:rPr>
              <a:t>() </a:t>
            </a:r>
          </a:p>
          <a:p>
            <a:pPr marL="0" marR="0" lvl="0" indent="0" algn="l" rtl="0">
              <a:lnSpc>
                <a:spcPct val="180000"/>
              </a:lnSpc>
              <a:spcBef>
                <a:spcPts val="0"/>
              </a:spcBef>
              <a:spcAft>
                <a:spcPts val="0"/>
              </a:spcAft>
              <a:buNone/>
            </a:pPr>
            <a:r>
              <a:rPr lang="en-US" sz="1500" b="0" i="0" u="none" strike="noStrike" cap="none" dirty="0">
                <a:solidFill>
                  <a:srgbClr val="ADB5BD"/>
                </a:solidFill>
                <a:latin typeface="Fira Code"/>
                <a:ea typeface="Fira Code"/>
                <a:cs typeface="Fira Code"/>
                <a:sym typeface="Fira Code"/>
              </a:rPr>
              <a:t>5</a:t>
            </a:r>
            <a:r>
              <a:rPr lang="en-US" sz="1500" b="0" i="0" u="none" strike="noStrike" cap="none" dirty="0">
                <a:solidFill>
                  <a:srgbClr val="1E293B"/>
                </a:solidFill>
                <a:latin typeface="Fira Code"/>
                <a:ea typeface="Fira Code"/>
                <a:cs typeface="Fira Code"/>
                <a:sym typeface="Fira Code"/>
              </a:rPr>
              <a:t> </a:t>
            </a:r>
            <a:r>
              <a:rPr lang="en-US" sz="1500" b="0" i="0" u="none" strike="noStrike" cap="none" dirty="0" err="1">
                <a:solidFill>
                  <a:srgbClr val="24292E"/>
                </a:solidFill>
                <a:latin typeface="Fira Code"/>
                <a:ea typeface="Fira Code"/>
                <a:cs typeface="Fira Code"/>
                <a:sym typeface="Fira Code"/>
              </a:rPr>
              <a:t>i</a:t>
            </a:r>
            <a:r>
              <a:rPr lang="en-US" sz="1500" b="0" i="0" u="none" strike="noStrike" cap="none" dirty="0">
                <a:solidFill>
                  <a:srgbClr val="1E293B"/>
                </a:solidFill>
                <a:latin typeface="Fira Code"/>
                <a:ea typeface="Fira Code"/>
                <a:cs typeface="Fira Code"/>
                <a:sym typeface="Fira Code"/>
              </a:rPr>
              <a:t> </a:t>
            </a:r>
            <a:r>
              <a:rPr lang="en-US" sz="1500" b="0" i="0" u="none" strike="noStrike" cap="none" dirty="0">
                <a:solidFill>
                  <a:srgbClr val="D73A49"/>
                </a:solidFill>
                <a:latin typeface="Fira Code"/>
                <a:ea typeface="Fira Code"/>
                <a:cs typeface="Fira Code"/>
                <a:sym typeface="Fira Code"/>
              </a:rPr>
              <a:t>=</a:t>
            </a:r>
            <a:r>
              <a:rPr lang="en-US" sz="1500" b="0" i="0" u="none" strike="noStrike" cap="none" dirty="0">
                <a:solidFill>
                  <a:srgbClr val="1E293B"/>
                </a:solidFill>
                <a:latin typeface="Fira Code"/>
                <a:ea typeface="Fira Code"/>
                <a:cs typeface="Fira Code"/>
                <a:sym typeface="Fira Code"/>
              </a:rPr>
              <a:t> </a:t>
            </a:r>
            <a:r>
              <a:rPr lang="en-US" sz="1500" b="0" i="0" u="none" strike="noStrike" cap="none" dirty="0" err="1">
                <a:solidFill>
                  <a:srgbClr val="24292E"/>
                </a:solidFill>
                <a:latin typeface="Fira Code"/>
                <a:ea typeface="Fira Code"/>
                <a:cs typeface="Fira Code"/>
                <a:sym typeface="Fira Code"/>
              </a:rPr>
              <a:t>i</a:t>
            </a:r>
            <a:r>
              <a:rPr lang="en-US" sz="1500" b="0" i="0" u="none" strike="noStrike" cap="none" dirty="0">
                <a:solidFill>
                  <a:srgbClr val="1E293B"/>
                </a:solidFill>
                <a:latin typeface="Fira Code"/>
                <a:ea typeface="Fira Code"/>
                <a:cs typeface="Fira Code"/>
                <a:sym typeface="Fira Code"/>
              </a:rPr>
              <a:t> </a:t>
            </a:r>
            <a:r>
              <a:rPr lang="en-US" sz="1500" b="0" i="0" u="none" strike="noStrike" cap="none" dirty="0">
                <a:solidFill>
                  <a:srgbClr val="D73A49"/>
                </a:solidFill>
                <a:latin typeface="Fira Code"/>
                <a:ea typeface="Fira Code"/>
                <a:cs typeface="Fira Code"/>
                <a:sym typeface="Fira Code"/>
              </a:rPr>
              <a:t>+</a:t>
            </a:r>
            <a:r>
              <a:rPr lang="en-US" sz="1500" b="0" i="0" u="none" strike="noStrike" cap="none" dirty="0">
                <a:solidFill>
                  <a:srgbClr val="1E293B"/>
                </a:solidFill>
                <a:latin typeface="Fira Code"/>
                <a:ea typeface="Fira Code"/>
                <a:cs typeface="Fira Code"/>
                <a:sym typeface="Fira Code"/>
              </a:rPr>
              <a:t> </a:t>
            </a:r>
            <a:r>
              <a:rPr lang="en-US" sz="1500" b="0" i="0" u="none" strike="noStrike" cap="none" dirty="0">
                <a:solidFill>
                  <a:srgbClr val="005CC5"/>
                </a:solidFill>
                <a:latin typeface="Fira Code"/>
                <a:ea typeface="Fira Code"/>
                <a:cs typeface="Fira Code"/>
                <a:sym typeface="Fira Code"/>
              </a:rPr>
              <a:t>1</a:t>
            </a:r>
            <a:r>
              <a:rPr lang="en-US" sz="1500" b="0" i="0" u="none" strike="noStrike" cap="none" dirty="0">
                <a:solidFill>
                  <a:srgbClr val="1E293B"/>
                </a:solidFill>
                <a:latin typeface="Fira Code"/>
                <a:ea typeface="Fira Code"/>
                <a:cs typeface="Fira Code"/>
                <a:sym typeface="Fira Code"/>
              </a:rPr>
              <a:t> </a:t>
            </a:r>
          </a:p>
          <a:p>
            <a:pPr marL="0" marR="0" lvl="0" indent="0" algn="l" rtl="0">
              <a:lnSpc>
                <a:spcPct val="180000"/>
              </a:lnSpc>
              <a:spcBef>
                <a:spcPts val="0"/>
              </a:spcBef>
              <a:spcAft>
                <a:spcPts val="0"/>
              </a:spcAft>
              <a:buNone/>
            </a:pPr>
            <a:r>
              <a:rPr lang="en-US" sz="1500" b="0" i="0" u="none" strike="noStrike" cap="none" dirty="0">
                <a:solidFill>
                  <a:srgbClr val="ADB5BD"/>
                </a:solidFill>
                <a:latin typeface="Fira Code"/>
                <a:ea typeface="Fira Code"/>
                <a:cs typeface="Fira Code"/>
                <a:sym typeface="Fira Code"/>
              </a:rPr>
              <a:t>6 </a:t>
            </a:r>
            <a:r>
              <a:rPr lang="en-US" sz="1500" b="0" i="0" u="none" strike="noStrike" cap="none" dirty="0" err="1">
                <a:solidFill>
                  <a:srgbClr val="D73A49"/>
                </a:solidFill>
                <a:latin typeface="Fira Code SemiBold"/>
                <a:ea typeface="Fira Code SemiBold"/>
                <a:cs typeface="Fira Code SemiBold"/>
                <a:sym typeface="Fira Code SemiBold"/>
              </a:rPr>
              <a:t>finmientras</a:t>
            </a:r>
            <a:endParaRPr dirty="0"/>
          </a:p>
        </p:txBody>
      </p:sp>
      <p:sp>
        <p:nvSpPr>
          <p:cNvPr id="130" name="Google Shape;130;p15"/>
          <p:cNvSpPr txBox="1"/>
          <p:nvPr/>
        </p:nvSpPr>
        <p:spPr>
          <a:xfrm>
            <a:off x="6581775" y="3167955"/>
            <a:ext cx="4552950" cy="2908489"/>
          </a:xfrm>
          <a:prstGeom prst="rect">
            <a:avLst/>
          </a:prstGeom>
          <a:noFill/>
          <a:ln>
            <a:noFill/>
          </a:ln>
        </p:spPr>
        <p:txBody>
          <a:bodyPr spcFirstLastPara="1" wrap="square" lIns="0" tIns="0" rIns="0" bIns="0" anchor="t" anchorCtr="0">
            <a:spAutoFit/>
          </a:bodyPr>
          <a:lstStyle/>
          <a:p>
            <a:pPr marL="0" marR="0" lvl="0" indent="0" algn="l" rtl="0">
              <a:lnSpc>
                <a:spcPct val="180000"/>
              </a:lnSpc>
              <a:spcBef>
                <a:spcPts val="0"/>
              </a:spcBef>
              <a:spcAft>
                <a:spcPts val="0"/>
              </a:spcAft>
              <a:buNone/>
            </a:pPr>
            <a:r>
              <a:rPr lang="en-US" sz="1500" b="0" i="1" u="none" strike="noStrike" cap="none" dirty="0">
                <a:solidFill>
                  <a:srgbClr val="6A737D"/>
                </a:solidFill>
                <a:latin typeface="Fira Code"/>
                <a:ea typeface="Fira Code"/>
                <a:cs typeface="Fira Code"/>
                <a:sym typeface="Fira Code"/>
              </a:rPr>
              <a:t>/* * </a:t>
            </a:r>
            <a:r>
              <a:rPr lang="en-US" sz="1500" b="0" i="1" u="none" strike="noStrike" cap="none" dirty="0" err="1">
                <a:solidFill>
                  <a:srgbClr val="6A737D"/>
                </a:solidFill>
                <a:latin typeface="Fira Code"/>
                <a:ea typeface="Fira Code"/>
                <a:cs typeface="Fira Code"/>
                <a:sym typeface="Fira Code"/>
              </a:rPr>
              <a:t>Ejemplo</a:t>
            </a:r>
            <a:r>
              <a:rPr lang="en-US" sz="1500" b="0" i="1" u="none" strike="noStrike" cap="none" dirty="0">
                <a:solidFill>
                  <a:srgbClr val="6A737D"/>
                </a:solidFill>
                <a:latin typeface="Fira Code"/>
                <a:ea typeface="Fira Code"/>
                <a:cs typeface="Fira Code"/>
                <a:sym typeface="Fira Code"/>
              </a:rPr>
              <a:t> de </a:t>
            </a:r>
            <a:r>
              <a:rPr lang="en-US" sz="1500" b="0" i="1" u="none" strike="noStrike" cap="none" dirty="0" err="1">
                <a:solidFill>
                  <a:srgbClr val="6A737D"/>
                </a:solidFill>
                <a:latin typeface="Fira Code"/>
                <a:ea typeface="Fira Code"/>
                <a:cs typeface="Fira Code"/>
                <a:sym typeface="Fira Code"/>
              </a:rPr>
              <a:t>contador</a:t>
            </a:r>
            <a:r>
              <a:rPr lang="en-US" sz="1500" b="0" i="1" u="none" strike="noStrike" cap="none" dirty="0">
                <a:solidFill>
                  <a:srgbClr val="6A737D"/>
                </a:solidFill>
                <a:latin typeface="Fira Code"/>
                <a:ea typeface="Fira Code"/>
                <a:cs typeface="Fira Code"/>
                <a:sym typeface="Fira Code"/>
              </a:rPr>
              <a:t> con </a:t>
            </a:r>
            <a:r>
              <a:rPr lang="en-US" sz="1500" b="0" i="1" u="none" strike="noStrike" cap="none" dirty="0" err="1">
                <a:solidFill>
                  <a:srgbClr val="6A737D"/>
                </a:solidFill>
                <a:latin typeface="Fira Code"/>
                <a:ea typeface="Fira Code"/>
                <a:cs typeface="Fira Code"/>
                <a:sym typeface="Fira Code"/>
              </a:rPr>
              <a:t>saltos</a:t>
            </a:r>
            <a:r>
              <a:rPr lang="en-US" sz="1500" b="0" i="1" u="none" strike="noStrike" cap="none" dirty="0">
                <a:solidFill>
                  <a:srgbClr val="6A737D"/>
                </a:solidFill>
                <a:latin typeface="Fira Code"/>
                <a:ea typeface="Fira Code"/>
                <a:cs typeface="Fira Code"/>
                <a:sym typeface="Fira Code"/>
              </a:rPr>
              <a:t> * </a:t>
            </a:r>
            <a:r>
              <a:rPr lang="en-US" sz="1500" b="0" i="1" u="none" strike="noStrike" cap="none" dirty="0" err="1">
                <a:solidFill>
                  <a:srgbClr val="6A737D"/>
                </a:solidFill>
                <a:latin typeface="Fira Code"/>
                <a:ea typeface="Fira Code"/>
                <a:cs typeface="Fira Code"/>
                <a:sym typeface="Fira Code"/>
              </a:rPr>
              <a:t>Imprimirá</a:t>
            </a:r>
            <a:r>
              <a:rPr lang="en-US" sz="1500" b="0" i="1" u="none" strike="noStrike" cap="none" dirty="0">
                <a:solidFill>
                  <a:srgbClr val="6A737D"/>
                </a:solidFill>
                <a:latin typeface="Fira Code"/>
                <a:ea typeface="Fira Code"/>
                <a:cs typeface="Fira Code"/>
                <a:sym typeface="Fira Code"/>
              </a:rPr>
              <a:t>: Hola, Hola, Hola... */</a:t>
            </a:r>
            <a:r>
              <a:rPr lang="en-US" sz="1500" b="0" i="0" u="none" strike="noStrike" cap="none" dirty="0">
                <a:solidFill>
                  <a:srgbClr val="1E293B"/>
                </a:solidFill>
                <a:latin typeface="Fira Code"/>
                <a:ea typeface="Fira Code"/>
                <a:cs typeface="Fira Code"/>
                <a:sym typeface="Fira Code"/>
              </a:rPr>
              <a:t> </a:t>
            </a:r>
            <a:r>
              <a:rPr lang="en-US" sz="1500" b="0" i="0" u="none" strike="noStrike" cap="none" dirty="0" err="1">
                <a:solidFill>
                  <a:srgbClr val="D73A49"/>
                </a:solidFill>
                <a:latin typeface="Fira Code"/>
                <a:ea typeface="Fira Code"/>
                <a:cs typeface="Fira Code"/>
                <a:sym typeface="Fira Code"/>
              </a:rPr>
              <a:t>entero</a:t>
            </a:r>
            <a:r>
              <a:rPr lang="en-US" sz="1500" b="0" i="0" u="none" strike="noStrike" cap="none" dirty="0">
                <a:solidFill>
                  <a:srgbClr val="1E293B"/>
                </a:solidFill>
                <a:latin typeface="Fira Code"/>
                <a:ea typeface="Fira Code"/>
                <a:cs typeface="Fira Code"/>
                <a:sym typeface="Fira Code"/>
              </a:rPr>
              <a:t> </a:t>
            </a:r>
            <a:r>
              <a:rPr lang="en-US" sz="1500" b="0" i="0" u="none" strike="noStrike" cap="none" dirty="0" err="1">
                <a:solidFill>
                  <a:srgbClr val="24292E"/>
                </a:solidFill>
                <a:latin typeface="Fira Code"/>
                <a:ea typeface="Fira Code"/>
                <a:cs typeface="Fira Code"/>
                <a:sym typeface="Fira Code"/>
              </a:rPr>
              <a:t>i</a:t>
            </a:r>
            <a:r>
              <a:rPr lang="en-US" sz="1500" b="0" i="0" u="none" strike="noStrike" cap="none" dirty="0">
                <a:solidFill>
                  <a:srgbClr val="1E293B"/>
                </a:solidFill>
                <a:latin typeface="Fira Code"/>
                <a:ea typeface="Fira Code"/>
                <a:cs typeface="Fira Code"/>
                <a:sym typeface="Fira Code"/>
              </a:rPr>
              <a:t> </a:t>
            </a:r>
            <a:r>
              <a:rPr lang="en-US" sz="1500" b="0" i="0" u="none" strike="noStrike" cap="none" dirty="0">
                <a:solidFill>
                  <a:srgbClr val="D73A49"/>
                </a:solidFill>
                <a:latin typeface="Fira Code"/>
                <a:ea typeface="Fira Code"/>
                <a:cs typeface="Fira Code"/>
                <a:sym typeface="Fira Code"/>
              </a:rPr>
              <a:t>=</a:t>
            </a:r>
            <a:r>
              <a:rPr lang="en-US" sz="1500" b="0" i="0" u="none" strike="noStrike" cap="none" dirty="0">
                <a:solidFill>
                  <a:srgbClr val="1E293B"/>
                </a:solidFill>
                <a:latin typeface="Fira Code"/>
                <a:ea typeface="Fira Code"/>
                <a:cs typeface="Fira Code"/>
                <a:sym typeface="Fira Code"/>
              </a:rPr>
              <a:t> </a:t>
            </a:r>
            <a:r>
              <a:rPr lang="en-US" sz="1500" b="0" i="0" u="none" strike="noStrike" cap="none" dirty="0">
                <a:solidFill>
                  <a:srgbClr val="005CC5"/>
                </a:solidFill>
                <a:latin typeface="Fira Code"/>
                <a:ea typeface="Fira Code"/>
                <a:cs typeface="Fira Code"/>
                <a:sym typeface="Fira Code"/>
              </a:rPr>
              <a:t>2</a:t>
            </a:r>
            <a:r>
              <a:rPr lang="en-US" sz="1500" b="0" i="0" u="none" strike="noStrike" cap="none" dirty="0">
                <a:solidFill>
                  <a:srgbClr val="1E293B"/>
                </a:solidFill>
                <a:latin typeface="Fira Code"/>
                <a:ea typeface="Fira Code"/>
                <a:cs typeface="Fira Code"/>
                <a:sym typeface="Fira Code"/>
              </a:rPr>
              <a:t> </a:t>
            </a:r>
          </a:p>
          <a:p>
            <a:pPr marL="0" marR="0" lvl="0" indent="0" algn="l" rtl="0">
              <a:lnSpc>
                <a:spcPct val="180000"/>
              </a:lnSpc>
              <a:spcBef>
                <a:spcPts val="0"/>
              </a:spcBef>
              <a:spcAft>
                <a:spcPts val="0"/>
              </a:spcAft>
              <a:buNone/>
            </a:pPr>
            <a:r>
              <a:rPr lang="en-US" sz="1500" b="0" i="0" u="none" strike="noStrike" cap="none" dirty="0" err="1">
                <a:solidFill>
                  <a:srgbClr val="D73A49"/>
                </a:solidFill>
                <a:latin typeface="Fira Code SemiBold"/>
                <a:ea typeface="Fira Code SemiBold"/>
                <a:cs typeface="Fira Code SemiBold"/>
                <a:sym typeface="Fira Code SemiBold"/>
              </a:rPr>
              <a:t>mientras</a:t>
            </a:r>
            <a:r>
              <a:rPr lang="en-US" sz="1500" b="0" i="0" u="none" strike="noStrike" cap="none" dirty="0">
                <a:solidFill>
                  <a:srgbClr val="1E293B"/>
                </a:solidFill>
                <a:latin typeface="Fira Code"/>
                <a:ea typeface="Fira Code"/>
                <a:cs typeface="Fira Code"/>
                <a:sym typeface="Fira Code"/>
              </a:rPr>
              <a:t> (</a:t>
            </a:r>
            <a:r>
              <a:rPr lang="en-US" sz="1500" b="0" i="0" u="none" strike="noStrike" cap="none" dirty="0" err="1">
                <a:solidFill>
                  <a:srgbClr val="24292E"/>
                </a:solidFill>
                <a:latin typeface="Fira Code"/>
                <a:ea typeface="Fira Code"/>
                <a:cs typeface="Fira Code"/>
                <a:sym typeface="Fira Code"/>
              </a:rPr>
              <a:t>i</a:t>
            </a:r>
            <a:r>
              <a:rPr lang="en-US" sz="1500" b="0" i="0" u="none" strike="noStrike" cap="none" dirty="0">
                <a:solidFill>
                  <a:srgbClr val="1E293B"/>
                </a:solidFill>
                <a:latin typeface="Fira Code"/>
                <a:ea typeface="Fira Code"/>
                <a:cs typeface="Fira Code"/>
                <a:sym typeface="Fira Code"/>
              </a:rPr>
              <a:t> </a:t>
            </a:r>
            <a:r>
              <a:rPr lang="en-US" sz="1500" b="0" i="0" u="none" strike="noStrike" cap="none" dirty="0">
                <a:solidFill>
                  <a:srgbClr val="D73A49"/>
                </a:solidFill>
                <a:latin typeface="Fira Code"/>
                <a:ea typeface="Fira Code"/>
                <a:cs typeface="Fira Code"/>
                <a:sym typeface="Fira Code"/>
              </a:rPr>
              <a:t>&lt;=</a:t>
            </a:r>
            <a:r>
              <a:rPr lang="en-US" sz="1500" b="0" i="0" u="none" strike="noStrike" cap="none" dirty="0">
                <a:solidFill>
                  <a:srgbClr val="1E293B"/>
                </a:solidFill>
                <a:latin typeface="Fira Code"/>
                <a:ea typeface="Fira Code"/>
                <a:cs typeface="Fira Code"/>
                <a:sym typeface="Fira Code"/>
              </a:rPr>
              <a:t> </a:t>
            </a:r>
            <a:r>
              <a:rPr lang="en-US" sz="1500" b="0" i="0" u="none" strike="noStrike" cap="none" dirty="0">
                <a:solidFill>
                  <a:srgbClr val="005CC5"/>
                </a:solidFill>
                <a:latin typeface="Fira Code"/>
                <a:ea typeface="Fira Code"/>
                <a:cs typeface="Fira Code"/>
                <a:sym typeface="Fira Code"/>
              </a:rPr>
              <a:t>20</a:t>
            </a:r>
            <a:r>
              <a:rPr lang="en-US" sz="1500" b="0" i="0" u="none" strike="noStrike" cap="none" dirty="0">
                <a:solidFill>
                  <a:srgbClr val="1E293B"/>
                </a:solidFill>
                <a:latin typeface="Fira Code"/>
                <a:ea typeface="Fira Code"/>
                <a:cs typeface="Fira Code"/>
                <a:sym typeface="Fira Code"/>
              </a:rPr>
              <a:t>) </a:t>
            </a:r>
          </a:p>
          <a:p>
            <a:pPr marL="0" marR="0" lvl="0" indent="0" algn="l" rtl="0">
              <a:lnSpc>
                <a:spcPct val="180000"/>
              </a:lnSpc>
              <a:spcBef>
                <a:spcPts val="0"/>
              </a:spcBef>
              <a:spcAft>
                <a:spcPts val="0"/>
              </a:spcAft>
              <a:buNone/>
            </a:pPr>
            <a:r>
              <a:rPr lang="en-US" sz="1500" dirty="0">
                <a:solidFill>
                  <a:srgbClr val="1E293B"/>
                </a:solidFill>
                <a:latin typeface="Fira Code"/>
                <a:ea typeface="Fira Code"/>
                <a:cs typeface="Fira Code"/>
                <a:sym typeface="Fira Code"/>
              </a:rPr>
              <a:t>	</a:t>
            </a:r>
            <a:r>
              <a:rPr lang="en-US" sz="1500" b="0" i="0" u="none" strike="noStrike" cap="none" dirty="0" err="1">
                <a:solidFill>
                  <a:srgbClr val="24292E"/>
                </a:solidFill>
                <a:latin typeface="Fira Code"/>
                <a:ea typeface="Fira Code"/>
                <a:cs typeface="Fira Code"/>
                <a:sym typeface="Fira Code"/>
              </a:rPr>
              <a:t>imprimir</a:t>
            </a:r>
            <a:r>
              <a:rPr lang="en-US" sz="1500" b="0" i="0" u="none" strike="noStrike" cap="none" dirty="0">
                <a:solidFill>
                  <a:srgbClr val="1E293B"/>
                </a:solidFill>
                <a:latin typeface="Fira Code"/>
                <a:ea typeface="Fira Code"/>
                <a:cs typeface="Fira Code"/>
                <a:sym typeface="Fira Code"/>
              </a:rPr>
              <a:t>(</a:t>
            </a:r>
            <a:r>
              <a:rPr lang="en-US" sz="1500" b="0" i="0" u="none" strike="noStrike" cap="none" dirty="0">
                <a:solidFill>
                  <a:srgbClr val="032F62"/>
                </a:solidFill>
                <a:latin typeface="Fira Code"/>
                <a:ea typeface="Fira Code"/>
                <a:cs typeface="Fira Code"/>
                <a:sym typeface="Fira Code"/>
              </a:rPr>
              <a:t>"Hola"</a:t>
            </a:r>
            <a:r>
              <a:rPr lang="en-US" sz="1500" b="0" i="0" u="none" strike="noStrike" cap="none" dirty="0">
                <a:solidFill>
                  <a:srgbClr val="1E293B"/>
                </a:solidFill>
                <a:latin typeface="Fira Code"/>
                <a:ea typeface="Fira Code"/>
                <a:cs typeface="Fira Code"/>
                <a:sym typeface="Fira Code"/>
              </a:rPr>
              <a:t>) </a:t>
            </a:r>
          </a:p>
          <a:p>
            <a:pPr marL="0" marR="0" lvl="0" indent="0" algn="l" rtl="0">
              <a:lnSpc>
                <a:spcPct val="180000"/>
              </a:lnSpc>
              <a:spcBef>
                <a:spcPts val="0"/>
              </a:spcBef>
              <a:spcAft>
                <a:spcPts val="0"/>
              </a:spcAft>
              <a:buNone/>
            </a:pPr>
            <a:r>
              <a:rPr lang="en-US" sz="1500" b="0" i="0" u="none" strike="noStrike" cap="none" dirty="0" err="1">
                <a:solidFill>
                  <a:srgbClr val="24292E"/>
                </a:solidFill>
                <a:latin typeface="Fira Code"/>
                <a:ea typeface="Fira Code"/>
                <a:cs typeface="Fira Code"/>
                <a:sym typeface="Fira Code"/>
              </a:rPr>
              <a:t>i</a:t>
            </a:r>
            <a:r>
              <a:rPr lang="en-US" sz="1500" b="0" i="0" u="none" strike="noStrike" cap="none" dirty="0">
                <a:solidFill>
                  <a:srgbClr val="1E293B"/>
                </a:solidFill>
                <a:latin typeface="Fira Code"/>
                <a:ea typeface="Fira Code"/>
                <a:cs typeface="Fira Code"/>
                <a:sym typeface="Fira Code"/>
              </a:rPr>
              <a:t> </a:t>
            </a:r>
            <a:r>
              <a:rPr lang="en-US" sz="1500" b="0" i="0" u="none" strike="noStrike" cap="none" dirty="0">
                <a:solidFill>
                  <a:srgbClr val="D73A49"/>
                </a:solidFill>
                <a:latin typeface="Fira Code"/>
                <a:ea typeface="Fira Code"/>
                <a:cs typeface="Fira Code"/>
                <a:sym typeface="Fira Code"/>
              </a:rPr>
              <a:t>=</a:t>
            </a:r>
            <a:r>
              <a:rPr lang="en-US" sz="1500" b="0" i="0" u="none" strike="noStrike" cap="none" dirty="0">
                <a:solidFill>
                  <a:srgbClr val="1E293B"/>
                </a:solidFill>
                <a:latin typeface="Fira Code"/>
                <a:ea typeface="Fira Code"/>
                <a:cs typeface="Fira Code"/>
                <a:sym typeface="Fira Code"/>
              </a:rPr>
              <a:t> </a:t>
            </a:r>
            <a:r>
              <a:rPr lang="en-US" sz="1500" b="0" i="0" u="none" strike="noStrike" cap="none" dirty="0" err="1">
                <a:solidFill>
                  <a:srgbClr val="24292E"/>
                </a:solidFill>
                <a:latin typeface="Fira Code"/>
                <a:ea typeface="Fira Code"/>
                <a:cs typeface="Fira Code"/>
                <a:sym typeface="Fira Code"/>
              </a:rPr>
              <a:t>i</a:t>
            </a:r>
            <a:r>
              <a:rPr lang="en-US" sz="1500" b="0" i="0" u="none" strike="noStrike" cap="none" dirty="0">
                <a:solidFill>
                  <a:srgbClr val="1E293B"/>
                </a:solidFill>
                <a:latin typeface="Fira Code"/>
                <a:ea typeface="Fira Code"/>
                <a:cs typeface="Fira Code"/>
                <a:sym typeface="Fira Code"/>
              </a:rPr>
              <a:t> </a:t>
            </a:r>
            <a:r>
              <a:rPr lang="en-US" sz="1500" b="0" i="0" u="none" strike="noStrike" cap="none" dirty="0">
                <a:solidFill>
                  <a:srgbClr val="D73A49"/>
                </a:solidFill>
                <a:latin typeface="Fira Code"/>
                <a:ea typeface="Fira Code"/>
                <a:cs typeface="Fira Code"/>
                <a:sym typeface="Fira Code"/>
              </a:rPr>
              <a:t>+</a:t>
            </a:r>
            <a:r>
              <a:rPr lang="en-US" sz="1500" b="0" i="0" u="none" strike="noStrike" cap="none" dirty="0">
                <a:solidFill>
                  <a:srgbClr val="1E293B"/>
                </a:solidFill>
                <a:latin typeface="Fira Code"/>
                <a:ea typeface="Fira Code"/>
                <a:cs typeface="Fira Code"/>
                <a:sym typeface="Fira Code"/>
              </a:rPr>
              <a:t> </a:t>
            </a:r>
            <a:r>
              <a:rPr lang="en-US" sz="1500" b="0" i="0" u="none" strike="noStrike" cap="none" dirty="0">
                <a:solidFill>
                  <a:srgbClr val="005CC5"/>
                </a:solidFill>
                <a:latin typeface="Fira Code"/>
                <a:ea typeface="Fira Code"/>
                <a:cs typeface="Fira Code"/>
                <a:sym typeface="Fira Code"/>
              </a:rPr>
              <a:t>2</a:t>
            </a:r>
            <a:r>
              <a:rPr lang="en-US" sz="1500" b="0" i="0" u="none" strike="noStrike" cap="none" dirty="0">
                <a:solidFill>
                  <a:srgbClr val="1E293B"/>
                </a:solidFill>
                <a:latin typeface="Fira Code"/>
                <a:ea typeface="Fira Code"/>
                <a:cs typeface="Fira Code"/>
                <a:sym typeface="Fira Code"/>
              </a:rPr>
              <a:t> </a:t>
            </a:r>
          </a:p>
          <a:p>
            <a:pPr marL="0" marR="0" lvl="0" indent="0" algn="l" rtl="0">
              <a:lnSpc>
                <a:spcPct val="180000"/>
              </a:lnSpc>
              <a:spcBef>
                <a:spcPts val="0"/>
              </a:spcBef>
              <a:spcAft>
                <a:spcPts val="0"/>
              </a:spcAft>
              <a:buNone/>
            </a:pPr>
            <a:r>
              <a:rPr lang="en-US" sz="1500" b="0" i="0" u="none" strike="noStrike" cap="none" dirty="0" err="1">
                <a:solidFill>
                  <a:srgbClr val="D73A49"/>
                </a:solidFill>
                <a:latin typeface="Fira Code SemiBold"/>
                <a:ea typeface="Fira Code SemiBold"/>
                <a:cs typeface="Fira Code SemiBold"/>
                <a:sym typeface="Fira Code SemiBold"/>
              </a:rPr>
              <a:t>finmientras</a:t>
            </a:r>
            <a:endParaRPr dirty="0"/>
          </a:p>
        </p:txBody>
      </p:sp>
      <p:sp>
        <p:nvSpPr>
          <p:cNvPr id="131" name="Google Shape;131;p15"/>
          <p:cNvSpPr txBox="1"/>
          <p:nvPr/>
        </p:nvSpPr>
        <p:spPr>
          <a:xfrm>
            <a:off x="1819275" y="2586930"/>
            <a:ext cx="1333500" cy="152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975" b="1" i="0" u="none" strike="noStrike" cap="none">
                <a:solidFill>
                  <a:srgbClr val="475569"/>
                </a:solidFill>
                <a:latin typeface="Plus Jakarta Sans"/>
                <a:ea typeface="Plus Jakarta Sans"/>
                <a:cs typeface="Plus Jakarta Sans"/>
                <a:sym typeface="Plus Jakarta Sans"/>
              </a:rPr>
              <a:t>contador_basico.psc</a:t>
            </a:r>
            <a:endParaRPr/>
          </a:p>
        </p:txBody>
      </p:sp>
      <p:sp>
        <p:nvSpPr>
          <p:cNvPr id="132" name="Google Shape;132;p15"/>
          <p:cNvSpPr txBox="1"/>
          <p:nvPr/>
        </p:nvSpPr>
        <p:spPr>
          <a:xfrm>
            <a:off x="7343775" y="2586930"/>
            <a:ext cx="1200150" cy="152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975" b="1" i="0" u="none" strike="noStrike" cap="none">
                <a:solidFill>
                  <a:srgbClr val="475569"/>
                </a:solidFill>
                <a:latin typeface="Plus Jakarta Sans"/>
                <a:ea typeface="Plus Jakarta Sans"/>
                <a:cs typeface="Plus Jakarta Sans"/>
                <a:sym typeface="Plus Jakarta Sans"/>
              </a:rPr>
              <a:t>saltos_de_dos.psc</a:t>
            </a:r>
            <a:endParaRPr/>
          </a:p>
        </p:txBody>
      </p:sp>
      <p:sp>
        <p:nvSpPr>
          <p:cNvPr id="133" name="Google Shape;133;p15"/>
          <p:cNvSpPr/>
          <p:nvPr/>
        </p:nvSpPr>
        <p:spPr>
          <a:xfrm>
            <a:off x="962025" y="2605980"/>
            <a:ext cx="114300" cy="114300"/>
          </a:xfrm>
          <a:prstGeom prst="roundRect">
            <a:avLst>
              <a:gd name="adj" fmla="val 50000"/>
            </a:avLst>
          </a:prstGeom>
          <a:solidFill>
            <a:srgbClr val="FF5F5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4" name="Google Shape;134;p15"/>
          <p:cNvSpPr/>
          <p:nvPr/>
        </p:nvSpPr>
        <p:spPr>
          <a:xfrm>
            <a:off x="1152525" y="2605980"/>
            <a:ext cx="114300" cy="114300"/>
          </a:xfrm>
          <a:prstGeom prst="roundRect">
            <a:avLst>
              <a:gd name="adj" fmla="val 50000"/>
            </a:avLst>
          </a:prstGeom>
          <a:solidFill>
            <a:srgbClr val="FFBD2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5" name="Google Shape;135;p15"/>
          <p:cNvSpPr/>
          <p:nvPr/>
        </p:nvSpPr>
        <p:spPr>
          <a:xfrm>
            <a:off x="1343025" y="2605980"/>
            <a:ext cx="114300" cy="114300"/>
          </a:xfrm>
          <a:prstGeom prst="roundRect">
            <a:avLst>
              <a:gd name="adj" fmla="val 50000"/>
            </a:avLst>
          </a:prstGeom>
          <a:solidFill>
            <a:srgbClr val="27C9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36" name="Google Shape;136;p15" descr="image.png"/>
          <p:cNvPicPr preferRelativeResize="0"/>
          <p:nvPr/>
        </p:nvPicPr>
        <p:blipFill rotWithShape="1">
          <a:blip r:embed="rId7">
            <a:alphaModFix/>
          </a:blip>
          <a:srcRect/>
          <a:stretch/>
        </p:blipFill>
        <p:spPr>
          <a:xfrm>
            <a:off x="1647825" y="2601217"/>
            <a:ext cx="95250" cy="123825"/>
          </a:xfrm>
          <a:prstGeom prst="rect">
            <a:avLst/>
          </a:prstGeom>
          <a:noFill/>
          <a:ln>
            <a:noFill/>
          </a:ln>
        </p:spPr>
      </p:pic>
      <p:sp>
        <p:nvSpPr>
          <p:cNvPr id="137" name="Google Shape;137;p15"/>
          <p:cNvSpPr/>
          <p:nvPr/>
        </p:nvSpPr>
        <p:spPr>
          <a:xfrm>
            <a:off x="6486525" y="2605980"/>
            <a:ext cx="114300" cy="114300"/>
          </a:xfrm>
          <a:prstGeom prst="roundRect">
            <a:avLst>
              <a:gd name="adj" fmla="val 50000"/>
            </a:avLst>
          </a:prstGeom>
          <a:solidFill>
            <a:srgbClr val="FF5F5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8" name="Google Shape;138;p15"/>
          <p:cNvSpPr/>
          <p:nvPr/>
        </p:nvSpPr>
        <p:spPr>
          <a:xfrm>
            <a:off x="6677025" y="2605980"/>
            <a:ext cx="114300" cy="114300"/>
          </a:xfrm>
          <a:prstGeom prst="roundRect">
            <a:avLst>
              <a:gd name="adj" fmla="val 50000"/>
            </a:avLst>
          </a:prstGeom>
          <a:solidFill>
            <a:srgbClr val="FFBD2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9" name="Google Shape;139;p15"/>
          <p:cNvSpPr/>
          <p:nvPr/>
        </p:nvSpPr>
        <p:spPr>
          <a:xfrm>
            <a:off x="6867525" y="2605980"/>
            <a:ext cx="114300" cy="114300"/>
          </a:xfrm>
          <a:prstGeom prst="roundRect">
            <a:avLst>
              <a:gd name="adj" fmla="val 50000"/>
            </a:avLst>
          </a:prstGeom>
          <a:solidFill>
            <a:srgbClr val="27C93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40" name="Google Shape;140;p15" descr="image.png"/>
          <p:cNvPicPr preferRelativeResize="0"/>
          <p:nvPr/>
        </p:nvPicPr>
        <p:blipFill rotWithShape="1">
          <a:blip r:embed="rId7">
            <a:alphaModFix/>
          </a:blip>
          <a:srcRect/>
          <a:stretch/>
        </p:blipFill>
        <p:spPr>
          <a:xfrm>
            <a:off x="7172325" y="2601217"/>
            <a:ext cx="95250" cy="1238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p:bldP spid="130" grpId="0"/>
      <p:bldP spid="131" grpId="0"/>
      <p:bldP spid="132" grpId="0"/>
      <p:bldP spid="133" grpId="0" animBg="1"/>
      <p:bldP spid="134" grpId="0" animBg="1"/>
      <p:bldP spid="135" grpId="0" animBg="1"/>
      <p:bldP spid="137" grpId="0" animBg="1"/>
      <p:bldP spid="138" grpId="0" animBg="1"/>
      <p:bldP spid="13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5C32E-CA41-8795-99C0-96245EDD2833}"/>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23461A9F-3DAE-D124-3680-C086B5643E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1192" y="1412436"/>
            <a:ext cx="2405320" cy="2605007"/>
          </a:xfrm>
          <a:prstGeom prst="rect">
            <a:avLst/>
          </a:prstGeom>
        </p:spPr>
      </p:pic>
      <p:pic>
        <p:nvPicPr>
          <p:cNvPr id="5" name="Imagen 4">
            <a:extLst>
              <a:ext uri="{FF2B5EF4-FFF2-40B4-BE49-F238E27FC236}">
                <a16:creationId xmlns:a16="http://schemas.microsoft.com/office/drawing/2014/main" id="{EC60BD7B-BD95-C0F3-7EB0-8C3631568C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43804" y="3841660"/>
            <a:ext cx="2190048" cy="2371863"/>
          </a:xfrm>
          <a:prstGeom prst="rect">
            <a:avLst/>
          </a:prstGeom>
        </p:spPr>
      </p:pic>
      <p:pic>
        <p:nvPicPr>
          <p:cNvPr id="6" name="Imagen 5">
            <a:extLst>
              <a:ext uri="{FF2B5EF4-FFF2-40B4-BE49-F238E27FC236}">
                <a16:creationId xmlns:a16="http://schemas.microsoft.com/office/drawing/2014/main" id="{F31968E4-D301-81EE-C0A8-753D5042CB8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01973" y="3742035"/>
            <a:ext cx="2405320" cy="2605007"/>
          </a:xfrm>
          <a:prstGeom prst="rect">
            <a:avLst/>
          </a:prstGeom>
        </p:spPr>
      </p:pic>
      <p:pic>
        <p:nvPicPr>
          <p:cNvPr id="7" name="Imagen 6">
            <a:extLst>
              <a:ext uri="{FF2B5EF4-FFF2-40B4-BE49-F238E27FC236}">
                <a16:creationId xmlns:a16="http://schemas.microsoft.com/office/drawing/2014/main" id="{315D56F7-88D6-0A7F-73F7-A33C8551BB3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76941" y="1334130"/>
            <a:ext cx="2405320" cy="2605007"/>
          </a:xfrm>
          <a:prstGeom prst="rect">
            <a:avLst/>
          </a:prstGeom>
        </p:spPr>
      </p:pic>
      <p:pic>
        <p:nvPicPr>
          <p:cNvPr id="8" name="Imagen 7">
            <a:extLst>
              <a:ext uri="{FF2B5EF4-FFF2-40B4-BE49-F238E27FC236}">
                <a16:creationId xmlns:a16="http://schemas.microsoft.com/office/drawing/2014/main" id="{9C835511-CA7A-7B43-6BB7-754764E2C82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608962" y="1657339"/>
            <a:ext cx="2405320" cy="2605007"/>
          </a:xfrm>
          <a:prstGeom prst="rect">
            <a:avLst/>
          </a:prstGeom>
        </p:spPr>
      </p:pic>
      <p:pic>
        <p:nvPicPr>
          <p:cNvPr id="9" name="Imagen 8">
            <a:extLst>
              <a:ext uri="{FF2B5EF4-FFF2-40B4-BE49-F238E27FC236}">
                <a16:creationId xmlns:a16="http://schemas.microsoft.com/office/drawing/2014/main" id="{735C86FF-B7B3-E146-2804-44B8420C72B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286939" y="3608516"/>
            <a:ext cx="2363633" cy="2559859"/>
          </a:xfrm>
          <a:prstGeom prst="rect">
            <a:avLst/>
          </a:prstGeom>
        </p:spPr>
      </p:pic>
      <p:pic>
        <p:nvPicPr>
          <p:cNvPr id="10" name="Imagen 9">
            <a:extLst>
              <a:ext uri="{FF2B5EF4-FFF2-40B4-BE49-F238E27FC236}">
                <a16:creationId xmlns:a16="http://schemas.microsoft.com/office/drawing/2014/main" id="{DFD3DF61-074C-9469-B968-982A2559C15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92497" y="3841660"/>
            <a:ext cx="2405320" cy="2605007"/>
          </a:xfrm>
          <a:prstGeom prst="rect">
            <a:avLst/>
          </a:prstGeom>
        </p:spPr>
      </p:pic>
      <p:pic>
        <p:nvPicPr>
          <p:cNvPr id="11" name="Imagen 10">
            <a:extLst>
              <a:ext uri="{FF2B5EF4-FFF2-40B4-BE49-F238E27FC236}">
                <a16:creationId xmlns:a16="http://schemas.microsoft.com/office/drawing/2014/main" id="{6DA4023D-1DE9-86AA-74A9-80FB066539D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011211" y="1657338"/>
            <a:ext cx="2405320" cy="2605007"/>
          </a:xfrm>
          <a:prstGeom prst="rect">
            <a:avLst/>
          </a:prstGeom>
        </p:spPr>
      </p:pic>
      <p:pic>
        <p:nvPicPr>
          <p:cNvPr id="12" name="Imagen 11">
            <a:extLst>
              <a:ext uri="{FF2B5EF4-FFF2-40B4-BE49-F238E27FC236}">
                <a16:creationId xmlns:a16="http://schemas.microsoft.com/office/drawing/2014/main" id="{B410DB9E-0D67-86A1-94BC-EB1E76CBEB3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30911" y="1553908"/>
            <a:ext cx="2405320" cy="2605007"/>
          </a:xfrm>
          <a:prstGeom prst="rect">
            <a:avLst/>
          </a:prstGeom>
        </p:spPr>
      </p:pic>
      <p:pic>
        <p:nvPicPr>
          <p:cNvPr id="3" name="Imagen 2">
            <a:extLst>
              <a:ext uri="{FF2B5EF4-FFF2-40B4-BE49-F238E27FC236}">
                <a16:creationId xmlns:a16="http://schemas.microsoft.com/office/drawing/2014/main" id="{16B3321E-7E8F-9C38-B620-895B2A49A154}"/>
              </a:ext>
            </a:extLst>
          </p:cNvPr>
          <p:cNvPicPr>
            <a:picLocks noGrp="1" noRot="1" noChangeAspect="1" noMove="1" noResize="1" noEditPoints="1" noAdjustHandles="1" noChangeArrowheads="1" noChangeShapeType="1" noCrop="1"/>
          </p:cNvPicPr>
          <p:nvPr/>
        </p:nvPicPr>
        <p:blipFill>
          <a:blip r:embed="rId12">
            <a:extLst>
              <a:ext uri="{28A0092B-C50C-407E-A947-70E740481C1C}">
                <a14:useLocalDpi xmlns:a14="http://schemas.microsoft.com/office/drawing/2010/main" val="0"/>
              </a:ext>
            </a:extLst>
          </a:blip>
          <a:srcRect/>
          <a:stretch/>
        </p:blipFill>
        <p:spPr>
          <a:xfrm>
            <a:off x="0" y="12560"/>
            <a:ext cx="12192000" cy="6832879"/>
          </a:xfrm>
          <a:prstGeom prst="rect">
            <a:avLst/>
          </a:prstGeom>
        </p:spPr>
      </p:pic>
      <p:pic>
        <p:nvPicPr>
          <p:cNvPr id="13" name="Picture 12">
            <a:extLst>
              <a:ext uri="{FF2B5EF4-FFF2-40B4-BE49-F238E27FC236}">
                <a16:creationId xmlns:a16="http://schemas.microsoft.com/office/drawing/2014/main" id="{404343C8-7B72-C785-9560-2A9E7AB0D148}"/>
              </a:ext>
            </a:extLst>
          </p:cNvPr>
          <p:cNvPicPr>
            <a:picLocks noChangeAspect="1"/>
          </p:cNvPicPr>
          <p:nvPr/>
        </p:nvPicPr>
        <p:blipFill>
          <a:blip r:embed="rId13"/>
          <a:srcRect b="7450"/>
          <a:stretch>
            <a:fillRect/>
          </a:stretch>
        </p:blipFill>
        <p:spPr>
          <a:xfrm>
            <a:off x="1211" y="12560"/>
            <a:ext cx="12189577" cy="6788290"/>
          </a:xfrm>
          <a:prstGeom prst="rect">
            <a:avLst/>
          </a:prstGeom>
        </p:spPr>
      </p:pic>
    </p:spTree>
    <p:extLst>
      <p:ext uri="{BB962C8B-B14F-4D97-AF65-F5344CB8AC3E}">
        <p14:creationId xmlns:p14="http://schemas.microsoft.com/office/powerpoint/2010/main" val="1875780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5387340" y="1190625"/>
            <a:ext cx="6629400" cy="5579268"/>
          </a:xfrm>
          <a:prstGeom prst="rect">
            <a:avLst/>
          </a:prstGeom>
          <a:noFill/>
          <a:ln>
            <a:noFill/>
          </a:ln>
        </p:spPr>
      </p:pic>
      <p:pic>
        <p:nvPicPr>
          <p:cNvPr id="86" name="Google Shape;86;p13" descr="image.png"/>
          <p:cNvPicPr preferRelativeResize="0"/>
          <p:nvPr/>
        </p:nvPicPr>
        <p:blipFill rotWithShape="1">
          <a:blip r:embed="rId5">
            <a:alphaModFix/>
          </a:blip>
          <a:srcRect/>
          <a:stretch/>
        </p:blipFill>
        <p:spPr>
          <a:xfrm>
            <a:off x="571500" y="3433761"/>
            <a:ext cx="4419600" cy="1619501"/>
          </a:xfrm>
          <a:prstGeom prst="rect">
            <a:avLst/>
          </a:prstGeom>
          <a:noFill/>
          <a:ln>
            <a:noFill/>
          </a:ln>
        </p:spPr>
      </p:pic>
      <p:sp>
        <p:nvSpPr>
          <p:cNvPr id="87" name="Google Shape;87;p13"/>
          <p:cNvSpPr txBox="1"/>
          <p:nvPr/>
        </p:nvSpPr>
        <p:spPr>
          <a:xfrm>
            <a:off x="571500" y="476250"/>
            <a:ext cx="11601450"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3A8A"/>
                </a:solidFill>
                <a:latin typeface="Merriweather"/>
                <a:ea typeface="Merriweather"/>
                <a:cs typeface="Merriweather"/>
                <a:sym typeface="Merriweather"/>
              </a:rPr>
              <a:t>Algoritmo: Verificar Edades (Iteraciones Conocidas)</a:t>
            </a:r>
            <a:endParaRPr/>
          </a:p>
        </p:txBody>
      </p:sp>
      <p:sp>
        <p:nvSpPr>
          <p:cNvPr id="88" name="Google Shape;88;p13"/>
          <p:cNvSpPr/>
          <p:nvPr/>
        </p:nvSpPr>
        <p:spPr>
          <a:xfrm>
            <a:off x="571500" y="1047750"/>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9" name="Google Shape;89;p13"/>
          <p:cNvSpPr txBox="1"/>
          <p:nvPr/>
        </p:nvSpPr>
        <p:spPr>
          <a:xfrm>
            <a:off x="571500" y="1304925"/>
            <a:ext cx="4640580" cy="2952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0F172A"/>
                </a:solidFill>
                <a:latin typeface="Merriweather"/>
                <a:ea typeface="Merriweather"/>
                <a:cs typeface="Merriweather"/>
                <a:sym typeface="Merriweather"/>
              </a:rPr>
              <a:t>El </a:t>
            </a:r>
            <a:r>
              <a:rPr lang="en-US" sz="1800" b="1" i="0" u="none" strike="noStrike" cap="none" dirty="0" err="1">
                <a:solidFill>
                  <a:srgbClr val="0F172A"/>
                </a:solidFill>
                <a:latin typeface="Merriweather"/>
                <a:ea typeface="Merriweather"/>
                <a:cs typeface="Merriweather"/>
                <a:sym typeface="Merriweather"/>
              </a:rPr>
              <a:t>Problema</a:t>
            </a:r>
            <a:endParaRPr dirty="0"/>
          </a:p>
        </p:txBody>
      </p:sp>
      <p:sp>
        <p:nvSpPr>
          <p:cNvPr id="90" name="Google Shape;90;p13"/>
          <p:cNvSpPr txBox="1"/>
          <p:nvPr/>
        </p:nvSpPr>
        <p:spPr>
          <a:xfrm>
            <a:off x="571500" y="1743075"/>
            <a:ext cx="4419600" cy="135731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dirty="0" err="1">
                <a:solidFill>
                  <a:srgbClr val="334155"/>
                </a:solidFill>
                <a:latin typeface="Inter"/>
                <a:ea typeface="Inter"/>
                <a:cs typeface="Inter"/>
                <a:sym typeface="Inter"/>
              </a:rPr>
              <a:t>Necesitamos</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verificar</a:t>
            </a:r>
            <a:r>
              <a:rPr lang="en-US" sz="1425" b="0" i="0" u="none" strike="noStrike" cap="none" dirty="0">
                <a:solidFill>
                  <a:srgbClr val="334155"/>
                </a:solidFill>
                <a:latin typeface="Inter"/>
                <a:ea typeface="Inter"/>
                <a:cs typeface="Inter"/>
                <a:sym typeface="Inter"/>
              </a:rPr>
              <a:t> la </a:t>
            </a:r>
            <a:r>
              <a:rPr lang="en-US" sz="1425" b="0" i="0" u="none" strike="noStrike" cap="none" dirty="0" err="1">
                <a:solidFill>
                  <a:srgbClr val="334155"/>
                </a:solidFill>
                <a:latin typeface="Inter"/>
                <a:ea typeface="Inter"/>
                <a:cs typeface="Inter"/>
                <a:sym typeface="Inter"/>
              </a:rPr>
              <a:t>edad</a:t>
            </a:r>
            <a:r>
              <a:rPr lang="en-US" sz="1425" b="0" i="0" u="none" strike="noStrike" cap="none" dirty="0">
                <a:solidFill>
                  <a:srgbClr val="334155"/>
                </a:solidFill>
                <a:latin typeface="Inter"/>
                <a:ea typeface="Inter"/>
                <a:cs typeface="Inter"/>
                <a:sym typeface="Inter"/>
              </a:rPr>
              <a:t> de </a:t>
            </a:r>
            <a:r>
              <a:rPr lang="en-US" sz="1425" b="1" i="0" u="none" strike="noStrike" cap="none" dirty="0">
                <a:solidFill>
                  <a:srgbClr val="334155"/>
                </a:solidFill>
                <a:latin typeface="Inter"/>
                <a:ea typeface="Inter"/>
                <a:cs typeface="Inter"/>
                <a:sym typeface="Inter"/>
              </a:rPr>
              <a:t>5 personas</a:t>
            </a:r>
            <a:r>
              <a:rPr lang="en-US" sz="1425" b="0" i="0" u="none" strike="noStrike" cap="none" dirty="0">
                <a:solidFill>
                  <a:srgbClr val="334155"/>
                </a:solidFill>
                <a:latin typeface="Inter"/>
                <a:ea typeface="Inter"/>
                <a:cs typeface="Inter"/>
                <a:sym typeface="Inter"/>
              </a:rPr>
              <a:t> exactas y </a:t>
            </a:r>
            <a:r>
              <a:rPr lang="en-US" sz="1425" b="0" i="0" u="none" strike="noStrike" cap="none" dirty="0" err="1">
                <a:solidFill>
                  <a:srgbClr val="334155"/>
                </a:solidFill>
                <a:latin typeface="Inter"/>
                <a:ea typeface="Inter"/>
                <a:cs typeface="Inter"/>
                <a:sym typeface="Inter"/>
              </a:rPr>
              <a:t>determinar</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si</a:t>
            </a:r>
            <a:r>
              <a:rPr lang="en-US" sz="1425" b="0" i="0" u="none" strike="noStrike" cap="none" dirty="0">
                <a:solidFill>
                  <a:srgbClr val="334155"/>
                </a:solidFill>
                <a:latin typeface="Inter"/>
                <a:ea typeface="Inter"/>
                <a:cs typeface="Inter"/>
                <a:sym typeface="Inter"/>
              </a:rPr>
              <a:t> son </a:t>
            </a:r>
            <a:r>
              <a:rPr lang="en-US" sz="1425" b="0" i="0" u="none" strike="noStrike" cap="none" dirty="0" err="1">
                <a:solidFill>
                  <a:srgbClr val="334155"/>
                </a:solidFill>
                <a:latin typeface="Inter"/>
                <a:ea typeface="Inter"/>
                <a:cs typeface="Inter"/>
                <a:sym typeface="Inter"/>
              </a:rPr>
              <a:t>mayores</a:t>
            </a:r>
            <a:r>
              <a:rPr lang="en-US" sz="1425" b="0" i="0" u="none" strike="noStrike" cap="none" dirty="0">
                <a:solidFill>
                  <a:srgbClr val="334155"/>
                </a:solidFill>
                <a:latin typeface="Inter"/>
                <a:ea typeface="Inter"/>
                <a:cs typeface="Inter"/>
                <a:sym typeface="Inter"/>
              </a:rPr>
              <a:t> de </a:t>
            </a:r>
            <a:r>
              <a:rPr lang="en-US" sz="1425" b="0" i="0" u="none" strike="noStrike" cap="none" dirty="0" err="1">
                <a:solidFill>
                  <a:srgbClr val="334155"/>
                </a:solidFill>
                <a:latin typeface="Inter"/>
                <a:ea typeface="Inter"/>
                <a:cs typeface="Inter"/>
                <a:sym typeface="Inter"/>
              </a:rPr>
              <a:t>edad</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Aunque</a:t>
            </a:r>
            <a:r>
              <a:rPr lang="en-US" sz="1425" b="0" i="0" u="none" strike="noStrike" cap="none" dirty="0">
                <a:solidFill>
                  <a:srgbClr val="334155"/>
                </a:solidFill>
                <a:latin typeface="Inter"/>
                <a:ea typeface="Inter"/>
                <a:cs typeface="Inter"/>
                <a:sym typeface="Inter"/>
              </a:rPr>
              <a:t> es un </a:t>
            </a:r>
            <a:r>
              <a:rPr lang="en-US" sz="1425" b="0" i="0" u="none" strike="noStrike" cap="none" dirty="0" err="1">
                <a:solidFill>
                  <a:srgbClr val="334155"/>
                </a:solidFill>
                <a:latin typeface="Inter"/>
                <a:ea typeface="Inter"/>
                <a:cs typeface="Inter"/>
                <a:sym typeface="Inter"/>
              </a:rPr>
              <a:t>escenario</a:t>
            </a:r>
            <a:r>
              <a:rPr lang="en-US" sz="1425" b="0" i="0" u="none" strike="noStrike" cap="none" dirty="0">
                <a:solidFill>
                  <a:srgbClr val="334155"/>
                </a:solidFill>
                <a:latin typeface="Inter"/>
                <a:ea typeface="Inter"/>
                <a:cs typeface="Inter"/>
                <a:sym typeface="Inter"/>
              </a:rPr>
              <a:t> ideal para un </a:t>
            </a:r>
            <a:r>
              <a:rPr lang="en-US" sz="1425" b="0" i="0" u="none" strike="noStrike" cap="none" dirty="0" err="1">
                <a:solidFill>
                  <a:srgbClr val="334155"/>
                </a:solidFill>
                <a:latin typeface="Inter"/>
                <a:ea typeface="Inter"/>
                <a:cs typeface="Inter"/>
                <a:sym typeface="Inter"/>
              </a:rPr>
              <a:t>ciclo</a:t>
            </a:r>
            <a:r>
              <a:rPr lang="en-US" sz="1425" b="0" i="0" u="none" strike="noStrike" cap="none" dirty="0">
                <a:solidFill>
                  <a:srgbClr val="334155"/>
                </a:solidFill>
                <a:latin typeface="Inter"/>
                <a:ea typeface="Inter"/>
                <a:cs typeface="Inter"/>
                <a:sym typeface="Inter"/>
              </a:rPr>
              <a:t> PARA, lo </a:t>
            </a:r>
            <a:r>
              <a:rPr lang="en-US" sz="1425" b="0" i="0" u="none" strike="noStrike" cap="none" dirty="0" err="1">
                <a:solidFill>
                  <a:srgbClr val="334155"/>
                </a:solidFill>
                <a:latin typeface="Inter"/>
                <a:ea typeface="Inter"/>
                <a:cs typeface="Inter"/>
                <a:sym typeface="Inter"/>
              </a:rPr>
              <a:t>resolveremos</a:t>
            </a:r>
            <a:r>
              <a:rPr lang="en-US" sz="1425" b="0" i="0" u="none" strike="noStrike" cap="none" dirty="0">
                <a:solidFill>
                  <a:srgbClr val="334155"/>
                </a:solidFill>
                <a:latin typeface="Inter"/>
                <a:ea typeface="Inter"/>
                <a:cs typeface="Inter"/>
                <a:sym typeface="Inter"/>
              </a:rPr>
              <a:t> con un MIENTRAS para </a:t>
            </a:r>
            <a:r>
              <a:rPr lang="en-US" sz="1425" b="0" i="0" u="none" strike="noStrike" cap="none" dirty="0" err="1">
                <a:solidFill>
                  <a:srgbClr val="334155"/>
                </a:solidFill>
                <a:latin typeface="Inter"/>
                <a:ea typeface="Inter"/>
                <a:cs typeface="Inter"/>
                <a:sym typeface="Inter"/>
              </a:rPr>
              <a:t>comprender</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su</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estructura</a:t>
            </a:r>
            <a:r>
              <a:rPr lang="en-US" sz="1425" b="0" i="0" u="none" strike="noStrike" cap="none" dirty="0">
                <a:solidFill>
                  <a:srgbClr val="334155"/>
                </a:solidFill>
                <a:latin typeface="Inter"/>
                <a:ea typeface="Inter"/>
                <a:cs typeface="Inter"/>
                <a:sym typeface="Inter"/>
              </a:rPr>
              <a:t> fundamental.</a:t>
            </a:r>
            <a:endParaRPr dirty="0"/>
          </a:p>
        </p:txBody>
      </p:sp>
      <p:sp>
        <p:nvSpPr>
          <p:cNvPr id="91" name="Google Shape;91;p13"/>
          <p:cNvSpPr txBox="1"/>
          <p:nvPr/>
        </p:nvSpPr>
        <p:spPr>
          <a:xfrm>
            <a:off x="800100" y="3576637"/>
            <a:ext cx="4000500" cy="108585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dirty="0">
                <a:solidFill>
                  <a:srgbClr val="1E3A8A"/>
                </a:solidFill>
                <a:latin typeface="Inter"/>
                <a:ea typeface="Inter"/>
                <a:cs typeface="Inter"/>
                <a:sym typeface="Inter"/>
              </a:rPr>
              <a:t>Nota </a:t>
            </a:r>
            <a:r>
              <a:rPr lang="en-US" sz="1425" b="1" i="0" u="none" strike="noStrike" cap="none" dirty="0" err="1">
                <a:solidFill>
                  <a:srgbClr val="1E3A8A"/>
                </a:solidFill>
                <a:latin typeface="Inter"/>
                <a:ea typeface="Inter"/>
                <a:cs typeface="Inter"/>
                <a:sym typeface="Inter"/>
              </a:rPr>
              <a:t>Logicode</a:t>
            </a:r>
            <a:r>
              <a:rPr lang="en-US" sz="1425" b="1" i="0" u="none" strike="noStrike" cap="none" dirty="0">
                <a:solidFill>
                  <a:srgbClr val="1E3A8A"/>
                </a:solidFill>
                <a:latin typeface="Inter"/>
                <a:ea typeface="Inter"/>
                <a:cs typeface="Inter"/>
                <a:sym typeface="Inter"/>
              </a:rPr>
              <a:t>:</a:t>
            </a:r>
            <a:r>
              <a:rPr lang="en-US" sz="1425" b="0" i="0" u="none" strike="noStrike" cap="none" dirty="0">
                <a:solidFill>
                  <a:srgbClr val="1E3A8A"/>
                </a:solidFill>
                <a:latin typeface="Inter"/>
                <a:ea typeface="Inter"/>
                <a:cs typeface="Inter"/>
                <a:sym typeface="Inter"/>
              </a:rPr>
              <a:t> </a:t>
            </a:r>
            <a:r>
              <a:rPr lang="en-US" sz="1425" b="0" i="0" u="none" strike="noStrike" cap="none" dirty="0" err="1">
                <a:solidFill>
                  <a:srgbClr val="1E3A8A"/>
                </a:solidFill>
                <a:latin typeface="Inter"/>
                <a:ea typeface="Inter"/>
                <a:cs typeface="Inter"/>
                <a:sym typeface="Inter"/>
              </a:rPr>
              <a:t>Observa</a:t>
            </a:r>
            <a:r>
              <a:rPr lang="en-US" sz="1425" b="0" i="0" u="none" strike="noStrike" cap="none" dirty="0">
                <a:solidFill>
                  <a:srgbClr val="1E3A8A"/>
                </a:solidFill>
                <a:latin typeface="Inter"/>
                <a:ea typeface="Inter"/>
                <a:cs typeface="Inter"/>
                <a:sym typeface="Inter"/>
              </a:rPr>
              <a:t> la </a:t>
            </a:r>
            <a:r>
              <a:rPr lang="en-US" sz="1425" b="0" i="0" u="none" strike="noStrike" cap="none" dirty="0" err="1">
                <a:solidFill>
                  <a:srgbClr val="1E3A8A"/>
                </a:solidFill>
                <a:latin typeface="Inter"/>
                <a:ea typeface="Inter"/>
                <a:cs typeface="Inter"/>
                <a:sym typeface="Inter"/>
              </a:rPr>
              <a:t>estructura</a:t>
            </a:r>
            <a:r>
              <a:rPr lang="en-US" sz="1425" b="0" i="0" u="none" strike="noStrike" cap="none" dirty="0">
                <a:solidFill>
                  <a:srgbClr val="1E3A8A"/>
                </a:solidFill>
                <a:latin typeface="Inter"/>
                <a:ea typeface="Inter"/>
                <a:cs typeface="Inter"/>
                <a:sym typeface="Inter"/>
              </a:rPr>
              <a:t> </a:t>
            </a:r>
            <a:r>
              <a:rPr lang="en-US" sz="1425" b="0" i="0" u="none" strike="noStrike" cap="none" dirty="0" err="1">
                <a:solidFill>
                  <a:srgbClr val="1E3A8A"/>
                </a:solidFill>
                <a:latin typeface="Inter"/>
                <a:ea typeface="Inter"/>
                <a:cs typeface="Inter"/>
                <a:sym typeface="Inter"/>
              </a:rPr>
              <a:t>estricta</a:t>
            </a:r>
            <a:r>
              <a:rPr lang="en-US" sz="1425" b="0" i="0" u="none" strike="noStrike" cap="none" dirty="0">
                <a:solidFill>
                  <a:srgbClr val="1E3A8A"/>
                </a:solidFill>
                <a:latin typeface="Inter"/>
                <a:ea typeface="Inter"/>
                <a:cs typeface="Inter"/>
                <a:sym typeface="Inter"/>
              </a:rPr>
              <a:t>: </a:t>
            </a:r>
            <a:r>
              <a:rPr lang="en-US" sz="1425" b="0" i="0" u="none" strike="noStrike" cap="none" dirty="0" err="1">
                <a:solidFill>
                  <a:srgbClr val="1E3A8A"/>
                </a:solidFill>
                <a:latin typeface="Inter"/>
                <a:ea typeface="Inter"/>
                <a:cs typeface="Inter"/>
                <a:sym typeface="Inter"/>
              </a:rPr>
              <a:t>declaración</a:t>
            </a:r>
            <a:r>
              <a:rPr lang="en-US" sz="1425" b="0" i="0" u="none" strike="noStrike" cap="none" dirty="0">
                <a:solidFill>
                  <a:srgbClr val="1E3A8A"/>
                </a:solidFill>
                <a:latin typeface="Inter"/>
                <a:ea typeface="Inter"/>
                <a:cs typeface="Inter"/>
                <a:sym typeface="Inter"/>
              </a:rPr>
              <a:t> de la </a:t>
            </a:r>
            <a:r>
              <a:rPr lang="en-US" sz="1425" b="0" i="0" u="none" strike="noStrike" cap="none" dirty="0" err="1">
                <a:solidFill>
                  <a:srgbClr val="1E3A8A"/>
                </a:solidFill>
                <a:latin typeface="Inter"/>
                <a:ea typeface="Inter"/>
                <a:cs typeface="Inter"/>
                <a:sym typeface="Inter"/>
              </a:rPr>
              <a:t>clase</a:t>
            </a:r>
            <a:r>
              <a:rPr lang="en-US" sz="1425" b="0" i="0" u="none" strike="noStrike" cap="none" dirty="0">
                <a:solidFill>
                  <a:srgbClr val="1E3A8A"/>
                </a:solidFill>
                <a:latin typeface="Inter"/>
                <a:ea typeface="Inter"/>
                <a:cs typeface="Inter"/>
                <a:sym typeface="Inter"/>
              </a:rPr>
              <a:t>, </a:t>
            </a:r>
            <a:r>
              <a:rPr lang="en-US" sz="1425" b="0" i="0" u="none" strike="noStrike" cap="none" dirty="0" err="1">
                <a:solidFill>
                  <a:srgbClr val="1E3A8A"/>
                </a:solidFill>
                <a:latin typeface="Inter"/>
                <a:ea typeface="Inter"/>
                <a:cs typeface="Inter"/>
                <a:sym typeface="Inter"/>
              </a:rPr>
              <a:t>el</a:t>
            </a:r>
            <a:r>
              <a:rPr lang="en-US" sz="1425" b="0" i="0" u="none" strike="noStrike" cap="none" dirty="0">
                <a:solidFill>
                  <a:srgbClr val="1E3A8A"/>
                </a:solidFill>
                <a:latin typeface="Inter"/>
                <a:ea typeface="Inter"/>
                <a:cs typeface="Inter"/>
                <a:sym typeface="Inter"/>
              </a:rPr>
              <a:t> </a:t>
            </a:r>
            <a:r>
              <a:rPr lang="en-US" sz="1425" b="0" i="0" u="none" strike="noStrike" cap="none" dirty="0" err="1">
                <a:solidFill>
                  <a:srgbClr val="1E3A8A"/>
                </a:solidFill>
                <a:latin typeface="Inter"/>
                <a:ea typeface="Inter"/>
                <a:cs typeface="Inter"/>
                <a:sym typeface="Inter"/>
              </a:rPr>
              <a:t>método</a:t>
            </a:r>
            <a:r>
              <a:rPr lang="en-US" sz="1425" b="0" i="0" u="none" strike="noStrike" cap="none" dirty="0">
                <a:solidFill>
                  <a:srgbClr val="1E3A8A"/>
                </a:solidFill>
                <a:latin typeface="Inter"/>
                <a:ea typeface="Inter"/>
                <a:cs typeface="Inter"/>
                <a:sym typeface="Inter"/>
              </a:rPr>
              <a:t> principal, variables </a:t>
            </a:r>
            <a:r>
              <a:rPr lang="en-US" sz="1425" b="0" i="0" u="none" strike="noStrike" cap="none" dirty="0" err="1">
                <a:solidFill>
                  <a:srgbClr val="1E3A8A"/>
                </a:solidFill>
                <a:latin typeface="Inter"/>
                <a:ea typeface="Inter"/>
                <a:cs typeface="Inter"/>
                <a:sym typeface="Inter"/>
              </a:rPr>
              <a:t>tipadas</a:t>
            </a:r>
            <a:r>
              <a:rPr lang="en-US" sz="1425" b="0" i="0" u="none" strike="noStrike" cap="none" dirty="0">
                <a:solidFill>
                  <a:srgbClr val="1E3A8A"/>
                </a:solidFill>
                <a:latin typeface="Inter"/>
                <a:ea typeface="Inter"/>
                <a:cs typeface="Inter"/>
                <a:sym typeface="Inter"/>
              </a:rPr>
              <a:t> (</a:t>
            </a:r>
            <a:r>
              <a:rPr lang="en-US" sz="1425" b="0" i="0" u="none" strike="noStrike" cap="none" dirty="0" err="1">
                <a:solidFill>
                  <a:srgbClr val="1E3A8A"/>
                </a:solidFill>
                <a:latin typeface="Inter"/>
                <a:ea typeface="Inter"/>
                <a:cs typeface="Inter"/>
                <a:sym typeface="Inter"/>
              </a:rPr>
              <a:t>entero</a:t>
            </a:r>
            <a:r>
              <a:rPr lang="en-US" sz="1425" b="0" i="0" u="none" strike="noStrike" cap="none" dirty="0">
                <a:solidFill>
                  <a:srgbClr val="1E3A8A"/>
                </a:solidFill>
                <a:latin typeface="Inter"/>
                <a:ea typeface="Inter"/>
                <a:cs typeface="Inter"/>
                <a:sym typeface="Inter"/>
              </a:rPr>
              <a:t>) y </a:t>
            </a:r>
            <a:r>
              <a:rPr lang="en-US" sz="1425" b="0" i="0" u="none" strike="noStrike" cap="none" dirty="0" err="1">
                <a:solidFill>
                  <a:srgbClr val="1E3A8A"/>
                </a:solidFill>
                <a:latin typeface="Inter"/>
                <a:ea typeface="Inter"/>
                <a:cs typeface="Inter"/>
                <a:sym typeface="Inter"/>
              </a:rPr>
              <a:t>los</a:t>
            </a:r>
            <a:r>
              <a:rPr lang="en-US" sz="1425" b="0" i="0" u="none" strike="noStrike" cap="none" dirty="0">
                <a:solidFill>
                  <a:srgbClr val="1E3A8A"/>
                </a:solidFill>
                <a:latin typeface="Inter"/>
                <a:ea typeface="Inter"/>
                <a:cs typeface="Inter"/>
                <a:sym typeface="Inter"/>
              </a:rPr>
              <a:t> </a:t>
            </a:r>
            <a:r>
              <a:rPr lang="en-US" sz="1425" b="0" i="0" u="none" strike="noStrike" cap="none" dirty="0" err="1">
                <a:solidFill>
                  <a:srgbClr val="1E3A8A"/>
                </a:solidFill>
                <a:latin typeface="Inter"/>
                <a:ea typeface="Inter"/>
                <a:cs typeface="Inter"/>
                <a:sym typeface="Inter"/>
              </a:rPr>
              <a:t>comandos</a:t>
            </a:r>
            <a:r>
              <a:rPr lang="en-US" sz="1425" b="0" i="0" u="none" strike="noStrike" cap="none" dirty="0">
                <a:solidFill>
                  <a:srgbClr val="1E3A8A"/>
                </a:solidFill>
                <a:latin typeface="Inter"/>
                <a:ea typeface="Inter"/>
                <a:cs typeface="Inter"/>
                <a:sym typeface="Inter"/>
              </a:rPr>
              <a:t> </a:t>
            </a:r>
            <a:r>
              <a:rPr lang="en-US" sz="1425" b="0" i="0" u="none" strike="noStrike" cap="none" dirty="0" err="1">
                <a:solidFill>
                  <a:srgbClr val="1E3A8A"/>
                </a:solidFill>
                <a:latin typeface="Inter"/>
                <a:ea typeface="Inter"/>
                <a:cs typeface="Inter"/>
                <a:sym typeface="Inter"/>
              </a:rPr>
              <a:t>nativos</a:t>
            </a:r>
            <a:r>
              <a:rPr lang="en-US" sz="1425" b="0" i="0" u="none" strike="noStrike" cap="none" dirty="0">
                <a:solidFill>
                  <a:srgbClr val="1E3A8A"/>
                </a:solidFill>
                <a:latin typeface="Inter"/>
                <a:ea typeface="Inter"/>
                <a:cs typeface="Inter"/>
                <a:sym typeface="Inter"/>
              </a:rPr>
              <a:t> lea e </a:t>
            </a:r>
            <a:r>
              <a:rPr lang="en-US" sz="1425" b="0" i="0" u="none" strike="noStrike" cap="none" dirty="0" err="1">
                <a:solidFill>
                  <a:srgbClr val="1E3A8A"/>
                </a:solidFill>
                <a:latin typeface="Inter"/>
                <a:ea typeface="Inter"/>
                <a:cs typeface="Inter"/>
                <a:sym typeface="Inter"/>
              </a:rPr>
              <a:t>imprimaln</a:t>
            </a:r>
            <a:r>
              <a:rPr lang="en-US" sz="1425" b="0" i="0" u="none" strike="noStrike" cap="none" dirty="0">
                <a:solidFill>
                  <a:srgbClr val="1E3A8A"/>
                </a:solidFill>
                <a:latin typeface="Inter"/>
                <a:ea typeface="Inter"/>
                <a:cs typeface="Inter"/>
                <a:sym typeface="Inter"/>
              </a:rPr>
              <a:t>.</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P spid="90" grpId="0"/>
      <p:bldP spid="9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pic>
        <p:nvPicPr>
          <p:cNvPr id="96" name="Google Shape;96;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7" name="Google Shape;97;p14"/>
          <p:cNvSpPr txBox="1"/>
          <p:nvPr/>
        </p:nvSpPr>
        <p:spPr>
          <a:xfrm>
            <a:off x="571500" y="476250"/>
            <a:ext cx="11601450"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3A8A"/>
                </a:solidFill>
                <a:latin typeface="Merriweather"/>
                <a:ea typeface="Merriweather"/>
                <a:cs typeface="Merriweather"/>
                <a:sym typeface="Merriweather"/>
              </a:rPr>
              <a:t>Prueba de Escritorio: Siguiendo el Flujo</a:t>
            </a:r>
            <a:endParaRPr/>
          </a:p>
        </p:txBody>
      </p:sp>
      <p:sp>
        <p:nvSpPr>
          <p:cNvPr id="98" name="Google Shape;98;p14"/>
          <p:cNvSpPr/>
          <p:nvPr/>
        </p:nvSpPr>
        <p:spPr>
          <a:xfrm>
            <a:off x="571500" y="1047750"/>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9" name="Google Shape;99;p14"/>
          <p:cNvSpPr txBox="1"/>
          <p:nvPr/>
        </p:nvSpPr>
        <p:spPr>
          <a:xfrm>
            <a:off x="571500" y="1304925"/>
            <a:ext cx="11049000"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Inter"/>
                <a:ea typeface="Inter"/>
                <a:cs typeface="Inter"/>
                <a:sym typeface="Inter"/>
              </a:rPr>
              <a:t>Simulemos la ejecución del algoritmo anterior en Logicode para ver cómo cambian las variables en memoria en cada iteración. Esto es clave para depurar errores lógicos.</a:t>
            </a:r>
            <a:endParaRPr/>
          </a:p>
        </p:txBody>
      </p:sp>
      <p:sp>
        <p:nvSpPr>
          <p:cNvPr id="100" name="Google Shape;100;p14"/>
          <p:cNvSpPr/>
          <p:nvPr/>
        </p:nvSpPr>
        <p:spPr>
          <a:xfrm>
            <a:off x="571500" y="2085975"/>
            <a:ext cx="11049000" cy="3552825"/>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101" name="Google Shape;101;p14"/>
          <p:cNvGraphicFramePr/>
          <p:nvPr/>
        </p:nvGraphicFramePr>
        <p:xfrm>
          <a:off x="571500" y="2085975"/>
          <a:ext cx="11039475" cy="3679030"/>
        </p:xfrm>
        <a:graphic>
          <a:graphicData uri="http://schemas.openxmlformats.org/drawingml/2006/table">
            <a:tbl>
              <a:tblPr firstRow="1" bandRow="1">
                <a:noFill/>
              </a:tblPr>
              <a:tblGrid>
                <a:gridCol w="1282900">
                  <a:extLst>
                    <a:ext uri="{9D8B030D-6E8A-4147-A177-3AD203B41FA5}">
                      <a16:colId xmlns:a16="http://schemas.microsoft.com/office/drawing/2014/main" val="20000"/>
                    </a:ext>
                  </a:extLst>
                </a:gridCol>
                <a:gridCol w="2328575">
                  <a:extLst>
                    <a:ext uri="{9D8B030D-6E8A-4147-A177-3AD203B41FA5}">
                      <a16:colId xmlns:a16="http://schemas.microsoft.com/office/drawing/2014/main" val="20001"/>
                    </a:ext>
                  </a:extLst>
                </a:gridCol>
                <a:gridCol w="2015875">
                  <a:extLst>
                    <a:ext uri="{9D8B030D-6E8A-4147-A177-3AD203B41FA5}">
                      <a16:colId xmlns:a16="http://schemas.microsoft.com/office/drawing/2014/main" val="20002"/>
                    </a:ext>
                  </a:extLst>
                </a:gridCol>
                <a:gridCol w="2252650">
                  <a:extLst>
                    <a:ext uri="{9D8B030D-6E8A-4147-A177-3AD203B41FA5}">
                      <a16:colId xmlns:a16="http://schemas.microsoft.com/office/drawing/2014/main" val="20003"/>
                    </a:ext>
                  </a:extLst>
                </a:gridCol>
                <a:gridCol w="3159475">
                  <a:extLst>
                    <a:ext uri="{9D8B030D-6E8A-4147-A177-3AD203B41FA5}">
                      <a16:colId xmlns:a16="http://schemas.microsoft.com/office/drawing/2014/main" val="20004"/>
                    </a:ext>
                  </a:extLst>
                </a:gridCol>
              </a:tblGrid>
              <a:tr h="507550">
                <a:tc>
                  <a:txBody>
                    <a:bodyPr/>
                    <a:lstStyle/>
                    <a:p>
                      <a:pPr marL="0" marR="0" lvl="0" indent="0" algn="ctr" rtl="0">
                        <a:spcBef>
                          <a:spcPts val="0"/>
                        </a:spcBef>
                        <a:spcAft>
                          <a:spcPts val="0"/>
                        </a:spcAft>
                        <a:buNone/>
                      </a:pPr>
                      <a:r>
                        <a:rPr lang="en-US" sz="1350" b="1" i="0" u="none" strike="noStrike" cap="none">
                          <a:solidFill>
                            <a:srgbClr val="0F172A"/>
                          </a:solidFill>
                          <a:latin typeface="Inter"/>
                          <a:ea typeface="Inter"/>
                          <a:cs typeface="Inter"/>
                          <a:sym typeface="Inter"/>
                        </a:rPr>
                        <a:t>Iteración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350" b="1" i="0" u="none" strike="noStrike" cap="none">
                          <a:solidFill>
                            <a:srgbClr val="0F172A"/>
                          </a:solidFill>
                          <a:latin typeface="Inter"/>
                          <a:ea typeface="Inter"/>
                          <a:cs typeface="Inter"/>
                          <a:sym typeface="Inter"/>
                        </a:rPr>
                        <a:t>`contadorPersonas`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350" b="1" i="0" u="none" strike="noStrike" cap="none">
                          <a:solidFill>
                            <a:srgbClr val="0F172A"/>
                          </a:solidFill>
                          <a:latin typeface="Inter"/>
                          <a:ea typeface="Inter"/>
                          <a:cs typeface="Inter"/>
                          <a:sym typeface="Inter"/>
                        </a:rPr>
                        <a:t>Condición (&lt;= 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350" b="1" i="0" u="none" strike="noStrike" cap="none">
                          <a:solidFill>
                            <a:srgbClr val="0F172A"/>
                          </a:solidFill>
                          <a:latin typeface="Inter"/>
                          <a:ea typeface="Inter"/>
                          <a:cs typeface="Inter"/>
                          <a:sym typeface="Inter"/>
                        </a:rPr>
                        <a:t>Entrada `edad`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None/>
                      </a:pPr>
                      <a:r>
                        <a:rPr lang="en-US" sz="1350" b="1" i="0" u="none" strike="noStrike" cap="none">
                          <a:solidFill>
                            <a:srgbClr val="0F172A"/>
                          </a:solidFill>
                          <a:latin typeface="Inter"/>
                          <a:ea typeface="Inter"/>
                          <a:cs typeface="Inter"/>
                          <a:sym typeface="Inter"/>
                        </a:rPr>
                        <a:t>Salida en Consola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0"/>
                  </a:ext>
                </a:extLst>
              </a:tr>
              <a:tr h="507550">
                <a:tc>
                  <a:txBody>
                    <a:bodyPr/>
                    <a:lstStyle/>
                    <a:p>
                      <a:pPr marL="0" marR="0" lvl="0" indent="0" algn="ctr" rtl="0">
                        <a:spcBef>
                          <a:spcPts val="0"/>
                        </a:spcBef>
                        <a:spcAft>
                          <a:spcPts val="0"/>
                        </a:spcAft>
                        <a:buNone/>
                      </a:pPr>
                      <a:r>
                        <a:rPr lang="en-US" sz="1275" b="0" i="0" u="none" strike="noStrike" cap="none">
                          <a:solidFill>
                            <a:srgbClr val="1E293B"/>
                          </a:solidFill>
                          <a:latin typeface="Inter"/>
                          <a:ea typeface="Inter"/>
                          <a:cs typeface="Inter"/>
                          <a:sym typeface="Inter"/>
                        </a:rPr>
                        <a:t>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75" b="0" i="0" u="none" strike="noStrike" cap="none">
                          <a:solidFill>
                            <a:srgbClr val="1E293B"/>
                          </a:solidFill>
                          <a:latin typeface="Inter"/>
                          <a:ea typeface="Inter"/>
                          <a:cs typeface="Inter"/>
                          <a:sym typeface="Inter"/>
                        </a:rPr>
                        <a:t>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75" b="1" i="0" u="none" strike="noStrike" cap="none">
                          <a:solidFill>
                            <a:srgbClr val="059669"/>
                          </a:solidFill>
                          <a:latin typeface="Inter"/>
                          <a:ea typeface="Inter"/>
                          <a:cs typeface="Inter"/>
                          <a:sym typeface="Inter"/>
                        </a:rPr>
                        <a:t>Verdadera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75" b="0" i="0" u="none" strike="noStrike" cap="none">
                          <a:solidFill>
                            <a:srgbClr val="1E293B"/>
                          </a:solidFill>
                          <a:latin typeface="Inter"/>
                          <a:ea typeface="Inter"/>
                          <a:cs typeface="Inter"/>
                          <a:sym typeface="Inter"/>
                        </a:rPr>
                        <a:t>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75" b="0" i="0" u="none" strike="noStrike" cap="none">
                          <a:solidFill>
                            <a:srgbClr val="1E293B"/>
                          </a:solidFill>
                          <a:latin typeface="Inter"/>
                          <a:ea typeface="Inter"/>
                          <a:cs typeface="Inter"/>
                          <a:sym typeface="Inter"/>
                        </a:rPr>
                        <a:t>"Es mayor de edad."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07550">
                <a:tc>
                  <a:txBody>
                    <a:bodyPr/>
                    <a:lstStyle/>
                    <a:p>
                      <a:pPr marL="0" marR="0" lvl="0" indent="0" algn="ctr" rtl="0">
                        <a:spcBef>
                          <a:spcPts val="0"/>
                        </a:spcBef>
                        <a:spcAft>
                          <a:spcPts val="0"/>
                        </a:spcAft>
                        <a:buNone/>
                      </a:pPr>
                      <a:r>
                        <a:rPr lang="en-US" sz="1275" b="0" i="0" u="none" strike="noStrike" cap="none">
                          <a:solidFill>
                            <a:srgbClr val="1E293B"/>
                          </a:solidFill>
                          <a:latin typeface="Inter"/>
                          <a:ea typeface="Inter"/>
                          <a:cs typeface="Inter"/>
                          <a:sym typeface="Inter"/>
                        </a:rPr>
                        <a:t>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75" b="0" i="0" u="none" strike="noStrike" cap="none">
                          <a:solidFill>
                            <a:srgbClr val="1E293B"/>
                          </a:solidFill>
                          <a:latin typeface="Inter"/>
                          <a:ea typeface="Inter"/>
                          <a:cs typeface="Inter"/>
                          <a:sym typeface="Inter"/>
                        </a:rPr>
                        <a:t>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75" b="1" i="0" u="none" strike="noStrike" cap="none">
                          <a:solidFill>
                            <a:srgbClr val="059669"/>
                          </a:solidFill>
                          <a:latin typeface="Inter"/>
                          <a:ea typeface="Inter"/>
                          <a:cs typeface="Inter"/>
                          <a:sym typeface="Inter"/>
                        </a:rPr>
                        <a:t>Verdadera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75" b="0" i="0" u="none" strike="noStrike" cap="none">
                          <a:solidFill>
                            <a:srgbClr val="1E293B"/>
                          </a:solidFill>
                          <a:latin typeface="Inter"/>
                          <a:ea typeface="Inter"/>
                          <a:cs typeface="Inter"/>
                          <a:sym typeface="Inter"/>
                        </a:rPr>
                        <a:t>10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75" b="0" i="0" u="none" strike="noStrike" cap="none">
                          <a:solidFill>
                            <a:srgbClr val="1E293B"/>
                          </a:solidFill>
                          <a:latin typeface="Inter"/>
                          <a:ea typeface="Inter"/>
                          <a:cs typeface="Inter"/>
                          <a:sym typeface="Inter"/>
                        </a:rPr>
                        <a:t>"NO es mayor de edad."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07550">
                <a:tc>
                  <a:txBody>
                    <a:bodyPr/>
                    <a:lstStyle/>
                    <a:p>
                      <a:pPr marL="0" marR="0" lvl="0" indent="0" algn="ctr" rtl="0">
                        <a:spcBef>
                          <a:spcPts val="0"/>
                        </a:spcBef>
                        <a:spcAft>
                          <a:spcPts val="0"/>
                        </a:spcAft>
                        <a:buNone/>
                      </a:pPr>
                      <a:r>
                        <a:rPr lang="en-US" sz="1275" b="0" i="0" u="none" strike="noStrike" cap="none">
                          <a:solidFill>
                            <a:srgbClr val="1E293B"/>
                          </a:solidFill>
                          <a:latin typeface="Inter"/>
                          <a:ea typeface="Inter"/>
                          <a:cs typeface="Inter"/>
                          <a:sym typeface="Inter"/>
                        </a:rPr>
                        <a:t>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75" b="0" i="0" u="none" strike="noStrike" cap="none">
                          <a:solidFill>
                            <a:srgbClr val="1E293B"/>
                          </a:solidFill>
                          <a:latin typeface="Inter"/>
                          <a:ea typeface="Inter"/>
                          <a:cs typeface="Inter"/>
                          <a:sym typeface="Inter"/>
                        </a:rPr>
                        <a:t>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75" b="1" i="0" u="none" strike="noStrike" cap="none">
                          <a:solidFill>
                            <a:srgbClr val="059669"/>
                          </a:solidFill>
                          <a:latin typeface="Inter"/>
                          <a:ea typeface="Inter"/>
                          <a:cs typeface="Inter"/>
                          <a:sym typeface="Inter"/>
                        </a:rPr>
                        <a:t>Verdadera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75" b="0" i="0" u="none" strike="noStrike" cap="none">
                          <a:solidFill>
                            <a:srgbClr val="1E293B"/>
                          </a:solidFill>
                          <a:latin typeface="Inter"/>
                          <a:ea typeface="Inter"/>
                          <a:cs typeface="Inter"/>
                          <a:sym typeface="Inter"/>
                        </a:rPr>
                        <a:t>35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75" b="0" i="0" u="none" strike="noStrike" cap="none">
                          <a:solidFill>
                            <a:srgbClr val="1E293B"/>
                          </a:solidFill>
                          <a:latin typeface="Inter"/>
                          <a:ea typeface="Inter"/>
                          <a:cs typeface="Inter"/>
                          <a:sym typeface="Inter"/>
                        </a:rPr>
                        <a:t>"Es mayor de edad."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07550">
                <a:tc>
                  <a:txBody>
                    <a:bodyPr/>
                    <a:lstStyle/>
                    <a:p>
                      <a:pPr marL="0" marR="0" lvl="0" indent="0" algn="ctr" rtl="0">
                        <a:spcBef>
                          <a:spcPts val="0"/>
                        </a:spcBef>
                        <a:spcAft>
                          <a:spcPts val="0"/>
                        </a:spcAft>
                        <a:buNone/>
                      </a:pPr>
                      <a:r>
                        <a:rPr lang="en-US" sz="1275" b="0" i="0" u="none" strike="noStrike" cap="none">
                          <a:solidFill>
                            <a:srgbClr val="1E293B"/>
                          </a:solidFill>
                          <a:latin typeface="Inter"/>
                          <a:ea typeface="Inter"/>
                          <a:cs typeface="Inter"/>
                          <a:sym typeface="Inter"/>
                        </a:rPr>
                        <a:t>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75" b="0" i="0" u="none" strike="noStrike" cap="none">
                          <a:solidFill>
                            <a:srgbClr val="1E293B"/>
                          </a:solidFill>
                          <a:latin typeface="Inter"/>
                          <a:ea typeface="Inter"/>
                          <a:cs typeface="Inter"/>
                          <a:sym typeface="Inter"/>
                        </a:rPr>
                        <a:t>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75" b="1" i="0" u="none" strike="noStrike" cap="none">
                          <a:solidFill>
                            <a:srgbClr val="059669"/>
                          </a:solidFill>
                          <a:latin typeface="Inter"/>
                          <a:ea typeface="Inter"/>
                          <a:cs typeface="Inter"/>
                          <a:sym typeface="Inter"/>
                        </a:rPr>
                        <a:t>Verdadera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75" b="0" i="0" u="none" strike="noStrike" cap="none">
                          <a:solidFill>
                            <a:srgbClr val="1E293B"/>
                          </a:solidFill>
                          <a:latin typeface="Inter"/>
                          <a:ea typeface="Inter"/>
                          <a:cs typeface="Inter"/>
                          <a:sym typeface="Inter"/>
                        </a:rPr>
                        <a:t>40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75" b="0" i="0" u="none" strike="noStrike" cap="none">
                          <a:solidFill>
                            <a:srgbClr val="1E293B"/>
                          </a:solidFill>
                          <a:latin typeface="Inter"/>
                          <a:ea typeface="Inter"/>
                          <a:cs typeface="Inter"/>
                          <a:sym typeface="Inter"/>
                        </a:rPr>
                        <a:t>"Es mayor de edad."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507550">
                <a:tc>
                  <a:txBody>
                    <a:bodyPr/>
                    <a:lstStyle/>
                    <a:p>
                      <a:pPr marL="0" marR="0" lvl="0" indent="0" algn="ctr" rtl="0">
                        <a:spcBef>
                          <a:spcPts val="0"/>
                        </a:spcBef>
                        <a:spcAft>
                          <a:spcPts val="0"/>
                        </a:spcAft>
                        <a:buNone/>
                      </a:pPr>
                      <a:r>
                        <a:rPr lang="en-US" sz="1275" b="0" i="0" u="none" strike="noStrike" cap="none">
                          <a:solidFill>
                            <a:srgbClr val="1E293B"/>
                          </a:solidFill>
                          <a:latin typeface="Inter"/>
                          <a:ea typeface="Inter"/>
                          <a:cs typeface="Inter"/>
                          <a:sym typeface="Inter"/>
                        </a:rPr>
                        <a:t>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75" b="0" i="0" u="none" strike="noStrike" cap="none">
                          <a:solidFill>
                            <a:srgbClr val="1E293B"/>
                          </a:solidFill>
                          <a:latin typeface="Inter"/>
                          <a:ea typeface="Inter"/>
                          <a:cs typeface="Inter"/>
                          <a:sym typeface="Inter"/>
                        </a:rPr>
                        <a:t>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75" b="1" i="0" u="none" strike="noStrike" cap="none">
                          <a:solidFill>
                            <a:srgbClr val="059669"/>
                          </a:solidFill>
                          <a:latin typeface="Inter"/>
                          <a:ea typeface="Inter"/>
                          <a:cs typeface="Inter"/>
                          <a:sym typeface="Inter"/>
                        </a:rPr>
                        <a:t>Verdadera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75" b="0" i="0" u="none" strike="noStrike" cap="none">
                          <a:solidFill>
                            <a:srgbClr val="1E293B"/>
                          </a:solidFill>
                          <a:latin typeface="Inter"/>
                          <a:ea typeface="Inter"/>
                          <a:cs typeface="Inter"/>
                          <a:sym typeface="Inter"/>
                        </a:rPr>
                        <a:t>16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75" b="0" i="0" u="none" strike="noStrike" cap="none">
                          <a:solidFill>
                            <a:srgbClr val="1E293B"/>
                          </a:solidFill>
                          <a:latin typeface="Inter"/>
                          <a:ea typeface="Inter"/>
                          <a:cs typeface="Inter"/>
                          <a:sym typeface="Inter"/>
                        </a:rPr>
                        <a:t>"NO es mayor de edad."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507550">
                <a:tc>
                  <a:txBody>
                    <a:bodyPr/>
                    <a:lstStyle/>
                    <a:p>
                      <a:pPr marL="0" marR="0" lvl="0" indent="0" algn="ctr" rtl="0">
                        <a:spcBef>
                          <a:spcPts val="0"/>
                        </a:spcBef>
                        <a:spcAft>
                          <a:spcPts val="0"/>
                        </a:spcAft>
                        <a:buNone/>
                      </a:pPr>
                      <a:r>
                        <a:rPr lang="en-US" sz="1275" b="0" i="0" u="none" strike="noStrike" cap="none">
                          <a:solidFill>
                            <a:srgbClr val="1E293B"/>
                          </a:solidFill>
                          <a:latin typeface="Inter"/>
                          <a:ea typeface="Inter"/>
                          <a:cs typeface="Inter"/>
                          <a:sym typeface="Inter"/>
                        </a:rPr>
                        <a: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2F2"/>
                    </a:solidFill>
                  </a:tcPr>
                </a:tc>
                <a:tc>
                  <a:txBody>
                    <a:bodyPr/>
                    <a:lstStyle/>
                    <a:p>
                      <a:pPr marL="0" marR="0" lvl="0" indent="0" algn="ctr" rtl="0">
                        <a:spcBef>
                          <a:spcPts val="0"/>
                        </a:spcBef>
                        <a:spcAft>
                          <a:spcPts val="0"/>
                        </a:spcAft>
                        <a:buNone/>
                      </a:pPr>
                      <a:r>
                        <a:rPr lang="en-US" sz="1275" b="0" i="0" u="none" strike="noStrike" cap="none">
                          <a:solidFill>
                            <a:srgbClr val="1E293B"/>
                          </a:solidFill>
                          <a:latin typeface="Inter"/>
                          <a:ea typeface="Inter"/>
                          <a:cs typeface="Inter"/>
                          <a:sym typeface="Inter"/>
                        </a:rPr>
                        <a:t>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2F2"/>
                    </a:solidFill>
                  </a:tcPr>
                </a:tc>
                <a:tc>
                  <a:txBody>
                    <a:bodyPr/>
                    <a:lstStyle/>
                    <a:p>
                      <a:pPr marL="0" marR="0" lvl="0" indent="0" algn="ctr" rtl="0">
                        <a:spcBef>
                          <a:spcPts val="0"/>
                        </a:spcBef>
                        <a:spcAft>
                          <a:spcPts val="0"/>
                        </a:spcAft>
                        <a:buNone/>
                      </a:pPr>
                      <a:r>
                        <a:rPr lang="en-US" sz="1275" b="1" i="0" u="none" strike="noStrike" cap="none">
                          <a:solidFill>
                            <a:srgbClr val="DC2626"/>
                          </a:solidFill>
                          <a:latin typeface="Inter"/>
                          <a:ea typeface="Inter"/>
                          <a:cs typeface="Inter"/>
                          <a:sym typeface="Inter"/>
                        </a:rPr>
                        <a:t>Falsa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2F2"/>
                    </a:solidFill>
                  </a:tcPr>
                </a:tc>
                <a:tc>
                  <a:txBody>
                    <a:bodyPr/>
                    <a:lstStyle/>
                    <a:p>
                      <a:pPr marL="0" marR="0" lvl="0" indent="0" algn="ctr" rtl="0">
                        <a:spcBef>
                          <a:spcPts val="0"/>
                        </a:spcBef>
                        <a:spcAft>
                          <a:spcPts val="0"/>
                        </a:spcAft>
                        <a:buNone/>
                      </a:pPr>
                      <a:r>
                        <a:rPr lang="en-US" sz="1275" b="0" i="0" u="none" strike="noStrike" cap="none" dirty="0">
                          <a:solidFill>
                            <a:srgbClr val="64748B"/>
                          </a:solidFill>
                          <a:latin typeface="Inter"/>
                          <a:ea typeface="Inter"/>
                          <a:cs typeface="Inter"/>
                          <a:sym typeface="Inter"/>
                        </a:rPr>
                        <a:t>El </a:t>
                      </a:r>
                      <a:r>
                        <a:rPr lang="en-US" sz="1275" b="0" i="0" u="none" strike="noStrike" cap="none" dirty="0" err="1">
                          <a:solidFill>
                            <a:srgbClr val="64748B"/>
                          </a:solidFill>
                          <a:latin typeface="Inter"/>
                          <a:ea typeface="Inter"/>
                          <a:cs typeface="Inter"/>
                          <a:sym typeface="Inter"/>
                        </a:rPr>
                        <a:t>ciclo</a:t>
                      </a:r>
                      <a:r>
                        <a:rPr lang="en-US" sz="1275" b="0" i="0" u="none" strike="noStrike" cap="none" dirty="0">
                          <a:solidFill>
                            <a:srgbClr val="64748B"/>
                          </a:solidFill>
                          <a:latin typeface="Inter"/>
                          <a:ea typeface="Inter"/>
                          <a:cs typeface="Inter"/>
                          <a:sym typeface="Inter"/>
                        </a:rPr>
                        <a:t> termina. El </a:t>
                      </a:r>
                      <a:r>
                        <a:rPr lang="en-US" sz="1275" b="0" i="0" u="none" strike="noStrike" cap="none" dirty="0" err="1">
                          <a:solidFill>
                            <a:srgbClr val="64748B"/>
                          </a:solidFill>
                          <a:latin typeface="Inter"/>
                          <a:ea typeface="Inter"/>
                          <a:cs typeface="Inter"/>
                          <a:sym typeface="Inter"/>
                        </a:rPr>
                        <a:t>código</a:t>
                      </a:r>
                      <a:r>
                        <a:rPr lang="en-US" sz="1275" b="0" i="0" u="none" strike="noStrike" cap="none" dirty="0">
                          <a:solidFill>
                            <a:srgbClr val="64748B"/>
                          </a:solidFill>
                          <a:latin typeface="Inter"/>
                          <a:ea typeface="Inter"/>
                          <a:cs typeface="Inter"/>
                          <a:sym typeface="Inter"/>
                        </a:rPr>
                        <a:t> </a:t>
                      </a:r>
                      <a:r>
                        <a:rPr lang="en-US" sz="1275" b="0" i="0" u="none" strike="noStrike" cap="none" dirty="0" err="1">
                          <a:solidFill>
                            <a:srgbClr val="64748B"/>
                          </a:solidFill>
                          <a:latin typeface="Inter"/>
                          <a:ea typeface="Inter"/>
                          <a:cs typeface="Inter"/>
                          <a:sym typeface="Inter"/>
                        </a:rPr>
                        <a:t>dentro</a:t>
                      </a:r>
                      <a:r>
                        <a:rPr lang="en-US" sz="1275" b="0" i="0" u="none" strike="noStrike" cap="none" dirty="0">
                          <a:solidFill>
                            <a:srgbClr val="64748B"/>
                          </a:solidFill>
                          <a:latin typeface="Inter"/>
                          <a:ea typeface="Inter"/>
                          <a:cs typeface="Inter"/>
                          <a:sym typeface="Inter"/>
                        </a:rPr>
                        <a:t> del `</a:t>
                      </a:r>
                      <a:r>
                        <a:rPr lang="en-US" sz="1275" b="0" i="0" u="none" strike="noStrike" cap="none" dirty="0" err="1">
                          <a:solidFill>
                            <a:srgbClr val="64748B"/>
                          </a:solidFill>
                          <a:latin typeface="Inter"/>
                          <a:ea typeface="Inter"/>
                          <a:cs typeface="Inter"/>
                          <a:sym typeface="Inter"/>
                        </a:rPr>
                        <a:t>mientras</a:t>
                      </a:r>
                      <a:r>
                        <a:rPr lang="en-US" sz="1275" b="0" i="0" u="none" strike="noStrike" cap="none" dirty="0">
                          <a:solidFill>
                            <a:srgbClr val="64748B"/>
                          </a:solidFill>
                          <a:latin typeface="Inter"/>
                          <a:ea typeface="Inter"/>
                          <a:cs typeface="Inter"/>
                          <a:sym typeface="Inter"/>
                        </a:rPr>
                        <a:t>` se </a:t>
                      </a:r>
                      <a:r>
                        <a:rPr lang="en-US" sz="1275" b="0" i="0" u="none" strike="noStrike" cap="none" dirty="0" err="1">
                          <a:solidFill>
                            <a:srgbClr val="64748B"/>
                          </a:solidFill>
                          <a:latin typeface="Inter"/>
                          <a:ea typeface="Inter"/>
                          <a:cs typeface="Inter"/>
                          <a:sym typeface="Inter"/>
                        </a:rPr>
                        <a:t>ignora</a:t>
                      </a:r>
                      <a:r>
                        <a:rPr lang="en-US" sz="1275" b="0" i="0" u="none" strike="noStrike" cap="none" dirty="0">
                          <a:solidFill>
                            <a:srgbClr val="64748B"/>
                          </a:solidFill>
                          <a:latin typeface="Inter"/>
                          <a:ea typeface="Inter"/>
                          <a:cs typeface="Inter"/>
                          <a:sym typeface="Inter"/>
                        </a:rPr>
                        <a:t>.</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2F2"/>
                    </a:solidFill>
                  </a:tcPr>
                </a:tc>
                <a:tc>
                  <a:txBody>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102" name="Google Shape;102;p14"/>
          <p:cNvSpPr/>
          <p:nvPr/>
        </p:nvSpPr>
        <p:spPr>
          <a:xfrm>
            <a:off x="576262" y="2595562"/>
            <a:ext cx="128289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3" name="Google Shape;103;p14"/>
          <p:cNvSpPr/>
          <p:nvPr/>
        </p:nvSpPr>
        <p:spPr>
          <a:xfrm>
            <a:off x="1849635" y="2090737"/>
            <a:ext cx="9525" cy="5143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4" name="Google Shape;104;p14"/>
          <p:cNvSpPr/>
          <p:nvPr/>
        </p:nvSpPr>
        <p:spPr>
          <a:xfrm>
            <a:off x="1859160" y="2595562"/>
            <a:ext cx="232856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5" name="Google Shape;105;p14"/>
          <p:cNvSpPr/>
          <p:nvPr/>
        </p:nvSpPr>
        <p:spPr>
          <a:xfrm>
            <a:off x="4178200" y="2090737"/>
            <a:ext cx="9525" cy="5143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 name="Google Shape;106;p14"/>
          <p:cNvSpPr/>
          <p:nvPr/>
        </p:nvSpPr>
        <p:spPr>
          <a:xfrm>
            <a:off x="4187725" y="2595562"/>
            <a:ext cx="201587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7" name="Google Shape;107;p14"/>
          <p:cNvSpPr/>
          <p:nvPr/>
        </p:nvSpPr>
        <p:spPr>
          <a:xfrm>
            <a:off x="6194077" y="2090737"/>
            <a:ext cx="9525" cy="5143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8" name="Google Shape;108;p14"/>
          <p:cNvSpPr/>
          <p:nvPr/>
        </p:nvSpPr>
        <p:spPr>
          <a:xfrm>
            <a:off x="6203602" y="2595562"/>
            <a:ext cx="225266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9" name="Google Shape;109;p14"/>
          <p:cNvSpPr/>
          <p:nvPr/>
        </p:nvSpPr>
        <p:spPr>
          <a:xfrm>
            <a:off x="8446740" y="2090737"/>
            <a:ext cx="9525" cy="5143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0" name="Google Shape;110;p14"/>
          <p:cNvSpPr/>
          <p:nvPr/>
        </p:nvSpPr>
        <p:spPr>
          <a:xfrm>
            <a:off x="8456265" y="2595562"/>
            <a:ext cx="315947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1" name="Google Shape;111;p14"/>
          <p:cNvSpPr/>
          <p:nvPr/>
        </p:nvSpPr>
        <p:spPr>
          <a:xfrm>
            <a:off x="576262" y="3100387"/>
            <a:ext cx="128289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2" name="Google Shape;112;p14"/>
          <p:cNvSpPr/>
          <p:nvPr/>
        </p:nvSpPr>
        <p:spPr>
          <a:xfrm>
            <a:off x="1849635" y="2605087"/>
            <a:ext cx="9525" cy="5048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3" name="Google Shape;113;p14"/>
          <p:cNvSpPr/>
          <p:nvPr/>
        </p:nvSpPr>
        <p:spPr>
          <a:xfrm>
            <a:off x="1859160" y="3100387"/>
            <a:ext cx="232856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4" name="Google Shape;114;p14"/>
          <p:cNvSpPr/>
          <p:nvPr/>
        </p:nvSpPr>
        <p:spPr>
          <a:xfrm>
            <a:off x="4178200" y="2605087"/>
            <a:ext cx="9525" cy="5048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5" name="Google Shape;115;p14"/>
          <p:cNvSpPr/>
          <p:nvPr/>
        </p:nvSpPr>
        <p:spPr>
          <a:xfrm>
            <a:off x="4187725" y="3100387"/>
            <a:ext cx="201587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6" name="Google Shape;116;p14"/>
          <p:cNvSpPr/>
          <p:nvPr/>
        </p:nvSpPr>
        <p:spPr>
          <a:xfrm>
            <a:off x="6194077" y="2605087"/>
            <a:ext cx="9525" cy="5048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7" name="Google Shape;117;p14"/>
          <p:cNvSpPr/>
          <p:nvPr/>
        </p:nvSpPr>
        <p:spPr>
          <a:xfrm>
            <a:off x="6203602" y="3100387"/>
            <a:ext cx="225266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8" name="Google Shape;118;p14"/>
          <p:cNvSpPr/>
          <p:nvPr/>
        </p:nvSpPr>
        <p:spPr>
          <a:xfrm>
            <a:off x="8446740" y="2605087"/>
            <a:ext cx="9525" cy="5048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9" name="Google Shape;119;p14"/>
          <p:cNvSpPr/>
          <p:nvPr/>
        </p:nvSpPr>
        <p:spPr>
          <a:xfrm>
            <a:off x="8456265" y="3100387"/>
            <a:ext cx="315947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0" name="Google Shape;120;p14"/>
          <p:cNvSpPr/>
          <p:nvPr/>
        </p:nvSpPr>
        <p:spPr>
          <a:xfrm>
            <a:off x="576262" y="3605212"/>
            <a:ext cx="128289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1" name="Google Shape;121;p14"/>
          <p:cNvSpPr/>
          <p:nvPr/>
        </p:nvSpPr>
        <p:spPr>
          <a:xfrm>
            <a:off x="1849635" y="3109912"/>
            <a:ext cx="9525" cy="5048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2" name="Google Shape;122;p14"/>
          <p:cNvSpPr/>
          <p:nvPr/>
        </p:nvSpPr>
        <p:spPr>
          <a:xfrm>
            <a:off x="1859160" y="3605212"/>
            <a:ext cx="232856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3" name="Google Shape;123;p14"/>
          <p:cNvSpPr/>
          <p:nvPr/>
        </p:nvSpPr>
        <p:spPr>
          <a:xfrm>
            <a:off x="4178200" y="3109912"/>
            <a:ext cx="9525" cy="5048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4" name="Google Shape;124;p14"/>
          <p:cNvSpPr/>
          <p:nvPr/>
        </p:nvSpPr>
        <p:spPr>
          <a:xfrm>
            <a:off x="4187725" y="3605212"/>
            <a:ext cx="201587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5" name="Google Shape;125;p14"/>
          <p:cNvSpPr/>
          <p:nvPr/>
        </p:nvSpPr>
        <p:spPr>
          <a:xfrm>
            <a:off x="6194077" y="3109912"/>
            <a:ext cx="9525" cy="5048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6" name="Google Shape;126;p14"/>
          <p:cNvSpPr/>
          <p:nvPr/>
        </p:nvSpPr>
        <p:spPr>
          <a:xfrm>
            <a:off x="6203602" y="3605212"/>
            <a:ext cx="225266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7" name="Google Shape;127;p14"/>
          <p:cNvSpPr/>
          <p:nvPr/>
        </p:nvSpPr>
        <p:spPr>
          <a:xfrm>
            <a:off x="8446740" y="3109912"/>
            <a:ext cx="9525" cy="5048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8" name="Google Shape;128;p14"/>
          <p:cNvSpPr/>
          <p:nvPr/>
        </p:nvSpPr>
        <p:spPr>
          <a:xfrm>
            <a:off x="8456265" y="3605212"/>
            <a:ext cx="315947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9" name="Google Shape;129;p14"/>
          <p:cNvSpPr/>
          <p:nvPr/>
        </p:nvSpPr>
        <p:spPr>
          <a:xfrm>
            <a:off x="576262" y="4110037"/>
            <a:ext cx="128289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0" name="Google Shape;130;p14"/>
          <p:cNvSpPr/>
          <p:nvPr/>
        </p:nvSpPr>
        <p:spPr>
          <a:xfrm>
            <a:off x="1849635" y="3614737"/>
            <a:ext cx="9525" cy="5048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1" name="Google Shape;131;p14"/>
          <p:cNvSpPr/>
          <p:nvPr/>
        </p:nvSpPr>
        <p:spPr>
          <a:xfrm>
            <a:off x="1859160" y="4110037"/>
            <a:ext cx="232856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2" name="Google Shape;132;p14"/>
          <p:cNvSpPr/>
          <p:nvPr/>
        </p:nvSpPr>
        <p:spPr>
          <a:xfrm>
            <a:off x="4178200" y="3614737"/>
            <a:ext cx="9525" cy="5048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3" name="Google Shape;133;p14"/>
          <p:cNvSpPr/>
          <p:nvPr/>
        </p:nvSpPr>
        <p:spPr>
          <a:xfrm>
            <a:off x="4187725" y="4110037"/>
            <a:ext cx="201587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4" name="Google Shape;134;p14"/>
          <p:cNvSpPr/>
          <p:nvPr/>
        </p:nvSpPr>
        <p:spPr>
          <a:xfrm>
            <a:off x="6194077" y="3614737"/>
            <a:ext cx="9525" cy="5048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5" name="Google Shape;135;p14"/>
          <p:cNvSpPr/>
          <p:nvPr/>
        </p:nvSpPr>
        <p:spPr>
          <a:xfrm>
            <a:off x="6203602" y="4110037"/>
            <a:ext cx="225266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6" name="Google Shape;136;p14"/>
          <p:cNvSpPr/>
          <p:nvPr/>
        </p:nvSpPr>
        <p:spPr>
          <a:xfrm>
            <a:off x="8446740" y="3614737"/>
            <a:ext cx="9525" cy="5048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7" name="Google Shape;137;p14"/>
          <p:cNvSpPr/>
          <p:nvPr/>
        </p:nvSpPr>
        <p:spPr>
          <a:xfrm>
            <a:off x="8456265" y="4110037"/>
            <a:ext cx="315947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8" name="Google Shape;138;p14"/>
          <p:cNvSpPr/>
          <p:nvPr/>
        </p:nvSpPr>
        <p:spPr>
          <a:xfrm>
            <a:off x="576262" y="4614862"/>
            <a:ext cx="128289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9" name="Google Shape;139;p14"/>
          <p:cNvSpPr/>
          <p:nvPr/>
        </p:nvSpPr>
        <p:spPr>
          <a:xfrm>
            <a:off x="1849635" y="4119562"/>
            <a:ext cx="9525" cy="5048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0" name="Google Shape;140;p14"/>
          <p:cNvSpPr/>
          <p:nvPr/>
        </p:nvSpPr>
        <p:spPr>
          <a:xfrm>
            <a:off x="1859160" y="4614862"/>
            <a:ext cx="232856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1" name="Google Shape;141;p14"/>
          <p:cNvSpPr/>
          <p:nvPr/>
        </p:nvSpPr>
        <p:spPr>
          <a:xfrm>
            <a:off x="4178200" y="4119562"/>
            <a:ext cx="9525" cy="5048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2" name="Google Shape;142;p14"/>
          <p:cNvSpPr/>
          <p:nvPr/>
        </p:nvSpPr>
        <p:spPr>
          <a:xfrm>
            <a:off x="4187725" y="4614862"/>
            <a:ext cx="201587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3" name="Google Shape;143;p14"/>
          <p:cNvSpPr/>
          <p:nvPr/>
        </p:nvSpPr>
        <p:spPr>
          <a:xfrm>
            <a:off x="6194077" y="4119562"/>
            <a:ext cx="9525" cy="5048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4" name="Google Shape;144;p14"/>
          <p:cNvSpPr/>
          <p:nvPr/>
        </p:nvSpPr>
        <p:spPr>
          <a:xfrm>
            <a:off x="6203602" y="4614862"/>
            <a:ext cx="225266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5" name="Google Shape;145;p14"/>
          <p:cNvSpPr/>
          <p:nvPr/>
        </p:nvSpPr>
        <p:spPr>
          <a:xfrm>
            <a:off x="8446740" y="4119562"/>
            <a:ext cx="9525" cy="5048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6" name="Google Shape;146;p14"/>
          <p:cNvSpPr/>
          <p:nvPr/>
        </p:nvSpPr>
        <p:spPr>
          <a:xfrm>
            <a:off x="8456265" y="4614862"/>
            <a:ext cx="315947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7" name="Google Shape;147;p14"/>
          <p:cNvSpPr/>
          <p:nvPr/>
        </p:nvSpPr>
        <p:spPr>
          <a:xfrm>
            <a:off x="576262" y="5119687"/>
            <a:ext cx="128289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8" name="Google Shape;148;p14"/>
          <p:cNvSpPr/>
          <p:nvPr/>
        </p:nvSpPr>
        <p:spPr>
          <a:xfrm>
            <a:off x="1849635" y="4624387"/>
            <a:ext cx="9525" cy="5048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4"/>
          <p:cNvSpPr/>
          <p:nvPr/>
        </p:nvSpPr>
        <p:spPr>
          <a:xfrm>
            <a:off x="1859160" y="5119687"/>
            <a:ext cx="232856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0" name="Google Shape;150;p14"/>
          <p:cNvSpPr/>
          <p:nvPr/>
        </p:nvSpPr>
        <p:spPr>
          <a:xfrm>
            <a:off x="4178200" y="4624387"/>
            <a:ext cx="9525" cy="5048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1" name="Google Shape;151;p14"/>
          <p:cNvSpPr/>
          <p:nvPr/>
        </p:nvSpPr>
        <p:spPr>
          <a:xfrm>
            <a:off x="4187725" y="5119687"/>
            <a:ext cx="201587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2" name="Google Shape;152;p14"/>
          <p:cNvSpPr/>
          <p:nvPr/>
        </p:nvSpPr>
        <p:spPr>
          <a:xfrm>
            <a:off x="6194077" y="4624387"/>
            <a:ext cx="9525" cy="5048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3" name="Google Shape;153;p14"/>
          <p:cNvSpPr/>
          <p:nvPr/>
        </p:nvSpPr>
        <p:spPr>
          <a:xfrm>
            <a:off x="6203602" y="5119687"/>
            <a:ext cx="225266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4" name="Google Shape;154;p14"/>
          <p:cNvSpPr/>
          <p:nvPr/>
        </p:nvSpPr>
        <p:spPr>
          <a:xfrm>
            <a:off x="8446740" y="4624387"/>
            <a:ext cx="9525" cy="5048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5" name="Google Shape;155;p14"/>
          <p:cNvSpPr/>
          <p:nvPr/>
        </p:nvSpPr>
        <p:spPr>
          <a:xfrm>
            <a:off x="8456265" y="5119687"/>
            <a:ext cx="315947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6" name="Google Shape;156;p14"/>
          <p:cNvSpPr/>
          <p:nvPr/>
        </p:nvSpPr>
        <p:spPr>
          <a:xfrm>
            <a:off x="1849635" y="5129212"/>
            <a:ext cx="9525" cy="5048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7" name="Google Shape;157;p14"/>
          <p:cNvSpPr/>
          <p:nvPr/>
        </p:nvSpPr>
        <p:spPr>
          <a:xfrm>
            <a:off x="4178200" y="5129212"/>
            <a:ext cx="9525" cy="5048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8" name="Google Shape;158;p14"/>
          <p:cNvSpPr/>
          <p:nvPr/>
        </p:nvSpPr>
        <p:spPr>
          <a:xfrm>
            <a:off x="6194077" y="5129212"/>
            <a:ext cx="9525" cy="5048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4"/>
        <p:cNvGrpSpPr/>
        <p:nvPr/>
      </p:nvGrpSpPr>
      <p:grpSpPr>
        <a:xfrm>
          <a:off x="0" y="0"/>
          <a:ext cx="0" cy="0"/>
          <a:chOff x="0" y="0"/>
          <a:chExt cx="0" cy="0"/>
        </a:xfrm>
      </p:grpSpPr>
      <p:pic>
        <p:nvPicPr>
          <p:cNvPr id="125" name="Google Shape;125;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6" name="Google Shape;126;p16" descr="image.png"/>
          <p:cNvPicPr preferRelativeResize="0"/>
          <p:nvPr/>
        </p:nvPicPr>
        <p:blipFill rotWithShape="1">
          <a:blip r:embed="rId4">
            <a:alphaModFix/>
          </a:blip>
          <a:srcRect/>
          <a:stretch/>
        </p:blipFill>
        <p:spPr>
          <a:xfrm>
            <a:off x="571500" y="1323976"/>
            <a:ext cx="5334000" cy="4514850"/>
          </a:xfrm>
          <a:prstGeom prst="rect">
            <a:avLst/>
          </a:prstGeom>
          <a:noFill/>
          <a:ln>
            <a:noFill/>
          </a:ln>
        </p:spPr>
      </p:pic>
      <p:pic>
        <p:nvPicPr>
          <p:cNvPr id="127" name="Google Shape;127;p16" descr="image.png"/>
          <p:cNvPicPr preferRelativeResize="0"/>
          <p:nvPr/>
        </p:nvPicPr>
        <p:blipFill rotWithShape="1">
          <a:blip r:embed="rId5">
            <a:alphaModFix/>
          </a:blip>
          <a:srcRect/>
          <a:stretch/>
        </p:blipFill>
        <p:spPr>
          <a:xfrm>
            <a:off x="6286500" y="1323976"/>
            <a:ext cx="5334000" cy="4514850"/>
          </a:xfrm>
          <a:prstGeom prst="rect">
            <a:avLst/>
          </a:prstGeom>
          <a:noFill/>
          <a:ln>
            <a:noFill/>
          </a:ln>
        </p:spPr>
      </p:pic>
      <p:pic>
        <p:nvPicPr>
          <p:cNvPr id="128" name="Google Shape;128;p16" descr="image.png"/>
          <p:cNvPicPr preferRelativeResize="0"/>
          <p:nvPr/>
        </p:nvPicPr>
        <p:blipFill rotWithShape="1">
          <a:blip r:embed="rId6">
            <a:alphaModFix/>
          </a:blip>
          <a:srcRect/>
          <a:stretch/>
        </p:blipFill>
        <p:spPr>
          <a:xfrm>
            <a:off x="831850" y="3833814"/>
            <a:ext cx="4648200" cy="1234082"/>
          </a:xfrm>
          <a:prstGeom prst="rect">
            <a:avLst/>
          </a:prstGeom>
          <a:noFill/>
          <a:ln>
            <a:noFill/>
          </a:ln>
        </p:spPr>
      </p:pic>
      <p:pic>
        <p:nvPicPr>
          <p:cNvPr id="129" name="Google Shape;129;p16" descr="image.png"/>
          <p:cNvPicPr preferRelativeResize="0"/>
          <p:nvPr/>
        </p:nvPicPr>
        <p:blipFill rotWithShape="1">
          <a:blip r:embed="rId7">
            <a:alphaModFix/>
          </a:blip>
          <a:srcRect/>
          <a:stretch/>
        </p:blipFill>
        <p:spPr>
          <a:xfrm>
            <a:off x="6629400" y="3833814"/>
            <a:ext cx="4648200" cy="1660624"/>
          </a:xfrm>
          <a:prstGeom prst="rect">
            <a:avLst/>
          </a:prstGeom>
          <a:noFill/>
          <a:ln>
            <a:noFill/>
          </a:ln>
        </p:spPr>
      </p:pic>
      <p:sp>
        <p:nvSpPr>
          <p:cNvPr id="130" name="Google Shape;130;p16"/>
          <p:cNvSpPr txBox="1"/>
          <p:nvPr/>
        </p:nvSpPr>
        <p:spPr>
          <a:xfrm>
            <a:off x="914400" y="1666875"/>
            <a:ext cx="4880610"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475569"/>
                </a:solidFill>
                <a:latin typeface="Merriweather"/>
                <a:ea typeface="Merriweather"/>
                <a:cs typeface="Merriweather"/>
                <a:sym typeface="Merriweather"/>
              </a:rPr>
              <a:t>Ciclo PARA (Definido)</a:t>
            </a:r>
            <a:endParaRPr/>
          </a:p>
        </p:txBody>
      </p:sp>
      <p:sp>
        <p:nvSpPr>
          <p:cNvPr id="131" name="Google Shape;131;p16"/>
          <p:cNvSpPr/>
          <p:nvPr/>
        </p:nvSpPr>
        <p:spPr>
          <a:xfrm>
            <a:off x="914400" y="2076450"/>
            <a:ext cx="4648200" cy="1905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2" name="Google Shape;132;p16"/>
          <p:cNvSpPr txBox="1"/>
          <p:nvPr/>
        </p:nvSpPr>
        <p:spPr>
          <a:xfrm>
            <a:off x="914400" y="2209800"/>
            <a:ext cx="4648200" cy="81438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dirty="0">
                <a:solidFill>
                  <a:srgbClr val="334155"/>
                </a:solidFill>
                <a:latin typeface="Inter"/>
                <a:ea typeface="Inter"/>
                <a:cs typeface="Inter"/>
                <a:sym typeface="Inter"/>
              </a:rPr>
              <a:t>Se </a:t>
            </a:r>
            <a:r>
              <a:rPr lang="en-US" sz="1425" b="0" i="0" u="none" strike="noStrike" cap="none" dirty="0" err="1">
                <a:solidFill>
                  <a:srgbClr val="334155"/>
                </a:solidFill>
                <a:latin typeface="Inter"/>
                <a:ea typeface="Inter"/>
                <a:cs typeface="Inter"/>
                <a:sym typeface="Inter"/>
              </a:rPr>
              <a:t>emplea</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cuando</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el</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programador</a:t>
            </a:r>
            <a:r>
              <a:rPr lang="en-US" sz="1425" b="0" i="0" u="none" strike="noStrike" cap="none" dirty="0">
                <a:solidFill>
                  <a:srgbClr val="334155"/>
                </a:solidFill>
                <a:latin typeface="Inter"/>
                <a:ea typeface="Inter"/>
                <a:cs typeface="Inter"/>
                <a:sym typeface="Inter"/>
              </a:rPr>
              <a:t> sabe </a:t>
            </a:r>
            <a:r>
              <a:rPr lang="en-US" sz="1425" b="1" i="0" u="none" strike="noStrike" cap="none" dirty="0" err="1">
                <a:solidFill>
                  <a:srgbClr val="334155"/>
                </a:solidFill>
                <a:latin typeface="Inter"/>
                <a:ea typeface="Inter"/>
                <a:cs typeface="Inter"/>
                <a:sym typeface="Inter"/>
              </a:rPr>
              <a:t>exactamente</a:t>
            </a:r>
            <a:r>
              <a:rPr lang="en-US" sz="1425" b="0" i="0" u="none" strike="noStrike" cap="none" dirty="0">
                <a:solidFill>
                  <a:srgbClr val="334155"/>
                </a:solidFill>
                <a:latin typeface="Inter"/>
                <a:ea typeface="Inter"/>
                <a:cs typeface="Inter"/>
                <a:sym typeface="Inter"/>
              </a:rPr>
              <a:t> la </a:t>
            </a:r>
            <a:r>
              <a:rPr lang="en-US" sz="1425" b="0" i="0" u="none" strike="noStrike" cap="none" dirty="0" err="1">
                <a:solidFill>
                  <a:srgbClr val="334155"/>
                </a:solidFill>
                <a:latin typeface="Inter"/>
                <a:ea typeface="Inter"/>
                <a:cs typeface="Inter"/>
                <a:sym typeface="Inter"/>
              </a:rPr>
              <a:t>cantidad</a:t>
            </a:r>
            <a:r>
              <a:rPr lang="en-US" sz="1425" b="0" i="0" u="none" strike="noStrike" cap="none" dirty="0">
                <a:solidFill>
                  <a:srgbClr val="334155"/>
                </a:solidFill>
                <a:latin typeface="Inter"/>
                <a:ea typeface="Inter"/>
                <a:cs typeface="Inter"/>
                <a:sym typeface="Inter"/>
              </a:rPr>
              <a:t> de </a:t>
            </a:r>
            <a:r>
              <a:rPr lang="en-US" sz="1425" b="0" i="0" u="none" strike="noStrike" cap="none" dirty="0" err="1">
                <a:solidFill>
                  <a:srgbClr val="334155"/>
                </a:solidFill>
                <a:latin typeface="Inter"/>
                <a:ea typeface="Inter"/>
                <a:cs typeface="Inter"/>
                <a:sym typeface="Inter"/>
              </a:rPr>
              <a:t>iteraciones</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requeridas</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Ej</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Recorrer</a:t>
            </a:r>
            <a:r>
              <a:rPr lang="en-US" sz="1425" b="0" i="0" u="none" strike="noStrike" cap="none" dirty="0">
                <a:solidFill>
                  <a:srgbClr val="334155"/>
                </a:solidFill>
                <a:latin typeface="Inter"/>
                <a:ea typeface="Inter"/>
                <a:cs typeface="Inter"/>
                <a:sym typeface="Inter"/>
              </a:rPr>
              <a:t> un vector de </a:t>
            </a:r>
            <a:r>
              <a:rPr lang="en-US" sz="1425" b="0" i="0" u="none" strike="noStrike" cap="none" dirty="0" err="1">
                <a:solidFill>
                  <a:srgbClr val="334155"/>
                </a:solidFill>
                <a:latin typeface="Inter"/>
                <a:ea typeface="Inter"/>
                <a:cs typeface="Inter"/>
                <a:sym typeface="Inter"/>
              </a:rPr>
              <a:t>tamaño</a:t>
            </a:r>
            <a:r>
              <a:rPr lang="en-US" sz="1425" b="0" i="0" u="none" strike="noStrike" cap="none" dirty="0">
                <a:solidFill>
                  <a:srgbClr val="334155"/>
                </a:solidFill>
                <a:latin typeface="Inter"/>
                <a:ea typeface="Inter"/>
                <a:cs typeface="Inter"/>
                <a:sym typeface="Inter"/>
              </a:rPr>
              <a:t> 20).</a:t>
            </a:r>
            <a:endParaRPr dirty="0"/>
          </a:p>
        </p:txBody>
      </p:sp>
      <p:sp>
        <p:nvSpPr>
          <p:cNvPr id="133" name="Google Shape;133;p16"/>
          <p:cNvSpPr txBox="1"/>
          <p:nvPr/>
        </p:nvSpPr>
        <p:spPr>
          <a:xfrm>
            <a:off x="6629400" y="1666875"/>
            <a:ext cx="4880610"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1D4ED8"/>
                </a:solidFill>
                <a:latin typeface="Merriweather"/>
                <a:ea typeface="Merriweather"/>
                <a:cs typeface="Merriweather"/>
                <a:sym typeface="Merriweather"/>
              </a:rPr>
              <a:t>Ciclo MIENTRAS (Indefinido)</a:t>
            </a:r>
            <a:endParaRPr/>
          </a:p>
        </p:txBody>
      </p:sp>
      <p:sp>
        <p:nvSpPr>
          <p:cNvPr id="134" name="Google Shape;134;p16"/>
          <p:cNvSpPr/>
          <p:nvPr/>
        </p:nvSpPr>
        <p:spPr>
          <a:xfrm>
            <a:off x="6629400" y="2076450"/>
            <a:ext cx="4648200" cy="19050"/>
          </a:xfrm>
          <a:prstGeom prst="rect">
            <a:avLst/>
          </a:prstGeom>
          <a:solidFill>
            <a:srgbClr val="BFDBF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5" name="Google Shape;135;p16"/>
          <p:cNvSpPr txBox="1"/>
          <p:nvPr/>
        </p:nvSpPr>
        <p:spPr>
          <a:xfrm>
            <a:off x="6629400" y="2209800"/>
            <a:ext cx="4648200" cy="81438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Inter"/>
                <a:ea typeface="Inter"/>
                <a:cs typeface="Inter"/>
                <a:sym typeface="Inter"/>
              </a:rPr>
              <a:t>Se emplea cuando la repetición depende de </a:t>
            </a:r>
            <a:r>
              <a:rPr lang="en-US" sz="1425" b="1" i="0" u="none" strike="noStrike" cap="none">
                <a:solidFill>
                  <a:srgbClr val="334155"/>
                </a:solidFill>
                <a:latin typeface="Inter"/>
                <a:ea typeface="Inter"/>
                <a:cs typeface="Inter"/>
                <a:sym typeface="Inter"/>
              </a:rPr>
              <a:t>factores externos</a:t>
            </a:r>
            <a:r>
              <a:rPr lang="en-US" sz="1425" b="0" i="0" u="none" strike="noStrike" cap="none">
                <a:solidFill>
                  <a:srgbClr val="334155"/>
                </a:solidFill>
                <a:latin typeface="Inter"/>
                <a:ea typeface="Inter"/>
                <a:cs typeface="Inter"/>
                <a:sym typeface="Inter"/>
              </a:rPr>
              <a:t> o lógicos (Ej. Seguir leyendo datos hasta que el usuario ingrese un valor negativo).</a:t>
            </a:r>
            <a:endParaRPr/>
          </a:p>
        </p:txBody>
      </p:sp>
      <p:sp>
        <p:nvSpPr>
          <p:cNvPr id="136" name="Google Shape;136;p16"/>
          <p:cNvSpPr txBox="1"/>
          <p:nvPr/>
        </p:nvSpPr>
        <p:spPr>
          <a:xfrm>
            <a:off x="571500" y="476250"/>
            <a:ext cx="11601450"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1D4ED8"/>
                </a:solidFill>
                <a:latin typeface="Merriweather"/>
                <a:ea typeface="Merriweather"/>
                <a:cs typeface="Merriweather"/>
                <a:sym typeface="Merriweather"/>
              </a:rPr>
              <a:t>Análisis Estructural: PARA vs MIENTRAS</a:t>
            </a:r>
            <a:endParaRPr/>
          </a:p>
        </p:txBody>
      </p:sp>
      <p:sp>
        <p:nvSpPr>
          <p:cNvPr id="137" name="Google Shape;137;p16"/>
          <p:cNvSpPr/>
          <p:nvPr/>
        </p:nvSpPr>
        <p:spPr>
          <a:xfrm>
            <a:off x="571500" y="10191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p:bldP spid="131" grpId="0" animBg="1"/>
      <p:bldP spid="132" grpId="0"/>
      <p:bldP spid="133" grpId="0"/>
      <p:bldP spid="134" grpId="0" animBg="1"/>
      <p:bldP spid="135"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3"/>
        <p:cNvGrpSpPr/>
        <p:nvPr/>
      </p:nvGrpSpPr>
      <p:grpSpPr>
        <a:xfrm>
          <a:off x="0" y="0"/>
          <a:ext cx="0" cy="0"/>
          <a:chOff x="0" y="0"/>
          <a:chExt cx="0" cy="0"/>
        </a:xfrm>
      </p:grpSpPr>
      <p:pic>
        <p:nvPicPr>
          <p:cNvPr id="194" name="Google Shape;194;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5" name="Google Shape;195;p19" descr="image.png"/>
          <p:cNvPicPr preferRelativeResize="0"/>
          <p:nvPr/>
        </p:nvPicPr>
        <p:blipFill rotWithShape="1">
          <a:blip r:embed="rId4">
            <a:alphaModFix/>
          </a:blip>
          <a:srcRect/>
          <a:stretch/>
        </p:blipFill>
        <p:spPr>
          <a:xfrm>
            <a:off x="6286500" y="1636216"/>
            <a:ext cx="5334000" cy="4433143"/>
          </a:xfrm>
          <a:prstGeom prst="rect">
            <a:avLst/>
          </a:prstGeom>
          <a:noFill/>
          <a:ln>
            <a:noFill/>
          </a:ln>
        </p:spPr>
      </p:pic>
      <p:sp>
        <p:nvSpPr>
          <p:cNvPr id="196" name="Google Shape;196;p19"/>
          <p:cNvSpPr txBox="1"/>
          <p:nvPr/>
        </p:nvSpPr>
        <p:spPr>
          <a:xfrm>
            <a:off x="571500" y="2135981"/>
            <a:ext cx="5600700"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F172A"/>
                </a:solidFill>
                <a:latin typeface="Merriweather"/>
                <a:ea typeface="Merriweather"/>
                <a:cs typeface="Merriweather"/>
                <a:sym typeface="Merriweather"/>
              </a:rPr>
              <a:t>El Problema</a:t>
            </a:r>
            <a:endParaRPr/>
          </a:p>
        </p:txBody>
      </p:sp>
      <p:sp>
        <p:nvSpPr>
          <p:cNvPr id="197" name="Google Shape;197;p19"/>
          <p:cNvSpPr txBox="1"/>
          <p:nvPr/>
        </p:nvSpPr>
        <p:spPr>
          <a:xfrm>
            <a:off x="571500" y="2564606"/>
            <a:ext cx="5334000" cy="81438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dirty="0" err="1">
                <a:solidFill>
                  <a:srgbClr val="334155"/>
                </a:solidFill>
                <a:latin typeface="Inter"/>
                <a:ea typeface="Inter"/>
                <a:cs typeface="Inter"/>
                <a:sym typeface="Inter"/>
              </a:rPr>
              <a:t>Necesitamos</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sumar</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los</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precios</a:t>
            </a:r>
            <a:r>
              <a:rPr lang="en-US" sz="1425" b="0" i="0" u="none" strike="noStrike" cap="none" dirty="0">
                <a:solidFill>
                  <a:srgbClr val="334155"/>
                </a:solidFill>
                <a:latin typeface="Inter"/>
                <a:ea typeface="Inter"/>
                <a:cs typeface="Inter"/>
                <a:sym typeface="Inter"/>
              </a:rPr>
              <a:t> de </a:t>
            </a:r>
            <a:r>
              <a:rPr lang="en-US" sz="1425" b="0" i="0" u="none" strike="noStrike" cap="none" dirty="0" err="1">
                <a:solidFill>
                  <a:srgbClr val="334155"/>
                </a:solidFill>
                <a:latin typeface="Inter"/>
                <a:ea typeface="Inter"/>
                <a:cs typeface="Inter"/>
                <a:sym typeface="Inter"/>
              </a:rPr>
              <a:t>los</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productos</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que</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registra</a:t>
            </a:r>
            <a:r>
              <a:rPr lang="en-US" sz="1425" b="0" i="0" u="none" strike="noStrike" cap="none" dirty="0">
                <a:solidFill>
                  <a:srgbClr val="334155"/>
                </a:solidFill>
                <a:latin typeface="Inter"/>
                <a:ea typeface="Inter"/>
                <a:cs typeface="Inter"/>
                <a:sym typeface="Inter"/>
              </a:rPr>
              <a:t> un </a:t>
            </a:r>
            <a:r>
              <a:rPr lang="en-US" sz="1425" b="0" i="0" u="none" strike="noStrike" cap="none" dirty="0" err="1">
                <a:solidFill>
                  <a:srgbClr val="334155"/>
                </a:solidFill>
                <a:latin typeface="Inter"/>
                <a:ea typeface="Inter"/>
                <a:cs typeface="Inter"/>
                <a:sym typeface="Inter"/>
              </a:rPr>
              <a:t>cajero</a:t>
            </a:r>
            <a:r>
              <a:rPr lang="en-US" sz="1425" b="0" i="0" u="none" strike="noStrike" cap="none" dirty="0">
                <a:solidFill>
                  <a:srgbClr val="334155"/>
                </a:solidFill>
                <a:latin typeface="Inter"/>
                <a:ea typeface="Inter"/>
                <a:cs typeface="Inter"/>
                <a:sym typeface="Inter"/>
              </a:rPr>
              <a:t>. No </a:t>
            </a:r>
            <a:r>
              <a:rPr lang="en-US" sz="1425" b="0" i="0" u="none" strike="noStrike" cap="none" dirty="0" err="1">
                <a:solidFill>
                  <a:srgbClr val="334155"/>
                </a:solidFill>
                <a:latin typeface="Inter"/>
                <a:ea typeface="Inter"/>
                <a:cs typeface="Inter"/>
                <a:sym typeface="Inter"/>
              </a:rPr>
              <a:t>sabemos</a:t>
            </a:r>
            <a:r>
              <a:rPr lang="en-US" sz="1425" b="0" i="0" u="none" strike="noStrike" cap="none" dirty="0">
                <a:solidFill>
                  <a:srgbClr val="334155"/>
                </a:solidFill>
                <a:latin typeface="Inter"/>
                <a:ea typeface="Inter"/>
                <a:cs typeface="Inter"/>
                <a:sym typeface="Inter"/>
              </a:rPr>
              <a:t> la </a:t>
            </a:r>
            <a:r>
              <a:rPr lang="en-US" sz="1425" b="0" i="0" u="none" strike="noStrike" cap="none" dirty="0" err="1">
                <a:solidFill>
                  <a:srgbClr val="334155"/>
                </a:solidFill>
                <a:latin typeface="Inter"/>
                <a:ea typeface="Inter"/>
                <a:cs typeface="Inter"/>
                <a:sym typeface="Inter"/>
              </a:rPr>
              <a:t>cantidad</a:t>
            </a:r>
            <a:r>
              <a:rPr lang="en-US" sz="1425" b="0" i="0" u="none" strike="noStrike" cap="none" dirty="0">
                <a:solidFill>
                  <a:srgbClr val="334155"/>
                </a:solidFill>
                <a:latin typeface="Inter"/>
                <a:ea typeface="Inter"/>
                <a:cs typeface="Inter"/>
                <a:sym typeface="Inter"/>
              </a:rPr>
              <a:t> de </a:t>
            </a:r>
            <a:r>
              <a:rPr lang="en-US" sz="1425" b="0" i="0" u="none" strike="noStrike" cap="none" dirty="0" err="1">
                <a:solidFill>
                  <a:srgbClr val="334155"/>
                </a:solidFill>
                <a:latin typeface="Inter"/>
                <a:ea typeface="Inter"/>
                <a:cs typeface="Inter"/>
                <a:sym typeface="Inter"/>
              </a:rPr>
              <a:t>productos</a:t>
            </a:r>
            <a:r>
              <a:rPr lang="en-US" sz="1425" b="0" i="0" u="none" strike="noStrike" cap="none" dirty="0">
                <a:solidFill>
                  <a:srgbClr val="334155"/>
                </a:solidFill>
                <a:latin typeface="Inter"/>
                <a:ea typeface="Inter"/>
                <a:cs typeface="Inter"/>
                <a:sym typeface="Inter"/>
              </a:rPr>
              <a:t>. El </a:t>
            </a:r>
            <a:r>
              <a:rPr lang="en-US" sz="1425" b="0" i="0" u="none" strike="noStrike" cap="none" dirty="0" err="1">
                <a:solidFill>
                  <a:srgbClr val="334155"/>
                </a:solidFill>
                <a:latin typeface="Inter"/>
                <a:ea typeface="Inter"/>
                <a:cs typeface="Inter"/>
                <a:sym typeface="Inter"/>
              </a:rPr>
              <a:t>ciclo</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debe</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detenerse</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cuando</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el</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cajero</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ingrese</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el</a:t>
            </a:r>
            <a:r>
              <a:rPr lang="en-US" sz="1425" b="0" i="0" u="none" strike="noStrike" cap="none" dirty="0">
                <a:solidFill>
                  <a:srgbClr val="334155"/>
                </a:solidFill>
                <a:latin typeface="Inter"/>
                <a:ea typeface="Inter"/>
                <a:cs typeface="Inter"/>
                <a:sym typeface="Inter"/>
              </a:rPr>
              <a:t> valor 0.</a:t>
            </a:r>
            <a:endParaRPr dirty="0"/>
          </a:p>
        </p:txBody>
      </p:sp>
      <p:sp>
        <p:nvSpPr>
          <p:cNvPr id="198" name="Google Shape;198;p19"/>
          <p:cNvSpPr txBox="1"/>
          <p:nvPr/>
        </p:nvSpPr>
        <p:spPr>
          <a:xfrm>
            <a:off x="571500" y="3712368"/>
            <a:ext cx="5600700"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F172A"/>
                </a:solidFill>
                <a:latin typeface="Merriweather"/>
                <a:ea typeface="Merriweather"/>
                <a:cs typeface="Merriweather"/>
                <a:sym typeface="Merriweather"/>
              </a:rPr>
              <a:t>Análisis de la Solución</a:t>
            </a:r>
            <a:endParaRPr/>
          </a:p>
        </p:txBody>
      </p:sp>
      <p:sp>
        <p:nvSpPr>
          <p:cNvPr id="199" name="Google Shape;199;p19"/>
          <p:cNvSpPr txBox="1"/>
          <p:nvPr/>
        </p:nvSpPr>
        <p:spPr>
          <a:xfrm>
            <a:off x="657225" y="4310062"/>
            <a:ext cx="1047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334155"/>
                </a:solidFill>
                <a:latin typeface="Inter"/>
                <a:ea typeface="Inter"/>
                <a:cs typeface="Inter"/>
                <a:sym typeface="Inter"/>
              </a:rPr>
              <a:t>•</a:t>
            </a:r>
            <a:endParaRPr/>
          </a:p>
        </p:txBody>
      </p:sp>
      <p:sp>
        <p:nvSpPr>
          <p:cNvPr id="200" name="Google Shape;200;p19"/>
          <p:cNvSpPr txBox="1"/>
          <p:nvPr/>
        </p:nvSpPr>
        <p:spPr>
          <a:xfrm>
            <a:off x="762000" y="4312443"/>
            <a:ext cx="5143500" cy="271462"/>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Inter"/>
                <a:ea typeface="Inter"/>
                <a:cs typeface="Inter"/>
                <a:sym typeface="Inter"/>
              </a:rPr>
              <a:t>Variable acumuladora:</a:t>
            </a:r>
            <a:r>
              <a:rPr lang="en-US" sz="1425" b="0" i="0" u="none" strike="noStrike" cap="none">
                <a:solidFill>
                  <a:srgbClr val="334155"/>
                </a:solidFill>
                <a:latin typeface="Inter"/>
                <a:ea typeface="Inter"/>
                <a:cs typeface="Inter"/>
                <a:sym typeface="Inter"/>
              </a:rPr>
              <a:t> total inicia en 0.</a:t>
            </a:r>
            <a:endParaRPr/>
          </a:p>
        </p:txBody>
      </p:sp>
      <p:sp>
        <p:nvSpPr>
          <p:cNvPr id="201" name="Google Shape;201;p19"/>
          <p:cNvSpPr txBox="1"/>
          <p:nvPr/>
        </p:nvSpPr>
        <p:spPr>
          <a:xfrm>
            <a:off x="657225" y="4581525"/>
            <a:ext cx="1047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334155"/>
                </a:solidFill>
                <a:latin typeface="Inter"/>
                <a:ea typeface="Inter"/>
                <a:cs typeface="Inter"/>
                <a:sym typeface="Inter"/>
              </a:rPr>
              <a:t>•</a:t>
            </a:r>
            <a:endParaRPr/>
          </a:p>
        </p:txBody>
      </p:sp>
      <p:sp>
        <p:nvSpPr>
          <p:cNvPr id="202" name="Google Shape;202;p19"/>
          <p:cNvSpPr txBox="1"/>
          <p:nvPr/>
        </p:nvSpPr>
        <p:spPr>
          <a:xfrm>
            <a:off x="762000" y="4583906"/>
            <a:ext cx="5143500" cy="271462"/>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Inter"/>
                <a:ea typeface="Inter"/>
                <a:cs typeface="Inter"/>
                <a:sym typeface="Inter"/>
              </a:rPr>
              <a:t>Variable de control:</a:t>
            </a:r>
            <a:r>
              <a:rPr lang="en-US" sz="1425" b="0" i="0" u="none" strike="noStrike" cap="none">
                <a:solidFill>
                  <a:srgbClr val="334155"/>
                </a:solidFill>
                <a:latin typeface="Inter"/>
                <a:ea typeface="Inter"/>
                <a:cs typeface="Inter"/>
                <a:sym typeface="Inter"/>
              </a:rPr>
              <a:t> precio (es nuestro centinela).</a:t>
            </a:r>
            <a:endParaRPr/>
          </a:p>
        </p:txBody>
      </p:sp>
      <p:sp>
        <p:nvSpPr>
          <p:cNvPr id="203" name="Google Shape;203;p19"/>
          <p:cNvSpPr txBox="1"/>
          <p:nvPr/>
        </p:nvSpPr>
        <p:spPr>
          <a:xfrm>
            <a:off x="657225" y="4852987"/>
            <a:ext cx="1047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334155"/>
                </a:solidFill>
                <a:latin typeface="Inter"/>
                <a:ea typeface="Inter"/>
                <a:cs typeface="Inter"/>
                <a:sym typeface="Inter"/>
              </a:rPr>
              <a:t>•</a:t>
            </a:r>
            <a:endParaRPr/>
          </a:p>
        </p:txBody>
      </p:sp>
      <p:sp>
        <p:nvSpPr>
          <p:cNvPr id="204" name="Google Shape;204;p19"/>
          <p:cNvSpPr txBox="1"/>
          <p:nvPr/>
        </p:nvSpPr>
        <p:spPr>
          <a:xfrm>
            <a:off x="762000" y="4855368"/>
            <a:ext cx="5143500" cy="542925"/>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Inter"/>
                <a:ea typeface="Inter"/>
                <a:cs typeface="Inter"/>
                <a:sym typeface="Inter"/>
              </a:rPr>
              <a:t>Alteración:</a:t>
            </a:r>
            <a:r>
              <a:rPr lang="en-US" sz="1425" b="0" i="0" u="none" strike="noStrike" cap="none">
                <a:solidFill>
                  <a:srgbClr val="334155"/>
                </a:solidFill>
                <a:latin typeface="Inter"/>
                <a:ea typeface="Inter"/>
                <a:cs typeface="Inter"/>
                <a:sym typeface="Inter"/>
              </a:rPr>
              <a:t> Usamos la instrucción lea precio al final del bucle para actualizar la condición en cada vuelta.</a:t>
            </a:r>
            <a:endParaRPr/>
          </a:p>
        </p:txBody>
      </p:sp>
      <p:sp>
        <p:nvSpPr>
          <p:cNvPr id="205" name="Google Shape;205;p19"/>
          <p:cNvSpPr txBox="1"/>
          <p:nvPr/>
        </p:nvSpPr>
        <p:spPr>
          <a:xfrm>
            <a:off x="571500" y="476250"/>
            <a:ext cx="11601450"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1D4ED8"/>
                </a:solidFill>
                <a:latin typeface="Merriweather"/>
                <a:ea typeface="Merriweather"/>
                <a:cs typeface="Merriweather"/>
                <a:sym typeface="Merriweather"/>
              </a:rPr>
              <a:t>Caso Práctico 1: Acumulador con Centinela</a:t>
            </a:r>
            <a:endParaRPr/>
          </a:p>
        </p:txBody>
      </p:sp>
      <p:sp>
        <p:nvSpPr>
          <p:cNvPr id="206" name="Google Shape;206;p19"/>
          <p:cNvSpPr/>
          <p:nvPr/>
        </p:nvSpPr>
        <p:spPr>
          <a:xfrm>
            <a:off x="571500" y="101917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 grpId="0"/>
      <p:bldP spid="197" grpId="0"/>
      <p:bldP spid="198" grpId="0"/>
      <p:bldP spid="199" grpId="0"/>
      <p:bldP spid="200" grpId="0"/>
      <p:bldP spid="201" grpId="0"/>
      <p:bldP spid="202" grpId="0"/>
      <p:bldP spid="203" grpId="0"/>
      <p:bldP spid="20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3"/>
        <p:cNvGrpSpPr/>
        <p:nvPr/>
      </p:nvGrpSpPr>
      <p:grpSpPr>
        <a:xfrm>
          <a:off x="0" y="0"/>
          <a:ext cx="0" cy="0"/>
          <a:chOff x="0" y="0"/>
          <a:chExt cx="0" cy="0"/>
        </a:xfrm>
      </p:grpSpPr>
      <p:pic>
        <p:nvPicPr>
          <p:cNvPr id="224" name="Google Shape;224;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25" name="Google Shape;225;p21"/>
          <p:cNvSpPr/>
          <p:nvPr/>
        </p:nvSpPr>
        <p:spPr>
          <a:xfrm>
            <a:off x="571500" y="1473993"/>
            <a:ext cx="11049000" cy="1862137"/>
          </a:xfrm>
          <a:prstGeom prst="rect">
            <a:avLst/>
          </a:prstGeom>
          <a:solidFill>
            <a:srgbClr val="FE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6" name="Google Shape;226;p21"/>
          <p:cNvSpPr txBox="1"/>
          <p:nvPr/>
        </p:nvSpPr>
        <p:spPr>
          <a:xfrm>
            <a:off x="809625" y="1664493"/>
            <a:ext cx="10572750" cy="148113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991B1B"/>
                </a:solidFill>
                <a:latin typeface="Inter"/>
                <a:ea typeface="Inter"/>
                <a:cs typeface="Inter"/>
                <a:sym typeface="Inter"/>
              </a:rPr>
              <a:t>¿Qué es un Bucle Infinito?</a:t>
            </a:r>
            <a:r>
              <a:rPr lang="en-US" sz="1425" b="0" i="0" u="none" strike="noStrike" cap="none">
                <a:solidFill>
                  <a:srgbClr val="334155"/>
                </a:solidFill>
                <a:latin typeface="Inter"/>
                <a:ea typeface="Inter"/>
                <a:cs typeface="Inter"/>
                <a:sym typeface="Inter"/>
              </a:rPr>
              <a:t> Es un error lógico (no de sintaxis) donde la condición del mientras </a:t>
            </a:r>
            <a:r>
              <a:rPr lang="en-US" sz="1425" b="1" i="0" u="none" strike="noStrike" cap="none">
                <a:solidFill>
                  <a:srgbClr val="0F172A"/>
                </a:solidFill>
                <a:latin typeface="Inter"/>
                <a:ea typeface="Inter"/>
                <a:cs typeface="Inter"/>
                <a:sym typeface="Inter"/>
              </a:rPr>
              <a:t>nunca</a:t>
            </a:r>
            <a:r>
              <a:rPr lang="en-US" sz="1425" b="0" i="0" u="none" strike="noStrike" cap="none">
                <a:solidFill>
                  <a:srgbClr val="334155"/>
                </a:solidFill>
                <a:latin typeface="Inter"/>
                <a:ea typeface="Inter"/>
                <a:cs typeface="Inter"/>
                <a:sym typeface="Inter"/>
              </a:rPr>
              <a:t> se vuelve Falsa. El programa se queda "atrapado" iterando eternamente, lo que bloquea la consola de Logicode y requiere forzar el cierre del programa.</a:t>
            </a:r>
            <a:endParaRPr/>
          </a:p>
        </p:txBody>
      </p:sp>
      <p:sp>
        <p:nvSpPr>
          <p:cNvPr id="227" name="Google Shape;227;p21"/>
          <p:cNvSpPr/>
          <p:nvPr/>
        </p:nvSpPr>
        <p:spPr>
          <a:xfrm>
            <a:off x="571500" y="1473993"/>
            <a:ext cx="38100" cy="1862137"/>
          </a:xfrm>
          <a:prstGeom prst="rect">
            <a:avLst/>
          </a:prstGeom>
          <a:solidFill>
            <a:srgbClr val="DC26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8" name="Google Shape;228;p21"/>
          <p:cNvSpPr/>
          <p:nvPr/>
        </p:nvSpPr>
        <p:spPr>
          <a:xfrm>
            <a:off x="571500" y="3526631"/>
            <a:ext cx="11049000" cy="1257300"/>
          </a:xfrm>
          <a:prstGeom prst="rect">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9" name="Google Shape;229;p21"/>
          <p:cNvSpPr txBox="1"/>
          <p:nvPr/>
        </p:nvSpPr>
        <p:spPr>
          <a:xfrm>
            <a:off x="809625" y="3717131"/>
            <a:ext cx="10572750" cy="87630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0F172A"/>
                </a:solidFill>
                <a:latin typeface="Inter"/>
                <a:ea typeface="Inter"/>
                <a:cs typeface="Inter"/>
                <a:sym typeface="Inter"/>
              </a:rPr>
              <a:t>Error 1: Omisión de la Alteración</a:t>
            </a:r>
            <a:r>
              <a:rPr lang="en-US" sz="1425" b="0" i="0" u="none" strike="noStrike" cap="none">
                <a:solidFill>
                  <a:srgbClr val="334155"/>
                </a:solidFill>
                <a:latin typeface="Inter"/>
                <a:ea typeface="Inter"/>
                <a:cs typeface="Inter"/>
                <a:sym typeface="Inter"/>
              </a:rPr>
              <a:t> El error más común es olvidar incrementar el contador o leer el nuevo dato dentro del cuerpo del ciclo. Si evalúas (x &lt; 10) y x jamás cambia su valor dentro del bloque, el bucle será infinito.</a:t>
            </a:r>
            <a:endParaRPr/>
          </a:p>
        </p:txBody>
      </p:sp>
      <p:sp>
        <p:nvSpPr>
          <p:cNvPr id="230" name="Google Shape;230;p21"/>
          <p:cNvSpPr/>
          <p:nvPr/>
        </p:nvSpPr>
        <p:spPr>
          <a:xfrm>
            <a:off x="571500" y="3526631"/>
            <a:ext cx="38100" cy="12573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1" name="Google Shape;231;p21"/>
          <p:cNvSpPr/>
          <p:nvPr/>
        </p:nvSpPr>
        <p:spPr>
          <a:xfrm>
            <a:off x="571500" y="4974431"/>
            <a:ext cx="11049000" cy="1257300"/>
          </a:xfrm>
          <a:prstGeom prst="rect">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2" name="Google Shape;232;p21"/>
          <p:cNvSpPr txBox="1"/>
          <p:nvPr/>
        </p:nvSpPr>
        <p:spPr>
          <a:xfrm>
            <a:off x="809625" y="5164931"/>
            <a:ext cx="10572750" cy="87630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0F172A"/>
                </a:solidFill>
                <a:latin typeface="Inter"/>
                <a:ea typeface="Inter"/>
                <a:cs typeface="Inter"/>
                <a:sym typeface="Inter"/>
              </a:rPr>
              <a:t>Error 2: Lógica Inalcanzable (Tautología)</a:t>
            </a:r>
            <a:r>
              <a:rPr lang="en-US" sz="1425" b="0" i="0" u="none" strike="noStrike" cap="none">
                <a:solidFill>
                  <a:srgbClr val="334155"/>
                </a:solidFill>
                <a:latin typeface="Inter"/>
                <a:ea typeface="Inter"/>
                <a:cs typeface="Inter"/>
                <a:sym typeface="Inter"/>
              </a:rPr>
              <a:t> Crear una condición que matemáticamente no puede romperse. Por ejemplo, si tienes mientras(x &gt; 0) e incrementas la variable (x = x + 1) en lugar de decrementarla. x crecerá hacia el infinito, y la condición jamás será falsa.</a:t>
            </a:r>
            <a:endParaRPr/>
          </a:p>
        </p:txBody>
      </p:sp>
      <p:sp>
        <p:nvSpPr>
          <p:cNvPr id="233" name="Google Shape;233;p21"/>
          <p:cNvSpPr/>
          <p:nvPr/>
        </p:nvSpPr>
        <p:spPr>
          <a:xfrm>
            <a:off x="571500" y="4974431"/>
            <a:ext cx="38100" cy="12573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4" name="Google Shape;234;p21"/>
          <p:cNvSpPr txBox="1"/>
          <p:nvPr/>
        </p:nvSpPr>
        <p:spPr>
          <a:xfrm>
            <a:off x="571500" y="476250"/>
            <a:ext cx="11601450"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DC2626"/>
                </a:solidFill>
                <a:latin typeface="Merriweather"/>
                <a:ea typeface="Merriweather"/>
                <a:cs typeface="Merriweather"/>
                <a:sym typeface="Merriweather"/>
              </a:rPr>
              <a:t>Peligro Logicode: El Bucle Infinito</a:t>
            </a:r>
            <a:endParaRPr/>
          </a:p>
        </p:txBody>
      </p:sp>
      <p:sp>
        <p:nvSpPr>
          <p:cNvPr id="235" name="Google Shape;235;p21"/>
          <p:cNvSpPr/>
          <p:nvPr/>
        </p:nvSpPr>
        <p:spPr>
          <a:xfrm>
            <a:off x="571500" y="1019175"/>
            <a:ext cx="11049000" cy="19050"/>
          </a:xfrm>
          <a:prstGeom prst="rect">
            <a:avLst/>
          </a:prstGeom>
          <a:solidFill>
            <a:srgbClr val="FECAC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 grpId="0" animBg="1"/>
      <p:bldP spid="226" grpId="0"/>
      <p:bldP spid="227" grpId="0" animBg="1"/>
      <p:bldP spid="228" grpId="0" animBg="1"/>
      <p:bldP spid="229" grpId="0"/>
      <p:bldP spid="230" grpId="0" animBg="1"/>
      <p:bldP spid="231" grpId="0" animBg="1"/>
      <p:bldP spid="232" grpId="0"/>
      <p:bldP spid="23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64" name="Google Shape;164;p15" descr="image.png"/>
          <p:cNvPicPr preferRelativeResize="0"/>
          <p:nvPr/>
        </p:nvPicPr>
        <p:blipFill rotWithShape="1">
          <a:blip r:embed="rId4">
            <a:alphaModFix/>
          </a:blip>
          <a:srcRect/>
          <a:stretch/>
        </p:blipFill>
        <p:spPr>
          <a:xfrm>
            <a:off x="571500" y="4986337"/>
            <a:ext cx="11049000" cy="1100137"/>
          </a:xfrm>
          <a:prstGeom prst="rect">
            <a:avLst/>
          </a:prstGeom>
          <a:noFill/>
          <a:ln>
            <a:noFill/>
          </a:ln>
        </p:spPr>
      </p:pic>
      <p:pic>
        <p:nvPicPr>
          <p:cNvPr id="165" name="Google Shape;165;p15" descr="image.png"/>
          <p:cNvPicPr preferRelativeResize="0"/>
          <p:nvPr/>
        </p:nvPicPr>
        <p:blipFill rotWithShape="1">
          <a:blip r:embed="rId5">
            <a:alphaModFix/>
          </a:blip>
          <a:srcRect/>
          <a:stretch/>
        </p:blipFill>
        <p:spPr>
          <a:xfrm>
            <a:off x="571500" y="2181225"/>
            <a:ext cx="3492549" cy="2519362"/>
          </a:xfrm>
          <a:prstGeom prst="rect">
            <a:avLst/>
          </a:prstGeom>
          <a:noFill/>
          <a:ln>
            <a:noFill/>
          </a:ln>
        </p:spPr>
      </p:pic>
      <p:pic>
        <p:nvPicPr>
          <p:cNvPr id="166" name="Google Shape;166;p15" descr="image.png"/>
          <p:cNvPicPr preferRelativeResize="0"/>
          <p:nvPr/>
        </p:nvPicPr>
        <p:blipFill rotWithShape="1">
          <a:blip r:embed="rId6">
            <a:alphaModFix/>
          </a:blip>
          <a:srcRect/>
          <a:stretch/>
        </p:blipFill>
        <p:spPr>
          <a:xfrm>
            <a:off x="4349799" y="2181225"/>
            <a:ext cx="3492549" cy="2519362"/>
          </a:xfrm>
          <a:prstGeom prst="rect">
            <a:avLst/>
          </a:prstGeom>
          <a:noFill/>
          <a:ln>
            <a:noFill/>
          </a:ln>
        </p:spPr>
      </p:pic>
      <p:pic>
        <p:nvPicPr>
          <p:cNvPr id="167" name="Google Shape;167;p15" descr="image.png"/>
          <p:cNvPicPr preferRelativeResize="0"/>
          <p:nvPr/>
        </p:nvPicPr>
        <p:blipFill rotWithShape="1">
          <a:blip r:embed="rId7">
            <a:alphaModFix/>
          </a:blip>
          <a:srcRect/>
          <a:stretch/>
        </p:blipFill>
        <p:spPr>
          <a:xfrm>
            <a:off x="8128099" y="2181225"/>
            <a:ext cx="3492549" cy="2519362"/>
          </a:xfrm>
          <a:prstGeom prst="rect">
            <a:avLst/>
          </a:prstGeom>
          <a:noFill/>
          <a:ln>
            <a:noFill/>
          </a:ln>
        </p:spPr>
      </p:pic>
      <p:sp>
        <p:nvSpPr>
          <p:cNvPr id="168" name="Google Shape;168;p15"/>
          <p:cNvSpPr txBox="1"/>
          <p:nvPr/>
        </p:nvSpPr>
        <p:spPr>
          <a:xfrm>
            <a:off x="571500" y="476250"/>
            <a:ext cx="11601450"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3A8A"/>
                </a:solidFill>
                <a:latin typeface="Merriweather"/>
                <a:ea typeface="Merriweather"/>
                <a:cs typeface="Merriweather"/>
                <a:sym typeface="Merriweather"/>
              </a:rPr>
              <a:t>El Problema del "No sé Cuándo Parar"</a:t>
            </a:r>
            <a:endParaRPr/>
          </a:p>
        </p:txBody>
      </p:sp>
      <p:sp>
        <p:nvSpPr>
          <p:cNvPr id="169" name="Google Shape;169;p15"/>
          <p:cNvSpPr/>
          <p:nvPr/>
        </p:nvSpPr>
        <p:spPr>
          <a:xfrm>
            <a:off x="571500" y="1047750"/>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0" name="Google Shape;170;p15"/>
          <p:cNvSpPr txBox="1"/>
          <p:nvPr/>
        </p:nvSpPr>
        <p:spPr>
          <a:xfrm>
            <a:off x="571500" y="1304925"/>
            <a:ext cx="11049000"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Inter"/>
                <a:ea typeface="Inter"/>
                <a:cs typeface="Inter"/>
                <a:sym typeface="Inter"/>
              </a:rPr>
              <a:t>El ejemplo anterior funcionó perfecto, pero ¿qué pasa en situaciones reales donde </a:t>
            </a:r>
            <a:r>
              <a:rPr lang="en-US" sz="1425" b="1" i="0" u="none" strike="noStrike" cap="none">
                <a:solidFill>
                  <a:srgbClr val="334155"/>
                </a:solidFill>
                <a:latin typeface="Inter"/>
                <a:ea typeface="Inter"/>
                <a:cs typeface="Inter"/>
                <a:sym typeface="Inter"/>
              </a:rPr>
              <a:t>no sabemos el número de iteraciones</a:t>
            </a:r>
            <a:r>
              <a:rPr lang="en-US" sz="1425" b="0" i="0" u="none" strike="noStrike" cap="none">
                <a:solidFill>
                  <a:srgbClr val="334155"/>
                </a:solidFill>
                <a:latin typeface="Inter"/>
                <a:ea typeface="Inter"/>
                <a:cs typeface="Inter"/>
                <a:sym typeface="Inter"/>
              </a:rPr>
              <a:t> de antemano? Por ejemplo:</a:t>
            </a:r>
            <a:endParaRPr/>
          </a:p>
        </p:txBody>
      </p:sp>
      <p:sp>
        <p:nvSpPr>
          <p:cNvPr id="171" name="Google Shape;171;p15"/>
          <p:cNvSpPr txBox="1"/>
          <p:nvPr/>
        </p:nvSpPr>
        <p:spPr>
          <a:xfrm>
            <a:off x="800100" y="5129212"/>
            <a:ext cx="10629900" cy="814387"/>
          </a:xfrm>
          <a:prstGeom prst="rect">
            <a:avLst/>
          </a:prstGeom>
          <a:noFill/>
          <a:ln>
            <a:noFill/>
          </a:ln>
        </p:spPr>
        <p:txBody>
          <a:bodyPr spcFirstLastPara="1" wrap="square" lIns="0" tIns="0" rIns="0" bIns="0" anchor="t" anchorCtr="0">
            <a:spAutoFit/>
          </a:bodyPr>
          <a:lstStyle/>
          <a:p>
            <a:pPr marL="0" marR="0" lvl="0" indent="0" algn="l" rtl="0">
              <a:lnSpc>
                <a:spcPct val="118722"/>
              </a:lnSpc>
              <a:spcBef>
                <a:spcPts val="0"/>
              </a:spcBef>
              <a:spcAft>
                <a:spcPts val="0"/>
              </a:spcAft>
              <a:buNone/>
            </a:pPr>
            <a:r>
              <a:rPr lang="en-US" sz="1425" b="1" i="0" u="none" strike="noStrike" cap="none">
                <a:solidFill>
                  <a:srgbClr val="B45309"/>
                </a:solidFill>
                <a:latin typeface="Inter"/>
                <a:ea typeface="Inter"/>
                <a:cs typeface="Inter"/>
                <a:sym typeface="Inter"/>
              </a:rPr>
              <a:t>Definición: Variable Centinela</a:t>
            </a:r>
            <a:br>
              <a:rPr lang="en-US" sz="1800" b="0" i="0" u="none" strike="noStrike" cap="none">
                <a:solidFill>
                  <a:schemeClr val="dk1"/>
                </a:solidFill>
                <a:latin typeface="Calibri"/>
                <a:ea typeface="Calibri"/>
                <a:cs typeface="Calibri"/>
                <a:sym typeface="Calibri"/>
              </a:rPr>
            </a:br>
            <a:r>
              <a:rPr lang="en-US" sz="1425" b="0" i="0" u="none" strike="noStrike" cap="none">
                <a:solidFill>
                  <a:srgbClr val="B45309"/>
                </a:solidFill>
                <a:latin typeface="Inter"/>
                <a:ea typeface="Inter"/>
                <a:cs typeface="Inter"/>
                <a:sym typeface="Inter"/>
              </a:rPr>
              <a:t> Para estos casos, un ciclo `PARA` es inútil. Necesitamos un </a:t>
            </a:r>
            <a:r>
              <a:rPr lang="en-US" sz="1425" b="1" i="0" u="none" strike="noStrike" cap="none">
                <a:solidFill>
                  <a:srgbClr val="B45309"/>
                </a:solidFill>
                <a:latin typeface="Inter"/>
                <a:ea typeface="Inter"/>
                <a:cs typeface="Inter"/>
                <a:sym typeface="Inter"/>
              </a:rPr>
              <a:t>centinela</a:t>
            </a:r>
            <a:r>
              <a:rPr lang="en-US" sz="1425" b="0" i="0" u="none" strike="noStrike" cap="none">
                <a:solidFill>
                  <a:srgbClr val="B45309"/>
                </a:solidFill>
                <a:latin typeface="Inter"/>
                <a:ea typeface="Inter"/>
                <a:cs typeface="Inter"/>
                <a:sym typeface="Inter"/>
              </a:rPr>
              <a:t>: una señal especial (un valor específico ingresado por el usuario) que le dice al programa "ya no quiero ingresar más datos", permitiendo que el ciclo finalice.</a:t>
            </a:r>
            <a:endParaRPr/>
          </a:p>
        </p:txBody>
      </p:sp>
      <p:pic>
        <p:nvPicPr>
          <p:cNvPr id="172" name="Google Shape;172;p15" descr="image.png"/>
          <p:cNvPicPr preferRelativeResize="0"/>
          <p:nvPr/>
        </p:nvPicPr>
        <p:blipFill rotWithShape="1">
          <a:blip r:embed="rId8">
            <a:alphaModFix/>
          </a:blip>
          <a:srcRect/>
          <a:stretch/>
        </p:blipFill>
        <p:spPr>
          <a:xfrm>
            <a:off x="866775" y="2476500"/>
            <a:ext cx="2901999" cy="342900"/>
          </a:xfrm>
          <a:prstGeom prst="rect">
            <a:avLst/>
          </a:prstGeom>
          <a:noFill/>
          <a:ln>
            <a:noFill/>
          </a:ln>
        </p:spPr>
      </p:pic>
      <p:sp>
        <p:nvSpPr>
          <p:cNvPr id="173" name="Google Shape;173;p15"/>
          <p:cNvSpPr txBox="1"/>
          <p:nvPr/>
        </p:nvSpPr>
        <p:spPr>
          <a:xfrm>
            <a:off x="866775" y="3009900"/>
            <a:ext cx="3047099" cy="2952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F172A"/>
                </a:solidFill>
                <a:latin typeface="Merriweather"/>
                <a:ea typeface="Merriweather"/>
                <a:cs typeface="Merriweather"/>
                <a:sym typeface="Merriweather"/>
              </a:rPr>
              <a:t>Supermercado</a:t>
            </a:r>
            <a:endParaRPr/>
          </a:p>
        </p:txBody>
      </p:sp>
      <p:sp>
        <p:nvSpPr>
          <p:cNvPr id="174" name="Google Shape;174;p15"/>
          <p:cNvSpPr txBox="1"/>
          <p:nvPr/>
        </p:nvSpPr>
        <p:spPr>
          <a:xfrm>
            <a:off x="866775" y="3448050"/>
            <a:ext cx="2901999" cy="81438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Inter"/>
                <a:ea typeface="Inter"/>
                <a:cs typeface="Inter"/>
                <a:sym typeface="Inter"/>
              </a:rPr>
              <a:t>La cantidad de productos que un cliente pone en la cinta registradora.</a:t>
            </a:r>
            <a:endParaRPr/>
          </a:p>
        </p:txBody>
      </p:sp>
      <p:pic>
        <p:nvPicPr>
          <p:cNvPr id="175" name="Google Shape;175;p15" descr="image.png"/>
          <p:cNvPicPr preferRelativeResize="0"/>
          <p:nvPr/>
        </p:nvPicPr>
        <p:blipFill rotWithShape="1">
          <a:blip r:embed="rId9">
            <a:alphaModFix/>
          </a:blip>
          <a:srcRect/>
          <a:stretch/>
        </p:blipFill>
        <p:spPr>
          <a:xfrm>
            <a:off x="4645074" y="2476500"/>
            <a:ext cx="2901999" cy="342900"/>
          </a:xfrm>
          <a:prstGeom prst="rect">
            <a:avLst/>
          </a:prstGeom>
          <a:noFill/>
          <a:ln>
            <a:noFill/>
          </a:ln>
        </p:spPr>
      </p:pic>
      <p:sp>
        <p:nvSpPr>
          <p:cNvPr id="176" name="Google Shape;176;p15"/>
          <p:cNvSpPr txBox="1"/>
          <p:nvPr/>
        </p:nvSpPr>
        <p:spPr>
          <a:xfrm>
            <a:off x="4645074" y="3009900"/>
            <a:ext cx="3047099" cy="2952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F172A"/>
                </a:solidFill>
                <a:latin typeface="Merriweather"/>
                <a:ea typeface="Merriweather"/>
                <a:cs typeface="Merriweather"/>
                <a:sym typeface="Merriweather"/>
              </a:rPr>
              <a:t>Cajero Automático</a:t>
            </a:r>
            <a:endParaRPr/>
          </a:p>
        </p:txBody>
      </p:sp>
      <p:sp>
        <p:nvSpPr>
          <p:cNvPr id="177" name="Google Shape;177;p15"/>
          <p:cNvSpPr txBox="1"/>
          <p:nvPr/>
        </p:nvSpPr>
        <p:spPr>
          <a:xfrm>
            <a:off x="4645074" y="3448050"/>
            <a:ext cx="2901999" cy="81438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Inter"/>
                <a:ea typeface="Inter"/>
                <a:cs typeface="Inter"/>
                <a:sym typeface="Inter"/>
              </a:rPr>
              <a:t>El número de transacciones o depósitos que una persona realizará en una sesión.</a:t>
            </a:r>
            <a:endParaRPr/>
          </a:p>
        </p:txBody>
      </p:sp>
      <p:pic>
        <p:nvPicPr>
          <p:cNvPr id="178" name="Google Shape;178;p15" descr="image.png"/>
          <p:cNvPicPr preferRelativeResize="0"/>
          <p:nvPr/>
        </p:nvPicPr>
        <p:blipFill rotWithShape="1">
          <a:blip r:embed="rId10">
            <a:alphaModFix/>
          </a:blip>
          <a:srcRect/>
          <a:stretch/>
        </p:blipFill>
        <p:spPr>
          <a:xfrm>
            <a:off x="8423374" y="2476500"/>
            <a:ext cx="2901999" cy="342900"/>
          </a:xfrm>
          <a:prstGeom prst="rect">
            <a:avLst/>
          </a:prstGeom>
          <a:noFill/>
          <a:ln>
            <a:noFill/>
          </a:ln>
        </p:spPr>
      </p:pic>
      <p:sp>
        <p:nvSpPr>
          <p:cNvPr id="179" name="Google Shape;179;p15"/>
          <p:cNvSpPr txBox="1"/>
          <p:nvPr/>
        </p:nvSpPr>
        <p:spPr>
          <a:xfrm>
            <a:off x="8423374" y="3009900"/>
            <a:ext cx="3047099" cy="2952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F172A"/>
                </a:solidFill>
                <a:latin typeface="Merriweather"/>
                <a:ea typeface="Merriweather"/>
                <a:cs typeface="Merriweather"/>
                <a:sym typeface="Merriweather"/>
              </a:rPr>
              <a:t>Peaje</a:t>
            </a:r>
            <a:endParaRPr/>
          </a:p>
        </p:txBody>
      </p:sp>
      <p:sp>
        <p:nvSpPr>
          <p:cNvPr id="180" name="Google Shape;180;p15"/>
          <p:cNvSpPr txBox="1"/>
          <p:nvPr/>
        </p:nvSpPr>
        <p:spPr>
          <a:xfrm>
            <a:off x="8423374" y="3448050"/>
            <a:ext cx="2901999" cy="81438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Inter"/>
                <a:ea typeface="Inter"/>
                <a:cs typeface="Inter"/>
                <a:sym typeface="Inter"/>
              </a:rPr>
              <a:t>La cantidad de vehículos que pasarán por una caseta en un día aleatorio.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pic>
        <p:nvPicPr>
          <p:cNvPr id="185" name="Google Shape;185;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6" name="Google Shape;186;p16"/>
          <p:cNvSpPr txBox="1"/>
          <p:nvPr/>
        </p:nvSpPr>
        <p:spPr>
          <a:xfrm>
            <a:off x="571500" y="476250"/>
            <a:ext cx="11601450"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3A8A"/>
                </a:solidFill>
                <a:latin typeface="Merriweather"/>
                <a:ea typeface="Merriweather"/>
                <a:cs typeface="Merriweather"/>
                <a:sym typeface="Merriweather"/>
              </a:rPr>
              <a:t>Caso Práctico: Caja Registradora</a:t>
            </a:r>
            <a:endParaRPr/>
          </a:p>
        </p:txBody>
      </p:sp>
      <p:sp>
        <p:nvSpPr>
          <p:cNvPr id="187" name="Google Shape;187;p16"/>
          <p:cNvSpPr/>
          <p:nvPr/>
        </p:nvSpPr>
        <p:spPr>
          <a:xfrm>
            <a:off x="571500" y="1047750"/>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8" name="Google Shape;188;p16"/>
          <p:cNvSpPr txBox="1"/>
          <p:nvPr/>
        </p:nvSpPr>
        <p:spPr>
          <a:xfrm>
            <a:off x="571500" y="1304925"/>
            <a:ext cx="5600700" cy="295275"/>
          </a:xfrm>
          <a:prstGeom prst="rect">
            <a:avLst/>
          </a:prstGeom>
          <a:noFill/>
          <a:ln>
            <a:noFill/>
          </a:ln>
        </p:spPr>
        <p:txBody>
          <a:bodyPr spcFirstLastPara="1" wrap="square" lIns="323850" tIns="0" rIns="0" bIns="0" anchor="t" anchorCtr="0">
            <a:spAutoFit/>
          </a:bodyPr>
          <a:lstStyle/>
          <a:p>
            <a:pPr marL="0" marR="0" lvl="0" indent="0" algn="l" rtl="0">
              <a:spcBef>
                <a:spcPts val="0"/>
              </a:spcBef>
              <a:spcAft>
                <a:spcPts val="0"/>
              </a:spcAft>
              <a:buNone/>
            </a:pPr>
            <a:r>
              <a:rPr lang="en-US" sz="1800" b="1" i="0" u="none" strike="noStrike" cap="none">
                <a:solidFill>
                  <a:srgbClr val="16A34A"/>
                </a:solidFill>
                <a:latin typeface="Merriweather"/>
                <a:ea typeface="Merriweather"/>
                <a:cs typeface="Merriweather"/>
                <a:sym typeface="Merriweather"/>
              </a:rPr>
              <a:t>El Requisito</a:t>
            </a:r>
            <a:endParaRPr/>
          </a:p>
        </p:txBody>
      </p:sp>
      <p:sp>
        <p:nvSpPr>
          <p:cNvPr id="189" name="Google Shape;189;p16"/>
          <p:cNvSpPr txBox="1"/>
          <p:nvPr/>
        </p:nvSpPr>
        <p:spPr>
          <a:xfrm>
            <a:off x="571500" y="1743075"/>
            <a:ext cx="5334000" cy="108585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Inter"/>
                <a:ea typeface="Inter"/>
                <a:cs typeface="Inter"/>
                <a:sym typeface="Inter"/>
              </a:rPr>
              <a:t>Permitir que un cliente ingrese los precios de todos los productos que desea comprar. El algoritmo debe acumular y mostrar el total a pagar. La entrada finaliza cuando el usuario ingrese el centinela.</a:t>
            </a:r>
            <a:endParaRPr/>
          </a:p>
        </p:txBody>
      </p:sp>
      <p:sp>
        <p:nvSpPr>
          <p:cNvPr id="190" name="Google Shape;190;p16"/>
          <p:cNvSpPr txBox="1"/>
          <p:nvPr/>
        </p:nvSpPr>
        <p:spPr>
          <a:xfrm>
            <a:off x="6286500" y="1304925"/>
            <a:ext cx="5600700" cy="2952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F172A"/>
                </a:solidFill>
                <a:latin typeface="Merriweather"/>
                <a:ea typeface="Merriweather"/>
                <a:cs typeface="Merriweather"/>
                <a:sym typeface="Merriweather"/>
              </a:rPr>
              <a:t>Análisis y Elección del Centinela</a:t>
            </a:r>
            <a:endParaRPr/>
          </a:p>
        </p:txBody>
      </p:sp>
      <p:pic>
        <p:nvPicPr>
          <p:cNvPr id="191" name="Google Shape;191;p16" descr="image.png"/>
          <p:cNvPicPr preferRelativeResize="0"/>
          <p:nvPr/>
        </p:nvPicPr>
        <p:blipFill rotWithShape="1">
          <a:blip r:embed="rId4">
            <a:alphaModFix/>
          </a:blip>
          <a:srcRect/>
          <a:stretch/>
        </p:blipFill>
        <p:spPr>
          <a:xfrm>
            <a:off x="571500" y="1333500"/>
            <a:ext cx="228600" cy="228600"/>
          </a:xfrm>
          <a:prstGeom prst="rect">
            <a:avLst/>
          </a:prstGeom>
          <a:noFill/>
          <a:ln>
            <a:noFill/>
          </a:ln>
        </p:spPr>
      </p:pic>
      <p:sp>
        <p:nvSpPr>
          <p:cNvPr id="192" name="Google Shape;192;p16"/>
          <p:cNvSpPr txBox="1"/>
          <p:nvPr/>
        </p:nvSpPr>
        <p:spPr>
          <a:xfrm>
            <a:off x="6524625" y="1743075"/>
            <a:ext cx="5095875"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Inter"/>
                <a:ea typeface="Inter"/>
                <a:cs typeface="Inter"/>
                <a:sym typeface="Inter"/>
              </a:rPr>
              <a:t>Dato de entrada:</a:t>
            </a:r>
            <a:r>
              <a:rPr lang="en-US" sz="1425" b="0" i="0" u="none" strike="noStrike" cap="none">
                <a:solidFill>
                  <a:srgbClr val="334155"/>
                </a:solidFill>
                <a:latin typeface="Inter"/>
                <a:ea typeface="Inter"/>
                <a:cs typeface="Inter"/>
                <a:sym typeface="Inter"/>
              </a:rPr>
              <a:t> El precio de un producto (número real, positivo).</a:t>
            </a:r>
            <a:endParaRPr/>
          </a:p>
        </p:txBody>
      </p:sp>
      <p:sp>
        <p:nvSpPr>
          <p:cNvPr id="193" name="Google Shape;193;p16"/>
          <p:cNvSpPr txBox="1"/>
          <p:nvPr/>
        </p:nvSpPr>
        <p:spPr>
          <a:xfrm>
            <a:off x="6524625" y="2428875"/>
            <a:ext cx="5095875"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Inter"/>
                <a:ea typeface="Inter"/>
                <a:cs typeface="Inter"/>
                <a:sym typeface="Inter"/>
              </a:rPr>
              <a:t>Dato inválido lógico:</a:t>
            </a:r>
            <a:r>
              <a:rPr lang="en-US" sz="1425" b="0" i="0" u="none" strike="noStrike" cap="none">
                <a:solidFill>
                  <a:srgbClr val="334155"/>
                </a:solidFill>
                <a:latin typeface="Inter"/>
                <a:ea typeface="Inter"/>
                <a:cs typeface="Inter"/>
                <a:sym typeface="Inter"/>
              </a:rPr>
              <a:t> Un producto nunca tendría un precio de `0` o negativo en un supermercado real.</a:t>
            </a:r>
            <a:endParaRPr/>
          </a:p>
        </p:txBody>
      </p:sp>
      <p:sp>
        <p:nvSpPr>
          <p:cNvPr id="194" name="Google Shape;194;p16"/>
          <p:cNvSpPr txBox="1"/>
          <p:nvPr/>
        </p:nvSpPr>
        <p:spPr>
          <a:xfrm>
            <a:off x="6524625" y="3114675"/>
            <a:ext cx="5095875" cy="81438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Inter"/>
                <a:ea typeface="Inter"/>
                <a:cs typeface="Inter"/>
                <a:sym typeface="Inter"/>
              </a:rPr>
              <a:t>Elección del Centinela:</a:t>
            </a:r>
            <a:r>
              <a:rPr lang="en-US" sz="1425" b="0" i="0" u="none" strike="noStrike" cap="none">
                <a:solidFill>
                  <a:srgbClr val="334155"/>
                </a:solidFill>
                <a:latin typeface="Inter"/>
                <a:ea typeface="Inter"/>
                <a:cs typeface="Inter"/>
                <a:sym typeface="Inter"/>
              </a:rPr>
              <a:t> El `0` es el candidato perfecto. Es intuitivo para el usuario y no se confundirá con un precio real válido.</a:t>
            </a:r>
            <a:endParaRPr/>
          </a:p>
        </p:txBody>
      </p:sp>
      <p:sp>
        <p:nvSpPr>
          <p:cNvPr id="195" name="Google Shape;195;p16"/>
          <p:cNvSpPr txBox="1"/>
          <p:nvPr/>
        </p:nvSpPr>
        <p:spPr>
          <a:xfrm>
            <a:off x="6524625" y="4071937"/>
            <a:ext cx="5095875"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Inter"/>
                <a:ea typeface="Inter"/>
                <a:cs typeface="Inter"/>
                <a:sym typeface="Inter"/>
              </a:rPr>
              <a:t>Condición del Bucle:</a:t>
            </a:r>
            <a:r>
              <a:rPr lang="en-US" sz="1425" b="0" i="0" u="none" strike="noStrike" cap="none">
                <a:solidFill>
                  <a:srgbClr val="334155"/>
                </a:solidFill>
                <a:latin typeface="Inter"/>
                <a:ea typeface="Inter"/>
                <a:cs typeface="Inter"/>
                <a:sym typeface="Inter"/>
              </a:rPr>
              <a:t> El ciclo continúa mientras el precio sea diferente de cero: mientras(precio &lt;&gt; 0).</a:t>
            </a:r>
            <a:endParaRPr/>
          </a:p>
        </p:txBody>
      </p:sp>
      <p:sp>
        <p:nvSpPr>
          <p:cNvPr id="196" name="Google Shape;196;p16"/>
          <p:cNvSpPr txBox="1"/>
          <p:nvPr/>
        </p:nvSpPr>
        <p:spPr>
          <a:xfrm>
            <a:off x="6286500" y="1790700"/>
            <a:ext cx="76200" cy="2000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3B82F6"/>
                </a:solidFill>
                <a:latin typeface="Inter"/>
                <a:ea typeface="Inter"/>
                <a:cs typeface="Inter"/>
                <a:sym typeface="Inter"/>
              </a:rPr>
              <a:t>■</a:t>
            </a:r>
            <a:endParaRPr/>
          </a:p>
        </p:txBody>
      </p:sp>
      <p:sp>
        <p:nvSpPr>
          <p:cNvPr id="197" name="Google Shape;197;p16"/>
          <p:cNvSpPr txBox="1"/>
          <p:nvPr/>
        </p:nvSpPr>
        <p:spPr>
          <a:xfrm>
            <a:off x="6286500" y="2476500"/>
            <a:ext cx="76200" cy="2000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3B82F6"/>
                </a:solidFill>
                <a:latin typeface="Inter"/>
                <a:ea typeface="Inter"/>
                <a:cs typeface="Inter"/>
                <a:sym typeface="Inter"/>
              </a:rPr>
              <a:t>■</a:t>
            </a:r>
            <a:endParaRPr/>
          </a:p>
        </p:txBody>
      </p:sp>
      <p:sp>
        <p:nvSpPr>
          <p:cNvPr id="198" name="Google Shape;198;p16"/>
          <p:cNvSpPr txBox="1"/>
          <p:nvPr/>
        </p:nvSpPr>
        <p:spPr>
          <a:xfrm>
            <a:off x="6286500" y="3162300"/>
            <a:ext cx="76200" cy="2000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3B82F6"/>
                </a:solidFill>
                <a:latin typeface="Inter"/>
                <a:ea typeface="Inter"/>
                <a:cs typeface="Inter"/>
                <a:sym typeface="Inter"/>
              </a:rPr>
              <a:t>■</a:t>
            </a:r>
            <a:endParaRPr/>
          </a:p>
        </p:txBody>
      </p:sp>
      <p:sp>
        <p:nvSpPr>
          <p:cNvPr id="199" name="Google Shape;199;p16"/>
          <p:cNvSpPr txBox="1"/>
          <p:nvPr/>
        </p:nvSpPr>
        <p:spPr>
          <a:xfrm>
            <a:off x="6286500" y="4119562"/>
            <a:ext cx="76200" cy="2000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3B82F6"/>
                </a:solidFill>
                <a:latin typeface="Inter"/>
                <a:ea typeface="Inter"/>
                <a:cs typeface="Inter"/>
                <a:sym typeface="Inter"/>
              </a:rPr>
              <a: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204" name="Google Shape;204;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5" name="Google Shape;205;p17" descr="image.png"/>
          <p:cNvPicPr preferRelativeResize="0"/>
          <p:nvPr/>
        </p:nvPicPr>
        <p:blipFill rotWithShape="1">
          <a:blip r:embed="rId4">
            <a:alphaModFix/>
          </a:blip>
          <a:srcRect/>
          <a:stretch/>
        </p:blipFill>
        <p:spPr>
          <a:xfrm>
            <a:off x="571500" y="1304925"/>
            <a:ext cx="6076950" cy="5164931"/>
          </a:xfrm>
          <a:prstGeom prst="rect">
            <a:avLst/>
          </a:prstGeom>
          <a:noFill/>
          <a:ln>
            <a:noFill/>
          </a:ln>
        </p:spPr>
      </p:pic>
      <p:sp>
        <p:nvSpPr>
          <p:cNvPr id="206" name="Google Shape;206;p17"/>
          <p:cNvSpPr txBox="1"/>
          <p:nvPr/>
        </p:nvSpPr>
        <p:spPr>
          <a:xfrm>
            <a:off x="571500" y="476250"/>
            <a:ext cx="11601450"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3A8A"/>
                </a:solidFill>
                <a:latin typeface="Merriweather"/>
                <a:ea typeface="Merriweather"/>
                <a:cs typeface="Merriweather"/>
                <a:sym typeface="Merriweather"/>
              </a:rPr>
              <a:t>Algoritmo: Caja Registradora en Logicode</a:t>
            </a:r>
            <a:endParaRPr/>
          </a:p>
        </p:txBody>
      </p:sp>
      <p:sp>
        <p:nvSpPr>
          <p:cNvPr id="207" name="Google Shape;207;p17"/>
          <p:cNvSpPr/>
          <p:nvPr/>
        </p:nvSpPr>
        <p:spPr>
          <a:xfrm>
            <a:off x="571500" y="1047750"/>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8" name="Google Shape;208;p17"/>
          <p:cNvSpPr txBox="1"/>
          <p:nvPr/>
        </p:nvSpPr>
        <p:spPr>
          <a:xfrm>
            <a:off x="7029450" y="1304925"/>
            <a:ext cx="5162550" cy="2952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F172A"/>
                </a:solidFill>
                <a:latin typeface="Merriweather"/>
                <a:ea typeface="Merriweather"/>
                <a:cs typeface="Merriweather"/>
                <a:sym typeface="Merriweather"/>
              </a:rPr>
              <a:t>Desglose Estructural</a:t>
            </a:r>
            <a:endParaRPr/>
          </a:p>
        </p:txBody>
      </p:sp>
      <p:sp>
        <p:nvSpPr>
          <p:cNvPr id="209" name="Google Shape;209;p17"/>
          <p:cNvSpPr txBox="1"/>
          <p:nvPr/>
        </p:nvSpPr>
        <p:spPr>
          <a:xfrm>
            <a:off x="7096125" y="1912143"/>
            <a:ext cx="206375" cy="21929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dirty="0">
                <a:solidFill>
                  <a:srgbClr val="334155"/>
                </a:solidFill>
                <a:latin typeface="Inter"/>
                <a:ea typeface="Inter"/>
                <a:cs typeface="Inter"/>
                <a:sym typeface="Inter"/>
              </a:rPr>
              <a:t>1.</a:t>
            </a:r>
            <a:endParaRPr dirty="0"/>
          </a:p>
        </p:txBody>
      </p:sp>
      <p:sp>
        <p:nvSpPr>
          <p:cNvPr id="210" name="Google Shape;210;p17"/>
          <p:cNvSpPr txBox="1"/>
          <p:nvPr/>
        </p:nvSpPr>
        <p:spPr>
          <a:xfrm>
            <a:off x="7219950" y="1845468"/>
            <a:ext cx="4781550" cy="814387"/>
          </a:xfrm>
          <a:prstGeom prst="rect">
            <a:avLst/>
          </a:prstGeom>
          <a:noFill/>
          <a:ln>
            <a:noFill/>
          </a:ln>
        </p:spPr>
        <p:txBody>
          <a:bodyPr spcFirstLastPara="1" wrap="square" lIns="123825" tIns="0" rIns="0" bIns="0" anchor="t" anchorCtr="0">
            <a:spAutoFit/>
          </a:bodyPr>
          <a:lstStyle/>
          <a:p>
            <a:pPr marL="0" marR="0" lvl="0" indent="0" algn="l" rtl="0">
              <a:lnSpc>
                <a:spcPct val="149964"/>
              </a:lnSpc>
              <a:spcBef>
                <a:spcPts val="0"/>
              </a:spcBef>
              <a:spcAft>
                <a:spcPts val="0"/>
              </a:spcAft>
              <a:buNone/>
            </a:pPr>
            <a:r>
              <a:rPr lang="en-US" sz="1425" b="1" i="0" u="none" strike="noStrike" cap="none" dirty="0" err="1">
                <a:solidFill>
                  <a:srgbClr val="334155"/>
                </a:solidFill>
                <a:latin typeface="Inter"/>
                <a:ea typeface="Inter"/>
                <a:cs typeface="Inter"/>
                <a:sym typeface="Inter"/>
              </a:rPr>
              <a:t>precio</a:t>
            </a:r>
            <a:r>
              <a:rPr lang="en-US" sz="1425" b="1" i="0" u="none" strike="noStrike" cap="none" dirty="0">
                <a:solidFill>
                  <a:srgbClr val="334155"/>
                </a:solidFill>
                <a:latin typeface="Inter"/>
                <a:ea typeface="Inter"/>
                <a:cs typeface="Inter"/>
                <a:sym typeface="Inter"/>
              </a:rPr>
              <a:t> = -1.0</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Inicializamos</a:t>
            </a:r>
            <a:r>
              <a:rPr lang="en-US" sz="1425" b="0" i="0" u="none" strike="noStrike" cap="none" dirty="0">
                <a:solidFill>
                  <a:srgbClr val="334155"/>
                </a:solidFill>
                <a:latin typeface="Inter"/>
                <a:ea typeface="Inter"/>
                <a:cs typeface="Inter"/>
                <a:sym typeface="Inter"/>
              </a:rPr>
              <a:t> con un valor </a:t>
            </a:r>
            <a:r>
              <a:rPr lang="en-US" sz="1425" b="0" i="0" u="none" strike="noStrike" cap="none" dirty="0" err="1">
                <a:solidFill>
                  <a:srgbClr val="334155"/>
                </a:solidFill>
                <a:latin typeface="Inter"/>
                <a:ea typeface="Inter"/>
                <a:cs typeface="Inter"/>
                <a:sym typeface="Inter"/>
              </a:rPr>
              <a:t>diferente</a:t>
            </a:r>
            <a:r>
              <a:rPr lang="en-US" sz="1425" b="0" i="0" u="none" strike="noStrike" cap="none" dirty="0">
                <a:solidFill>
                  <a:srgbClr val="334155"/>
                </a:solidFill>
                <a:latin typeface="Inter"/>
                <a:ea typeface="Inter"/>
                <a:cs typeface="Inter"/>
                <a:sym typeface="Inter"/>
              </a:rPr>
              <a:t> de 0 para </a:t>
            </a:r>
            <a:r>
              <a:rPr lang="en-US" sz="1425" b="0" i="0" u="none" strike="noStrike" cap="none" dirty="0" err="1">
                <a:solidFill>
                  <a:srgbClr val="334155"/>
                </a:solidFill>
                <a:latin typeface="Inter"/>
                <a:ea typeface="Inter"/>
                <a:cs typeface="Inter"/>
                <a:sym typeface="Inter"/>
              </a:rPr>
              <a:t>asegurar</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que</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el</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evaluador</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lógico</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permita</a:t>
            </a:r>
            <a:r>
              <a:rPr lang="en-US" sz="1425" b="0" i="0" u="none" strike="noStrike" cap="none" dirty="0">
                <a:solidFill>
                  <a:srgbClr val="334155"/>
                </a:solidFill>
                <a:latin typeface="Inter"/>
                <a:ea typeface="Inter"/>
                <a:cs typeface="Inter"/>
                <a:sym typeface="Inter"/>
              </a:rPr>
              <a:t> la entrada a la </a:t>
            </a:r>
            <a:r>
              <a:rPr lang="en-US" sz="1425" b="0" i="0" u="none" strike="noStrike" cap="none" dirty="0" err="1">
                <a:solidFill>
                  <a:srgbClr val="334155"/>
                </a:solidFill>
                <a:latin typeface="Inter"/>
                <a:ea typeface="Inter"/>
                <a:cs typeface="Inter"/>
                <a:sym typeface="Inter"/>
              </a:rPr>
              <a:t>primera</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iteración</a:t>
            </a:r>
            <a:r>
              <a:rPr lang="en-US" sz="1425" b="0" i="0" u="none" strike="noStrike" cap="none" dirty="0">
                <a:solidFill>
                  <a:srgbClr val="334155"/>
                </a:solidFill>
                <a:latin typeface="Inter"/>
                <a:ea typeface="Inter"/>
                <a:cs typeface="Inter"/>
                <a:sym typeface="Inter"/>
              </a:rPr>
              <a:t>.</a:t>
            </a:r>
            <a:endParaRPr dirty="0"/>
          </a:p>
        </p:txBody>
      </p:sp>
      <p:sp>
        <p:nvSpPr>
          <p:cNvPr id="211" name="Google Shape;211;p17"/>
          <p:cNvSpPr txBox="1"/>
          <p:nvPr/>
        </p:nvSpPr>
        <p:spPr>
          <a:xfrm>
            <a:off x="7054850" y="2911889"/>
            <a:ext cx="307975" cy="21929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dirty="0">
                <a:solidFill>
                  <a:srgbClr val="334155"/>
                </a:solidFill>
                <a:latin typeface="Inter"/>
                <a:ea typeface="Inter"/>
                <a:cs typeface="Inter"/>
                <a:sym typeface="Inter"/>
              </a:rPr>
              <a:t>2.</a:t>
            </a:r>
            <a:endParaRPr dirty="0"/>
          </a:p>
        </p:txBody>
      </p:sp>
      <p:sp>
        <p:nvSpPr>
          <p:cNvPr id="212" name="Google Shape;212;p17"/>
          <p:cNvSpPr txBox="1"/>
          <p:nvPr/>
        </p:nvSpPr>
        <p:spPr>
          <a:xfrm>
            <a:off x="7216775" y="2834822"/>
            <a:ext cx="4781550" cy="542925"/>
          </a:xfrm>
          <a:prstGeom prst="rect">
            <a:avLst/>
          </a:prstGeom>
          <a:noFill/>
          <a:ln>
            <a:noFill/>
          </a:ln>
        </p:spPr>
        <p:txBody>
          <a:bodyPr spcFirstLastPara="1" wrap="square" lIns="161925" tIns="0" rIns="0" bIns="0" anchor="t" anchorCtr="0">
            <a:spAutoFit/>
          </a:bodyPr>
          <a:lstStyle/>
          <a:p>
            <a:pPr marL="0" marR="0" lvl="0" indent="0" algn="l" rtl="0">
              <a:lnSpc>
                <a:spcPct val="149964"/>
              </a:lnSpc>
              <a:spcBef>
                <a:spcPts val="0"/>
              </a:spcBef>
              <a:spcAft>
                <a:spcPts val="0"/>
              </a:spcAft>
              <a:buNone/>
            </a:pPr>
            <a:r>
              <a:rPr lang="en-US" sz="1425" b="1" i="0" u="none" strike="noStrike" cap="none" dirty="0" err="1">
                <a:solidFill>
                  <a:srgbClr val="334155"/>
                </a:solidFill>
                <a:latin typeface="Inter"/>
                <a:ea typeface="Inter"/>
                <a:cs typeface="Inter"/>
                <a:sym typeface="Inter"/>
              </a:rPr>
              <a:t>mientras</a:t>
            </a:r>
            <a:r>
              <a:rPr lang="en-US" sz="1425" b="1" i="0" u="none" strike="noStrike" cap="none" dirty="0">
                <a:solidFill>
                  <a:srgbClr val="334155"/>
                </a:solidFill>
                <a:latin typeface="Inter"/>
                <a:ea typeface="Inter"/>
                <a:cs typeface="Inter"/>
                <a:sym typeface="Inter"/>
              </a:rPr>
              <a:t>(</a:t>
            </a:r>
            <a:r>
              <a:rPr lang="en-US" sz="1425" b="1" i="0" u="none" strike="noStrike" cap="none" dirty="0" err="1">
                <a:solidFill>
                  <a:srgbClr val="334155"/>
                </a:solidFill>
                <a:latin typeface="Inter"/>
                <a:ea typeface="Inter"/>
                <a:cs typeface="Inter"/>
                <a:sym typeface="Inter"/>
              </a:rPr>
              <a:t>precio</a:t>
            </a:r>
            <a:r>
              <a:rPr lang="en-US" sz="1425" b="1" i="0" u="none" strike="noStrike" cap="none" dirty="0">
                <a:solidFill>
                  <a:srgbClr val="334155"/>
                </a:solidFill>
                <a:latin typeface="Inter"/>
                <a:ea typeface="Inter"/>
                <a:cs typeface="Inter"/>
                <a:sym typeface="Inter"/>
              </a:rPr>
              <a:t> &lt;&gt; 0)</a:t>
            </a:r>
            <a:r>
              <a:rPr lang="en-US" sz="1425" b="0" i="0" u="none" strike="noStrike" cap="none" dirty="0">
                <a:solidFill>
                  <a:srgbClr val="334155"/>
                </a:solidFill>
                <a:latin typeface="Inter"/>
                <a:ea typeface="Inter"/>
                <a:cs typeface="Inter"/>
                <a:sym typeface="Inter"/>
              </a:rPr>
              <a:t>: La </a:t>
            </a:r>
            <a:r>
              <a:rPr lang="en-US" sz="1425" b="0" i="0" u="none" strike="noStrike" cap="none" dirty="0" err="1">
                <a:solidFill>
                  <a:srgbClr val="334155"/>
                </a:solidFill>
                <a:latin typeface="Inter"/>
                <a:ea typeface="Inter"/>
                <a:cs typeface="Inter"/>
                <a:sym typeface="Inter"/>
              </a:rPr>
              <a:t>ejecución</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fluye</a:t>
            </a:r>
            <a:r>
              <a:rPr lang="en-US" sz="1425" b="0" i="0" u="none" strike="noStrike" cap="none" dirty="0">
                <a:solidFill>
                  <a:srgbClr val="334155"/>
                </a:solidFill>
                <a:latin typeface="Inter"/>
                <a:ea typeface="Inter"/>
                <a:cs typeface="Inter"/>
                <a:sym typeface="Inter"/>
              </a:rPr>
              <a:t> hasta </a:t>
            </a:r>
            <a:r>
              <a:rPr lang="en-US" sz="1425" b="0" i="0" u="none" strike="noStrike" cap="none" dirty="0" err="1">
                <a:solidFill>
                  <a:srgbClr val="334155"/>
                </a:solidFill>
                <a:latin typeface="Inter"/>
                <a:ea typeface="Inter"/>
                <a:cs typeface="Inter"/>
                <a:sym typeface="Inter"/>
              </a:rPr>
              <a:t>que</a:t>
            </a:r>
            <a:r>
              <a:rPr lang="en-US" sz="1425" b="0" i="0" u="none" strike="noStrike" cap="none" dirty="0">
                <a:solidFill>
                  <a:srgbClr val="334155"/>
                </a:solidFill>
                <a:latin typeface="Inter"/>
                <a:ea typeface="Inter"/>
                <a:cs typeface="Inter"/>
                <a:sym typeface="Inter"/>
              </a:rPr>
              <a:t> se </a:t>
            </a:r>
            <a:r>
              <a:rPr lang="en-US" sz="1425" b="0" i="0" u="none" strike="noStrike" cap="none" dirty="0" err="1">
                <a:solidFill>
                  <a:srgbClr val="334155"/>
                </a:solidFill>
                <a:latin typeface="Inter"/>
                <a:ea typeface="Inter"/>
                <a:cs typeface="Inter"/>
                <a:sym typeface="Inter"/>
              </a:rPr>
              <a:t>detecta</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el</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centinela</a:t>
            </a:r>
            <a:r>
              <a:rPr lang="en-US" sz="1425" b="0" i="0" u="none" strike="noStrike" cap="none" dirty="0">
                <a:solidFill>
                  <a:srgbClr val="334155"/>
                </a:solidFill>
                <a:latin typeface="Inter"/>
                <a:ea typeface="Inter"/>
                <a:cs typeface="Inter"/>
                <a:sym typeface="Inter"/>
              </a:rPr>
              <a:t> (cero).</a:t>
            </a:r>
            <a:endParaRPr dirty="0"/>
          </a:p>
        </p:txBody>
      </p:sp>
      <p:sp>
        <p:nvSpPr>
          <p:cNvPr id="213" name="Google Shape;213;p17"/>
          <p:cNvSpPr txBox="1"/>
          <p:nvPr/>
        </p:nvSpPr>
        <p:spPr>
          <a:xfrm>
            <a:off x="7058025" y="3614737"/>
            <a:ext cx="261938" cy="21929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dirty="0">
                <a:solidFill>
                  <a:srgbClr val="334155"/>
                </a:solidFill>
                <a:latin typeface="Inter"/>
                <a:ea typeface="Inter"/>
                <a:cs typeface="Inter"/>
                <a:sym typeface="Inter"/>
              </a:rPr>
              <a:t>3.</a:t>
            </a:r>
            <a:endParaRPr dirty="0"/>
          </a:p>
        </p:txBody>
      </p:sp>
      <p:sp>
        <p:nvSpPr>
          <p:cNvPr id="214" name="Google Shape;214;p17"/>
          <p:cNvSpPr txBox="1"/>
          <p:nvPr/>
        </p:nvSpPr>
        <p:spPr>
          <a:xfrm>
            <a:off x="7210425" y="3567220"/>
            <a:ext cx="4781550" cy="542925"/>
          </a:xfrm>
          <a:prstGeom prst="rect">
            <a:avLst/>
          </a:prstGeom>
          <a:noFill/>
          <a:ln>
            <a:noFill/>
          </a:ln>
        </p:spPr>
        <p:txBody>
          <a:bodyPr spcFirstLastPara="1" wrap="square" lIns="161925"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Inter"/>
                <a:ea typeface="Inter"/>
                <a:cs typeface="Inter"/>
                <a:sym typeface="Inter"/>
              </a:rPr>
              <a:t>lea precio</a:t>
            </a:r>
            <a:r>
              <a:rPr lang="en-US" sz="1425" b="0" i="0" u="none" strike="noStrike" cap="none">
                <a:solidFill>
                  <a:srgbClr val="334155"/>
                </a:solidFill>
                <a:latin typeface="Inter"/>
                <a:ea typeface="Inter"/>
                <a:cs typeface="Inter"/>
                <a:sym typeface="Inter"/>
              </a:rPr>
              <a:t>: Actúa como la alteración obligatoria. Actualiza la variable de control.</a:t>
            </a:r>
            <a:endParaRPr/>
          </a:p>
        </p:txBody>
      </p:sp>
      <p:sp>
        <p:nvSpPr>
          <p:cNvPr id="215" name="Google Shape;215;p17"/>
          <p:cNvSpPr txBox="1"/>
          <p:nvPr/>
        </p:nvSpPr>
        <p:spPr>
          <a:xfrm>
            <a:off x="7054850" y="4287875"/>
            <a:ext cx="234950" cy="21929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dirty="0">
                <a:solidFill>
                  <a:srgbClr val="334155"/>
                </a:solidFill>
                <a:latin typeface="Inter"/>
                <a:ea typeface="Inter"/>
                <a:cs typeface="Inter"/>
                <a:sym typeface="Inter"/>
              </a:rPr>
              <a:t>4.</a:t>
            </a:r>
            <a:endParaRPr dirty="0"/>
          </a:p>
        </p:txBody>
      </p:sp>
      <p:sp>
        <p:nvSpPr>
          <p:cNvPr id="216" name="Google Shape;216;p17"/>
          <p:cNvSpPr txBox="1"/>
          <p:nvPr/>
        </p:nvSpPr>
        <p:spPr>
          <a:xfrm>
            <a:off x="7207250" y="4231049"/>
            <a:ext cx="4781550" cy="814387"/>
          </a:xfrm>
          <a:prstGeom prst="rect">
            <a:avLst/>
          </a:prstGeom>
          <a:noFill/>
          <a:ln>
            <a:noFill/>
          </a:ln>
        </p:spPr>
        <p:txBody>
          <a:bodyPr spcFirstLastPara="1" wrap="square" lIns="152400" tIns="0" rIns="0" bIns="0" anchor="t" anchorCtr="0">
            <a:spAutoFit/>
          </a:bodyPr>
          <a:lstStyle/>
          <a:p>
            <a:pPr marL="0" marR="0" lvl="0" indent="0" algn="l" rtl="0">
              <a:lnSpc>
                <a:spcPct val="149964"/>
              </a:lnSpc>
              <a:spcBef>
                <a:spcPts val="0"/>
              </a:spcBef>
              <a:spcAft>
                <a:spcPts val="0"/>
              </a:spcAft>
              <a:buNone/>
            </a:pPr>
            <a:r>
              <a:rPr lang="en-US" sz="1425" b="1" i="0" u="none" strike="noStrike" cap="none" dirty="0" err="1">
                <a:solidFill>
                  <a:srgbClr val="334155"/>
                </a:solidFill>
                <a:latin typeface="Inter"/>
                <a:ea typeface="Inter"/>
                <a:cs typeface="Inter"/>
                <a:sym typeface="Inter"/>
              </a:rPr>
              <a:t>si</a:t>
            </a:r>
            <a:r>
              <a:rPr lang="en-US" sz="1425" b="1" i="0" u="none" strike="noStrike" cap="none" dirty="0">
                <a:solidFill>
                  <a:srgbClr val="334155"/>
                </a:solidFill>
                <a:latin typeface="Inter"/>
                <a:ea typeface="Inter"/>
                <a:cs typeface="Inter"/>
                <a:sym typeface="Inter"/>
              </a:rPr>
              <a:t>(</a:t>
            </a:r>
            <a:r>
              <a:rPr lang="en-US" sz="1425" b="1" i="0" u="none" strike="noStrike" cap="none" dirty="0" err="1">
                <a:solidFill>
                  <a:srgbClr val="334155"/>
                </a:solidFill>
                <a:latin typeface="Inter"/>
                <a:ea typeface="Inter"/>
                <a:cs typeface="Inter"/>
                <a:sym typeface="Inter"/>
              </a:rPr>
              <a:t>precio</a:t>
            </a:r>
            <a:r>
              <a:rPr lang="en-US" sz="1425" b="1" i="0" u="none" strike="noStrike" cap="none" dirty="0">
                <a:solidFill>
                  <a:srgbClr val="334155"/>
                </a:solidFill>
                <a:latin typeface="Inter"/>
                <a:ea typeface="Inter"/>
                <a:cs typeface="Inter"/>
                <a:sym typeface="Inter"/>
              </a:rPr>
              <a:t> &gt; 0)</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Filtro</a:t>
            </a:r>
            <a:r>
              <a:rPr lang="en-US" sz="1425" b="0" i="0" u="none" strike="noStrike" cap="none" dirty="0">
                <a:solidFill>
                  <a:srgbClr val="334155"/>
                </a:solidFill>
                <a:latin typeface="Inter"/>
                <a:ea typeface="Inter"/>
                <a:cs typeface="Inter"/>
                <a:sym typeface="Inter"/>
              </a:rPr>
              <a:t> de </a:t>
            </a:r>
            <a:r>
              <a:rPr lang="en-US" sz="1425" b="0" i="0" u="none" strike="noStrike" cap="none" dirty="0" err="1">
                <a:solidFill>
                  <a:srgbClr val="334155"/>
                </a:solidFill>
                <a:latin typeface="Inter"/>
                <a:ea typeface="Inter"/>
                <a:cs typeface="Inter"/>
                <a:sym typeface="Inter"/>
              </a:rPr>
              <a:t>seguridad</a:t>
            </a:r>
            <a:r>
              <a:rPr lang="en-US" sz="1425" b="0" i="0" u="none" strike="noStrike" cap="none" dirty="0">
                <a:solidFill>
                  <a:srgbClr val="334155"/>
                </a:solidFill>
                <a:latin typeface="Inter"/>
                <a:ea typeface="Inter"/>
                <a:cs typeface="Inter"/>
                <a:sym typeface="Inter"/>
              </a:rPr>
              <a:t>. Evita </a:t>
            </a:r>
            <a:r>
              <a:rPr lang="en-US" sz="1425" b="0" i="0" u="none" strike="noStrike" cap="none" dirty="0" err="1">
                <a:solidFill>
                  <a:srgbClr val="334155"/>
                </a:solidFill>
                <a:latin typeface="Inter"/>
                <a:ea typeface="Inter"/>
                <a:cs typeface="Inter"/>
                <a:sym typeface="Inter"/>
              </a:rPr>
              <a:t>que</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el</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centinela</a:t>
            </a:r>
            <a:r>
              <a:rPr lang="en-US" sz="1425" b="0" i="0" u="none" strike="noStrike" cap="none" dirty="0">
                <a:solidFill>
                  <a:srgbClr val="334155"/>
                </a:solidFill>
                <a:latin typeface="Inter"/>
                <a:ea typeface="Inter"/>
                <a:cs typeface="Inter"/>
                <a:sym typeface="Inter"/>
              </a:rPr>
              <a:t> (0) u </a:t>
            </a:r>
            <a:r>
              <a:rPr lang="en-US" sz="1425" b="0" i="0" u="none" strike="noStrike" cap="none" dirty="0" err="1">
                <a:solidFill>
                  <a:srgbClr val="334155"/>
                </a:solidFill>
                <a:latin typeface="Inter"/>
                <a:ea typeface="Inter"/>
                <a:cs typeface="Inter"/>
                <a:sym typeface="Inter"/>
              </a:rPr>
              <a:t>otros</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valores</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negativos</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afecten</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el</a:t>
            </a:r>
            <a:r>
              <a:rPr lang="en-US" sz="1425" b="0" i="0" u="none" strike="noStrike" cap="none" dirty="0">
                <a:solidFill>
                  <a:srgbClr val="334155"/>
                </a:solidFill>
                <a:latin typeface="Inter"/>
                <a:ea typeface="Inter"/>
                <a:cs typeface="Inter"/>
                <a:sym typeface="Inter"/>
              </a:rPr>
              <a:t> </a:t>
            </a:r>
            <a:r>
              <a:rPr lang="en-US" sz="1425" b="0" i="0" u="none" strike="noStrike" cap="none" dirty="0" err="1">
                <a:solidFill>
                  <a:srgbClr val="334155"/>
                </a:solidFill>
                <a:latin typeface="Inter"/>
                <a:ea typeface="Inter"/>
                <a:cs typeface="Inter"/>
                <a:sym typeface="Inter"/>
              </a:rPr>
              <a:t>acumulador</a:t>
            </a:r>
            <a:r>
              <a:rPr lang="en-US" sz="1425" b="0" i="0" u="none" strike="noStrike" cap="none" dirty="0">
                <a:solidFill>
                  <a:srgbClr val="334155"/>
                </a:solidFill>
                <a:latin typeface="Inter"/>
                <a:ea typeface="Inter"/>
                <a:cs typeface="Inter"/>
                <a:sym typeface="Inter"/>
              </a:rPr>
              <a:t>.</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pic>
        <p:nvPicPr>
          <p:cNvPr id="221" name="Google Shape;221;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2" name="Google Shape;222;p18" descr="image.png"/>
          <p:cNvPicPr preferRelativeResize="0"/>
          <p:nvPr/>
        </p:nvPicPr>
        <p:blipFill rotWithShape="1">
          <a:blip r:embed="rId4">
            <a:alphaModFix/>
          </a:blip>
          <a:srcRect/>
          <a:stretch/>
        </p:blipFill>
        <p:spPr>
          <a:xfrm>
            <a:off x="571500" y="1304925"/>
            <a:ext cx="5334000" cy="5076825"/>
          </a:xfrm>
          <a:prstGeom prst="rect">
            <a:avLst/>
          </a:prstGeom>
          <a:noFill/>
          <a:ln>
            <a:noFill/>
          </a:ln>
        </p:spPr>
      </p:pic>
      <p:pic>
        <p:nvPicPr>
          <p:cNvPr id="223" name="Google Shape;223;p18" descr="image.png"/>
          <p:cNvPicPr preferRelativeResize="0"/>
          <p:nvPr/>
        </p:nvPicPr>
        <p:blipFill rotWithShape="1">
          <a:blip r:embed="rId5">
            <a:alphaModFix/>
          </a:blip>
          <a:srcRect/>
          <a:stretch/>
        </p:blipFill>
        <p:spPr>
          <a:xfrm>
            <a:off x="6286500" y="1304925"/>
            <a:ext cx="5334000" cy="5076825"/>
          </a:xfrm>
          <a:prstGeom prst="rect">
            <a:avLst/>
          </a:prstGeom>
          <a:noFill/>
          <a:ln>
            <a:noFill/>
          </a:ln>
        </p:spPr>
      </p:pic>
      <p:sp>
        <p:nvSpPr>
          <p:cNvPr id="224" name="Google Shape;224;p18"/>
          <p:cNvSpPr txBox="1"/>
          <p:nvPr/>
        </p:nvSpPr>
        <p:spPr>
          <a:xfrm>
            <a:off x="571500" y="476250"/>
            <a:ext cx="11601450"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3A8A"/>
                </a:solidFill>
                <a:latin typeface="Merriweather"/>
                <a:ea typeface="Merriweather"/>
                <a:cs typeface="Merriweather"/>
                <a:sym typeface="Merriweather"/>
              </a:rPr>
              <a:t>El Veredicto: ¿Cuándo usar cuál?</a:t>
            </a:r>
            <a:endParaRPr/>
          </a:p>
        </p:txBody>
      </p:sp>
      <p:sp>
        <p:nvSpPr>
          <p:cNvPr id="225" name="Google Shape;225;p18"/>
          <p:cNvSpPr/>
          <p:nvPr/>
        </p:nvSpPr>
        <p:spPr>
          <a:xfrm>
            <a:off x="571500" y="1047750"/>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6" name="Google Shape;226;p18"/>
          <p:cNvSpPr txBox="1"/>
          <p:nvPr/>
        </p:nvSpPr>
        <p:spPr>
          <a:xfrm>
            <a:off x="866775" y="1638300"/>
            <a:ext cx="4980622" cy="295275"/>
          </a:xfrm>
          <a:prstGeom prst="rect">
            <a:avLst/>
          </a:prstGeom>
          <a:noFill/>
          <a:ln>
            <a:noFill/>
          </a:ln>
        </p:spPr>
        <p:txBody>
          <a:bodyPr spcFirstLastPara="1" wrap="square" lIns="323850" tIns="0" rIns="0" bIns="0" anchor="t" anchorCtr="0">
            <a:spAutoFit/>
          </a:bodyPr>
          <a:lstStyle/>
          <a:p>
            <a:pPr marL="0" marR="0" lvl="0" indent="0" algn="l" rtl="0">
              <a:spcBef>
                <a:spcPts val="0"/>
              </a:spcBef>
              <a:spcAft>
                <a:spcPts val="0"/>
              </a:spcAft>
              <a:buNone/>
            </a:pPr>
            <a:r>
              <a:rPr lang="en-US" sz="1800" b="1" i="0" u="none" strike="noStrike" cap="none">
                <a:solidFill>
                  <a:srgbClr val="475569"/>
                </a:solidFill>
                <a:latin typeface="Merriweather"/>
                <a:ea typeface="Merriweather"/>
                <a:cs typeface="Merriweather"/>
                <a:sym typeface="Merriweather"/>
              </a:rPr>
              <a:t>Usa `PARA` cuando...</a:t>
            </a:r>
            <a:endParaRPr/>
          </a:p>
        </p:txBody>
      </p:sp>
      <p:sp>
        <p:nvSpPr>
          <p:cNvPr id="227" name="Google Shape;227;p18"/>
          <p:cNvSpPr txBox="1"/>
          <p:nvPr/>
        </p:nvSpPr>
        <p:spPr>
          <a:xfrm>
            <a:off x="866775" y="2076450"/>
            <a:ext cx="4743450" cy="81438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Inter"/>
                <a:ea typeface="Inter"/>
                <a:cs typeface="Inter"/>
                <a:sym typeface="Inter"/>
              </a:rPr>
              <a:t>Sabes el </a:t>
            </a:r>
            <a:r>
              <a:rPr lang="en-US" sz="1425" b="1" i="0" u="none" strike="noStrike" cap="none">
                <a:solidFill>
                  <a:srgbClr val="334155"/>
                </a:solidFill>
                <a:latin typeface="Inter"/>
                <a:ea typeface="Inter"/>
                <a:cs typeface="Inter"/>
                <a:sym typeface="Inter"/>
              </a:rPr>
              <a:t>número exacto</a:t>
            </a:r>
            <a:r>
              <a:rPr lang="en-US" sz="1425" b="0" i="0" u="none" strike="noStrike" cap="none">
                <a:solidFill>
                  <a:srgbClr val="334155"/>
                </a:solidFill>
                <a:latin typeface="Inter"/>
                <a:ea typeface="Inter"/>
                <a:cs typeface="Inter"/>
                <a:sym typeface="Inter"/>
              </a:rPr>
              <a:t> de repeticiones de antemano. Es el especialista en iteraciones contadas y recorridos fijos.</a:t>
            </a:r>
            <a:endParaRPr/>
          </a:p>
        </p:txBody>
      </p:sp>
      <p:sp>
        <p:nvSpPr>
          <p:cNvPr id="228" name="Google Shape;228;p18"/>
          <p:cNvSpPr txBox="1"/>
          <p:nvPr/>
        </p:nvSpPr>
        <p:spPr>
          <a:xfrm>
            <a:off x="6581775" y="1638300"/>
            <a:ext cx="4980622" cy="295275"/>
          </a:xfrm>
          <a:prstGeom prst="rect">
            <a:avLst/>
          </a:prstGeom>
          <a:noFill/>
          <a:ln>
            <a:noFill/>
          </a:ln>
        </p:spPr>
        <p:txBody>
          <a:bodyPr spcFirstLastPara="1" wrap="square" lIns="323850" tIns="0" rIns="0" bIns="0" anchor="t" anchorCtr="0">
            <a:spAutoFit/>
          </a:bodyPr>
          <a:lstStyle/>
          <a:p>
            <a:pPr marL="0" marR="0" lvl="0" indent="0" algn="l" rtl="0">
              <a:spcBef>
                <a:spcPts val="0"/>
              </a:spcBef>
              <a:spcAft>
                <a:spcPts val="0"/>
              </a:spcAft>
              <a:buNone/>
            </a:pPr>
            <a:r>
              <a:rPr lang="en-US" sz="1800" b="1" i="0" u="none" strike="noStrike" cap="none">
                <a:solidFill>
                  <a:srgbClr val="1D4ED8"/>
                </a:solidFill>
                <a:latin typeface="Merriweather"/>
                <a:ea typeface="Merriweather"/>
                <a:cs typeface="Merriweather"/>
                <a:sym typeface="Merriweather"/>
              </a:rPr>
              <a:t>Usa `MIENTRAS` cuando...</a:t>
            </a:r>
            <a:endParaRPr/>
          </a:p>
        </p:txBody>
      </p:sp>
      <p:sp>
        <p:nvSpPr>
          <p:cNvPr id="229" name="Google Shape;229;p18"/>
          <p:cNvSpPr txBox="1"/>
          <p:nvPr/>
        </p:nvSpPr>
        <p:spPr>
          <a:xfrm>
            <a:off x="6581775" y="2076450"/>
            <a:ext cx="4743450" cy="81438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334155"/>
                </a:solidFill>
                <a:latin typeface="Inter"/>
                <a:ea typeface="Inter"/>
                <a:cs typeface="Inter"/>
                <a:sym typeface="Inter"/>
              </a:rPr>
              <a:t>No sabes</a:t>
            </a:r>
            <a:r>
              <a:rPr lang="en-US" sz="1425" b="0" i="0" u="none" strike="noStrike" cap="none">
                <a:solidFill>
                  <a:srgbClr val="334155"/>
                </a:solidFill>
                <a:latin typeface="Inter"/>
                <a:ea typeface="Inter"/>
                <a:cs typeface="Inter"/>
                <a:sym typeface="Inter"/>
              </a:rPr>
              <a:t> el número de repeticiones y la parada depende de una condición dinámica, evento o variable centinela.</a:t>
            </a:r>
            <a:endParaRPr/>
          </a:p>
        </p:txBody>
      </p:sp>
      <p:pic>
        <p:nvPicPr>
          <p:cNvPr id="230" name="Google Shape;230;p18" descr="image.png"/>
          <p:cNvPicPr preferRelativeResize="0"/>
          <p:nvPr/>
        </p:nvPicPr>
        <p:blipFill rotWithShape="1">
          <a:blip r:embed="rId6">
            <a:alphaModFix/>
          </a:blip>
          <a:srcRect/>
          <a:stretch/>
        </p:blipFill>
        <p:spPr>
          <a:xfrm>
            <a:off x="866775" y="1666875"/>
            <a:ext cx="228600" cy="228600"/>
          </a:xfrm>
          <a:prstGeom prst="rect">
            <a:avLst/>
          </a:prstGeom>
          <a:noFill/>
          <a:ln>
            <a:noFill/>
          </a:ln>
        </p:spPr>
      </p:pic>
      <p:pic>
        <p:nvPicPr>
          <p:cNvPr id="231" name="Google Shape;231;p18" descr="image.png"/>
          <p:cNvPicPr preferRelativeResize="0"/>
          <p:nvPr/>
        </p:nvPicPr>
        <p:blipFill rotWithShape="1">
          <a:blip r:embed="rId7">
            <a:alphaModFix/>
          </a:blip>
          <a:srcRect/>
          <a:stretch/>
        </p:blipFill>
        <p:spPr>
          <a:xfrm>
            <a:off x="6581775" y="1666875"/>
            <a:ext cx="228600" cy="228600"/>
          </a:xfrm>
          <a:prstGeom prst="rect">
            <a:avLst/>
          </a:prstGeom>
          <a:noFill/>
          <a:ln>
            <a:noFill/>
          </a:ln>
        </p:spPr>
      </p:pic>
      <p:sp>
        <p:nvSpPr>
          <p:cNvPr id="232" name="Google Shape;232;p18"/>
          <p:cNvSpPr txBox="1"/>
          <p:nvPr/>
        </p:nvSpPr>
        <p:spPr>
          <a:xfrm>
            <a:off x="1104900" y="3176587"/>
            <a:ext cx="450532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Inter"/>
                <a:ea typeface="Inter"/>
                <a:cs typeface="Inter"/>
                <a:sym typeface="Inter"/>
              </a:rPr>
              <a:t>"Procesar los 10 primeros estudiantes"</a:t>
            </a:r>
            <a:endParaRPr/>
          </a:p>
        </p:txBody>
      </p:sp>
      <p:sp>
        <p:nvSpPr>
          <p:cNvPr id="233" name="Google Shape;233;p18"/>
          <p:cNvSpPr txBox="1"/>
          <p:nvPr/>
        </p:nvSpPr>
        <p:spPr>
          <a:xfrm>
            <a:off x="1104900" y="3590925"/>
            <a:ext cx="450532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Inter"/>
                <a:ea typeface="Inter"/>
                <a:cs typeface="Inter"/>
                <a:sym typeface="Inter"/>
              </a:rPr>
              <a:t>"Recorrer los 7 días de la semana"</a:t>
            </a:r>
            <a:endParaRPr/>
          </a:p>
        </p:txBody>
      </p:sp>
      <p:sp>
        <p:nvSpPr>
          <p:cNvPr id="234" name="Google Shape;234;p18"/>
          <p:cNvSpPr txBox="1"/>
          <p:nvPr/>
        </p:nvSpPr>
        <p:spPr>
          <a:xfrm>
            <a:off x="1104900" y="4005262"/>
            <a:ext cx="450532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Inter"/>
                <a:ea typeface="Inter"/>
                <a:cs typeface="Inter"/>
                <a:sym typeface="Inter"/>
              </a:rPr>
              <a:t>"Imprimir la tabla del 5 del 1 al 10"</a:t>
            </a:r>
            <a:endParaRPr/>
          </a:p>
        </p:txBody>
      </p:sp>
      <p:sp>
        <p:nvSpPr>
          <p:cNvPr id="235" name="Google Shape;235;p18"/>
          <p:cNvSpPr txBox="1"/>
          <p:nvPr/>
        </p:nvSpPr>
        <p:spPr>
          <a:xfrm>
            <a:off x="6819900" y="3176587"/>
            <a:ext cx="450532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Inter"/>
                <a:ea typeface="Inter"/>
                <a:cs typeface="Inter"/>
                <a:sym typeface="Inter"/>
              </a:rPr>
              <a:t>"Repetir hasta que el usuario ingrese 'salir'"</a:t>
            </a:r>
            <a:endParaRPr/>
          </a:p>
        </p:txBody>
      </p:sp>
      <p:sp>
        <p:nvSpPr>
          <p:cNvPr id="236" name="Google Shape;236;p18"/>
          <p:cNvSpPr txBox="1"/>
          <p:nvPr/>
        </p:nvSpPr>
        <p:spPr>
          <a:xfrm>
            <a:off x="6819900" y="3590925"/>
            <a:ext cx="450532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Inter"/>
                <a:ea typeface="Inter"/>
                <a:cs typeface="Inter"/>
                <a:sym typeface="Inter"/>
              </a:rPr>
              <a:t>"Leer datos hasta llegar a un número negativo"</a:t>
            </a:r>
            <a:endParaRPr/>
          </a:p>
        </p:txBody>
      </p:sp>
      <p:sp>
        <p:nvSpPr>
          <p:cNvPr id="237" name="Google Shape;237;p18"/>
          <p:cNvSpPr txBox="1"/>
          <p:nvPr/>
        </p:nvSpPr>
        <p:spPr>
          <a:xfrm>
            <a:off x="6819900" y="4005262"/>
            <a:ext cx="450532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334155"/>
                </a:solidFill>
                <a:latin typeface="Inter"/>
                <a:ea typeface="Inter"/>
                <a:cs typeface="Inter"/>
                <a:sym typeface="Inter"/>
              </a:rPr>
              <a:t>"Pedir contraseña hasta que sea correcta"</a:t>
            </a:r>
            <a:endParaRPr/>
          </a:p>
        </p:txBody>
      </p:sp>
      <p:sp>
        <p:nvSpPr>
          <p:cNvPr id="238" name="Google Shape;238;p18"/>
          <p:cNvSpPr txBox="1"/>
          <p:nvPr/>
        </p:nvSpPr>
        <p:spPr>
          <a:xfrm>
            <a:off x="866775" y="3224212"/>
            <a:ext cx="76200" cy="2000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3B82F6"/>
                </a:solidFill>
                <a:latin typeface="Inter"/>
                <a:ea typeface="Inter"/>
                <a:cs typeface="Inter"/>
                <a:sym typeface="Inter"/>
              </a:rPr>
              <a:t>■</a:t>
            </a:r>
            <a:endParaRPr/>
          </a:p>
        </p:txBody>
      </p:sp>
      <p:sp>
        <p:nvSpPr>
          <p:cNvPr id="239" name="Google Shape;239;p18"/>
          <p:cNvSpPr txBox="1"/>
          <p:nvPr/>
        </p:nvSpPr>
        <p:spPr>
          <a:xfrm>
            <a:off x="866775" y="3638550"/>
            <a:ext cx="76200" cy="2000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3B82F6"/>
                </a:solidFill>
                <a:latin typeface="Inter"/>
                <a:ea typeface="Inter"/>
                <a:cs typeface="Inter"/>
                <a:sym typeface="Inter"/>
              </a:rPr>
              <a:t>■</a:t>
            </a:r>
            <a:endParaRPr/>
          </a:p>
        </p:txBody>
      </p:sp>
      <p:sp>
        <p:nvSpPr>
          <p:cNvPr id="240" name="Google Shape;240;p18"/>
          <p:cNvSpPr txBox="1"/>
          <p:nvPr/>
        </p:nvSpPr>
        <p:spPr>
          <a:xfrm>
            <a:off x="866775" y="4052887"/>
            <a:ext cx="76200" cy="2000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3B82F6"/>
                </a:solidFill>
                <a:latin typeface="Inter"/>
                <a:ea typeface="Inter"/>
                <a:cs typeface="Inter"/>
                <a:sym typeface="Inter"/>
              </a:rPr>
              <a:t>■</a:t>
            </a:r>
            <a:endParaRPr/>
          </a:p>
        </p:txBody>
      </p:sp>
      <p:sp>
        <p:nvSpPr>
          <p:cNvPr id="241" name="Google Shape;241;p18"/>
          <p:cNvSpPr txBox="1"/>
          <p:nvPr/>
        </p:nvSpPr>
        <p:spPr>
          <a:xfrm>
            <a:off x="6581775" y="3224212"/>
            <a:ext cx="76200" cy="2000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3B82F6"/>
                </a:solidFill>
                <a:latin typeface="Inter"/>
                <a:ea typeface="Inter"/>
                <a:cs typeface="Inter"/>
                <a:sym typeface="Inter"/>
              </a:rPr>
              <a:t>■</a:t>
            </a:r>
            <a:endParaRPr/>
          </a:p>
        </p:txBody>
      </p:sp>
      <p:sp>
        <p:nvSpPr>
          <p:cNvPr id="242" name="Google Shape;242;p18"/>
          <p:cNvSpPr txBox="1"/>
          <p:nvPr/>
        </p:nvSpPr>
        <p:spPr>
          <a:xfrm>
            <a:off x="6581775" y="3638550"/>
            <a:ext cx="76200" cy="2000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3B82F6"/>
                </a:solidFill>
                <a:latin typeface="Inter"/>
                <a:ea typeface="Inter"/>
                <a:cs typeface="Inter"/>
                <a:sym typeface="Inter"/>
              </a:rPr>
              <a:t>■</a:t>
            </a:r>
            <a:endParaRPr/>
          </a:p>
        </p:txBody>
      </p:sp>
      <p:sp>
        <p:nvSpPr>
          <p:cNvPr id="243" name="Google Shape;243;p18"/>
          <p:cNvSpPr txBox="1"/>
          <p:nvPr/>
        </p:nvSpPr>
        <p:spPr>
          <a:xfrm>
            <a:off x="6581775" y="4052887"/>
            <a:ext cx="76200" cy="2000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3B82F6"/>
                </a:solidFill>
                <a:latin typeface="Inter"/>
                <a:ea typeface="Inter"/>
                <a:cs typeface="Inter"/>
                <a:sym typeface="Inter"/>
              </a:rPr>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p:bldP spid="227" grpId="0"/>
      <p:bldP spid="228" grpId="0"/>
      <p:bldP spid="229" grpId="0"/>
      <p:bldP spid="232" grpId="0"/>
      <p:bldP spid="233" grpId="0"/>
      <p:bldP spid="234" grpId="0"/>
      <p:bldP spid="235" grpId="0"/>
      <p:bldP spid="236" grpId="0"/>
      <p:bldP spid="237" grpId="0"/>
      <p:bldP spid="238" grpId="0"/>
      <p:bldP spid="239" grpId="0"/>
      <p:bldP spid="240" grpId="0"/>
      <p:bldP spid="241" grpId="0"/>
      <p:bldP spid="242" grpId="0"/>
      <p:bldP spid="24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pic>
        <p:nvPicPr>
          <p:cNvPr id="248" name="Google Shape;248;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9" name="Google Shape;249;p19" descr="image.png"/>
          <p:cNvPicPr preferRelativeResize="0"/>
          <p:nvPr/>
        </p:nvPicPr>
        <p:blipFill rotWithShape="1">
          <a:blip r:embed="rId4">
            <a:alphaModFix/>
          </a:blip>
          <a:srcRect/>
          <a:stretch/>
        </p:blipFill>
        <p:spPr>
          <a:xfrm>
            <a:off x="571500" y="1862137"/>
            <a:ext cx="3492549" cy="3462337"/>
          </a:xfrm>
          <a:prstGeom prst="rect">
            <a:avLst/>
          </a:prstGeom>
          <a:noFill/>
          <a:ln>
            <a:noFill/>
          </a:ln>
        </p:spPr>
      </p:pic>
      <p:pic>
        <p:nvPicPr>
          <p:cNvPr id="250" name="Google Shape;250;p19" descr="image.png"/>
          <p:cNvPicPr preferRelativeResize="0"/>
          <p:nvPr/>
        </p:nvPicPr>
        <p:blipFill rotWithShape="1">
          <a:blip r:embed="rId5">
            <a:alphaModFix/>
          </a:blip>
          <a:srcRect/>
          <a:stretch/>
        </p:blipFill>
        <p:spPr>
          <a:xfrm>
            <a:off x="4349799" y="1862137"/>
            <a:ext cx="3492549" cy="3462337"/>
          </a:xfrm>
          <a:prstGeom prst="rect">
            <a:avLst/>
          </a:prstGeom>
          <a:noFill/>
          <a:ln>
            <a:noFill/>
          </a:ln>
        </p:spPr>
      </p:pic>
      <p:pic>
        <p:nvPicPr>
          <p:cNvPr id="251" name="Google Shape;251;p19" descr="image.png"/>
          <p:cNvPicPr preferRelativeResize="0"/>
          <p:nvPr/>
        </p:nvPicPr>
        <p:blipFill rotWithShape="1">
          <a:blip r:embed="rId6">
            <a:alphaModFix/>
          </a:blip>
          <a:srcRect/>
          <a:stretch/>
        </p:blipFill>
        <p:spPr>
          <a:xfrm>
            <a:off x="8128099" y="1862137"/>
            <a:ext cx="3492549" cy="3462337"/>
          </a:xfrm>
          <a:prstGeom prst="rect">
            <a:avLst/>
          </a:prstGeom>
          <a:noFill/>
          <a:ln>
            <a:noFill/>
          </a:ln>
        </p:spPr>
      </p:pic>
      <p:sp>
        <p:nvSpPr>
          <p:cNvPr id="252" name="Google Shape;252;p19"/>
          <p:cNvSpPr txBox="1"/>
          <p:nvPr/>
        </p:nvSpPr>
        <p:spPr>
          <a:xfrm>
            <a:off x="571500" y="476250"/>
            <a:ext cx="11601450"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3A8A"/>
                </a:solidFill>
                <a:latin typeface="Merriweather"/>
                <a:ea typeface="Merriweather"/>
                <a:cs typeface="Merriweather"/>
                <a:sym typeface="Merriweather"/>
              </a:rPr>
              <a:t>Taller Práctico: Retos en Logicode</a:t>
            </a:r>
            <a:endParaRPr/>
          </a:p>
        </p:txBody>
      </p:sp>
      <p:sp>
        <p:nvSpPr>
          <p:cNvPr id="253" name="Google Shape;253;p19"/>
          <p:cNvSpPr/>
          <p:nvPr/>
        </p:nvSpPr>
        <p:spPr>
          <a:xfrm>
            <a:off x="571500" y="1047750"/>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4" name="Google Shape;254;p19"/>
          <p:cNvSpPr txBox="1"/>
          <p:nvPr/>
        </p:nvSpPr>
        <p:spPr>
          <a:xfrm>
            <a:off x="571500" y="1304925"/>
            <a:ext cx="11049000" cy="271462"/>
          </a:xfrm>
          <a:prstGeom prst="rect">
            <a:avLst/>
          </a:prstGeom>
          <a:noFill/>
          <a:ln>
            <a:noFill/>
          </a:ln>
        </p:spPr>
        <p:txBody>
          <a:bodyPr spcFirstLastPara="1" wrap="square" lIns="0" tIns="0" rIns="0" bIns="0" anchor="t" anchorCtr="0">
            <a:spAutoFit/>
          </a:bodyPr>
          <a:lstStyle/>
          <a:p>
            <a:pPr marL="0" marR="0" lvl="0" indent="0" algn="ctr" rtl="0">
              <a:lnSpc>
                <a:spcPct val="149964"/>
              </a:lnSpc>
              <a:spcBef>
                <a:spcPts val="0"/>
              </a:spcBef>
              <a:spcAft>
                <a:spcPts val="0"/>
              </a:spcAft>
              <a:buNone/>
            </a:pPr>
            <a:r>
              <a:rPr lang="en-US" sz="1425" b="0" i="0" u="none" strike="noStrike" cap="none">
                <a:solidFill>
                  <a:srgbClr val="334155"/>
                </a:solidFill>
                <a:latin typeface="Inter"/>
                <a:ea typeface="Inter"/>
                <a:cs typeface="Inter"/>
                <a:sym typeface="Inter"/>
              </a:rPr>
              <a:t>Aplica la lógica del bucle MIENTRAS resolviendo estos ejercicios clásicos en tu entorno de desarrollo Logicode.</a:t>
            </a:r>
            <a:endParaRPr/>
          </a:p>
        </p:txBody>
      </p:sp>
      <p:sp>
        <p:nvSpPr>
          <p:cNvPr id="255" name="Google Shape;255;p19"/>
          <p:cNvSpPr txBox="1"/>
          <p:nvPr/>
        </p:nvSpPr>
        <p:spPr>
          <a:xfrm>
            <a:off x="1137552" y="2767012"/>
            <a:ext cx="2360295"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F172A"/>
                </a:solidFill>
                <a:latin typeface="Merriweather"/>
                <a:ea typeface="Merriweather"/>
                <a:cs typeface="Merriweather"/>
                <a:sym typeface="Merriweather"/>
              </a:rPr>
              <a:t>Adivina el Cuadrado</a:t>
            </a:r>
            <a:endParaRPr/>
          </a:p>
        </p:txBody>
      </p:sp>
      <p:sp>
        <p:nvSpPr>
          <p:cNvPr id="256" name="Google Shape;256;p19"/>
          <p:cNvSpPr txBox="1"/>
          <p:nvPr/>
        </p:nvSpPr>
        <p:spPr>
          <a:xfrm>
            <a:off x="1636662" y="3205162"/>
            <a:ext cx="1362075" cy="2286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64748B"/>
                </a:solidFill>
                <a:latin typeface="Inter"/>
                <a:ea typeface="Inter"/>
                <a:cs typeface="Inter"/>
                <a:sym typeface="Inter"/>
              </a:rPr>
              <a:t>ID Ejercicio: 12488</a:t>
            </a:r>
            <a:endParaRPr/>
          </a:p>
        </p:txBody>
      </p:sp>
      <p:sp>
        <p:nvSpPr>
          <p:cNvPr id="257" name="Google Shape;257;p19"/>
          <p:cNvSpPr txBox="1"/>
          <p:nvPr/>
        </p:nvSpPr>
        <p:spPr>
          <a:xfrm>
            <a:off x="866775" y="3529012"/>
            <a:ext cx="2901999" cy="1357312"/>
          </a:xfrm>
          <a:prstGeom prst="rect">
            <a:avLst/>
          </a:prstGeom>
          <a:noFill/>
          <a:ln>
            <a:noFill/>
          </a:ln>
        </p:spPr>
        <p:txBody>
          <a:bodyPr spcFirstLastPara="1" wrap="square" lIns="0" tIns="0" rIns="0" bIns="0" anchor="t" anchorCtr="0">
            <a:spAutoFit/>
          </a:bodyPr>
          <a:lstStyle/>
          <a:p>
            <a:pPr marL="0" marR="0" lvl="0" indent="0" algn="ctr" rtl="0">
              <a:lnSpc>
                <a:spcPct val="149964"/>
              </a:lnSpc>
              <a:spcBef>
                <a:spcPts val="0"/>
              </a:spcBef>
              <a:spcAft>
                <a:spcPts val="0"/>
              </a:spcAft>
              <a:buNone/>
            </a:pPr>
            <a:r>
              <a:rPr lang="en-US" sz="1425" b="0" i="0" u="none" strike="noStrike" cap="none">
                <a:solidFill>
                  <a:srgbClr val="334155"/>
                </a:solidFill>
                <a:latin typeface="Inter"/>
                <a:ea typeface="Inter"/>
                <a:cs typeface="Inter"/>
                <a:sym typeface="Inter"/>
              </a:rPr>
              <a:t>El programa genera un número. El usuario debe ingresar números hasta adivinar el cuadrado perfecto del número generado. Usa un centinela lógico.</a:t>
            </a:r>
            <a:endParaRPr/>
          </a:p>
        </p:txBody>
      </p:sp>
      <p:sp>
        <p:nvSpPr>
          <p:cNvPr id="258" name="Google Shape;258;p19"/>
          <p:cNvSpPr txBox="1"/>
          <p:nvPr/>
        </p:nvSpPr>
        <p:spPr>
          <a:xfrm>
            <a:off x="4960858" y="2767012"/>
            <a:ext cx="2270283"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F172A"/>
                </a:solidFill>
                <a:latin typeface="Merriweather"/>
                <a:ea typeface="Merriweather"/>
                <a:cs typeface="Merriweather"/>
                <a:sym typeface="Merriweather"/>
              </a:rPr>
              <a:t>División por Restas</a:t>
            </a:r>
            <a:endParaRPr/>
          </a:p>
        </p:txBody>
      </p:sp>
      <p:sp>
        <p:nvSpPr>
          <p:cNvPr id="259" name="Google Shape;259;p19"/>
          <p:cNvSpPr txBox="1"/>
          <p:nvPr/>
        </p:nvSpPr>
        <p:spPr>
          <a:xfrm>
            <a:off x="5462587" y="3205162"/>
            <a:ext cx="1266825" cy="2286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64748B"/>
                </a:solidFill>
                <a:latin typeface="Inter"/>
                <a:ea typeface="Inter"/>
                <a:cs typeface="Inter"/>
                <a:sym typeface="Inter"/>
              </a:rPr>
              <a:t>ID Ejercicio: 1425</a:t>
            </a:r>
            <a:endParaRPr/>
          </a:p>
        </p:txBody>
      </p:sp>
      <p:sp>
        <p:nvSpPr>
          <p:cNvPr id="260" name="Google Shape;260;p19"/>
          <p:cNvSpPr txBox="1"/>
          <p:nvPr/>
        </p:nvSpPr>
        <p:spPr>
          <a:xfrm>
            <a:off x="4645074" y="3529012"/>
            <a:ext cx="2901999" cy="1357312"/>
          </a:xfrm>
          <a:prstGeom prst="rect">
            <a:avLst/>
          </a:prstGeom>
          <a:noFill/>
          <a:ln>
            <a:noFill/>
          </a:ln>
        </p:spPr>
        <p:txBody>
          <a:bodyPr spcFirstLastPara="1" wrap="square" lIns="0" tIns="0" rIns="0" bIns="0" anchor="t" anchorCtr="0">
            <a:spAutoFit/>
          </a:bodyPr>
          <a:lstStyle/>
          <a:p>
            <a:pPr marL="0" marR="0" lvl="0" indent="0" algn="ctr" rtl="0">
              <a:lnSpc>
                <a:spcPct val="149964"/>
              </a:lnSpc>
              <a:spcBef>
                <a:spcPts val="0"/>
              </a:spcBef>
              <a:spcAft>
                <a:spcPts val="0"/>
              </a:spcAft>
              <a:buNone/>
            </a:pPr>
            <a:r>
              <a:rPr lang="en-US" sz="1425" b="0" i="0" u="none" strike="noStrike" cap="none">
                <a:solidFill>
                  <a:srgbClr val="334155"/>
                </a:solidFill>
                <a:latin typeface="Inter"/>
                <a:ea typeface="Inter"/>
                <a:cs typeface="Inter"/>
                <a:sym typeface="Inter"/>
              </a:rPr>
              <a:t>Calcula el cociente y el residuo de dos números enteros utilizando únicamente un ciclo MIENTRAS y el operador de resta (-).</a:t>
            </a:r>
            <a:endParaRPr/>
          </a:p>
        </p:txBody>
      </p:sp>
      <p:sp>
        <p:nvSpPr>
          <p:cNvPr id="261" name="Google Shape;261;p19"/>
          <p:cNvSpPr txBox="1"/>
          <p:nvPr/>
        </p:nvSpPr>
        <p:spPr>
          <a:xfrm>
            <a:off x="9254222" y="2767012"/>
            <a:ext cx="1240155"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F172A"/>
                </a:solidFill>
                <a:latin typeface="Merriweather"/>
                <a:ea typeface="Merriweather"/>
                <a:cs typeface="Merriweather"/>
                <a:sym typeface="Merriweather"/>
              </a:rPr>
              <a:t>Sucesión 7</a:t>
            </a:r>
            <a:endParaRPr/>
          </a:p>
        </p:txBody>
      </p:sp>
      <p:sp>
        <p:nvSpPr>
          <p:cNvPr id="262" name="Google Shape;262;p19"/>
          <p:cNvSpPr txBox="1"/>
          <p:nvPr/>
        </p:nvSpPr>
        <p:spPr>
          <a:xfrm>
            <a:off x="9198024" y="3205162"/>
            <a:ext cx="1352550" cy="2286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64748B"/>
                </a:solidFill>
                <a:latin typeface="Inter"/>
                <a:ea typeface="Inter"/>
                <a:cs typeface="Inter"/>
                <a:sym typeface="Inter"/>
              </a:rPr>
              <a:t>ID Ejercicio: 12709</a:t>
            </a:r>
            <a:endParaRPr/>
          </a:p>
        </p:txBody>
      </p:sp>
      <p:sp>
        <p:nvSpPr>
          <p:cNvPr id="263" name="Google Shape;263;p19"/>
          <p:cNvSpPr txBox="1"/>
          <p:nvPr/>
        </p:nvSpPr>
        <p:spPr>
          <a:xfrm>
            <a:off x="8423374" y="3529012"/>
            <a:ext cx="2901999" cy="1357312"/>
          </a:xfrm>
          <a:prstGeom prst="rect">
            <a:avLst/>
          </a:prstGeom>
          <a:noFill/>
          <a:ln>
            <a:noFill/>
          </a:ln>
        </p:spPr>
        <p:txBody>
          <a:bodyPr spcFirstLastPara="1" wrap="square" lIns="0" tIns="0" rIns="0" bIns="0" anchor="t" anchorCtr="0">
            <a:spAutoFit/>
          </a:bodyPr>
          <a:lstStyle/>
          <a:p>
            <a:pPr marL="0" marR="0" lvl="0" indent="0" algn="ctr" rtl="0">
              <a:lnSpc>
                <a:spcPct val="149964"/>
              </a:lnSpc>
              <a:spcBef>
                <a:spcPts val="0"/>
              </a:spcBef>
              <a:spcAft>
                <a:spcPts val="0"/>
              </a:spcAft>
              <a:buNone/>
            </a:pPr>
            <a:r>
              <a:rPr lang="en-US" sz="1425" b="0" i="0" u="none" strike="noStrike" cap="none">
                <a:solidFill>
                  <a:srgbClr val="334155"/>
                </a:solidFill>
                <a:latin typeface="Inter"/>
                <a:ea typeface="Inter"/>
                <a:cs typeface="Inter"/>
                <a:sym typeface="Inter"/>
              </a:rPr>
              <a:t>Genera una serie matemática compleja donde el cálculo del siguiente término depende de una condición evaluada dinámicamente en el bucle.</a:t>
            </a:r>
            <a:endParaRPr/>
          </a:p>
        </p:txBody>
      </p:sp>
      <p:pic>
        <p:nvPicPr>
          <p:cNvPr id="264" name="Google Shape;264;p19" descr="image.png"/>
          <p:cNvPicPr preferRelativeResize="0"/>
          <p:nvPr/>
        </p:nvPicPr>
        <p:blipFill rotWithShape="1">
          <a:blip r:embed="rId7">
            <a:alphaModFix/>
          </a:blip>
          <a:srcRect/>
          <a:stretch/>
        </p:blipFill>
        <p:spPr>
          <a:xfrm>
            <a:off x="2103387" y="2195512"/>
            <a:ext cx="428625" cy="342900"/>
          </a:xfrm>
          <a:prstGeom prst="rect">
            <a:avLst/>
          </a:prstGeom>
          <a:noFill/>
          <a:ln>
            <a:noFill/>
          </a:ln>
        </p:spPr>
      </p:pic>
      <p:pic>
        <p:nvPicPr>
          <p:cNvPr id="265" name="Google Shape;265;p19" descr="image.png"/>
          <p:cNvPicPr preferRelativeResize="0"/>
          <p:nvPr/>
        </p:nvPicPr>
        <p:blipFill rotWithShape="1">
          <a:blip r:embed="rId8">
            <a:alphaModFix/>
          </a:blip>
          <a:srcRect/>
          <a:stretch/>
        </p:blipFill>
        <p:spPr>
          <a:xfrm>
            <a:off x="5948362" y="2195512"/>
            <a:ext cx="295275" cy="342900"/>
          </a:xfrm>
          <a:prstGeom prst="rect">
            <a:avLst/>
          </a:prstGeom>
          <a:noFill/>
          <a:ln>
            <a:noFill/>
          </a:ln>
        </p:spPr>
      </p:pic>
      <p:pic>
        <p:nvPicPr>
          <p:cNvPr id="266" name="Google Shape;266;p19" descr="image.png"/>
          <p:cNvPicPr preferRelativeResize="0"/>
          <p:nvPr/>
        </p:nvPicPr>
        <p:blipFill rotWithShape="1">
          <a:blip r:embed="rId9">
            <a:alphaModFix/>
          </a:blip>
          <a:srcRect/>
          <a:stretch/>
        </p:blipFill>
        <p:spPr>
          <a:xfrm>
            <a:off x="9679037" y="2195512"/>
            <a:ext cx="390525" cy="3429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1725</Words>
  <Application>Microsoft Office PowerPoint</Application>
  <PresentationFormat>Widescreen</PresentationFormat>
  <Paragraphs>163</Paragraphs>
  <Slides>17</Slides>
  <Notes>17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Merriweather Black</vt:lpstr>
      <vt:lpstr>Arial</vt:lpstr>
      <vt:lpstr>Plus Jakarta Sans</vt:lpstr>
      <vt:lpstr>Merriweather</vt:lpstr>
      <vt:lpstr>Fira Code</vt:lpstr>
      <vt:lpstr>Plus Jakarta Sans ExtraBold</vt:lpstr>
      <vt:lpstr>Calibri</vt:lpstr>
      <vt:lpstr>Fira Code SemiBold</vt:lpstr>
      <vt:lpstr>Inter</vt:lpstr>
      <vt:lpstr>Plus Jakarta Sans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SEBASTIAN MONTOYA VILLADA</cp:lastModifiedBy>
  <cp:revision>1</cp:revision>
  <dcterms:modified xsi:type="dcterms:W3CDTF">2026-04-08T02:53:20Z</dcterms:modified>
</cp:coreProperties>
</file>