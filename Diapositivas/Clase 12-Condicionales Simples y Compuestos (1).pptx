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sldIdLst>
    <p:sldId id="28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</p:sldIdLst>
  <p:sldSz cx="12192000" cy="6858000"/>
  <p:notesSz cx="6858000" cy="9144000"/>
  <p:embeddedFontLst>
    <p:embeddedFont>
      <p:font typeface="Fira Code" panose="020B0809050000020004" pitchFamily="49" charset="0"/>
      <p:regular r:id="rId31"/>
      <p:bold r:id="rId32"/>
    </p:embeddedFont>
    <p:embeddedFont>
      <p:font typeface="Lato" panose="020F0502020204030203" pitchFamily="34" charset="0"/>
      <p:regular r:id="rId33"/>
      <p:bold r:id="rId34"/>
      <p:italic r:id="rId35"/>
      <p:boldItalic r:id="rId36"/>
    </p:embeddedFont>
    <p:embeddedFont>
      <p:font typeface="Poppins" panose="00000500000000000000" pitchFamily="2" charset="0"/>
      <p:regular r:id="rId37"/>
      <p:bold r:id="rId38"/>
      <p:italic r:id="rId39"/>
      <p:boldItalic r:id="rId40"/>
    </p:embeddedFont>
    <p:embeddedFont>
      <p:font typeface="Poppins SemiBold" panose="00000700000000000000" pitchFamily="2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EEDECE-C257-4E95-8DDA-88DFFE34E03F}">
  <a:tblStyle styleId="{5BEEDECE-C257-4E95-8DDA-88DFFE34E03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756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6A6DC4-62F6-D744-9B5A-2471E53D2276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02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7" name="Google Shape;42;p1">
            <a:extLst>
              <a:ext uri="{FF2B5EF4-FFF2-40B4-BE49-F238E27FC236}">
                <a16:creationId xmlns:a16="http://schemas.microsoft.com/office/drawing/2014/main" id="{2B45B46A-91AE-80AB-4C52-6F9A4C7FEC60}"/>
              </a:ext>
            </a:extLst>
          </p:cNvPr>
          <p:cNvSpPr txBox="1">
            <a:spLocks noGrp="1"/>
          </p:cNvSpPr>
          <p:nvPr/>
        </p:nvSpPr>
        <p:spPr>
          <a:xfrm>
            <a:off x="1210255" y="2398152"/>
            <a:ext cx="9373925" cy="296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Lógica de Programación y Laboratorio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5400" dirty="0">
                <a:solidFill>
                  <a:schemeClr val="lt1"/>
                </a:solidFill>
              </a:rPr>
              <a:t>Sesión 12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endParaRPr lang="es-CO" sz="5400" dirty="0"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s-CO" sz="2000" dirty="0" err="1">
                <a:solidFill>
                  <a:schemeClr val="lt1"/>
                </a:solidFill>
              </a:rPr>
              <a:t>Sebastian</a:t>
            </a:r>
            <a:r>
              <a:rPr lang="es-CO" sz="2000" dirty="0">
                <a:solidFill>
                  <a:schemeClr val="lt1"/>
                </a:solidFill>
              </a:rPr>
              <a:t> Montoya Villada</a:t>
            </a:r>
          </a:p>
        </p:txBody>
      </p:sp>
    </p:spTree>
    <p:extLst>
      <p:ext uri="{BB962C8B-B14F-4D97-AF65-F5344CB8AC3E}">
        <p14:creationId xmlns:p14="http://schemas.microsoft.com/office/powerpoint/2010/main" val="1972982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05488" y="2333625"/>
            <a:ext cx="8181022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Condicionales Simples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25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 y Compuestos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00275" y="4107550"/>
            <a:ext cx="779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Análisis, Lógica Computacional y Pruebas de Escritorio en LogiCode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70510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2295525" y="3048000"/>
            <a:ext cx="76009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I. Fundamentos Teóricos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052762" y="4095750"/>
            <a:ext cx="6086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Entendiendo la forma en que un computador toma decisiones.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10276"/>
            <a:ext cx="528637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10276"/>
            <a:ext cx="528637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62025" y="2400801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Flujo Secuencial (Básico)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62025" y="2943726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instrucciones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arriba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hacia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abajo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tras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otra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Es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modelo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rígido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ciego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externos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943851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un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usuario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ingresa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valor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atípico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no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tiene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capacidad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adaptarse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procesará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dato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erróneo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generando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fallas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operativas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2400801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Flujo Condicional (Inteligente)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2943726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estructuras condicionales rompen la rigidez secuencial. Le otorgan al programa la habilidad de evaluar el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estado actual de la memoria y las variables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3943851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Basado en este análisis en tiempo real, el sistema decide si ejecuta un bloque de código, o si lo ignora completamente.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Flujo de Control Computacional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4" grpId="0"/>
      <p:bldP spid="105" grpId="0"/>
      <p:bldP spid="106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809625" y="2119312"/>
            <a:ext cx="1006386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ciencias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computación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capacidad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matemática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decisión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llamamos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bifurcación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(branching)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118" name="Google Shape;118;p16"/>
          <p:cNvSpPr txBox="1"/>
          <p:nvPr/>
        </p:nvSpPr>
        <p:spPr>
          <a:xfrm>
            <a:off x="809625" y="3372013"/>
            <a:ext cx="10313077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Como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camino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divide,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procesador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debe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elegir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ruta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tomar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basándose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instantánea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809625" y="4624715"/>
            <a:ext cx="1008260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 es la piedra angular del software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moderno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dotar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necesaria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para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reaccionar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24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entorno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Bifurcación Algorítmica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47875"/>
            <a:ext cx="34290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47875"/>
            <a:ext cx="3429000" cy="37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47875"/>
            <a:ext cx="3429000" cy="37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962025" y="3248025"/>
            <a:ext cx="195024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La Pregunta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962025" y="3790950"/>
            <a:ext cx="264795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procesador no entiende de ambigüedades. Todo condicional se basa en una expresión matemática que solo arroja dos resultados: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Verdadero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4772025" y="3248025"/>
            <a:ext cx="253031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Los Operadores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772025" y="3790950"/>
            <a:ext cx="2647950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Construimos la pregunta con operadores relacionales: &gt; (Mayor), &lt; (Menor), &gt;= (Mayor o igual), &lt;= (Menor o igual) y == (Igual a).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82025" y="3248025"/>
            <a:ext cx="228028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La Resolución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582025" y="3790950"/>
            <a:ext cx="2647950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la variable edad tiene el valor 15, la expresión (edad &gt;= 18) se reduce internamente a un estado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FALSO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cerrando ese camino.</a:t>
            </a:r>
            <a:endParaRPr/>
          </a:p>
        </p:txBody>
      </p:sp>
      <p:pic>
        <p:nvPicPr>
          <p:cNvPr id="137" name="Google Shape;13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486025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72025" y="248602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82025" y="248602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Evaluación Booleana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  <p:bldP spid="135" grpId="0"/>
      <p:bldP spid="1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9277"/>
            <a:ext cx="5286375" cy="401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79277"/>
            <a:ext cx="5286375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962025" y="1969802"/>
            <a:ext cx="473059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Concepto de "Scope" (Alcance)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962025" y="2912777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Cuando abrimos una estructura condicional y la cerramos debidamente, estamos creando una "habitación aislada" dentro de nuestro programa principal.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962025" y="4335516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Todo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algoritmo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coloquemos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interior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pertenece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exclusivamente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ese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condicional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ejecución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protegida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pregunta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inicial</a:t>
            </a:r>
            <a:r>
              <a:rPr lang="en-US" sz="15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51" name="Google Shape;151;p18"/>
          <p:cNvSpPr txBox="1"/>
          <p:nvPr/>
        </p:nvSpPr>
        <p:spPr>
          <a:xfrm>
            <a:off x="6724650" y="1969802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Regla Visual: Indentación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724650" y="2512727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Para indicar visual y lógicamente que una instrucción pertenece a un bloque, la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empujamos hacia la derecha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utilizando la tecla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Tab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 la barra espaciadora.</a:t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724650" y="4055777"/>
            <a:ext cx="4505325" cy="97155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915150" y="4246277"/>
            <a:ext cx="4124325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 Buena Práctica</a:t>
            </a: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Un código bien indentado permite detectar instantáneamente el inicio y el fin de los procesos subordinados.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6724650" y="4055777"/>
            <a:ext cx="57150" cy="971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Bloque de Código y la Indentación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/>
      <p:bldP spid="150" grpId="0"/>
      <p:bldP spid="151" grpId="0"/>
      <p:bldP spid="152" grpId="0"/>
      <p:bldP spid="153" grpId="0" animBg="1"/>
      <p:bldP spid="154" grpId="0"/>
      <p:bldP spid="15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/>
          <p:nvPr/>
        </p:nvSpPr>
        <p:spPr>
          <a:xfrm>
            <a:off x="5524500" y="253365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1045368" y="2876550"/>
            <a:ext cx="1010126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II. Estructura Condicional Simple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2762250" y="3924300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Ejecutar procesos única y exclusivamente cuando la condición es afirmativa.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90550" y="16368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Concepto del </a:t>
            </a: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Condicional</a:t>
            </a: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Simple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F65D1D-E20A-C5B1-8721-6F70CEEB2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6518" y="1209461"/>
            <a:ext cx="6192114" cy="3877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DDF003-22FA-99AE-47C5-1877BB8319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64" y="1373198"/>
            <a:ext cx="5093254" cy="47489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0187"/>
            <a:ext cx="54292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91250" y="1500187"/>
            <a:ext cx="5429250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33837"/>
            <a:ext cx="5429250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91250" y="4033837"/>
            <a:ext cx="5429250" cy="23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962025" y="189071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Si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962025" y="2433637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la palabra reservada (análogo al </a:t>
            </a:r>
            <a:r>
              <a:rPr lang="en-US" sz="1500" b="0" i="1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if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en lenguajes robustos) que notifica al compilador la apertura de un bloque de decisión.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6581775" y="189071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Condición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581775" y="2433637"/>
            <a:ext cx="46482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 la evaluación matemática obligatoria. Debe ir estrictamente encapsulada entre paréntesis () y contener operadores lógicos.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962025" y="442436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Instrucción(es)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962025" y="4967287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Constituyen el proceso algorítmico que se detonará si, y solo si, la evaluación previa devolvió un estado VERDADERO.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581775" y="442436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Finsi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6581775" y="4967287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Palabra reservada crítica. Marca el cierre de la estructura, indicando que el código que siga abajo volverá a ser secuencial.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500062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Anatomía del Condicional Simple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" grpId="0"/>
      <p:bldP spid="193" grpId="0"/>
      <p:bldP spid="194" grpId="0"/>
      <p:bldP spid="195" grpId="0"/>
      <p:bldP spid="196" grpId="0"/>
      <p:bldP spid="197" grpId="0"/>
      <p:bldP spid="198" grpId="0"/>
      <p:bldP spid="19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293770" y="1762125"/>
            <a:ext cx="603082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elemento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central con forma de 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rombo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grafica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punto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evaluación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booleana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(la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pregunta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2000" dirty="0"/>
          </a:p>
        </p:txBody>
      </p:sp>
      <p:sp>
        <p:nvSpPr>
          <p:cNvPr id="210" name="Google Shape;210;p22"/>
          <p:cNvSpPr txBox="1"/>
          <p:nvPr/>
        </p:nvSpPr>
        <p:spPr>
          <a:xfrm>
            <a:off x="293770" y="2787551"/>
            <a:ext cx="603082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ruta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tomada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arroja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resultado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Verdadero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flecha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descender y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instrucciones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contenido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12" name="Google Shape;212;p22"/>
          <p:cNvSpPr txBox="1"/>
          <p:nvPr/>
        </p:nvSpPr>
        <p:spPr>
          <a:xfrm>
            <a:off x="293769" y="4274642"/>
            <a:ext cx="603082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arrojado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Falso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flecha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lateral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omite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completo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293768" y="5267622"/>
            <a:ext cx="603082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Independientemente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ruta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flujo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retoma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línea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principal.</a:t>
            </a:r>
            <a:endParaRPr sz="2000" dirty="0"/>
          </a:p>
        </p:txBody>
      </p:sp>
      <p:pic>
        <p:nvPicPr>
          <p:cNvPr id="215" name="Google Shape;21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128837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Diagrama de Flujo: Condicional Simple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/>
      <p:bldP spid="210" grpId="0"/>
      <p:bldP spid="212" grpId="0"/>
      <p:bldP spid="2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6241" y="1381125"/>
            <a:ext cx="5286375" cy="393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09762"/>
            <a:ext cx="5286375" cy="335293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/>
          <p:nvPr/>
        </p:nvSpPr>
        <p:spPr>
          <a:xfrm>
            <a:off x="596741" y="5680713"/>
            <a:ext cx="11049000" cy="809625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787241" y="5871213"/>
            <a:ext cx="10668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7F1D1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 err="1">
                <a:solidFill>
                  <a:srgbClr val="7F1D1D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2000" b="1" i="0" u="none" strike="noStrike" cap="none" dirty="0">
                <a:solidFill>
                  <a:srgbClr val="7F1D1D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 err="1">
                <a:solidFill>
                  <a:srgbClr val="7F1D1D"/>
                </a:solidFill>
                <a:latin typeface="Lato"/>
                <a:ea typeface="Lato"/>
                <a:cs typeface="Lato"/>
                <a:sym typeface="Lato"/>
              </a:rPr>
              <a:t>Matemática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ciencias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computación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un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número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considerado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"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positivo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"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única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y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exclusivamente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cuando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es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estrictamente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mayor a cero (&gt; 0).</a:t>
            </a:r>
            <a:endParaRPr sz="2000" dirty="0"/>
          </a:p>
        </p:txBody>
      </p:sp>
      <p:sp>
        <p:nvSpPr>
          <p:cNvPr id="226" name="Google Shape;226;p23"/>
          <p:cNvSpPr/>
          <p:nvPr/>
        </p:nvSpPr>
        <p:spPr>
          <a:xfrm>
            <a:off x="596741" y="5680713"/>
            <a:ext cx="57150" cy="80962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849391" y="1865947"/>
            <a:ext cx="473059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</a:t>
            </a:r>
            <a:r>
              <a:rPr lang="en-US" sz="3200" b="0" i="0" u="none" strike="noStrike" cap="none" dirty="0" err="1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Requisito</a:t>
            </a:r>
            <a:r>
              <a:rPr lang="en-US" sz="3200" b="0" i="0" u="none" strike="noStrike" cap="none" dirty="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200" b="0" i="0" u="none" strike="noStrike" cap="none" dirty="0" err="1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Funcional</a:t>
            </a:r>
            <a:endParaRPr sz="2000"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962023" y="2425547"/>
            <a:ext cx="45053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encarga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identificar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tarea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exacta se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espera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resuelva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programa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Define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20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Qué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962023" y="3877699"/>
            <a:ext cx="45053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"Se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requiere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sistema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muestre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dos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números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ingresados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pantalla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pero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bajo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cierta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circunstancia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 sz="2000"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6724650" y="1865947"/>
            <a:ext cx="473059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Reglas de </a:t>
            </a:r>
            <a:r>
              <a:rPr lang="en-US" sz="3200" b="0" i="0" u="none" strike="noStrike" cap="none" dirty="0" err="1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Negocio</a:t>
            </a:r>
            <a:endParaRPr sz="2000" dirty="0"/>
          </a:p>
        </p:txBody>
      </p:sp>
      <p:sp>
        <p:nvSpPr>
          <p:cNvPr id="231" name="Google Shape;231;p23"/>
          <p:cNvSpPr txBox="1"/>
          <p:nvPr/>
        </p:nvSpPr>
        <p:spPr>
          <a:xfrm>
            <a:off x="6689645" y="2389822"/>
            <a:ext cx="5096114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Detalla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las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restricciones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la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lógica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algoritmo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está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obligado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respetar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 Define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"Cómo"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/>
          </a:p>
        </p:txBody>
      </p:sp>
      <p:sp>
        <p:nvSpPr>
          <p:cNvPr id="232" name="Google Shape;232;p23"/>
          <p:cNvSpPr txBox="1"/>
          <p:nvPr/>
        </p:nvSpPr>
        <p:spPr>
          <a:xfrm>
            <a:off x="6724650" y="3863045"/>
            <a:ext cx="450532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1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Ejemplo</a:t>
            </a:r>
            <a:r>
              <a:rPr lang="en-US" sz="2000" b="0" i="1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"Deben ser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tipo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reales. Se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muestran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por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pantalla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y solo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0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ambos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son </a:t>
            </a:r>
            <a:r>
              <a:rPr lang="en-US" sz="20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positivos</a:t>
            </a:r>
            <a:r>
              <a:rPr lang="en-US" sz="20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".</a:t>
            </a:r>
            <a:endParaRPr sz="2000" dirty="0"/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Metodología Pre-Código: Fase de Análisis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" grpId="0" animBg="1"/>
      <p:bldP spid="225" grpId="0"/>
      <p:bldP spid="226" grpId="0" animBg="1"/>
      <p:bldP spid="227" grpId="0"/>
      <p:bldP spid="228" grpId="0"/>
      <p:bldP spid="229" grpId="0"/>
      <p:bldP spid="230" grpId="0"/>
      <p:bldP spid="231" grpId="0"/>
      <p:bldP spid="2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4"/>
          <p:cNvSpPr txBox="1"/>
          <p:nvPr/>
        </p:nvSpPr>
        <p:spPr>
          <a:xfrm>
            <a:off x="18735675" y="-252412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19469100" y="-252412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19678650" y="-252412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" y "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20307300" y="-252412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+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21145500" y="-252412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finsi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90550" y="48753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</a:t>
            </a: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1: </a:t>
            </a: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Condicional</a:t>
            </a: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Simple y </a:t>
            </a: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Operador</a:t>
            </a: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"Y"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38E182-3CF1-AD2A-5679-B6D0F177B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68439"/>
            <a:ext cx="12192000" cy="52277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9312"/>
            <a:ext cx="11049000" cy="4238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9" name="Google Shape;269;p25"/>
          <p:cNvGraphicFramePr/>
          <p:nvPr/>
        </p:nvGraphicFramePr>
        <p:xfrm>
          <a:off x="571500" y="2119312"/>
          <a:ext cx="11039475" cy="3009875"/>
        </p:xfrm>
        <a:graphic>
          <a:graphicData uri="http://schemas.openxmlformats.org/drawingml/2006/table">
            <a:tbl>
              <a:tblPr firstRow="1" bandRow="1">
                <a:noFill/>
                <a:tableStyleId>{5BEEDECE-C257-4E95-8DDA-88DFFE34E03F}</a:tableStyleId>
              </a:tblPr>
              <a:tblGrid>
                <a:gridCol w="279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Variable num1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Variable num2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Resultado Esperado en Consola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Los numeros son 3 y 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(No hay salida. El programa finaliza)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-50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(No hay salida. El programa finaliza)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-30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-40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(No hay salida. El programa finaliza)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0" name="Google Shape;270;p25"/>
          <p:cNvSpPr/>
          <p:nvPr/>
        </p:nvSpPr>
        <p:spPr>
          <a:xfrm>
            <a:off x="576262" y="2714625"/>
            <a:ext cx="27966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"/>
          <p:cNvSpPr/>
          <p:nvPr/>
        </p:nvSpPr>
        <p:spPr>
          <a:xfrm>
            <a:off x="3372891" y="2714625"/>
            <a:ext cx="28482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6221164" y="2714625"/>
            <a:ext cx="539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76262" y="3314700"/>
            <a:ext cx="27966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3372891" y="3314700"/>
            <a:ext cx="28482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6221164" y="3314700"/>
            <a:ext cx="539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6262" y="3914775"/>
            <a:ext cx="27966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3372891" y="3914775"/>
            <a:ext cx="28482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6221164" y="3914775"/>
            <a:ext cx="539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6262" y="4514850"/>
            <a:ext cx="279662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3372891" y="4514850"/>
            <a:ext cx="28482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6221164" y="4514850"/>
            <a:ext cx="53945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571500" y="500062"/>
            <a:ext cx="116014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 de Escritorio: Comportamiento del Algoritmo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/>
          <p:nvPr/>
        </p:nvSpPr>
        <p:spPr>
          <a:xfrm>
            <a:off x="5524500" y="2276475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295275" y="2619375"/>
            <a:ext cx="1160145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III. Estructura Condicional Compuesta o Doble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3262312" y="4524375"/>
            <a:ext cx="56673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Procesar alternativas excluyentes y contingencias lógicas.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19325"/>
            <a:ext cx="5334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19325"/>
            <a:ext cx="53340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7"/>
          <p:cNvSpPr txBox="1"/>
          <p:nvPr/>
        </p:nvSpPr>
        <p:spPr>
          <a:xfrm>
            <a:off x="962025" y="3419475"/>
            <a:ext cx="346043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Limitación del Simple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962025" y="3962400"/>
            <a:ext cx="4552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estructuras simples no contemplan planes de contingencia. Las estructuras compuestas resuelven esto permitiendo elegir entre dos opciones posibles basadas en el cumplimiento de una regla.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6677025" y="3419475"/>
            <a:ext cx="368046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Exclusión Mutua (XOR)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6677025" y="3962400"/>
            <a:ext cx="45529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introducen dos bloques de instrucciones rivales. Solo uno de ellos se ejecutará jamás en la misma iteración. Si el primer bloque se acciona, el segundo es anulado de la memoria.</a:t>
            </a:r>
            <a:endParaRPr/>
          </a:p>
        </p:txBody>
      </p:sp>
      <p:pic>
        <p:nvPicPr>
          <p:cNvPr id="302" name="Google Shape;302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657475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6574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Concepto de la Decisión Doble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8" grpId="0"/>
      <p:bldP spid="299" grpId="0"/>
      <p:bldP spid="300" grpId="0"/>
      <p:bldP spid="30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8"/>
          <p:cNvSpPr txBox="1"/>
          <p:nvPr/>
        </p:nvSpPr>
        <p:spPr>
          <a:xfrm>
            <a:off x="295275" y="700338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Anatomía</a:t>
            </a: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del </a:t>
            </a: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Condicional</a:t>
            </a:r>
            <a:r>
              <a:rPr lang="en-US" sz="3300" b="0" i="0" u="none" strike="noStrike" cap="none" dirty="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300" b="0" i="0" u="none" strike="noStrike" cap="none" dirty="0" err="1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Compuesto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660B15-7087-66FE-2D2E-B981232FF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97" y="1597139"/>
            <a:ext cx="11882121" cy="4931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1931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/>
          <p:nvPr/>
        </p:nvSpPr>
        <p:spPr>
          <a:xfrm>
            <a:off x="571500" y="1918689"/>
            <a:ext cx="1096596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diferencia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un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diagrama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simple,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diagrama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doble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muestra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las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instrucciones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sitúan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ambos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flancos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del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rombo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decisión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335" name="Google Shape;335;p29"/>
          <p:cNvSpPr txBox="1"/>
          <p:nvPr/>
        </p:nvSpPr>
        <p:spPr>
          <a:xfrm>
            <a:off x="571500" y="3254849"/>
            <a:ext cx="1104448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Garantía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Ejecución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pase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uno (y solo uno) de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código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procesará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éxito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337" name="Google Shape;337;p29"/>
          <p:cNvSpPr txBox="1"/>
          <p:nvPr/>
        </p:nvSpPr>
        <p:spPr>
          <a:xfrm>
            <a:off x="523374" y="4504432"/>
            <a:ext cx="1121625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Salto al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Finsi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terminar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afirmativo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procesador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jamás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entra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bloque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negativo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;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salta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directo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al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cierre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 la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estructura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  <p:sp>
        <p:nvSpPr>
          <p:cNvPr id="339" name="Google Shape;339;p2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Reglas del Flujo: Exclusión Mutua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" grpId="0"/>
      <p:bldP spid="335" grpId="0"/>
      <p:bldP spid="3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94944"/>
            <a:ext cx="11049000" cy="1087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75544"/>
            <a:ext cx="5286375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1975544"/>
            <a:ext cx="5286375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 txBox="1"/>
          <p:nvPr/>
        </p:nvSpPr>
        <p:spPr>
          <a:xfrm>
            <a:off x="819150" y="4985444"/>
            <a:ext cx="106108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4532D"/>
                </a:solidFill>
                <a:latin typeface="Lato"/>
                <a:ea typeface="Lato"/>
                <a:cs typeface="Lato"/>
                <a:sym typeface="Lato"/>
              </a:rPr>
              <a:t>Jerarquía de Operaciones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962025" y="2366069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Requisito Funcional</a:t>
            </a:r>
            <a:endParaRPr/>
          </a:p>
        </p:txBody>
      </p:sp>
      <p:sp>
        <p:nvSpPr>
          <p:cNvPr id="350" name="Google Shape;350;p30"/>
          <p:cNvSpPr txBox="1"/>
          <p:nvPr/>
        </p:nvSpPr>
        <p:spPr>
          <a:xfrm>
            <a:off x="962025" y="2908994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 requiere que la máquina proyecte un mensaje definitivo en pantalla indicando de forma explícita si el estudiante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"GANO" o "PERDIO"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la asignatura matriculada.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6724650" y="2366069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Reglas de Negocio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6724650" y="2908994"/>
            <a:ext cx="450532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Capturar en memoria tres calificaciones.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El tipo de dato a utilizar es real.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• El sistema asume que la asignatura se gana si y solo si, el promedio matemático final es igual o superior a 3.</a:t>
            </a:r>
            <a:endParaRPr/>
          </a:p>
        </p:txBody>
      </p:sp>
      <p:pic>
        <p:nvPicPr>
          <p:cNvPr id="354" name="Google Shape;354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9150" y="5261669"/>
            <a:ext cx="10610850" cy="43041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0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Análisis: Aprobación Académica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" grpId="0"/>
      <p:bldP spid="349" grpId="0"/>
      <p:bldP spid="350" grpId="0"/>
      <p:bldP spid="351" grpId="0"/>
      <p:bldP spid="35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14800" y="976312"/>
            <a:ext cx="21345525" cy="7524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1"/>
          <p:cNvSpPr txBox="1"/>
          <p:nvPr/>
        </p:nvSpPr>
        <p:spPr>
          <a:xfrm>
            <a:off x="18611850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si</a:t>
            </a:r>
            <a:endParaRPr/>
          </a:p>
        </p:txBody>
      </p:sp>
      <p:sp>
        <p:nvSpPr>
          <p:cNvPr id="379" name="Google Shape;379;p31"/>
          <p:cNvSpPr txBox="1"/>
          <p:nvPr/>
        </p:nvSpPr>
        <p:spPr>
          <a:xfrm>
            <a:off x="19973925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BBF24"/>
                </a:solidFill>
                <a:latin typeface="Fira Code"/>
                <a:ea typeface="Fira Code"/>
                <a:cs typeface="Fira Code"/>
                <a:sym typeface="Fira Code"/>
              </a:rPr>
              <a:t>&gt;=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20602575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78BFA"/>
                </a:solidFill>
                <a:latin typeface="Fira Code"/>
                <a:ea typeface="Fira Code"/>
                <a:cs typeface="Fira Code"/>
                <a:sym typeface="Fira Code"/>
              </a:rPr>
              <a:t>imprima</a:t>
            </a:r>
            <a:endParaRPr/>
          </a:p>
        </p:txBody>
      </p:sp>
      <p:sp>
        <p:nvSpPr>
          <p:cNvPr id="381" name="Google Shape;381;p31"/>
          <p:cNvSpPr txBox="1"/>
          <p:nvPr/>
        </p:nvSpPr>
        <p:spPr>
          <a:xfrm>
            <a:off x="21440775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"GANO"</a:t>
            </a:r>
            <a:endParaRPr/>
          </a:p>
        </p:txBody>
      </p:sp>
      <p:sp>
        <p:nvSpPr>
          <p:cNvPr id="382" name="Google Shape;382;p31"/>
          <p:cNvSpPr txBox="1"/>
          <p:nvPr/>
        </p:nvSpPr>
        <p:spPr>
          <a:xfrm>
            <a:off x="22278975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sino</a:t>
            </a:r>
            <a:endParaRPr/>
          </a:p>
        </p:txBody>
      </p:sp>
      <p:sp>
        <p:nvSpPr>
          <p:cNvPr id="383" name="Google Shape;383;p31"/>
          <p:cNvSpPr txBox="1"/>
          <p:nvPr/>
        </p:nvSpPr>
        <p:spPr>
          <a:xfrm>
            <a:off x="22802850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78BFA"/>
                </a:solidFill>
                <a:latin typeface="Fira Code"/>
                <a:ea typeface="Fira Code"/>
                <a:cs typeface="Fira Code"/>
                <a:sym typeface="Fira Code"/>
              </a:rPr>
              <a:t>imprima</a:t>
            </a:r>
            <a:endParaRPr/>
          </a:p>
        </p:txBody>
      </p:sp>
      <p:sp>
        <p:nvSpPr>
          <p:cNvPr id="384" name="Google Shape;384;p31"/>
          <p:cNvSpPr txBox="1"/>
          <p:nvPr/>
        </p:nvSpPr>
        <p:spPr>
          <a:xfrm>
            <a:off x="23641050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A3E635"/>
                </a:solidFill>
                <a:latin typeface="Fira Code"/>
                <a:ea typeface="Fira Code"/>
                <a:cs typeface="Fira Code"/>
                <a:sym typeface="Fira Code"/>
              </a:rPr>
              <a:t>"PERDIO"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24688800" y="1233487"/>
            <a:ext cx="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472B6"/>
                </a:solidFill>
                <a:latin typeface="Fira Code"/>
                <a:ea typeface="Fira Code"/>
                <a:cs typeface="Fira Code"/>
                <a:sym typeface="Fira Code"/>
              </a:rPr>
              <a:t>finsi</a:t>
            </a:r>
            <a:endParaRPr/>
          </a:p>
        </p:txBody>
      </p:sp>
      <p:sp>
        <p:nvSpPr>
          <p:cNvPr id="386" name="Google Shape;386;p31"/>
          <p:cNvSpPr txBox="1"/>
          <p:nvPr/>
        </p:nvSpPr>
        <p:spPr>
          <a:xfrm>
            <a:off x="590550" y="341708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Ejemplo 2: Algoritmo de Evaluación y Promedio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939E-56AB-ACE0-869E-04CF386BD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40" y="1233487"/>
            <a:ext cx="11184721" cy="4973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3" name="Google Shape;393;p32"/>
          <p:cNvGraphicFramePr/>
          <p:nvPr/>
        </p:nvGraphicFramePr>
        <p:xfrm>
          <a:off x="571500" y="1952625"/>
          <a:ext cx="11039475" cy="3009875"/>
        </p:xfrm>
        <a:graphic>
          <a:graphicData uri="http://schemas.openxmlformats.org/drawingml/2006/table">
            <a:tbl>
              <a:tblPr firstRow="1" bandRow="1">
                <a:noFill/>
                <a:tableStyleId>{5BEEDECE-C257-4E95-8DDA-88DFFE34E03F}</a:tableStyleId>
              </a:tblPr>
              <a:tblGrid>
                <a:gridCol w="142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4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1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Nota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Nota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Nota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Memoria (Promedio)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Terminal (Salida)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2.333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PERDIO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4" name="Google Shape;394;p32"/>
          <p:cNvSpPr/>
          <p:nvPr/>
        </p:nvSpPr>
        <p:spPr>
          <a:xfrm>
            <a:off x="576262" y="2547937"/>
            <a:ext cx="142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/>
          <p:nvPr/>
        </p:nvSpPr>
        <p:spPr>
          <a:xfrm>
            <a:off x="2004417" y="2547937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2"/>
          <p:cNvSpPr/>
          <p:nvPr/>
        </p:nvSpPr>
        <p:spPr>
          <a:xfrm>
            <a:off x="3480941" y="2547937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2"/>
          <p:cNvSpPr/>
          <p:nvPr/>
        </p:nvSpPr>
        <p:spPr>
          <a:xfrm>
            <a:off x="4957464" y="2547937"/>
            <a:ext cx="3546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2"/>
          <p:cNvSpPr/>
          <p:nvPr/>
        </p:nvSpPr>
        <p:spPr>
          <a:xfrm>
            <a:off x="8503890" y="2547937"/>
            <a:ext cx="31118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2"/>
          <p:cNvSpPr/>
          <p:nvPr/>
        </p:nvSpPr>
        <p:spPr>
          <a:xfrm>
            <a:off x="576262" y="3148012"/>
            <a:ext cx="142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2"/>
          <p:cNvSpPr/>
          <p:nvPr/>
        </p:nvSpPr>
        <p:spPr>
          <a:xfrm>
            <a:off x="2004417" y="3148012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3480941" y="3148012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4957464" y="3148012"/>
            <a:ext cx="3546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8503890" y="3148012"/>
            <a:ext cx="31118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576262" y="3748087"/>
            <a:ext cx="142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2004417" y="3748087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3480941" y="3748087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4957464" y="3748087"/>
            <a:ext cx="3546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8503890" y="3748087"/>
            <a:ext cx="31118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576262" y="4348162"/>
            <a:ext cx="142815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2"/>
          <p:cNvSpPr/>
          <p:nvPr/>
        </p:nvSpPr>
        <p:spPr>
          <a:xfrm>
            <a:off x="2004417" y="4348162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2"/>
          <p:cNvSpPr/>
          <p:nvPr/>
        </p:nvSpPr>
        <p:spPr>
          <a:xfrm>
            <a:off x="3480941" y="4348162"/>
            <a:ext cx="14765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2"/>
          <p:cNvSpPr/>
          <p:nvPr/>
        </p:nvSpPr>
        <p:spPr>
          <a:xfrm>
            <a:off x="4957464" y="4348162"/>
            <a:ext cx="354642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8503890" y="4348162"/>
            <a:ext cx="31118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Tabla de Traza: Evaluación en Tiempo Real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3"/>
          <p:cNvSpPr/>
          <p:nvPr/>
        </p:nvSpPr>
        <p:spPr>
          <a:xfrm>
            <a:off x="5524500" y="270510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 txBox="1"/>
          <p:nvPr/>
        </p:nvSpPr>
        <p:spPr>
          <a:xfrm>
            <a:off x="1045368" y="3048000"/>
            <a:ext cx="1010126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IV. Reglas del Laboratorio Virtual</a:t>
            </a:r>
            <a:endParaRPr/>
          </a:p>
        </p:txBody>
      </p:sp>
      <p:sp>
        <p:nvSpPr>
          <p:cNvPr id="422" name="Google Shape;422;p33"/>
          <p:cNvSpPr txBox="1"/>
          <p:nvPr/>
        </p:nvSpPr>
        <p:spPr>
          <a:xfrm>
            <a:off x="3343275" y="4095750"/>
            <a:ext cx="55054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Estandarización requerida por la plataforma evaluadora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4"/>
          <p:cNvSpPr txBox="1"/>
          <p:nvPr/>
        </p:nvSpPr>
        <p:spPr>
          <a:xfrm>
            <a:off x="1264319" y="1969352"/>
            <a:ext cx="904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Prohibidos Textos Decorativos: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El juez inyecta valores crudos en memoria. Jamás uses instrucciones como imprima("Ingrese nota") antes de un lea. Anulará la prueba.</a:t>
            </a:r>
            <a:endParaRPr sz="1800"/>
          </a:p>
        </p:txBody>
      </p:sp>
      <p:sp>
        <p:nvSpPr>
          <p:cNvPr id="429" name="Google Shape;429;p34"/>
          <p:cNvSpPr txBox="1"/>
          <p:nvPr/>
        </p:nvSpPr>
        <p:spPr>
          <a:xfrm>
            <a:off x="1264319" y="2798027"/>
            <a:ext cx="904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Cuidado con Salidas Exactas: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Si el requerimiento pide "GANO", imprimir "Gano" o "Ganó " provocará un error de validación de caracteres.</a:t>
            </a:r>
            <a:endParaRPr sz="1800"/>
          </a:p>
        </p:txBody>
      </p:sp>
      <p:sp>
        <p:nvSpPr>
          <p:cNvPr id="430" name="Google Shape;430;p34"/>
          <p:cNvSpPr txBox="1"/>
          <p:nvPr/>
        </p:nvSpPr>
        <p:spPr>
          <a:xfrm>
            <a:off x="1264319" y="3607652"/>
            <a:ext cx="904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Tipado Previo: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diferencia de otros lenguajes, en LogiCode es imperativo construir la variable y su tipo (entero, real) en las cabeceras.</a:t>
            </a:r>
            <a:endParaRPr sz="1800"/>
          </a:p>
        </p:txBody>
      </p:sp>
      <p:sp>
        <p:nvSpPr>
          <p:cNvPr id="431" name="Google Shape;431;p34"/>
          <p:cNvSpPr txBox="1"/>
          <p:nvPr/>
        </p:nvSpPr>
        <p:spPr>
          <a:xfrm>
            <a:off x="1264319" y="4417277"/>
            <a:ext cx="90487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= vs ==:</a:t>
            </a: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Utiliza siempre doble igual (==) dentro de las condiciones para comparar. Un igual simple sobrescribirá el valor.</a:t>
            </a:r>
            <a:endParaRPr sz="1800"/>
          </a:p>
        </p:txBody>
      </p:sp>
      <p:pic>
        <p:nvPicPr>
          <p:cNvPr id="432" name="Google Shape;432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8069" y="198364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069" y="281231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8069" y="362194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3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8069" y="4431565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Advertencias para el Juez de Código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" grpId="0"/>
      <p:bldP spid="429" grpId="0"/>
      <p:bldP spid="430" grpId="0"/>
      <p:bldP spid="4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5"/>
          <p:cNvSpPr/>
          <p:nvPr/>
        </p:nvSpPr>
        <p:spPr>
          <a:xfrm>
            <a:off x="5524500" y="2705100"/>
            <a:ext cx="1143000" cy="5715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2695575" y="3048000"/>
            <a:ext cx="6800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V. Práctica Autónoma</a:t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3743325" y="4095750"/>
            <a:ext cx="4705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Abre el editor LogiCode y aplica tus habilidades.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95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6"/>
          <p:cNvSpPr txBox="1"/>
          <p:nvPr/>
        </p:nvSpPr>
        <p:spPr>
          <a:xfrm>
            <a:off x="571500" y="22907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Requerimiento del Negocio</a:t>
            </a:r>
            <a:endParaRPr/>
          </a:p>
        </p:txBody>
      </p:sp>
      <p:sp>
        <p:nvSpPr>
          <p:cNvPr id="451" name="Google Shape;451;p36"/>
          <p:cNvSpPr txBox="1"/>
          <p:nvPr/>
        </p:nvSpPr>
        <p:spPr>
          <a:xfrm>
            <a:off x="571500" y="28336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Otorga un mensaje promocional exclusivamente a compras de alto nivel.</a:t>
            </a:r>
            <a:endParaRPr/>
          </a:p>
        </p:txBody>
      </p:sp>
      <p:sp>
        <p:nvSpPr>
          <p:cNvPr id="452" name="Google Shape;452;p36"/>
          <p:cNvSpPr txBox="1"/>
          <p:nvPr/>
        </p:nvSpPr>
        <p:spPr>
          <a:xfrm>
            <a:off x="571500" y="354806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Construye una variable real para el total.</a:t>
            </a:r>
            <a:endParaRPr/>
          </a:p>
        </p:txBody>
      </p:sp>
      <p:sp>
        <p:nvSpPr>
          <p:cNvPr id="453" name="Google Shape;453;p36"/>
          <p:cNvSpPr txBox="1"/>
          <p:nvPr/>
        </p:nvSpPr>
        <p:spPr>
          <a:xfrm>
            <a:off x="571500" y="39957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Lee el monto inyectado por el sistema.</a:t>
            </a:r>
            <a:endParaRPr/>
          </a:p>
        </p:txBody>
      </p:sp>
      <p:sp>
        <p:nvSpPr>
          <p:cNvPr id="454" name="Google Shape;454;p36"/>
          <p:cNvSpPr txBox="1"/>
          <p:nvPr/>
        </p:nvSpPr>
        <p:spPr>
          <a:xfrm>
            <a:off x="571500" y="442436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Si el total supera estrictamente la marca de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100000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imprime: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Aplica descuento VIP</a:t>
            </a:r>
            <a:endParaRPr/>
          </a:p>
        </p:txBody>
      </p:sp>
      <p:sp>
        <p:nvSpPr>
          <p:cNvPr id="455" name="Google Shape;455;p36"/>
          <p:cNvSpPr txBox="1"/>
          <p:nvPr/>
        </p:nvSpPr>
        <p:spPr>
          <a:xfrm>
            <a:off x="571500" y="513873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4. Si no la supera, ignora la operación y no imprimas nada.</a:t>
            </a:r>
            <a:endParaRPr/>
          </a:p>
        </p:txBody>
      </p:sp>
      <p:sp>
        <p:nvSpPr>
          <p:cNvPr id="456" name="Google Shape;456;p36"/>
          <p:cNvSpPr txBox="1"/>
          <p:nvPr/>
        </p:nvSpPr>
        <p:spPr>
          <a:xfrm>
            <a:off x="6334125" y="22907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Casos del Juez</a:t>
            </a:r>
            <a:endParaRPr/>
          </a:p>
        </p:txBody>
      </p:sp>
      <p:graphicFrame>
        <p:nvGraphicFramePr>
          <p:cNvPr id="457" name="Google Shape;457;p36"/>
          <p:cNvGraphicFramePr/>
          <p:nvPr/>
        </p:nvGraphicFramePr>
        <p:xfrm>
          <a:off x="6334125" y="2833687"/>
          <a:ext cx="5276850" cy="2409800"/>
        </p:xfrm>
        <a:graphic>
          <a:graphicData uri="http://schemas.openxmlformats.org/drawingml/2006/table">
            <a:tbl>
              <a:tblPr firstRow="1" bandRow="1">
                <a:noFill/>
                <a:tableStyleId>{5BEEDECE-C257-4E95-8DDA-88DFFE34E03F}</a:tableStyleId>
              </a:tblPr>
              <a:tblGrid>
                <a:gridCol w="20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Inyector (lea)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Expectativa (imprima)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150000.0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Aplica descuento VIP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80000.5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(Finaliza proceso)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100000.0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1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(Finaliza proceso)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8" name="Google Shape;458;p36"/>
          <p:cNvSpPr/>
          <p:nvPr/>
        </p:nvSpPr>
        <p:spPr>
          <a:xfrm>
            <a:off x="6338887" y="3429000"/>
            <a:ext cx="2089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6"/>
          <p:cNvSpPr/>
          <p:nvPr/>
        </p:nvSpPr>
        <p:spPr>
          <a:xfrm>
            <a:off x="8427987" y="3429000"/>
            <a:ext cx="3187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6"/>
          <p:cNvSpPr/>
          <p:nvPr/>
        </p:nvSpPr>
        <p:spPr>
          <a:xfrm>
            <a:off x="6338887" y="4029075"/>
            <a:ext cx="2089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6"/>
          <p:cNvSpPr/>
          <p:nvPr/>
        </p:nvSpPr>
        <p:spPr>
          <a:xfrm>
            <a:off x="8427987" y="4029075"/>
            <a:ext cx="3187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6"/>
          <p:cNvSpPr/>
          <p:nvPr/>
        </p:nvSpPr>
        <p:spPr>
          <a:xfrm>
            <a:off x="6338887" y="4629150"/>
            <a:ext cx="2089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6"/>
          <p:cNvSpPr/>
          <p:nvPr/>
        </p:nvSpPr>
        <p:spPr>
          <a:xfrm>
            <a:off x="8427987" y="4629150"/>
            <a:ext cx="3187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Descuento en Tienda (Condicional Simple)</a:t>
            </a:r>
            <a:endParaRPr/>
          </a:p>
        </p:txBody>
      </p:sp>
      <p:sp>
        <p:nvSpPr>
          <p:cNvPr id="465" name="Google Shape;465;p36"/>
          <p:cNvSpPr/>
          <p:nvPr/>
        </p:nvSpPr>
        <p:spPr>
          <a:xfrm>
            <a:off x="11172825" y="0"/>
            <a:ext cx="10191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11401425" y="76200"/>
            <a:ext cx="5619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1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" grpId="0"/>
      <p:bldP spid="451" grpId="0"/>
      <p:bldP spid="452" grpId="0"/>
      <p:bldP spid="453" grpId="0"/>
      <p:bldP spid="454" grpId="0"/>
      <p:bldP spid="455" grpId="0"/>
      <p:bldP spid="456" grpId="0"/>
      <p:bldP spid="458" grpId="0" animBg="1"/>
      <p:bldP spid="459" grpId="0" animBg="1"/>
      <p:bldP spid="460" grpId="0" animBg="1"/>
      <p:bldP spid="461" grpId="0" animBg="1"/>
      <p:bldP spid="462" grpId="0" animBg="1"/>
      <p:bldP spid="46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7"/>
          <p:cNvSpPr txBox="1"/>
          <p:nvPr/>
        </p:nvSpPr>
        <p:spPr>
          <a:xfrm>
            <a:off x="571500" y="24526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Requerimiento del Negocio</a:t>
            </a:r>
            <a:endParaRPr/>
          </a:p>
        </p:txBody>
      </p:sp>
      <p:sp>
        <p:nvSpPr>
          <p:cNvPr id="473" name="Google Shape;473;p37"/>
          <p:cNvSpPr txBox="1"/>
          <p:nvPr/>
        </p:nvSpPr>
        <p:spPr>
          <a:xfrm>
            <a:off x="571500" y="2995612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 escáner procesa la temperatura y decide la contingencia.</a:t>
            </a:r>
            <a:endParaRPr/>
          </a:p>
        </p:txBody>
      </p:sp>
      <p:sp>
        <p:nvSpPr>
          <p:cNvPr id="474" name="Google Shape;474;p37"/>
          <p:cNvSpPr txBox="1"/>
          <p:nvPr/>
        </p:nvSpPr>
        <p:spPr>
          <a:xfrm>
            <a:off x="571500" y="34242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Lee el valor capturado real.</a:t>
            </a:r>
            <a:endParaRPr/>
          </a:p>
        </p:txBody>
      </p:sp>
      <p:sp>
        <p:nvSpPr>
          <p:cNvPr id="475" name="Google Shape;475;p37"/>
          <p:cNvSpPr txBox="1"/>
          <p:nvPr/>
        </p:nvSpPr>
        <p:spPr>
          <a:xfrm>
            <a:off x="571500" y="3871912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Si el grado térmico excede los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37.5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, alerta con el texto: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Paciente con fiebre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76" name="Google Shape;476;p37"/>
          <p:cNvSpPr txBox="1"/>
          <p:nvPr/>
        </p:nvSpPr>
        <p:spPr>
          <a:xfrm>
            <a:off x="571500" y="4586287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En caso opuesto (y sin agregar más condiciones lógicas), notifica normalidad: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Paciente estable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477" name="Google Shape;477;p37"/>
          <p:cNvSpPr txBox="1"/>
          <p:nvPr/>
        </p:nvSpPr>
        <p:spPr>
          <a:xfrm>
            <a:off x="6334125" y="2452687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Casos del Juez</a:t>
            </a:r>
            <a:endParaRPr/>
          </a:p>
        </p:txBody>
      </p:sp>
      <p:graphicFrame>
        <p:nvGraphicFramePr>
          <p:cNvPr id="478" name="Google Shape;478;p37"/>
          <p:cNvGraphicFramePr/>
          <p:nvPr/>
        </p:nvGraphicFramePr>
        <p:xfrm>
          <a:off x="6334125" y="2995612"/>
          <a:ext cx="5276850" cy="2409800"/>
        </p:xfrm>
        <a:graphic>
          <a:graphicData uri="http://schemas.openxmlformats.org/drawingml/2006/table">
            <a:tbl>
              <a:tblPr firstRow="1" bandRow="1">
                <a:noFill/>
                <a:tableStyleId>{5BEEDECE-C257-4E95-8DDA-88DFFE34E03F}</a:tableStyleId>
              </a:tblPr>
              <a:tblGrid>
                <a:gridCol w="2089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Inyector (lea)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Expectativa (imprima)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38.2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Paciente con fiebre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36.5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Paciente estable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2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37.5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Paciente estable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9" name="Google Shape;479;p37"/>
          <p:cNvSpPr/>
          <p:nvPr/>
        </p:nvSpPr>
        <p:spPr>
          <a:xfrm>
            <a:off x="6338887" y="3590925"/>
            <a:ext cx="2089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7"/>
          <p:cNvSpPr/>
          <p:nvPr/>
        </p:nvSpPr>
        <p:spPr>
          <a:xfrm>
            <a:off x="8427987" y="3590925"/>
            <a:ext cx="3187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7"/>
          <p:cNvSpPr/>
          <p:nvPr/>
        </p:nvSpPr>
        <p:spPr>
          <a:xfrm>
            <a:off x="6338887" y="4191000"/>
            <a:ext cx="2089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/>
          <p:nvPr/>
        </p:nvSpPr>
        <p:spPr>
          <a:xfrm>
            <a:off x="8427987" y="4191000"/>
            <a:ext cx="3187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7"/>
          <p:cNvSpPr/>
          <p:nvPr/>
        </p:nvSpPr>
        <p:spPr>
          <a:xfrm>
            <a:off x="6338887" y="4791075"/>
            <a:ext cx="20891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/>
          <p:nvPr/>
        </p:nvSpPr>
        <p:spPr>
          <a:xfrm>
            <a:off x="8427987" y="4791075"/>
            <a:ext cx="31877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Sensor Clínico (Condicional Doble)</a:t>
            </a:r>
            <a:endParaRPr/>
          </a:p>
        </p:txBody>
      </p:sp>
      <p:sp>
        <p:nvSpPr>
          <p:cNvPr id="486" name="Google Shape;486;p37"/>
          <p:cNvSpPr/>
          <p:nvPr/>
        </p:nvSpPr>
        <p:spPr>
          <a:xfrm>
            <a:off x="11134725" y="0"/>
            <a:ext cx="10572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7"/>
          <p:cNvSpPr txBox="1"/>
          <p:nvPr/>
        </p:nvSpPr>
        <p:spPr>
          <a:xfrm>
            <a:off x="11363325" y="76200"/>
            <a:ext cx="6000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2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" grpId="0"/>
      <p:bldP spid="473" grpId="0"/>
      <p:bldP spid="474" grpId="0"/>
      <p:bldP spid="475" grpId="0"/>
      <p:bldP spid="476" grpId="0"/>
      <p:bldP spid="477" grpId="0"/>
      <p:bldP spid="479" grpId="0" animBg="1"/>
      <p:bldP spid="480" grpId="0" animBg="1"/>
      <p:bldP spid="481" grpId="0" animBg="1"/>
      <p:bldP spid="482" grpId="0" animBg="1"/>
      <p:bldP spid="483" grpId="0" animBg="1"/>
      <p:bldP spid="48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571500" y="20240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Requerimiento del Negocio</a:t>
            </a:r>
            <a:endParaRPr/>
          </a:p>
        </p:txBody>
      </p:sp>
      <p:sp>
        <p:nvSpPr>
          <p:cNvPr id="494" name="Google Shape;494;p38"/>
          <p:cNvSpPr txBox="1"/>
          <p:nvPr/>
        </p:nvSpPr>
        <p:spPr>
          <a:xfrm>
            <a:off x="571500" y="2566987"/>
            <a:ext cx="52863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Filtra cuál de dos valores enteros es jerárquicamente superior.</a:t>
            </a:r>
            <a:endParaRPr/>
          </a:p>
        </p:txBody>
      </p:sp>
      <p:sp>
        <p:nvSpPr>
          <p:cNvPr id="495" name="Google Shape;495;p38"/>
          <p:cNvSpPr txBox="1"/>
          <p:nvPr/>
        </p:nvSpPr>
        <p:spPr>
          <a:xfrm>
            <a:off x="571500" y="2995612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1. Construye y lee dos variables entero.</a:t>
            </a:r>
            <a:endParaRPr/>
          </a:p>
        </p:txBody>
      </p:sp>
      <p:sp>
        <p:nvSpPr>
          <p:cNvPr id="496" name="Google Shape;496;p38"/>
          <p:cNvSpPr txBox="1"/>
          <p:nvPr/>
        </p:nvSpPr>
        <p:spPr>
          <a:xfrm>
            <a:off x="571500" y="344328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2. Haz que el si confronte cuál de ellas es mayor.</a:t>
            </a:r>
            <a:endParaRPr/>
          </a:p>
        </p:txBody>
      </p:sp>
      <p:sp>
        <p:nvSpPr>
          <p:cNvPr id="497" name="Google Shape;497;p38"/>
          <p:cNvSpPr txBox="1"/>
          <p:nvPr/>
        </p:nvSpPr>
        <p:spPr>
          <a:xfrm>
            <a:off x="571500" y="38909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3.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Reto: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Debes imprimir ÚNICAMENTE la variable que haya resultado ganadora. Prohibido concatener textos estáticos como "El mayor es...".</a:t>
            </a:r>
            <a:endParaRPr/>
          </a:p>
        </p:txBody>
      </p:sp>
      <p:sp>
        <p:nvSpPr>
          <p:cNvPr id="498" name="Google Shape;498;p38"/>
          <p:cNvSpPr txBox="1"/>
          <p:nvPr/>
        </p:nvSpPr>
        <p:spPr>
          <a:xfrm>
            <a:off x="6334125" y="2024062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Casos del </a:t>
            </a:r>
            <a:r>
              <a:rPr lang="en-US" sz="2100" b="0" i="0" u="none" strike="noStrike" cap="none" dirty="0" err="1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Juez</a:t>
            </a:r>
            <a:endParaRPr dirty="0"/>
          </a:p>
        </p:txBody>
      </p:sp>
      <p:sp>
        <p:nvSpPr>
          <p:cNvPr id="506" name="Google Shape;506;p3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Variable Dinámica (Condicional Doble)</a:t>
            </a:r>
            <a:endParaRPr/>
          </a:p>
        </p:txBody>
      </p:sp>
      <p:sp>
        <p:nvSpPr>
          <p:cNvPr id="507" name="Google Shape;507;p38"/>
          <p:cNvSpPr/>
          <p:nvPr/>
        </p:nvSpPr>
        <p:spPr>
          <a:xfrm>
            <a:off x="11134725" y="0"/>
            <a:ext cx="1057275" cy="3905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8"/>
          <p:cNvSpPr txBox="1"/>
          <p:nvPr/>
        </p:nvSpPr>
        <p:spPr>
          <a:xfrm>
            <a:off x="11363325" y="76200"/>
            <a:ext cx="6000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RETO 3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1F9B43-7B34-C61E-3B89-1B4F1F18E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791" y="2389295"/>
            <a:ext cx="5077534" cy="32294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" grpId="0"/>
      <p:bldP spid="494" grpId="0"/>
      <p:bldP spid="495" grpId="0"/>
      <p:bldP spid="496" grpId="0"/>
      <p:bldP spid="497" grpId="0"/>
      <p:bldP spid="49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40"/>
          <p:cNvSpPr txBox="1"/>
          <p:nvPr/>
        </p:nvSpPr>
        <p:spPr>
          <a:xfrm>
            <a:off x="295275" y="231933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¡Manos a la obra!</a:t>
            </a:r>
            <a:endParaRPr/>
          </a:p>
        </p:txBody>
      </p:sp>
      <p:sp>
        <p:nvSpPr>
          <p:cNvPr id="529" name="Google Shape;529;p40"/>
          <p:cNvSpPr txBox="1"/>
          <p:nvPr/>
        </p:nvSpPr>
        <p:spPr>
          <a:xfrm>
            <a:off x="571500" y="3652837"/>
            <a:ext cx="11049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entorno de pruebas LogiCode se encuentra activo.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95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Utilicen las tablas de traza mostradas para validar su lógica antes de enviar.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1600</Words>
  <Application>Microsoft Office PowerPoint</Application>
  <PresentationFormat>Panorámica</PresentationFormat>
  <Paragraphs>187</Paragraphs>
  <Slides>28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Fira Code</vt:lpstr>
      <vt:lpstr>Poppins SemiBold</vt:lpstr>
      <vt:lpstr>Calibri</vt:lpstr>
      <vt:lpstr>Lato</vt:lpstr>
      <vt:lpstr>Poppins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Sebastian Montoya Villada</cp:lastModifiedBy>
  <cp:revision>2</cp:revision>
  <dcterms:modified xsi:type="dcterms:W3CDTF">2026-03-09T03:25:33Z</dcterms:modified>
</cp:coreProperties>
</file>