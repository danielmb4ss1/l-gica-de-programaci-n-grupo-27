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embeddedFontLst>
    <p:embeddedFont>
      <p:font typeface="Fira Code" panose="020B0809050000020004" pitchFamily="49" charset="0"/>
      <p:regular r:id="rId20"/>
      <p:bold r:id="rId21"/>
    </p:embeddedFont>
    <p:embeddedFont>
      <p:font typeface="Lato" panose="020F0502020204030203" pitchFamily="34" charset="0"/>
      <p:regular r:id="rId22"/>
      <p:bold r:id="rId23"/>
      <p:italic r:id="rId24"/>
      <p:boldItalic r:id="rId25"/>
    </p:embeddedFont>
    <p:embeddedFont>
      <p:font typeface="Poppins" panose="00000500000000000000" pitchFamily="2" charset="0"/>
      <p:regular r:id="rId26"/>
      <p:bold r:id="rId27"/>
      <p:italic r:id="rId28"/>
      <p:boldItalic r:id="rId29"/>
    </p:embeddedFont>
    <p:embeddedFont>
      <p:font typeface="Poppins SemiBold" panose="00000700000000000000" pitchFamily="2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B523DCD-A577-4A6F-8DD2-EBF437873279}">
  <a:tblStyle styleId="{4B523DCD-A577-4A6F-8DD2-EBF43787327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21" Type="http://schemas.openxmlformats.org/officeDocument/2006/relationships/font" Target="fonts/font2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27.png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7375" y="1695450"/>
            <a:ext cx="8572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260395" y="2695575"/>
            <a:ext cx="9671208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02855"/>
                </a:solidFill>
                <a:latin typeface="Poppins"/>
                <a:ea typeface="Poppins"/>
                <a:cs typeface="Poppins"/>
                <a:sym typeface="Poppins"/>
              </a:rPr>
              <a:t>Sucesiones en Programación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286000" y="3790950"/>
            <a:ext cx="76200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 arte de traducir patrones matemáticos en algoritmos repetitivos estructurados.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524500" y="4819650"/>
            <a:ext cx="1143000" cy="57150"/>
          </a:xfrm>
          <a:prstGeom prst="rect">
            <a:avLst/>
          </a:prstGeom>
          <a:solidFill>
            <a:srgbClr val="003B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/>
        </p:nvSpPr>
        <p:spPr>
          <a:xfrm>
            <a:off x="571500" y="47625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855"/>
                </a:solidFill>
                <a:latin typeface="Poppins"/>
                <a:ea typeface="Poppins"/>
                <a:cs typeface="Poppins"/>
                <a:sym typeface="Poppins"/>
              </a:rPr>
              <a:t>El Plan de Hoy: De Analista a Programador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1190625" y="2557462"/>
            <a:ext cx="104298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002855"/>
                </a:solidFill>
                <a:latin typeface="Lato"/>
                <a:ea typeface="Lato"/>
                <a:cs typeface="Lato"/>
                <a:sym typeface="Lato"/>
              </a:rPr>
              <a:t>¿</a:t>
            </a:r>
            <a:r>
              <a:rPr lang="en-US" sz="1425" b="1" i="0" u="none" strike="noStrike" cap="none" dirty="0" err="1">
                <a:solidFill>
                  <a:srgbClr val="002855"/>
                </a:solidFill>
                <a:latin typeface="Lato"/>
                <a:ea typeface="Lato"/>
                <a:cs typeface="Lato"/>
                <a:sym typeface="Lato"/>
              </a:rPr>
              <a:t>Qué</a:t>
            </a:r>
            <a:r>
              <a:rPr lang="en-US" sz="1425" b="1" i="0" u="none" strike="noStrike" cap="none" dirty="0">
                <a:solidFill>
                  <a:srgbClr val="002855"/>
                </a:solidFill>
                <a:latin typeface="Lato"/>
                <a:ea typeface="Lato"/>
                <a:cs typeface="Lato"/>
                <a:sym typeface="Lato"/>
              </a:rPr>
              <a:t> es </a:t>
            </a:r>
            <a:r>
              <a:rPr lang="en-US" sz="1425" b="1" i="0" u="none" strike="noStrike" cap="none" dirty="0" err="1">
                <a:solidFill>
                  <a:srgbClr val="002855"/>
                </a:solidFill>
                <a:latin typeface="Lato"/>
                <a:ea typeface="Lato"/>
                <a:cs typeface="Lato"/>
                <a:sym typeface="Lato"/>
              </a:rPr>
              <a:t>una</a:t>
            </a:r>
            <a:r>
              <a:rPr lang="en-US" sz="1425" b="1" i="0" u="none" strike="noStrike" cap="none" dirty="0">
                <a:solidFill>
                  <a:srgbClr val="0028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1" i="0" u="none" strike="noStrike" cap="none" dirty="0" err="1">
                <a:solidFill>
                  <a:srgbClr val="002855"/>
                </a:solidFill>
                <a:latin typeface="Lato"/>
                <a:ea typeface="Lato"/>
                <a:cs typeface="Lato"/>
                <a:sym typeface="Lato"/>
              </a:rPr>
              <a:t>Sucesión</a:t>
            </a:r>
            <a:r>
              <a:rPr lang="en-US" sz="1425" b="1" i="0" u="none" strike="noStrike" cap="none" dirty="0">
                <a:solidFill>
                  <a:srgbClr val="002855"/>
                </a:solidFill>
                <a:latin typeface="Lato"/>
                <a:ea typeface="Lato"/>
                <a:cs typeface="Lato"/>
                <a:sym typeface="Lato"/>
              </a:rPr>
              <a:t>?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Entenderemos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concepto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desde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lógica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y las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matemáticas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94" name="Google Shape;94;p14"/>
          <p:cNvSpPr txBox="1"/>
          <p:nvPr/>
        </p:nvSpPr>
        <p:spPr>
          <a:xfrm>
            <a:off x="1190625" y="3019425"/>
            <a:ext cx="104298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 err="1">
                <a:solidFill>
                  <a:srgbClr val="002855"/>
                </a:solidFill>
                <a:latin typeface="Lato"/>
                <a:ea typeface="Lato"/>
                <a:cs typeface="Lato"/>
                <a:sym typeface="Lato"/>
              </a:rPr>
              <a:t>Sucesiones</a:t>
            </a:r>
            <a:r>
              <a:rPr lang="en-US" sz="1425" b="1" i="0" u="none" strike="noStrike" cap="none" dirty="0">
                <a:solidFill>
                  <a:srgbClr val="0028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1" i="0" u="none" strike="noStrike" cap="none" dirty="0" err="1">
                <a:solidFill>
                  <a:srgbClr val="002855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1425" b="1" i="0" u="none" strike="noStrike" cap="none" dirty="0">
                <a:solidFill>
                  <a:srgbClr val="0028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1" i="0" u="none" strike="noStrike" cap="none" dirty="0" err="1">
                <a:solidFill>
                  <a:srgbClr val="002855"/>
                </a:solidFill>
                <a:latin typeface="Lato"/>
                <a:ea typeface="Lato"/>
                <a:cs typeface="Lato"/>
                <a:sym typeface="Lato"/>
              </a:rPr>
              <a:t>Programación</a:t>
            </a:r>
            <a:r>
              <a:rPr lang="en-US" sz="1425" b="1" i="0" u="none" strike="noStrike" cap="none" dirty="0">
                <a:solidFill>
                  <a:srgbClr val="002855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Descubriremos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cómo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un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bucle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puede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replicar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cualquier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patrón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matemático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95" name="Google Shape;95;p14"/>
          <p:cNvSpPr txBox="1"/>
          <p:nvPr/>
        </p:nvSpPr>
        <p:spPr>
          <a:xfrm>
            <a:off x="1190625" y="3481387"/>
            <a:ext cx="104298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 err="1">
                <a:solidFill>
                  <a:srgbClr val="002855"/>
                </a:solidFill>
                <a:latin typeface="Lato"/>
                <a:ea typeface="Lato"/>
                <a:cs typeface="Lato"/>
                <a:sym typeface="Lato"/>
              </a:rPr>
              <a:t>Análisis</a:t>
            </a:r>
            <a:r>
              <a:rPr lang="en-US" sz="1425" b="1" i="0" u="none" strike="noStrike" cap="none" dirty="0">
                <a:solidFill>
                  <a:srgbClr val="002855"/>
                </a:solidFill>
                <a:latin typeface="Lato"/>
                <a:ea typeface="Lato"/>
                <a:cs typeface="Lato"/>
                <a:sym typeface="Lato"/>
              </a:rPr>
              <a:t> Manual: El Paso Clave.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Aprenderemos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"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desarmar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sucesión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para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entender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sus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reglas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antes de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escribir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sola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línea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código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96" name="Google Shape;96;p14"/>
          <p:cNvSpPr txBox="1"/>
          <p:nvPr/>
        </p:nvSpPr>
        <p:spPr>
          <a:xfrm>
            <a:off x="1190625" y="4214812"/>
            <a:ext cx="104298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002855"/>
                </a:solidFill>
                <a:latin typeface="Lato"/>
                <a:ea typeface="Lato"/>
                <a:cs typeface="Lato"/>
                <a:sym typeface="Lato"/>
              </a:rPr>
              <a:t>La </a:t>
            </a:r>
            <a:r>
              <a:rPr lang="en-US" sz="1425" b="1" i="0" u="none" strike="noStrike" cap="none" dirty="0" err="1">
                <a:solidFill>
                  <a:srgbClr val="002855"/>
                </a:solidFill>
                <a:latin typeface="Lato"/>
                <a:ea typeface="Lato"/>
                <a:cs typeface="Lato"/>
                <a:sym typeface="Lato"/>
              </a:rPr>
              <a:t>Herramienta</a:t>
            </a:r>
            <a:r>
              <a:rPr lang="en-US" sz="1425" b="1" i="0" u="none" strike="noStrike" cap="none" dirty="0">
                <a:solidFill>
                  <a:srgbClr val="0028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1" i="0" u="none" strike="noStrike" cap="none" dirty="0" err="1">
                <a:solidFill>
                  <a:srgbClr val="002855"/>
                </a:solidFill>
                <a:latin typeface="Lato"/>
                <a:ea typeface="Lato"/>
                <a:cs typeface="Lato"/>
                <a:sym typeface="Lato"/>
              </a:rPr>
              <a:t>Esencial</a:t>
            </a:r>
            <a:r>
              <a:rPr lang="en-US" sz="1425" b="1" i="0" u="none" strike="noStrike" cap="none" dirty="0">
                <a:solidFill>
                  <a:srgbClr val="002855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Cómo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bucle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`PARA` se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convierte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motor para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generar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términos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97" name="Google Shape;97;p14"/>
          <p:cNvSpPr txBox="1"/>
          <p:nvPr/>
        </p:nvSpPr>
        <p:spPr>
          <a:xfrm>
            <a:off x="1190625" y="4676775"/>
            <a:ext cx="104298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002855"/>
                </a:solidFill>
                <a:latin typeface="Lato"/>
                <a:ea typeface="Lato"/>
                <a:cs typeface="Lato"/>
                <a:sym typeface="Lato"/>
              </a:rPr>
              <a:t>Casos de </a:t>
            </a:r>
            <a:r>
              <a:rPr lang="en-US" sz="1425" b="1" i="0" u="none" strike="noStrike" cap="none" dirty="0" err="1">
                <a:solidFill>
                  <a:srgbClr val="002855"/>
                </a:solidFill>
                <a:latin typeface="Lato"/>
                <a:ea typeface="Lato"/>
                <a:cs typeface="Lato"/>
                <a:sym typeface="Lato"/>
              </a:rPr>
              <a:t>Estudio</a:t>
            </a:r>
            <a:r>
              <a:rPr lang="en-US" sz="1425" b="1" i="0" u="none" strike="noStrike" cap="none" dirty="0">
                <a:solidFill>
                  <a:srgbClr val="002855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Aplicaremos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este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método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para resolver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problemas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reales de la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plataforma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98" name="Google Shape;98;p14"/>
          <p:cNvSpPr txBox="1"/>
          <p:nvPr/>
        </p:nvSpPr>
        <p:spPr>
          <a:xfrm>
            <a:off x="762000" y="2538412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62000" y="3000375"/>
            <a:ext cx="95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762000" y="3462337"/>
            <a:ext cx="95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762000" y="4195762"/>
            <a:ext cx="1047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762000" y="4657725"/>
            <a:ext cx="95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/>
      <p:bldP spid="94" grpId="0"/>
      <p:bldP spid="95" grpId="0"/>
      <p:bldP spid="96" grpId="0"/>
      <p:bldP spid="9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952750"/>
            <a:ext cx="3492549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799" y="2952750"/>
            <a:ext cx="3492549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8099" y="2952750"/>
            <a:ext cx="3492549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571500" y="47625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855"/>
                </a:solidFill>
                <a:latin typeface="Poppins"/>
                <a:ea typeface="Poppins"/>
                <a:cs typeface="Poppins"/>
                <a:sym typeface="Poppins"/>
              </a:rPr>
              <a:t>Paso 1: ¿Qué es una Sucesión?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571500" y="1457325"/>
            <a:ext cx="11049000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Una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sucesión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o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serie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es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simplemente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un conjunto de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números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siguen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un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orden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una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regla</a:t>
            </a:r>
            <a:r>
              <a:rPr lang="en-US" sz="165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específica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Cada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número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secuencia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 llama "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término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".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 clave para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entender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una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sucesión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es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encontrar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patrón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conecta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un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término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con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siguiente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12" name="Google Shape;112;p15"/>
          <p:cNvSpPr txBox="1"/>
          <p:nvPr/>
        </p:nvSpPr>
        <p:spPr>
          <a:xfrm>
            <a:off x="571500" y="5600700"/>
            <a:ext cx="1104900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todos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casos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conocemos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regla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podemos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predecir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cuál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será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siguiente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término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Esa es la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esencia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13" name="Google Shape;113;p15"/>
          <p:cNvSpPr txBox="1"/>
          <p:nvPr/>
        </p:nvSpPr>
        <p:spPr>
          <a:xfrm>
            <a:off x="819150" y="3295650"/>
            <a:ext cx="2997249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2855"/>
                </a:solidFill>
                <a:latin typeface="Fira Code"/>
                <a:ea typeface="Fira Code"/>
                <a:cs typeface="Fira Code"/>
                <a:sym typeface="Fira Code"/>
              </a:rPr>
              <a:t>2, 4, 6, 8,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 b="1" i="0" u="none" strike="noStrike" cap="none" dirty="0">
                <a:solidFill>
                  <a:srgbClr val="002855"/>
                </a:solidFill>
                <a:latin typeface="Fira Code"/>
                <a:ea typeface="Fira Code"/>
                <a:cs typeface="Fira Code"/>
                <a:sym typeface="Fira Code"/>
              </a:rPr>
              <a:t> ...</a:t>
            </a:r>
            <a:endParaRPr dirty="0"/>
          </a:p>
        </p:txBody>
      </p:sp>
      <p:sp>
        <p:nvSpPr>
          <p:cNvPr id="114" name="Google Shape;114;p15"/>
          <p:cNvSpPr txBox="1"/>
          <p:nvPr/>
        </p:nvSpPr>
        <p:spPr>
          <a:xfrm>
            <a:off x="819150" y="4286250"/>
            <a:ext cx="2997249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Regla: Sumar 2 al término anterior.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4597449" y="3295650"/>
            <a:ext cx="2997249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2855"/>
                </a:solidFill>
                <a:latin typeface="Fira Code"/>
                <a:ea typeface="Fira Code"/>
                <a:cs typeface="Fira Code"/>
                <a:sym typeface="Fira Code"/>
              </a:rPr>
              <a:t>1, 4, 9, 16,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 b="1" i="0" u="none" strike="noStrike" cap="none">
                <a:solidFill>
                  <a:srgbClr val="002855"/>
                </a:solidFill>
                <a:latin typeface="Fira Code"/>
                <a:ea typeface="Fira Code"/>
                <a:cs typeface="Fira Code"/>
                <a:sym typeface="Fira Code"/>
              </a:rPr>
              <a:t> ...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4597449" y="4286250"/>
            <a:ext cx="2997249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Regla: Elevar al cuadrado la posición del término (1², 2², 3²...).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375749" y="3295650"/>
            <a:ext cx="2997249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2855"/>
                </a:solidFill>
                <a:latin typeface="Fira Code"/>
                <a:ea typeface="Fira Code"/>
                <a:cs typeface="Fira Code"/>
                <a:sym typeface="Fira Code"/>
              </a:rPr>
              <a:t>1, 1, 2, 3, 5,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 b="1" i="0" u="none" strike="noStrike" cap="none">
                <a:solidFill>
                  <a:srgbClr val="002855"/>
                </a:solidFill>
                <a:latin typeface="Fira Code"/>
                <a:ea typeface="Fira Code"/>
                <a:cs typeface="Fira Code"/>
                <a:sym typeface="Fira Code"/>
              </a:rPr>
              <a:t> 8, ...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375749" y="4286250"/>
            <a:ext cx="2997249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Regla: Sumar los dos términos anteriores (Fibonacci).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" grpId="0"/>
      <p:bldP spid="112" grpId="0"/>
      <p:bldP spid="113" grpId="0"/>
      <p:bldP spid="114" grpId="0"/>
      <p:bldP spid="115" grpId="0"/>
      <p:bldP spid="116" grpId="0"/>
      <p:bldP spid="117" grpId="0"/>
      <p:bldP spid="1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1314450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571500" y="47625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855"/>
                </a:solidFill>
                <a:latin typeface="Poppins"/>
                <a:ea typeface="Poppins"/>
                <a:cs typeface="Poppins"/>
                <a:sym typeface="Poppins"/>
              </a:rPr>
              <a:t>Paso 2: Sucesiones en Programación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571500" y="1314450"/>
            <a:ext cx="5334000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objetivo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un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programador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no es resolver la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sucesión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matemáticamente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sino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crear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un </a:t>
            </a:r>
            <a:r>
              <a:rPr lang="en-US" sz="1425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algoritmo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pueda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generar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términos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forma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automática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26" name="Google Shape;126;p16"/>
          <p:cNvSpPr txBox="1"/>
          <p:nvPr/>
        </p:nvSpPr>
        <p:spPr>
          <a:xfrm>
            <a:off x="571500" y="2319337"/>
            <a:ext cx="533400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Pensamos en el problema como una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fábrica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7663338" y="2328862"/>
            <a:ext cx="2580322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03B8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El Proceso Lógico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6677025" y="3024187"/>
            <a:ext cx="455295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Nuestro trabajo es traducir la "regla" de la sucesión en instrucciones que el bucle pueda repetir N veces.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962025" y="2786060"/>
            <a:ext cx="49053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 </a:t>
            </a:r>
            <a:r>
              <a:rPr lang="en-US" sz="1425" b="1" i="0" u="none" strike="noStrike" cap="none" dirty="0" err="1">
                <a:solidFill>
                  <a:srgbClr val="002855"/>
                </a:solidFill>
                <a:latin typeface="Lato"/>
                <a:ea typeface="Lato"/>
                <a:cs typeface="Lato"/>
                <a:sym typeface="Lato"/>
              </a:rPr>
              <a:t>materia</a:t>
            </a:r>
            <a:r>
              <a:rPr lang="en-US" sz="1425" b="1" i="0" u="none" strike="noStrike" cap="none" dirty="0">
                <a:solidFill>
                  <a:srgbClr val="002855"/>
                </a:solidFill>
                <a:latin typeface="Lato"/>
                <a:ea typeface="Lato"/>
                <a:cs typeface="Lato"/>
                <a:sym typeface="Lato"/>
              </a:rPr>
              <a:t> prima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son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datos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entrada (N y X).</a:t>
            </a:r>
            <a:endParaRPr dirty="0"/>
          </a:p>
        </p:txBody>
      </p:sp>
      <p:sp>
        <p:nvSpPr>
          <p:cNvPr id="130" name="Google Shape;130;p16"/>
          <p:cNvSpPr txBox="1"/>
          <p:nvPr/>
        </p:nvSpPr>
        <p:spPr>
          <a:xfrm>
            <a:off x="990600" y="3265485"/>
            <a:ext cx="49053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 </a:t>
            </a:r>
            <a:r>
              <a:rPr lang="en-US" sz="1425" b="1" i="0" u="none" strike="noStrike" cap="none" dirty="0" err="1">
                <a:solidFill>
                  <a:srgbClr val="002855"/>
                </a:solidFill>
                <a:latin typeface="Lato"/>
                <a:ea typeface="Lato"/>
                <a:cs typeface="Lato"/>
                <a:sym typeface="Lato"/>
              </a:rPr>
              <a:t>maquinaria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es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bucle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`PARA`,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trabaja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N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veces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31" name="Google Shape;131;p16"/>
          <p:cNvSpPr txBox="1"/>
          <p:nvPr/>
        </p:nvSpPr>
        <p:spPr>
          <a:xfrm>
            <a:off x="1000125" y="3657600"/>
            <a:ext cx="49053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Las </a:t>
            </a:r>
            <a:r>
              <a:rPr lang="en-US" sz="1425" b="1" i="0" u="none" strike="noStrike" cap="none">
                <a:solidFill>
                  <a:srgbClr val="002855"/>
                </a:solidFill>
                <a:latin typeface="Lato"/>
                <a:ea typeface="Lato"/>
                <a:cs typeface="Lato"/>
                <a:sym typeface="Lato"/>
              </a:rPr>
              <a:t>herramientas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son las variables que calculan cada parte del término.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1000125" y="4391025"/>
            <a:ext cx="49053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 </a:t>
            </a:r>
            <a:r>
              <a:rPr lang="en-US" sz="1425" b="1" i="0" u="none" strike="noStrike" cap="none">
                <a:solidFill>
                  <a:srgbClr val="002855"/>
                </a:solidFill>
                <a:latin typeface="Lato"/>
                <a:ea typeface="Lato"/>
                <a:cs typeface="Lato"/>
                <a:sym typeface="Lato"/>
              </a:rPr>
              <a:t>producto final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es la suma de todos los términos, guardada en un acumulador.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666750" y="2638425"/>
            <a:ext cx="1905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 dirty="0">
                <a:solidFill>
                  <a:srgbClr val="003B8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134" name="Google Shape;134;p16"/>
          <p:cNvSpPr txBox="1"/>
          <p:nvPr/>
        </p:nvSpPr>
        <p:spPr>
          <a:xfrm>
            <a:off x="666750" y="3100387"/>
            <a:ext cx="1905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 dirty="0">
                <a:solidFill>
                  <a:srgbClr val="003B8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135" name="Google Shape;135;p16"/>
          <p:cNvSpPr txBox="1"/>
          <p:nvPr/>
        </p:nvSpPr>
        <p:spPr>
          <a:xfrm>
            <a:off x="666750" y="3562350"/>
            <a:ext cx="1905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003B8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66750" y="4295775"/>
            <a:ext cx="1905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003B8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" grpId="0"/>
      <p:bldP spid="127" grpId="0"/>
      <p:bldP spid="128" grpId="0"/>
      <p:bldP spid="129" grpId="0"/>
      <p:bldP spid="130" grpId="0"/>
      <p:bldP spid="131" grpId="0"/>
      <p:bldP spid="132" grpId="0"/>
      <p:bldP spid="133" grpId="0"/>
      <p:bldP spid="134" grpId="0"/>
      <p:bldP spid="135" grpId="0"/>
      <p:bldP spid="13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938337"/>
            <a:ext cx="110490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729287"/>
            <a:ext cx="110490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571500" y="138112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855"/>
                </a:solidFill>
                <a:latin typeface="Poppins"/>
                <a:ea typeface="Poppins"/>
                <a:cs typeface="Poppins"/>
                <a:sym typeface="Poppins"/>
              </a:rPr>
              <a:t>Paso 3: Análisis Manual (El Paso Más Importante)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571500" y="1119187"/>
            <a:ext cx="11049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Antes de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programar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debemos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actuar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como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detectives. Vamos a "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desarmar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una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sucesión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una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tabla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para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entender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perfectamente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sus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reglas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Tomemos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como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ejemplo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165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Sucesión</a:t>
            </a:r>
            <a:r>
              <a:rPr lang="en-US" sz="165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1 (1402)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45" name="Google Shape;145;p17"/>
          <p:cNvSpPr txBox="1"/>
          <p:nvPr/>
        </p:nvSpPr>
        <p:spPr>
          <a:xfrm>
            <a:off x="571500" y="2814637"/>
            <a:ext cx="693420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Vamos a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calcular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primeros 3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términos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asumiendo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usuario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ingresa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N=3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n-US" sz="1425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X=2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pic>
        <p:nvPicPr>
          <p:cNvPr id="146" name="Google Shape;14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08003" y="2089695"/>
            <a:ext cx="3175992" cy="391566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/>
          <p:nvPr/>
        </p:nvSpPr>
        <p:spPr>
          <a:xfrm>
            <a:off x="571500" y="3324225"/>
            <a:ext cx="11049000" cy="2262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8" name="Google Shape;148;p17"/>
          <p:cNvGraphicFramePr/>
          <p:nvPr/>
        </p:nvGraphicFramePr>
        <p:xfrm>
          <a:off x="571500" y="3324225"/>
          <a:ext cx="11039450" cy="2262200"/>
        </p:xfrm>
        <a:graphic>
          <a:graphicData uri="http://schemas.openxmlformats.org/drawingml/2006/table">
            <a:tbl>
              <a:tblPr firstRow="1" bandRow="1">
                <a:noFill/>
                <a:tableStyleId>{4B523DCD-A577-4A6F-8DD2-EBF437873279}</a:tableStyleId>
              </a:tblPr>
              <a:tblGrid>
                <a:gridCol w="1862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5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5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98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5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Término (i)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Exponente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Denominador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Signo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Cálculo del Término (con X=2)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+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+ (2² / 1) = +4.0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-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- (2⁴ / 2) = -8.0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+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+ (2⁶ / 3) = +21.33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9" name="Google Shape;149;p17"/>
          <p:cNvSpPr txBox="1"/>
          <p:nvPr/>
        </p:nvSpPr>
        <p:spPr>
          <a:xfrm>
            <a:off x="866775" y="5929312"/>
            <a:ext cx="11031378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6A34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Conclusiones del Análisis: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866775" y="6262687"/>
            <a:ext cx="105060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6A34A"/>
                </a:solidFill>
                <a:latin typeface="Lato"/>
                <a:ea typeface="Lato"/>
                <a:cs typeface="Lato"/>
                <a:sym typeface="Lato"/>
              </a:rPr>
              <a:t>Descubrimos las reglas: El exponente empieza en 2 y suma 2. El denominador es igual a `i`. El signo alterna.</a:t>
            </a:r>
            <a:endParaRPr/>
          </a:p>
        </p:txBody>
      </p:sp>
      <p:sp>
        <p:nvSpPr>
          <p:cNvPr id="151" name="Google Shape;151;p17"/>
          <p:cNvSpPr/>
          <p:nvPr/>
        </p:nvSpPr>
        <p:spPr>
          <a:xfrm>
            <a:off x="576262" y="3871912"/>
            <a:ext cx="18625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2429321" y="3328987"/>
            <a:ext cx="9525" cy="5524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2438846" y="3871912"/>
            <a:ext cx="17756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4204989" y="3328987"/>
            <a:ext cx="9525" cy="5524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4214514" y="3871912"/>
            <a:ext cx="21358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6340822" y="3328987"/>
            <a:ext cx="9525" cy="5524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6350347" y="3871912"/>
            <a:ext cx="11672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7508081" y="3328987"/>
            <a:ext cx="9525" cy="5524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7517606" y="3871912"/>
            <a:ext cx="409813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11606212" y="3328987"/>
            <a:ext cx="9525" cy="5524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576262" y="4438650"/>
            <a:ext cx="18625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2429321" y="3881437"/>
            <a:ext cx="9525" cy="56673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2438846" y="4438650"/>
            <a:ext cx="17756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4204989" y="3881437"/>
            <a:ext cx="9525" cy="56673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4214514" y="4438650"/>
            <a:ext cx="21358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6340822" y="3881437"/>
            <a:ext cx="9525" cy="56673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6350347" y="4438650"/>
            <a:ext cx="11672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7508081" y="3881437"/>
            <a:ext cx="9525" cy="56673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7517606" y="4438650"/>
            <a:ext cx="409813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11606212" y="3881437"/>
            <a:ext cx="9525" cy="56673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576262" y="5005387"/>
            <a:ext cx="18625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2429321" y="4448175"/>
            <a:ext cx="9525" cy="56673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2438846" y="5005387"/>
            <a:ext cx="17756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4204989" y="4448175"/>
            <a:ext cx="9525" cy="56673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4214514" y="5005387"/>
            <a:ext cx="21358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6340822" y="4448175"/>
            <a:ext cx="9525" cy="56673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6350347" y="5005387"/>
            <a:ext cx="11672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7508081" y="4448175"/>
            <a:ext cx="9525" cy="56673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7"/>
          <p:cNvSpPr/>
          <p:nvPr/>
        </p:nvSpPr>
        <p:spPr>
          <a:xfrm>
            <a:off x="7517606" y="5005387"/>
            <a:ext cx="409813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11606212" y="4448175"/>
            <a:ext cx="9525" cy="56673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576262" y="5572125"/>
            <a:ext cx="18625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2429321" y="5014912"/>
            <a:ext cx="9525" cy="56673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2438846" y="5572125"/>
            <a:ext cx="17756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4204989" y="5014912"/>
            <a:ext cx="9525" cy="56673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4214514" y="5572125"/>
            <a:ext cx="21358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6340822" y="5014912"/>
            <a:ext cx="9525" cy="56673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6350347" y="5572125"/>
            <a:ext cx="11672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7508081" y="5014912"/>
            <a:ext cx="9525" cy="56673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/>
          <p:nvPr/>
        </p:nvSpPr>
        <p:spPr>
          <a:xfrm>
            <a:off x="7517606" y="5572125"/>
            <a:ext cx="409813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7"/>
          <p:cNvSpPr/>
          <p:nvPr/>
        </p:nvSpPr>
        <p:spPr>
          <a:xfrm>
            <a:off x="11606212" y="5014912"/>
            <a:ext cx="9525" cy="56673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" grpId="0"/>
      <p:bldP spid="145" grpId="0"/>
      <p:bldP spid="147" grpId="0" animBg="1"/>
      <p:bldP spid="150" grpId="0"/>
      <p:bldP spid="151" grpId="0" animBg="1"/>
      <p:bldP spid="152" grpId="0" animBg="1"/>
      <p:bldP spid="153" grpId="0" animBg="1"/>
      <p:bldP spid="154" grpId="0" animBg="1"/>
      <p:bldP spid="155" grpId="0" animBg="1"/>
      <p:bldP spid="156" grpId="0" animBg="1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64" grpId="0" animBg="1"/>
      <p:bldP spid="165" grpId="0" animBg="1"/>
      <p:bldP spid="166" grpId="0" animBg="1"/>
      <p:bldP spid="167" grpId="0" animBg="1"/>
      <p:bldP spid="168" grpId="0" animBg="1"/>
      <p:bldP spid="169" grpId="0" animBg="1"/>
      <p:bldP spid="170" grpId="0" animBg="1"/>
      <p:bldP spid="171" grpId="0" animBg="1"/>
      <p:bldP spid="172" grpId="0" animBg="1"/>
      <p:bldP spid="173" grpId="0" animBg="1"/>
      <p:bldP spid="174" grpId="0" animBg="1"/>
      <p:bldP spid="175" grpId="0" animBg="1"/>
      <p:bldP spid="176" grpId="0" animBg="1"/>
      <p:bldP spid="177" grpId="0" animBg="1"/>
      <p:bldP spid="178" grpId="0" animBg="1"/>
      <p:bldP spid="179" grpId="0" animBg="1"/>
      <p:bldP spid="180" grpId="0" animBg="1"/>
      <p:bldP spid="181" grpId="0" animBg="1"/>
      <p:bldP spid="182" grpId="0" animBg="1"/>
      <p:bldP spid="183" grpId="0" animBg="1"/>
      <p:bldP spid="184" grpId="0" animBg="1"/>
      <p:bldP spid="185" grpId="0" animBg="1"/>
      <p:bldP spid="186" grpId="0" animBg="1"/>
      <p:bldP spid="187" grpId="0" animBg="1"/>
      <p:bldP spid="188" grpId="0" animBg="1"/>
      <p:bldP spid="189" grpId="0" animBg="1"/>
      <p:bldP spid="19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324100"/>
            <a:ext cx="5334000" cy="288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324100"/>
            <a:ext cx="5334000" cy="288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29400" y="3781425"/>
            <a:ext cx="4648200" cy="10858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8"/>
          <p:cNvSpPr txBox="1"/>
          <p:nvPr/>
        </p:nvSpPr>
        <p:spPr>
          <a:xfrm>
            <a:off x="571500" y="47625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855"/>
                </a:solidFill>
                <a:latin typeface="Poppins"/>
                <a:ea typeface="Poppins"/>
                <a:cs typeface="Poppins"/>
                <a:sym typeface="Poppins"/>
              </a:rPr>
              <a:t>2. El Punto de Partida: Inicialización Correcta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571500" y="1457325"/>
            <a:ext cx="11049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algoritmo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falla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sus variables no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empiezan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con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valor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correcto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La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inicialización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prepara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estado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del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programa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para la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primera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iteración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del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bucle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200" name="Google Shape;200;p18"/>
          <p:cNvSpPr txBox="1"/>
          <p:nvPr/>
        </p:nvSpPr>
        <p:spPr>
          <a:xfrm>
            <a:off x="914400" y="2667000"/>
            <a:ext cx="488061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3B8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Variables Acumuladoras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6629400" y="2667000"/>
            <a:ext cx="488061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3B8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Variables de Control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6629400" y="3095625"/>
            <a:ext cx="46482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Deben tener el valor exacto para calcular el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primer término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la serie.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1247775" y="3238500"/>
            <a:ext cx="43148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02855"/>
                </a:solidFill>
                <a:latin typeface="Lato"/>
                <a:ea typeface="Lato"/>
                <a:cs typeface="Lato"/>
                <a:sym typeface="Lato"/>
              </a:rPr>
              <a:t>Sumas (`S`):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Deben iniciar en `0` para no alterar el resultado.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1247775" y="3971925"/>
            <a:ext cx="43148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02855"/>
                </a:solidFill>
                <a:latin typeface="Lato"/>
                <a:ea typeface="Lato"/>
                <a:cs typeface="Lato"/>
                <a:sym typeface="Lato"/>
              </a:rPr>
              <a:t>Productos: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Deben iniciar en `1` (el neutro multiplicativo).</a:t>
            </a:r>
            <a:endParaRPr/>
          </a:p>
        </p:txBody>
      </p:sp>
      <p:pic>
        <p:nvPicPr>
          <p:cNvPr id="205" name="Google Shape;205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9650" y="3328987"/>
            <a:ext cx="1333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54100" y="4062412"/>
            <a:ext cx="1333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" grpId="0"/>
      <p:bldP spid="200" grpId="0"/>
      <p:bldP spid="201" grpId="0"/>
      <p:bldP spid="202" grpId="0"/>
      <p:bldP spid="203" grpId="0"/>
      <p:bldP spid="20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324100"/>
            <a:ext cx="5334000" cy="301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324100"/>
            <a:ext cx="5334000" cy="301942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9"/>
          <p:cNvSpPr txBox="1"/>
          <p:nvPr/>
        </p:nvSpPr>
        <p:spPr>
          <a:xfrm>
            <a:off x="571500" y="47625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855"/>
                </a:solidFill>
                <a:latin typeface="Poppins"/>
                <a:ea typeface="Poppins"/>
                <a:cs typeface="Poppins"/>
                <a:sym typeface="Poppins"/>
              </a:rPr>
              <a:t>Paso 4: Del Análisis a las Variables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571500" y="1457325"/>
            <a:ext cx="11049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Las "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conclusiones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sacamos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nuestra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tabla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análisis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traducen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directamente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las variables y la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lógica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usaremos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nuestro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programa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Este es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puente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entre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pensamiento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código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215" name="Google Shape;215;p19"/>
          <p:cNvSpPr txBox="1"/>
          <p:nvPr/>
        </p:nvSpPr>
        <p:spPr>
          <a:xfrm>
            <a:off x="914400" y="2667000"/>
            <a:ext cx="488061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03B8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Conclusiones del Análisis</a:t>
            </a:r>
            <a:endParaRPr/>
          </a:p>
        </p:txBody>
      </p:sp>
      <p:sp>
        <p:nvSpPr>
          <p:cNvPr id="216" name="Google Shape;216;p19"/>
          <p:cNvSpPr txBox="1"/>
          <p:nvPr/>
        </p:nvSpPr>
        <p:spPr>
          <a:xfrm>
            <a:off x="6677025" y="2667000"/>
            <a:ext cx="4830603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Traducción a Código</a:t>
            </a:r>
            <a:endParaRPr/>
          </a:p>
        </p:txBody>
      </p:sp>
      <p:sp>
        <p:nvSpPr>
          <p:cNvPr id="217" name="Google Shape;217;p19"/>
          <p:cNvSpPr txBox="1"/>
          <p:nvPr/>
        </p:nvSpPr>
        <p:spPr>
          <a:xfrm>
            <a:off x="6677025" y="3343275"/>
            <a:ext cx="4600575" cy="280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Regla 1 ➔ </a:t>
            </a:r>
            <a:r>
              <a:rPr lang="en-US" sz="1425" b="0" i="0" u="none" strike="noStrike" cap="non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entero exp = 2; exp = exp + 2;</a:t>
            </a:r>
            <a:endParaRPr/>
          </a:p>
        </p:txBody>
      </p:sp>
      <p:sp>
        <p:nvSpPr>
          <p:cNvPr id="218" name="Google Shape;218;p19"/>
          <p:cNvSpPr txBox="1"/>
          <p:nvPr/>
        </p:nvSpPr>
        <p:spPr>
          <a:xfrm>
            <a:off x="6677025" y="3767137"/>
            <a:ext cx="4600575" cy="280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Regla 2 ➔ </a:t>
            </a:r>
            <a:r>
              <a:rPr lang="en-US" sz="1425" b="0" i="0" u="none" strike="noStrike" cap="non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usar la variable 'i' del bucle para</a:t>
            </a:r>
            <a:endParaRPr/>
          </a:p>
        </p:txBody>
      </p:sp>
      <p:sp>
        <p:nvSpPr>
          <p:cNvPr id="219" name="Google Shape;219;p19"/>
          <p:cNvSpPr txBox="1"/>
          <p:nvPr/>
        </p:nvSpPr>
        <p:spPr>
          <a:xfrm>
            <a:off x="6677025" y="4191000"/>
            <a:ext cx="4600575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Regla 3 ➔ </a:t>
            </a:r>
            <a:r>
              <a:rPr lang="en-US" sz="1425" b="0" i="0" u="none" strike="noStrike" cap="non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entero signo = 1; signo = signo * -1;</a:t>
            </a:r>
            <a:endParaRPr/>
          </a:p>
        </p:txBody>
      </p:sp>
      <p:sp>
        <p:nvSpPr>
          <p:cNvPr id="220" name="Google Shape;220;p19"/>
          <p:cNvSpPr txBox="1"/>
          <p:nvPr/>
        </p:nvSpPr>
        <p:spPr>
          <a:xfrm>
            <a:off x="1343025" y="3343275"/>
            <a:ext cx="42195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 exponente empieza en 2 y suma 2 en cada paso.</a:t>
            </a:r>
            <a:endParaRPr/>
          </a:p>
        </p:txBody>
      </p:sp>
      <p:sp>
        <p:nvSpPr>
          <p:cNvPr id="221" name="Google Shape;221;p19"/>
          <p:cNvSpPr txBox="1"/>
          <p:nvPr/>
        </p:nvSpPr>
        <p:spPr>
          <a:xfrm>
            <a:off x="1343025" y="3805237"/>
            <a:ext cx="42195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 denominador es simplemente la posición del término (el contador `i`).</a:t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1343025" y="4538662"/>
            <a:ext cx="42195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 signo alterna entre positivo y negativo.</a:t>
            </a:r>
            <a:endParaRPr/>
          </a:p>
        </p:txBody>
      </p:sp>
      <p:sp>
        <p:nvSpPr>
          <p:cNvPr id="223" name="Google Shape;223;p19"/>
          <p:cNvSpPr txBox="1"/>
          <p:nvPr/>
        </p:nvSpPr>
        <p:spPr>
          <a:xfrm>
            <a:off x="1009650" y="3248025"/>
            <a:ext cx="1905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003B8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4" name="Google Shape;224;p19"/>
          <p:cNvSpPr txBox="1"/>
          <p:nvPr/>
        </p:nvSpPr>
        <p:spPr>
          <a:xfrm>
            <a:off x="1009650" y="3709987"/>
            <a:ext cx="1905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003B8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5" name="Google Shape;225;p19"/>
          <p:cNvSpPr txBox="1"/>
          <p:nvPr/>
        </p:nvSpPr>
        <p:spPr>
          <a:xfrm>
            <a:off x="1009650" y="4443412"/>
            <a:ext cx="1905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003B8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" grpId="0"/>
      <p:bldP spid="215" grpId="0"/>
      <p:bldP spid="216" grpId="0"/>
      <p:bldP spid="217" grpId="0"/>
      <p:bldP spid="218" grpId="0"/>
      <p:bldP spid="219" grpId="0"/>
      <p:bldP spid="220" grpId="0"/>
      <p:bldP spid="221" grpId="0"/>
      <p:bldP spid="222" grpId="0"/>
      <p:bldP spid="223" grpId="0"/>
      <p:bldP spid="224" grpId="0"/>
      <p:bldP spid="2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900237"/>
            <a:ext cx="6076950" cy="459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86575" y="1900237"/>
            <a:ext cx="4972050" cy="459105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0"/>
          <p:cNvSpPr txBox="1"/>
          <p:nvPr/>
        </p:nvSpPr>
        <p:spPr>
          <a:xfrm>
            <a:off x="571500" y="366712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855"/>
                </a:solidFill>
                <a:latin typeface="Poppins"/>
                <a:ea typeface="Poppins"/>
                <a:cs typeface="Poppins"/>
                <a:sym typeface="Poppins"/>
              </a:rPr>
              <a:t>Caso de Estudio: Solución en Logicode (1402)</a:t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571500" y="1347787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Ahora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ensamblamos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todas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nuestras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variables y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reglas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dentro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un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bucle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`para`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ejecutará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`N`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veces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234" name="Google Shape;234;p20"/>
          <p:cNvSpPr txBox="1"/>
          <p:nvPr/>
        </p:nvSpPr>
        <p:spPr>
          <a:xfrm>
            <a:off x="6972300" y="2100262"/>
            <a:ext cx="48006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03B8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Explicación de la Lógica</a:t>
            </a:r>
            <a:endParaRPr/>
          </a:p>
        </p:txBody>
      </p:sp>
      <p:sp>
        <p:nvSpPr>
          <p:cNvPr id="235" name="Google Shape;235;p20"/>
          <p:cNvSpPr/>
          <p:nvPr/>
        </p:nvSpPr>
        <p:spPr>
          <a:xfrm>
            <a:off x="7086600" y="2452687"/>
            <a:ext cx="4572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7086600" y="2728912"/>
            <a:ext cx="48006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0285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Variables de Control</a:t>
            </a:r>
            <a:endParaRPr/>
          </a:p>
        </p:txBody>
      </p:sp>
      <p:sp>
        <p:nvSpPr>
          <p:cNvPr id="237" name="Google Shape;237;p20"/>
          <p:cNvSpPr txBox="1"/>
          <p:nvPr/>
        </p:nvSpPr>
        <p:spPr>
          <a:xfrm>
            <a:off x="7086600" y="3024187"/>
            <a:ext cx="4572000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 inicializan `exp` en 2 y `signo` en 1 para controlar el primer paso.</a:t>
            </a:r>
            <a:endParaRPr/>
          </a:p>
        </p:txBody>
      </p:sp>
      <p:sp>
        <p:nvSpPr>
          <p:cNvPr id="238" name="Google Shape;238;p20"/>
          <p:cNvSpPr txBox="1"/>
          <p:nvPr/>
        </p:nvSpPr>
        <p:spPr>
          <a:xfrm>
            <a:off x="7086600" y="3476625"/>
            <a:ext cx="48006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0285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Construcción del Término</a:t>
            </a:r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7086600" y="3771900"/>
            <a:ext cx="45720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 variable `termino` calcula la potencia de `X` a `exp`, y se divide por el contador `i`.</a:t>
            </a: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7086600" y="4438650"/>
            <a:ext cx="48006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0285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Acumulación con Signo</a:t>
            </a:r>
            <a:endParaRPr/>
          </a:p>
        </p:txBody>
      </p:sp>
      <p:sp>
        <p:nvSpPr>
          <p:cNvPr id="241" name="Google Shape;241;p20"/>
          <p:cNvSpPr txBox="1"/>
          <p:nvPr/>
        </p:nvSpPr>
        <p:spPr>
          <a:xfrm>
            <a:off x="7086600" y="4733925"/>
            <a:ext cx="4572000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 `termino` se multiplica por `signo` (+1 o -1) y se acumula en `S`.</a:t>
            </a:r>
            <a:endParaRPr/>
          </a:p>
        </p:txBody>
      </p:sp>
      <p:sp>
        <p:nvSpPr>
          <p:cNvPr id="242" name="Google Shape;242;p20"/>
          <p:cNvSpPr txBox="1"/>
          <p:nvPr/>
        </p:nvSpPr>
        <p:spPr>
          <a:xfrm>
            <a:off x="7086600" y="5186362"/>
            <a:ext cx="48006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0285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4. Actualización</a:t>
            </a:r>
            <a:endParaRPr/>
          </a:p>
        </p:txBody>
      </p:sp>
      <p:sp>
        <p:nvSpPr>
          <p:cNvPr id="243" name="Google Shape;243;p20"/>
          <p:cNvSpPr txBox="1"/>
          <p:nvPr/>
        </p:nvSpPr>
        <p:spPr>
          <a:xfrm>
            <a:off x="7086600" y="5481637"/>
            <a:ext cx="45720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Al final, `exp` aumenta 2 y `signo` se invierte (* -1) preparando el próximo ciclo.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" grpId="0"/>
      <p:bldP spid="234" grpId="0"/>
      <p:bldP spid="235" grpId="0" animBg="1"/>
      <p:bldP spid="236" grpId="0"/>
      <p:bldP spid="237" grpId="0"/>
      <p:bldP spid="238" grpId="0"/>
      <p:bldP spid="239" grpId="0"/>
      <p:bldP spid="240" grpId="0"/>
      <p:bldP spid="241" grpId="0"/>
      <p:bldP spid="242" grpId="0"/>
      <p:bldP spid="24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324100"/>
            <a:ext cx="5381625" cy="359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2324100"/>
            <a:ext cx="5381625" cy="3590925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1"/>
          <p:cNvSpPr txBox="1"/>
          <p:nvPr/>
        </p:nvSpPr>
        <p:spPr>
          <a:xfrm>
            <a:off x="571500" y="47625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855"/>
                </a:solidFill>
                <a:latin typeface="Poppins"/>
                <a:ea typeface="Poppins"/>
                <a:cs typeface="Poppins"/>
                <a:sym typeface="Poppins"/>
              </a:rPr>
              <a:t>3. Error Común: El Orden de Actualización</a:t>
            </a:r>
            <a:endParaRPr/>
          </a:p>
        </p:txBody>
      </p:sp>
      <p:sp>
        <p:nvSpPr>
          <p:cNvPr id="251" name="Google Shape;251;p21"/>
          <p:cNvSpPr txBox="1"/>
          <p:nvPr/>
        </p:nvSpPr>
        <p:spPr>
          <a:xfrm>
            <a:off x="571500" y="1457325"/>
            <a:ext cx="11049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orden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las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operaciones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dentro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del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bucle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es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crítico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La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regla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oro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es: </a:t>
            </a:r>
            <a:r>
              <a:rPr lang="en-US" sz="165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"primero </a:t>
            </a:r>
            <a:r>
              <a:rPr lang="en-US" sz="165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calcula</a:t>
            </a:r>
            <a:r>
              <a:rPr lang="en-US" sz="165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con </a:t>
            </a:r>
            <a:r>
              <a:rPr lang="en-US" sz="165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los</a:t>
            </a:r>
            <a:r>
              <a:rPr lang="en-US" sz="165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valores</a:t>
            </a:r>
            <a:r>
              <a:rPr lang="en-US" sz="165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actuales</a:t>
            </a:r>
            <a:r>
              <a:rPr lang="en-US" sz="165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luego </a:t>
            </a:r>
            <a:r>
              <a:rPr lang="en-US" sz="165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actualiza</a:t>
            </a:r>
            <a:r>
              <a:rPr lang="en-US" sz="165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para la </a:t>
            </a:r>
            <a:r>
              <a:rPr lang="en-US" sz="165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siguiente</a:t>
            </a:r>
            <a:r>
              <a:rPr lang="en-US" sz="165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vuelta</a:t>
            </a:r>
            <a:r>
              <a:rPr lang="en-US" sz="165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252" name="Google Shape;252;p21"/>
          <p:cNvSpPr txBox="1"/>
          <p:nvPr/>
        </p:nvSpPr>
        <p:spPr>
          <a:xfrm>
            <a:off x="756999" y="2628900"/>
            <a:ext cx="5010626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DC262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Incorrecto</a:t>
            </a:r>
            <a:endParaRPr/>
          </a:p>
        </p:txBody>
      </p:sp>
      <p:sp>
        <p:nvSpPr>
          <p:cNvPr id="253" name="Google Shape;253;p21"/>
          <p:cNvSpPr txBox="1"/>
          <p:nvPr/>
        </p:nvSpPr>
        <p:spPr>
          <a:xfrm>
            <a:off x="876300" y="3190875"/>
            <a:ext cx="477202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991B1B"/>
                </a:solidFill>
                <a:latin typeface="Fira Code"/>
                <a:ea typeface="Fira Code"/>
                <a:cs typeface="Fira Code"/>
                <a:sym typeface="Fira Code"/>
              </a:rPr>
              <a:t>para (...)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25" b="0" i="0" u="none" strike="noStrike" cap="none" dirty="0">
                <a:solidFill>
                  <a:srgbClr val="991B1B"/>
                </a:solidFill>
                <a:latin typeface="Fira Code"/>
                <a:ea typeface="Fira Code"/>
                <a:cs typeface="Fira Code"/>
                <a:sym typeface="Fira Code"/>
              </a:rPr>
              <a:t>   </a:t>
            </a:r>
            <a:r>
              <a:rPr lang="en-US" sz="1125" b="0" i="0" u="none" strike="noStrike" cap="none" dirty="0">
                <a:solidFill>
                  <a:srgbClr val="EF4444"/>
                </a:solidFill>
                <a:latin typeface="Fira Code"/>
                <a:ea typeface="Fira Code"/>
                <a:cs typeface="Fira Code"/>
                <a:sym typeface="Fira Code"/>
              </a:rPr>
              <a:t>// 1. </a:t>
            </a:r>
            <a:r>
              <a:rPr lang="en-US" sz="1125" b="0" i="0" u="none" strike="noStrike" cap="none" dirty="0" err="1">
                <a:solidFill>
                  <a:srgbClr val="EF4444"/>
                </a:solidFill>
                <a:latin typeface="Fira Code"/>
                <a:ea typeface="Fira Code"/>
                <a:cs typeface="Fira Code"/>
                <a:sym typeface="Fira Code"/>
              </a:rPr>
              <a:t>Actualiza</a:t>
            </a:r>
            <a:r>
              <a:rPr lang="en-US" sz="1125" b="0" i="0" u="none" strike="noStrike" cap="none" dirty="0">
                <a:solidFill>
                  <a:srgbClr val="EF4444"/>
                </a:solidFill>
                <a:latin typeface="Fira Code"/>
                <a:ea typeface="Fira Code"/>
                <a:cs typeface="Fira Code"/>
                <a:sym typeface="Fira Code"/>
              </a:rPr>
              <a:t> primero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25" b="0" i="0" u="none" strike="noStrike" cap="none" dirty="0">
                <a:solidFill>
                  <a:srgbClr val="991B1B"/>
                </a:solidFill>
                <a:latin typeface="Fira Code"/>
                <a:ea typeface="Fira Code"/>
                <a:cs typeface="Fira Code"/>
                <a:sym typeface="Fira Code"/>
              </a:rPr>
              <a:t>   exp = exp + 2;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25" b="0" i="0" u="none" strike="noStrike" cap="none" dirty="0">
                <a:solidFill>
                  <a:srgbClr val="991B1B"/>
                </a:solidFill>
                <a:latin typeface="Fira Code"/>
                <a:ea typeface="Fira Code"/>
                <a:cs typeface="Fira Code"/>
                <a:sym typeface="Fira Code"/>
              </a:rPr>
              <a:t>   </a:t>
            </a:r>
            <a:r>
              <a:rPr lang="en-US" sz="1125" b="0" i="0" u="none" strike="noStrike" cap="none" dirty="0">
                <a:solidFill>
                  <a:srgbClr val="EF4444"/>
                </a:solidFill>
                <a:latin typeface="Fira Code"/>
                <a:ea typeface="Fira Code"/>
                <a:cs typeface="Fira Code"/>
                <a:sym typeface="Fira Code"/>
              </a:rPr>
              <a:t>// 2. </a:t>
            </a:r>
            <a:r>
              <a:rPr lang="en-US" sz="1125" b="0" i="0" u="none" strike="noStrike" cap="none" dirty="0" err="1">
                <a:solidFill>
                  <a:srgbClr val="EF4444"/>
                </a:solidFill>
                <a:latin typeface="Fira Code"/>
                <a:ea typeface="Fira Code"/>
                <a:cs typeface="Fira Code"/>
                <a:sym typeface="Fira Code"/>
              </a:rPr>
              <a:t>Calcula</a:t>
            </a:r>
            <a:r>
              <a:rPr lang="en-US" sz="1125" b="0" i="0" u="none" strike="noStrike" cap="none" dirty="0">
                <a:solidFill>
                  <a:srgbClr val="EF4444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125" b="0" i="0" u="none" strike="noStrike" cap="none" dirty="0" err="1">
                <a:solidFill>
                  <a:srgbClr val="EF4444"/>
                </a:solidFill>
                <a:latin typeface="Fira Code"/>
                <a:ea typeface="Fira Code"/>
                <a:cs typeface="Fira Code"/>
                <a:sym typeface="Fira Code"/>
              </a:rPr>
              <a:t>después</a:t>
            </a:r>
            <a:r>
              <a:rPr lang="en-US" sz="1125" b="0" i="0" u="none" strike="noStrike" cap="none" dirty="0">
                <a:solidFill>
                  <a:srgbClr val="EF4444"/>
                </a:solidFill>
                <a:latin typeface="Fira Code"/>
                <a:ea typeface="Fira Code"/>
                <a:cs typeface="Fira Code"/>
                <a:sym typeface="Fira Code"/>
              </a:rPr>
              <a:t> (¡Error!)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25" b="0" i="0" u="none" strike="noStrike" cap="none" dirty="0">
                <a:solidFill>
                  <a:srgbClr val="991B1B"/>
                </a:solidFill>
                <a:latin typeface="Fira Code"/>
                <a:ea typeface="Fira Code"/>
                <a:cs typeface="Fira Code"/>
                <a:sym typeface="Fira Code"/>
              </a:rPr>
              <a:t>   </a:t>
            </a:r>
            <a:r>
              <a:rPr lang="en-US" sz="1125" b="0" i="0" u="none" strike="noStrike" cap="none" dirty="0" err="1">
                <a:solidFill>
                  <a:srgbClr val="991B1B"/>
                </a:solidFill>
                <a:latin typeface="Fira Code"/>
                <a:ea typeface="Fira Code"/>
                <a:cs typeface="Fira Code"/>
                <a:sym typeface="Fira Code"/>
              </a:rPr>
              <a:t>termino</a:t>
            </a:r>
            <a:r>
              <a:rPr lang="en-US" sz="1125" b="0" i="0" u="none" strike="noStrike" cap="none" dirty="0">
                <a:solidFill>
                  <a:srgbClr val="991B1B"/>
                </a:solidFill>
                <a:latin typeface="Fira Code"/>
                <a:ea typeface="Fira Code"/>
                <a:cs typeface="Fira Code"/>
                <a:sym typeface="Fira Code"/>
              </a:rPr>
              <a:t> = </a:t>
            </a:r>
            <a:r>
              <a:rPr lang="en-US" sz="1125" b="0" i="0" u="none" strike="noStrike" cap="none" dirty="0" err="1">
                <a:solidFill>
                  <a:srgbClr val="991B1B"/>
                </a:solidFill>
                <a:latin typeface="Fira Code"/>
                <a:ea typeface="Fira Code"/>
                <a:cs typeface="Fira Code"/>
                <a:sym typeface="Fira Code"/>
              </a:rPr>
              <a:t>potencia</a:t>
            </a:r>
            <a:r>
              <a:rPr lang="en-US" sz="1125" b="0" i="0" u="none" strike="noStrike" cap="none" dirty="0">
                <a:solidFill>
                  <a:srgbClr val="991B1B"/>
                </a:solidFill>
                <a:latin typeface="Fira Code"/>
                <a:ea typeface="Fira Code"/>
                <a:cs typeface="Fira Code"/>
                <a:sym typeface="Fira Code"/>
              </a:rPr>
              <a:t>(X, exp);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25" b="0" i="0" u="none" strike="noStrike" cap="none" dirty="0">
                <a:solidFill>
                  <a:srgbClr val="991B1B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125" b="0" i="0" u="none" strike="noStrike" cap="none" dirty="0" err="1">
                <a:solidFill>
                  <a:srgbClr val="991B1B"/>
                </a:solidFill>
                <a:latin typeface="Fira Code"/>
                <a:ea typeface="Fira Code"/>
                <a:cs typeface="Fira Code"/>
                <a:sym typeface="Fira Code"/>
              </a:rPr>
              <a:t>finpara</a:t>
            </a:r>
            <a:endParaRPr dirty="0"/>
          </a:p>
        </p:txBody>
      </p:sp>
      <p:sp>
        <p:nvSpPr>
          <p:cNvPr id="254" name="Google Shape;254;p21"/>
          <p:cNvSpPr txBox="1"/>
          <p:nvPr/>
        </p:nvSpPr>
        <p:spPr>
          <a:xfrm>
            <a:off x="876300" y="4981575"/>
            <a:ext cx="47720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B91C1C"/>
                </a:solidFill>
                <a:latin typeface="Lato"/>
                <a:ea typeface="Lato"/>
                <a:cs typeface="Lato"/>
                <a:sym typeface="Lato"/>
              </a:rPr>
              <a:t>En el ciclo 1, `exp` ya valdría `4`, saltándose el primer término que requería `2`.</a:t>
            </a:r>
            <a:endParaRPr/>
          </a:p>
        </p:txBody>
      </p:sp>
      <p:sp>
        <p:nvSpPr>
          <p:cNvPr id="255" name="Google Shape;255;p21"/>
          <p:cNvSpPr txBox="1"/>
          <p:nvPr/>
        </p:nvSpPr>
        <p:spPr>
          <a:xfrm>
            <a:off x="6424374" y="2628900"/>
            <a:ext cx="5010626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9075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6A34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Correcto</a:t>
            </a:r>
            <a:endParaRPr/>
          </a:p>
        </p:txBody>
      </p:sp>
      <p:sp>
        <p:nvSpPr>
          <p:cNvPr id="256" name="Google Shape;256;p21"/>
          <p:cNvSpPr txBox="1"/>
          <p:nvPr/>
        </p:nvSpPr>
        <p:spPr>
          <a:xfrm>
            <a:off x="6543675" y="3190875"/>
            <a:ext cx="477202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166534"/>
                </a:solidFill>
                <a:latin typeface="Fira Code"/>
                <a:ea typeface="Fira Code"/>
                <a:cs typeface="Fira Code"/>
                <a:sym typeface="Fira Code"/>
              </a:rPr>
              <a:t>para (...)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25" b="0" i="0" u="none" strike="noStrike" cap="none">
                <a:solidFill>
                  <a:srgbClr val="166534"/>
                </a:solidFill>
                <a:latin typeface="Fira Code"/>
                <a:ea typeface="Fira Code"/>
                <a:cs typeface="Fira Code"/>
                <a:sym typeface="Fira Code"/>
              </a:rPr>
              <a:t>   </a:t>
            </a:r>
            <a:r>
              <a:rPr lang="en-US" sz="1125" b="0" i="0" u="none" strike="noStrike" cap="none">
                <a:solidFill>
                  <a:srgbClr val="22C55E"/>
                </a:solidFill>
                <a:latin typeface="Fira Code"/>
                <a:ea typeface="Fira Code"/>
                <a:cs typeface="Fira Code"/>
                <a:sym typeface="Fira Code"/>
              </a:rPr>
              <a:t>// 1. Calcula primero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25" b="0" i="0" u="none" strike="noStrike" cap="none">
                <a:solidFill>
                  <a:srgbClr val="166534"/>
                </a:solidFill>
                <a:latin typeface="Fira Code"/>
                <a:ea typeface="Fira Code"/>
                <a:cs typeface="Fira Code"/>
                <a:sym typeface="Fira Code"/>
              </a:rPr>
              <a:t>   termino = potencia(X, exp);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25" b="0" i="0" u="none" strike="noStrike" cap="none">
                <a:solidFill>
                  <a:srgbClr val="166534"/>
                </a:solidFill>
                <a:latin typeface="Fira Code"/>
                <a:ea typeface="Fira Code"/>
                <a:cs typeface="Fira Code"/>
                <a:sym typeface="Fira Code"/>
              </a:rPr>
              <a:t>   </a:t>
            </a:r>
            <a:r>
              <a:rPr lang="en-US" sz="1125" b="0" i="0" u="none" strike="noStrike" cap="none">
                <a:solidFill>
                  <a:srgbClr val="22C55E"/>
                </a:solidFill>
                <a:latin typeface="Fira Code"/>
                <a:ea typeface="Fira Code"/>
                <a:cs typeface="Fira Code"/>
                <a:sym typeface="Fira Code"/>
              </a:rPr>
              <a:t>// 2. Actualiza al final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25" b="0" i="0" u="none" strike="noStrike" cap="none">
                <a:solidFill>
                  <a:srgbClr val="166534"/>
                </a:solidFill>
                <a:latin typeface="Fira Code"/>
                <a:ea typeface="Fira Code"/>
                <a:cs typeface="Fira Code"/>
                <a:sym typeface="Fira Code"/>
              </a:rPr>
              <a:t>   exp = exp + 2;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25" b="0" i="0" u="none" strike="noStrike" cap="none">
                <a:solidFill>
                  <a:srgbClr val="166534"/>
                </a:solidFill>
                <a:latin typeface="Fira Code"/>
                <a:ea typeface="Fira Code"/>
                <a:cs typeface="Fira Code"/>
                <a:sym typeface="Fira Code"/>
              </a:rPr>
              <a:t> finpara</a:t>
            </a:r>
            <a:endParaRPr/>
          </a:p>
        </p:txBody>
      </p:sp>
      <p:sp>
        <p:nvSpPr>
          <p:cNvPr id="257" name="Google Shape;257;p21"/>
          <p:cNvSpPr txBox="1"/>
          <p:nvPr/>
        </p:nvSpPr>
        <p:spPr>
          <a:xfrm>
            <a:off x="6543675" y="4981575"/>
            <a:ext cx="47720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15803D"/>
                </a:solidFill>
                <a:latin typeface="Lato"/>
                <a:ea typeface="Lato"/>
                <a:cs typeface="Lato"/>
                <a:sym typeface="Lato"/>
              </a:rPr>
              <a:t>En el ciclo 1, `exp` vale `2`, calculando correctamente el primer término matemático.</a:t>
            </a:r>
            <a:endParaRPr/>
          </a:p>
        </p:txBody>
      </p:sp>
      <p:pic>
        <p:nvPicPr>
          <p:cNvPr id="258" name="Google Shape;258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71737" y="2686050"/>
            <a:ext cx="1905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24837" y="2686050"/>
            <a:ext cx="2190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1" grpId="0"/>
      <p:bldP spid="252" grpId="0"/>
      <p:bldP spid="253" grpId="0"/>
      <p:bldP spid="254" grpId="0"/>
      <p:bldP spid="255" grpId="0"/>
      <p:bldP spid="256" grpId="0"/>
      <p:bldP spid="25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76250"/>
            <a:ext cx="227647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76525"/>
            <a:ext cx="3492549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676525"/>
            <a:ext cx="3492549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676525"/>
            <a:ext cx="3492549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295275" y="1095375"/>
            <a:ext cx="1160145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02855"/>
                </a:solidFill>
                <a:latin typeface="Poppins"/>
                <a:ea typeface="Poppins"/>
                <a:cs typeface="Poppins"/>
                <a:sym typeface="Poppins"/>
              </a:rPr>
              <a:t>Checklist para el Éxito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685925" y="5534025"/>
            <a:ext cx="88201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¡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Ahora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es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turno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!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Apliquen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esta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metodología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los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retos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 ¡Sean detectives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patrones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!</a:t>
            </a:r>
            <a:endParaRPr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819150" y="3019425"/>
            <a:ext cx="314711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285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Analiza Primero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819150" y="3543300"/>
            <a:ext cx="2997249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Desglosa la serie en una tabla. Identifica todas las reglas y variables antes de escribir una sola línea de código.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4597449" y="3019425"/>
            <a:ext cx="314711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285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Codifica Después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4597449" y="3543300"/>
            <a:ext cx="2997249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Traduce las reglas de tu tabla a código, prestando atención a la inicialización y al orden de las operaciones.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8375749" y="3019425"/>
            <a:ext cx="314711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285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Verifica Siempre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8375749" y="3543300"/>
            <a:ext cx="2997249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Usa la prueba de escritorio para confirmar que tu código produce los mismos resultados que tu análisis manual.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/>
      <p:bldP spid="90" grpId="0"/>
      <p:bldP spid="91" grpId="0"/>
      <p:bldP spid="92" grpId="0"/>
      <p:bldP spid="93" grpId="0"/>
      <p:bldP spid="94" grpId="0"/>
      <p:bldP spid="9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 txBox="1"/>
          <p:nvPr/>
        </p:nvSpPr>
        <p:spPr>
          <a:xfrm>
            <a:off x="2165508" y="1701254"/>
            <a:ext cx="786098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02855"/>
                </a:solidFill>
                <a:latin typeface="Poppins"/>
                <a:ea typeface="Poppins"/>
                <a:cs typeface="Poppins"/>
                <a:sym typeface="Poppins"/>
              </a:rPr>
              <a:t>¡Ahora es su turno!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333500" y="3130004"/>
            <a:ext cx="9525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Ahora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conocen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metodología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4 pasos, es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momento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apliquen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02" name="Google Shape;102;p14"/>
          <p:cNvSpPr txBox="1"/>
          <p:nvPr/>
        </p:nvSpPr>
        <p:spPr>
          <a:xfrm>
            <a:off x="1809750" y="4282529"/>
            <a:ext cx="85725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Recuerden: la clave es el análisis previo en la tabla. No se apresuren a escribir código. ¡Sean detectives de patrones!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105025"/>
            <a:ext cx="110490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3267075"/>
            <a:ext cx="5381625" cy="305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571500" y="47625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855"/>
                </a:solidFill>
                <a:latin typeface="Poppins"/>
                <a:ea typeface="Poppins"/>
                <a:cs typeface="Poppins"/>
                <a:sym typeface="Poppins"/>
              </a:rPr>
              <a:t>Reto 1: Sucesión 4 (2431)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571500" y="1457325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Vamos a resolver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siguiente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problema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paso a paso,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comenzando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por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análisis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sus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componentes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pic>
        <p:nvPicPr>
          <p:cNvPr id="111" name="Google Shape;11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7625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679626" y="2361753"/>
            <a:ext cx="4832598" cy="365224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571500" y="3362325"/>
            <a:ext cx="5650706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Descripción del Problema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571500" y="3743325"/>
            <a:ext cx="5381625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Calcular</a:t>
            </a:r>
            <a:r>
              <a:rPr lang="en-US" sz="127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7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27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valor de S para </a:t>
            </a:r>
            <a:r>
              <a:rPr lang="en-US" sz="127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los</a:t>
            </a:r>
            <a:r>
              <a:rPr lang="en-US" sz="127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'n' </a:t>
            </a:r>
            <a:r>
              <a:rPr lang="en-US" sz="127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términos</a:t>
            </a:r>
            <a:r>
              <a:rPr lang="en-US" sz="127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la </a:t>
            </a:r>
            <a:r>
              <a:rPr lang="en-US" sz="127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serie</a:t>
            </a:r>
            <a:r>
              <a:rPr lang="en-US" sz="127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dado un valor 'x'.</a:t>
            </a:r>
            <a:endParaRPr dirty="0"/>
          </a:p>
        </p:txBody>
      </p:sp>
      <p:sp>
        <p:nvSpPr>
          <p:cNvPr id="115" name="Google Shape;115;p15"/>
          <p:cNvSpPr txBox="1"/>
          <p:nvPr/>
        </p:nvSpPr>
        <p:spPr>
          <a:xfrm>
            <a:off x="6534150" y="3514725"/>
            <a:ext cx="508063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854D0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Pistas para el Análisis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619875" y="3940968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6724650" y="3943350"/>
            <a:ext cx="46482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¿Cómo se comporta el número que se suma a 'x' en el numerador?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619875" y="4560093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724650" y="4562475"/>
            <a:ext cx="46482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 denominador es una serie independiente. ¿Cuál es su regla?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6619875" y="5179218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724650" y="5181600"/>
            <a:ext cx="46482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¿Se necesita una variable extra para controlar el denominador?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6619875" y="5798343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6724650" y="5800725"/>
            <a:ext cx="464820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¿Hay alternancia de signos?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809625" y="4129087"/>
            <a:ext cx="514350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Entrada: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Un entero 'n' y un valor 'x'.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809625" y="4514850"/>
            <a:ext cx="514350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Salida: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El valor de S.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571500" y="4052887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03B8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571500" y="4438650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03B8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" grpId="0"/>
      <p:bldP spid="113" grpId="0"/>
      <p:bldP spid="114" grpId="0"/>
      <p:bldP spid="115" grpId="0"/>
      <p:bldP spid="116" grpId="0"/>
      <p:bldP spid="117" grpId="0"/>
      <p:bldP spid="118" grpId="0"/>
      <p:bldP spid="119" grpId="0"/>
      <p:bldP spid="120" grpId="0"/>
      <p:bldP spid="121" grpId="0"/>
      <p:bldP spid="122" grpId="0"/>
      <p:bldP spid="123" grpId="0"/>
      <p:bldP spid="124" grpId="0"/>
      <p:bldP spid="125" grpId="0"/>
      <p:bldP spid="126" grpId="0"/>
      <p:bldP spid="12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767262"/>
            <a:ext cx="11049000" cy="198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571500" y="109537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855"/>
                </a:solidFill>
                <a:latin typeface="Poppins"/>
                <a:ea typeface="Poppins"/>
                <a:cs typeface="Poppins"/>
                <a:sym typeface="Poppins"/>
              </a:rPr>
              <a:t>Análisis Detallado de los Patrones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571500" y="1090612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Desglosamos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serie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una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tabla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para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entender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comportamiento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cada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componente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definir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las variables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necesitaremos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pic>
        <p:nvPicPr>
          <p:cNvPr id="135" name="Google Shape;13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00" y="109537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/>
          <p:nvPr/>
        </p:nvSpPr>
        <p:spPr>
          <a:xfrm>
            <a:off x="571500" y="1681162"/>
            <a:ext cx="11049000" cy="2895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7" name="Google Shape;137;p16"/>
          <p:cNvGraphicFramePr/>
          <p:nvPr/>
        </p:nvGraphicFramePr>
        <p:xfrm>
          <a:off x="571500" y="1681162"/>
          <a:ext cx="11039500" cy="295023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028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6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8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8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87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9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>
                          <a:solidFill>
                            <a:srgbClr val="0F1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Componente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>
                          <a:solidFill>
                            <a:srgbClr val="0F1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Término 1</a:t>
                      </a:r>
                      <a:br>
                        <a:rPr lang="en-US" sz="18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lang="en-US" sz="1275" b="1" i="0" u="none" strike="noStrike" cap="none">
                          <a:solidFill>
                            <a:srgbClr val="0F1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</a:br>
                      <a:r>
                        <a:rPr lang="en-US" sz="1275" b="1" i="0" u="none" strike="noStrike" cap="none">
                          <a:solidFill>
                            <a:srgbClr val="0F1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        (i=1)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>
                          <a:solidFill>
                            <a:srgbClr val="0F1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Término 2</a:t>
                      </a:r>
                      <a:br>
                        <a:rPr lang="en-US" sz="18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lang="en-US" sz="1275" b="1" i="0" u="none" strike="noStrike" cap="none">
                          <a:solidFill>
                            <a:srgbClr val="0F1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</a:br>
                      <a:r>
                        <a:rPr lang="en-US" sz="1275" b="1" i="0" u="none" strike="noStrike" cap="none">
                          <a:solidFill>
                            <a:srgbClr val="0F1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        (i=2)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>
                          <a:solidFill>
                            <a:srgbClr val="0F1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Término 3</a:t>
                      </a:r>
                      <a:br>
                        <a:rPr lang="en-US" sz="18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lang="en-US" sz="1275" b="1" i="0" u="none" strike="noStrike" cap="none">
                          <a:solidFill>
                            <a:srgbClr val="0F1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</a:br>
                      <a:r>
                        <a:rPr lang="en-US" sz="1275" b="1" i="0" u="none" strike="noStrike" cap="none">
                          <a:solidFill>
                            <a:srgbClr val="0F1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        (i=3)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>
                          <a:solidFill>
                            <a:srgbClr val="0F1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Regla / Conclusión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Valor sumado a 'x'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Corresponde directamente al contador del bucle </a:t>
                      </a:r>
                      <a:r>
                        <a:rPr lang="en-US" sz="12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</a:t>
                      </a: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Numerador Completo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(x + 1)!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(x + 2)!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(x + 3)!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 debe calcular el </a:t>
                      </a:r>
                      <a:r>
                        <a:rPr lang="en-US" sz="12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factorial</a:t>
                      </a: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de (x + i).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Denominador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Serie independiente. Inicia en 3 y </a:t>
                      </a:r>
                      <a:r>
                        <a:rPr lang="en-US" sz="12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suma 2</a:t>
                      </a: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en cada paso.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Signo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+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+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+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Todos los términos son positivos. </a:t>
                      </a:r>
                      <a:r>
                        <a:rPr lang="en-US" sz="12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 se necesita</a:t>
                      </a: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variable de signo.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8" name="Google Shape;138;p16"/>
          <p:cNvSpPr txBox="1"/>
          <p:nvPr/>
        </p:nvSpPr>
        <p:spPr>
          <a:xfrm>
            <a:off x="771525" y="4967287"/>
            <a:ext cx="11181397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Variables Requeridas:</a:t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576262" y="2466975"/>
            <a:ext cx="20286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2595413" y="1685925"/>
            <a:ext cx="9525" cy="790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2604938" y="2466975"/>
            <a:ext cx="12769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3872358" y="1685925"/>
            <a:ext cx="9525" cy="790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3881883" y="2466975"/>
            <a:ext cx="13180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5190380" y="1685925"/>
            <a:ext cx="9525" cy="790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5199905" y="2466975"/>
            <a:ext cx="13284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6518820" y="1685925"/>
            <a:ext cx="9525" cy="790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6528345" y="2466975"/>
            <a:ext cx="50873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11606212" y="1685925"/>
            <a:ext cx="9525" cy="790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576262" y="2990850"/>
            <a:ext cx="20286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2595413" y="2476500"/>
            <a:ext cx="9525" cy="523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2604938" y="2990850"/>
            <a:ext cx="12769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3872358" y="2476500"/>
            <a:ext cx="9525" cy="523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3881883" y="2990850"/>
            <a:ext cx="13180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5190380" y="2476500"/>
            <a:ext cx="9525" cy="523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5199905" y="2990850"/>
            <a:ext cx="13284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6518820" y="2476500"/>
            <a:ext cx="9525" cy="523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6528345" y="2990850"/>
            <a:ext cx="50873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11606212" y="2476500"/>
            <a:ext cx="9525" cy="523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576262" y="3514725"/>
            <a:ext cx="20286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2595413" y="3000375"/>
            <a:ext cx="9525" cy="523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2604938" y="3514725"/>
            <a:ext cx="12769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/>
          <p:nvPr/>
        </p:nvSpPr>
        <p:spPr>
          <a:xfrm>
            <a:off x="3872358" y="3000375"/>
            <a:ext cx="9525" cy="523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3881883" y="3514725"/>
            <a:ext cx="13180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6"/>
          <p:cNvSpPr/>
          <p:nvPr/>
        </p:nvSpPr>
        <p:spPr>
          <a:xfrm>
            <a:off x="5190380" y="3000375"/>
            <a:ext cx="9525" cy="523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6"/>
          <p:cNvSpPr/>
          <p:nvPr/>
        </p:nvSpPr>
        <p:spPr>
          <a:xfrm>
            <a:off x="5199905" y="3514725"/>
            <a:ext cx="13284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6518820" y="3000375"/>
            <a:ext cx="9525" cy="523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6528345" y="3514725"/>
            <a:ext cx="50873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6"/>
          <p:cNvSpPr/>
          <p:nvPr/>
        </p:nvSpPr>
        <p:spPr>
          <a:xfrm>
            <a:off x="11606212" y="3000375"/>
            <a:ext cx="9525" cy="523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576262" y="4038600"/>
            <a:ext cx="20286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2595413" y="3524250"/>
            <a:ext cx="9525" cy="523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2604938" y="4038600"/>
            <a:ext cx="12769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3872358" y="3524250"/>
            <a:ext cx="9525" cy="523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6"/>
          <p:cNvSpPr/>
          <p:nvPr/>
        </p:nvSpPr>
        <p:spPr>
          <a:xfrm>
            <a:off x="3881883" y="4038600"/>
            <a:ext cx="13180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6"/>
          <p:cNvSpPr/>
          <p:nvPr/>
        </p:nvSpPr>
        <p:spPr>
          <a:xfrm>
            <a:off x="5190380" y="3524250"/>
            <a:ext cx="9525" cy="523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6"/>
          <p:cNvSpPr/>
          <p:nvPr/>
        </p:nvSpPr>
        <p:spPr>
          <a:xfrm>
            <a:off x="5199905" y="4038600"/>
            <a:ext cx="13284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/>
          <p:nvPr/>
        </p:nvSpPr>
        <p:spPr>
          <a:xfrm>
            <a:off x="6518820" y="3524250"/>
            <a:ext cx="9525" cy="523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6"/>
          <p:cNvSpPr/>
          <p:nvPr/>
        </p:nvSpPr>
        <p:spPr>
          <a:xfrm>
            <a:off x="6528345" y="4038600"/>
            <a:ext cx="50873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6"/>
          <p:cNvSpPr/>
          <p:nvPr/>
        </p:nvSpPr>
        <p:spPr>
          <a:xfrm>
            <a:off x="11606212" y="3524250"/>
            <a:ext cx="9525" cy="523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6"/>
          <p:cNvSpPr/>
          <p:nvPr/>
        </p:nvSpPr>
        <p:spPr>
          <a:xfrm>
            <a:off x="576262" y="4562475"/>
            <a:ext cx="20286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6"/>
          <p:cNvSpPr/>
          <p:nvPr/>
        </p:nvSpPr>
        <p:spPr>
          <a:xfrm>
            <a:off x="2595413" y="4048125"/>
            <a:ext cx="9525" cy="523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6"/>
          <p:cNvSpPr/>
          <p:nvPr/>
        </p:nvSpPr>
        <p:spPr>
          <a:xfrm>
            <a:off x="2604938" y="4562475"/>
            <a:ext cx="12769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6"/>
          <p:cNvSpPr/>
          <p:nvPr/>
        </p:nvSpPr>
        <p:spPr>
          <a:xfrm>
            <a:off x="3872358" y="4048125"/>
            <a:ext cx="9525" cy="523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6"/>
          <p:cNvSpPr/>
          <p:nvPr/>
        </p:nvSpPr>
        <p:spPr>
          <a:xfrm>
            <a:off x="3881883" y="4562475"/>
            <a:ext cx="13180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6"/>
          <p:cNvSpPr/>
          <p:nvPr/>
        </p:nvSpPr>
        <p:spPr>
          <a:xfrm>
            <a:off x="5190380" y="4048125"/>
            <a:ext cx="9525" cy="523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6"/>
          <p:cNvSpPr/>
          <p:nvPr/>
        </p:nvSpPr>
        <p:spPr>
          <a:xfrm>
            <a:off x="5199905" y="4562475"/>
            <a:ext cx="13284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6"/>
          <p:cNvSpPr/>
          <p:nvPr/>
        </p:nvSpPr>
        <p:spPr>
          <a:xfrm>
            <a:off x="6518820" y="4048125"/>
            <a:ext cx="9525" cy="523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6"/>
          <p:cNvSpPr/>
          <p:nvPr/>
        </p:nvSpPr>
        <p:spPr>
          <a:xfrm>
            <a:off x="6528345" y="4562475"/>
            <a:ext cx="50873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6"/>
          <p:cNvSpPr/>
          <p:nvPr/>
        </p:nvSpPr>
        <p:spPr>
          <a:xfrm>
            <a:off x="11606212" y="4048125"/>
            <a:ext cx="9525" cy="523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6"/>
          <p:cNvSpPr txBox="1"/>
          <p:nvPr/>
        </p:nvSpPr>
        <p:spPr>
          <a:xfrm>
            <a:off x="1009650" y="5319712"/>
            <a:ext cx="104108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Entradas: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`n` (entero), `x` (real o entero).</a:t>
            </a:r>
            <a:endParaRPr/>
          </a:p>
        </p:txBody>
      </p:sp>
      <p:sp>
        <p:nvSpPr>
          <p:cNvPr id="190" name="Google Shape;190;p16"/>
          <p:cNvSpPr txBox="1"/>
          <p:nvPr/>
        </p:nvSpPr>
        <p:spPr>
          <a:xfrm>
            <a:off x="1009650" y="5638800"/>
            <a:ext cx="104108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Contador: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`i` (entero, para el bucle `para`).</a:t>
            </a:r>
            <a:endParaRPr/>
          </a:p>
        </p:txBody>
      </p:sp>
      <p:sp>
        <p:nvSpPr>
          <p:cNvPr id="191" name="Google Shape;191;p16"/>
          <p:cNvSpPr txBox="1"/>
          <p:nvPr/>
        </p:nvSpPr>
        <p:spPr>
          <a:xfrm>
            <a:off x="1009650" y="5957887"/>
            <a:ext cx="104108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Variable auxiliar: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`denominador` (entero, inicia en 3).</a:t>
            </a:r>
            <a:endParaRPr/>
          </a:p>
        </p:txBody>
      </p:sp>
      <p:sp>
        <p:nvSpPr>
          <p:cNvPr id="192" name="Google Shape;192;p16"/>
          <p:cNvSpPr txBox="1"/>
          <p:nvPr/>
        </p:nvSpPr>
        <p:spPr>
          <a:xfrm>
            <a:off x="1009650" y="6276975"/>
            <a:ext cx="104108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Acumulador: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`S` (real, para la suma, inicia en 0).</a:t>
            </a:r>
            <a:endParaRPr/>
          </a:p>
        </p:txBody>
      </p:sp>
      <p:sp>
        <p:nvSpPr>
          <p:cNvPr id="193" name="Google Shape;193;p16"/>
          <p:cNvSpPr txBox="1"/>
          <p:nvPr/>
        </p:nvSpPr>
        <p:spPr>
          <a:xfrm>
            <a:off x="771525" y="5243512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03B8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4" name="Google Shape;194;p16"/>
          <p:cNvSpPr txBox="1"/>
          <p:nvPr/>
        </p:nvSpPr>
        <p:spPr>
          <a:xfrm>
            <a:off x="771525" y="5562600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03B8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5" name="Google Shape;195;p16"/>
          <p:cNvSpPr txBox="1"/>
          <p:nvPr/>
        </p:nvSpPr>
        <p:spPr>
          <a:xfrm>
            <a:off x="771525" y="5881687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03B8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6" name="Google Shape;196;p16"/>
          <p:cNvSpPr txBox="1"/>
          <p:nvPr/>
        </p:nvSpPr>
        <p:spPr>
          <a:xfrm>
            <a:off x="771525" y="6200775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03B8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" grpId="0"/>
      <p:bldP spid="136" grpId="0" animBg="1"/>
      <p:bldP spid="139" grpId="0" animBg="1"/>
      <p:bldP spid="140" grpId="0" animBg="1"/>
      <p:bldP spid="141" grpId="0" animBg="1"/>
      <p:bldP spid="142" grpId="0" animBg="1"/>
      <p:bldP spid="143" grpId="0" animBg="1"/>
      <p:bldP spid="144" grpId="0" animBg="1"/>
      <p:bldP spid="145" grpId="0" animBg="1"/>
      <p:bldP spid="146" grpId="0" animBg="1"/>
      <p:bldP spid="147" grpId="0" animBg="1"/>
      <p:bldP spid="148" grpId="0" animBg="1"/>
      <p:bldP spid="149" grpId="0" animBg="1"/>
      <p:bldP spid="150" grpId="0" animBg="1"/>
      <p:bldP spid="151" grpId="0" animBg="1"/>
      <p:bldP spid="152" grpId="0" animBg="1"/>
      <p:bldP spid="153" grpId="0" animBg="1"/>
      <p:bldP spid="154" grpId="0" animBg="1"/>
      <p:bldP spid="155" grpId="0" animBg="1"/>
      <p:bldP spid="156" grpId="0" animBg="1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64" grpId="0" animBg="1"/>
      <p:bldP spid="165" grpId="0" animBg="1"/>
      <p:bldP spid="166" grpId="0" animBg="1"/>
      <p:bldP spid="167" grpId="0" animBg="1"/>
      <p:bldP spid="168" grpId="0" animBg="1"/>
      <p:bldP spid="169" grpId="0" animBg="1"/>
      <p:bldP spid="170" grpId="0" animBg="1"/>
      <p:bldP spid="171" grpId="0" animBg="1"/>
      <p:bldP spid="172" grpId="0" animBg="1"/>
      <p:bldP spid="173" grpId="0" animBg="1"/>
      <p:bldP spid="174" grpId="0" animBg="1"/>
      <p:bldP spid="175" grpId="0" animBg="1"/>
      <p:bldP spid="176" grpId="0" animBg="1"/>
      <p:bldP spid="177" grpId="0" animBg="1"/>
      <p:bldP spid="178" grpId="0" animBg="1"/>
      <p:bldP spid="179" grpId="0" animBg="1"/>
      <p:bldP spid="180" grpId="0" animBg="1"/>
      <p:bldP spid="181" grpId="0" animBg="1"/>
      <p:bldP spid="182" grpId="0" animBg="1"/>
      <p:bldP spid="183" grpId="0" animBg="1"/>
      <p:bldP spid="184" grpId="0" animBg="1"/>
      <p:bldP spid="185" grpId="0" animBg="1"/>
      <p:bldP spid="186" grpId="0" animBg="1"/>
      <p:bldP spid="187" grpId="0" animBg="1"/>
      <p:bldP spid="188" grpId="0" animBg="1"/>
      <p:bldP spid="189" grpId="0"/>
      <p:bldP spid="190" grpId="0"/>
      <p:bldP spid="191" grpId="0"/>
      <p:bldP spid="192" grpId="0"/>
      <p:bldP spid="193" grpId="0"/>
      <p:bldP spid="194" grpId="0"/>
      <p:bldP spid="195" grpId="0"/>
      <p:bldP spid="19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652587"/>
            <a:ext cx="11049000" cy="49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7"/>
          <p:cNvSpPr txBox="1"/>
          <p:nvPr/>
        </p:nvSpPr>
        <p:spPr>
          <a:xfrm>
            <a:off x="571500" y="252412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855"/>
                </a:solidFill>
                <a:latin typeface="Poppins"/>
                <a:ea typeface="Poppins"/>
                <a:cs typeface="Poppins"/>
                <a:sym typeface="Poppins"/>
              </a:rPr>
              <a:t>Traducción a Código Java</a:t>
            </a:r>
            <a:endParaRPr/>
          </a:p>
        </p:txBody>
      </p:sp>
      <p:sp>
        <p:nvSpPr>
          <p:cNvPr id="203" name="Google Shape;203;p17"/>
          <p:cNvSpPr txBox="1"/>
          <p:nvPr/>
        </p:nvSpPr>
        <p:spPr>
          <a:xfrm>
            <a:off x="571500" y="1233487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Finalmente, ensamblamos las reglas identificadas en una estructura de programa en Java, siguiendo el orden lógico: calcular, acumular y actualizar.</a:t>
            </a:r>
            <a:endParaRPr/>
          </a:p>
        </p:txBody>
      </p:sp>
      <p:pic>
        <p:nvPicPr>
          <p:cNvPr id="204" name="Google Shape;20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350" y="289837"/>
            <a:ext cx="428625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381250"/>
            <a:ext cx="11049000" cy="902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407521"/>
            <a:ext cx="11049000" cy="766762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8"/>
          <p:cNvSpPr txBox="1"/>
          <p:nvPr/>
        </p:nvSpPr>
        <p:spPr>
          <a:xfrm>
            <a:off x="571500" y="47625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002855"/>
                </a:solidFill>
                <a:latin typeface="Poppins"/>
                <a:ea typeface="Poppins"/>
                <a:cs typeface="Poppins"/>
                <a:sym typeface="Poppins"/>
              </a:rPr>
              <a:t>Análisis</a:t>
            </a:r>
            <a:r>
              <a:rPr lang="en-US" sz="3150" b="1" i="0" u="none" strike="noStrike" cap="none" dirty="0">
                <a:solidFill>
                  <a:srgbClr val="002855"/>
                </a:solidFill>
                <a:latin typeface="Poppins"/>
                <a:ea typeface="Poppins"/>
                <a:cs typeface="Poppins"/>
                <a:sym typeface="Poppins"/>
              </a:rPr>
              <a:t> del Reto 2: Dos </a:t>
            </a:r>
            <a:r>
              <a:rPr lang="en-US" sz="3150" b="1" i="0" u="none" strike="noStrike" cap="none" dirty="0" err="1">
                <a:solidFill>
                  <a:srgbClr val="002855"/>
                </a:solidFill>
                <a:latin typeface="Poppins"/>
                <a:ea typeface="Poppins"/>
                <a:cs typeface="Poppins"/>
                <a:sym typeface="Poppins"/>
              </a:rPr>
              <a:t>Patrones</a:t>
            </a:r>
            <a:r>
              <a:rPr lang="en-US" sz="3150" b="1" i="0" u="none" strike="noStrike" cap="none" dirty="0">
                <a:solidFill>
                  <a:srgbClr val="002855"/>
                </a:solidFill>
                <a:latin typeface="Poppins"/>
                <a:ea typeface="Poppins"/>
                <a:cs typeface="Poppins"/>
                <a:sym typeface="Poppins"/>
              </a:rPr>
              <a:t> a la Vez</a:t>
            </a:r>
            <a:endParaRPr dirty="0"/>
          </a:p>
        </p:txBody>
      </p:sp>
      <p:sp>
        <p:nvSpPr>
          <p:cNvPr id="212" name="Google Shape;212;p18"/>
          <p:cNvSpPr txBox="1"/>
          <p:nvPr/>
        </p:nvSpPr>
        <p:spPr>
          <a:xfrm>
            <a:off x="571500" y="1457325"/>
            <a:ext cx="110490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Este </a:t>
            </a:r>
            <a:r>
              <a:rPr lang="en-US" sz="142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problema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es </a:t>
            </a:r>
            <a:r>
              <a:rPr lang="en-US" sz="142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interesante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porque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tanto </a:t>
            </a:r>
            <a:r>
              <a:rPr lang="en-US" sz="142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numerador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como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denominador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siguen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secuencias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independientes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no </a:t>
            </a:r>
            <a:r>
              <a:rPr lang="en-US" sz="142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están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ligadas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directamente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al </a:t>
            </a:r>
            <a:r>
              <a:rPr lang="en-US" sz="142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contador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del </a:t>
            </a:r>
            <a:r>
              <a:rPr lang="en-US" sz="142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bucle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`</a:t>
            </a:r>
            <a:r>
              <a:rPr lang="en-US" sz="142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`.</a:t>
            </a:r>
            <a:endParaRPr dirty="0"/>
          </a:p>
        </p:txBody>
      </p:sp>
      <p:pic>
        <p:nvPicPr>
          <p:cNvPr id="213" name="Google Shape;213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9112" y="119063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8"/>
          <p:cNvSpPr/>
          <p:nvPr/>
        </p:nvSpPr>
        <p:spPr>
          <a:xfrm>
            <a:off x="571500" y="3569196"/>
            <a:ext cx="11049000" cy="16002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5" name="Google Shape;215;p18"/>
          <p:cNvGraphicFramePr/>
          <p:nvPr/>
        </p:nvGraphicFramePr>
        <p:xfrm>
          <a:off x="571500" y="3569196"/>
          <a:ext cx="11039475" cy="16002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62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8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3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5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59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>
                          <a:solidFill>
                            <a:srgbClr val="0F1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Componente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>
                          <a:solidFill>
                            <a:srgbClr val="0F1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Término 1 (i=1)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>
                          <a:solidFill>
                            <a:srgbClr val="0F1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Término 2 (i=2)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>
                          <a:solidFill>
                            <a:srgbClr val="0F1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Término 3 (i=3)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>
                          <a:solidFill>
                            <a:srgbClr val="0F1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Regla / Conclusión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Valor del Factorial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Inicia en 1 y </a:t>
                      </a:r>
                      <a:r>
                        <a:rPr lang="en-US" sz="12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suma 2</a:t>
                      </a: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en cada paso.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Exponente del Denominador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Inicia en 2 y </a:t>
                      </a:r>
                      <a:r>
                        <a:rPr lang="en-US" sz="12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suma 2</a:t>
                      </a: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en cada paso.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16" name="Google Shape;216;p18"/>
          <p:cNvSpPr txBox="1"/>
          <p:nvPr/>
        </p:nvSpPr>
        <p:spPr>
          <a:xfrm>
            <a:off x="866775" y="5655171"/>
            <a:ext cx="105060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854D0E"/>
                </a:solidFill>
                <a:latin typeface="Lato"/>
                <a:ea typeface="Lato"/>
                <a:cs typeface="Lato"/>
                <a:sym typeface="Lato"/>
              </a:rPr>
              <a:t>Conclusión Clave:</a:t>
            </a:r>
            <a:r>
              <a:rPr lang="en-US" sz="1425" b="0" i="0" u="none" strike="noStrike" cap="none">
                <a:solidFill>
                  <a:srgbClr val="854D0E"/>
                </a:solidFill>
                <a:latin typeface="Lato"/>
                <a:ea typeface="Lato"/>
                <a:cs typeface="Lato"/>
                <a:sym typeface="Lato"/>
              </a:rPr>
              <a:t> Necesitamos </a:t>
            </a:r>
            <a:r>
              <a:rPr lang="en-US" sz="1425" b="1" i="0" u="none" strike="noStrike" cap="none">
                <a:solidFill>
                  <a:srgbClr val="854D0E"/>
                </a:solidFill>
                <a:latin typeface="Lato"/>
                <a:ea typeface="Lato"/>
                <a:cs typeface="Lato"/>
                <a:sym typeface="Lato"/>
              </a:rPr>
              <a:t>dos variables auxiliares</a:t>
            </a:r>
            <a:r>
              <a:rPr lang="en-US" sz="1425" b="0" i="0" u="none" strike="noStrike" cap="none">
                <a:solidFill>
                  <a:srgbClr val="854D0E"/>
                </a:solidFill>
                <a:latin typeface="Lato"/>
                <a:ea typeface="Lato"/>
                <a:cs typeface="Lato"/>
                <a:sym typeface="Lato"/>
              </a:rPr>
              <a:t> para controlar estos dos patrones de forma independiente.</a:t>
            </a:r>
            <a:endParaRPr/>
          </a:p>
        </p:txBody>
      </p:sp>
      <p:pic>
        <p:nvPicPr>
          <p:cNvPr id="217" name="Google Shape;217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03539" y="2691258"/>
            <a:ext cx="3184921" cy="344537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8"/>
          <p:cNvSpPr/>
          <p:nvPr/>
        </p:nvSpPr>
        <p:spPr>
          <a:xfrm>
            <a:off x="576262" y="4107358"/>
            <a:ext cx="26232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8"/>
          <p:cNvSpPr/>
          <p:nvPr/>
        </p:nvSpPr>
        <p:spPr>
          <a:xfrm>
            <a:off x="3189982" y="3573958"/>
            <a:ext cx="9525" cy="5429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8"/>
          <p:cNvSpPr/>
          <p:nvPr/>
        </p:nvSpPr>
        <p:spPr>
          <a:xfrm>
            <a:off x="3199507" y="4107358"/>
            <a:ext cx="17880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8"/>
          <p:cNvSpPr/>
          <p:nvPr/>
        </p:nvSpPr>
        <p:spPr>
          <a:xfrm>
            <a:off x="4978003" y="3573958"/>
            <a:ext cx="9525" cy="5429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8"/>
          <p:cNvSpPr/>
          <p:nvPr/>
        </p:nvSpPr>
        <p:spPr>
          <a:xfrm>
            <a:off x="4987528" y="4107358"/>
            <a:ext cx="18737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8"/>
          <p:cNvSpPr/>
          <p:nvPr/>
        </p:nvSpPr>
        <p:spPr>
          <a:xfrm>
            <a:off x="6851749" y="3573958"/>
            <a:ext cx="9525" cy="5429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8"/>
          <p:cNvSpPr/>
          <p:nvPr/>
        </p:nvSpPr>
        <p:spPr>
          <a:xfrm>
            <a:off x="6861274" y="4107358"/>
            <a:ext cx="189517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8"/>
          <p:cNvSpPr/>
          <p:nvPr/>
        </p:nvSpPr>
        <p:spPr>
          <a:xfrm>
            <a:off x="8746926" y="3573958"/>
            <a:ext cx="9525" cy="5429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8"/>
          <p:cNvSpPr/>
          <p:nvPr/>
        </p:nvSpPr>
        <p:spPr>
          <a:xfrm>
            <a:off x="8756451" y="4107358"/>
            <a:ext cx="28592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8"/>
          <p:cNvSpPr/>
          <p:nvPr/>
        </p:nvSpPr>
        <p:spPr>
          <a:xfrm>
            <a:off x="11606212" y="3573958"/>
            <a:ext cx="9525" cy="5429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8"/>
          <p:cNvSpPr/>
          <p:nvPr/>
        </p:nvSpPr>
        <p:spPr>
          <a:xfrm>
            <a:off x="576262" y="4631233"/>
            <a:ext cx="26232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8"/>
          <p:cNvSpPr/>
          <p:nvPr/>
        </p:nvSpPr>
        <p:spPr>
          <a:xfrm>
            <a:off x="3189982" y="4116883"/>
            <a:ext cx="9525" cy="523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8"/>
          <p:cNvSpPr/>
          <p:nvPr/>
        </p:nvSpPr>
        <p:spPr>
          <a:xfrm>
            <a:off x="3199507" y="4631233"/>
            <a:ext cx="17880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8"/>
          <p:cNvSpPr/>
          <p:nvPr/>
        </p:nvSpPr>
        <p:spPr>
          <a:xfrm>
            <a:off x="4978003" y="4116883"/>
            <a:ext cx="9525" cy="523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8"/>
          <p:cNvSpPr/>
          <p:nvPr/>
        </p:nvSpPr>
        <p:spPr>
          <a:xfrm>
            <a:off x="4987528" y="4631233"/>
            <a:ext cx="18737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8"/>
          <p:cNvSpPr/>
          <p:nvPr/>
        </p:nvSpPr>
        <p:spPr>
          <a:xfrm>
            <a:off x="6851749" y="4116883"/>
            <a:ext cx="9525" cy="523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8"/>
          <p:cNvSpPr/>
          <p:nvPr/>
        </p:nvSpPr>
        <p:spPr>
          <a:xfrm>
            <a:off x="6861274" y="4631233"/>
            <a:ext cx="189517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8"/>
          <p:cNvSpPr/>
          <p:nvPr/>
        </p:nvSpPr>
        <p:spPr>
          <a:xfrm>
            <a:off x="8746926" y="4116883"/>
            <a:ext cx="9525" cy="523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8"/>
          <p:cNvSpPr/>
          <p:nvPr/>
        </p:nvSpPr>
        <p:spPr>
          <a:xfrm>
            <a:off x="8756451" y="4631233"/>
            <a:ext cx="28592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8"/>
          <p:cNvSpPr/>
          <p:nvPr/>
        </p:nvSpPr>
        <p:spPr>
          <a:xfrm>
            <a:off x="11606212" y="4116883"/>
            <a:ext cx="9525" cy="523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8"/>
          <p:cNvSpPr/>
          <p:nvPr/>
        </p:nvSpPr>
        <p:spPr>
          <a:xfrm>
            <a:off x="576262" y="5155108"/>
            <a:ext cx="26232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8"/>
          <p:cNvSpPr/>
          <p:nvPr/>
        </p:nvSpPr>
        <p:spPr>
          <a:xfrm>
            <a:off x="3189982" y="4640758"/>
            <a:ext cx="9525" cy="523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8"/>
          <p:cNvSpPr/>
          <p:nvPr/>
        </p:nvSpPr>
        <p:spPr>
          <a:xfrm>
            <a:off x="3199507" y="5155108"/>
            <a:ext cx="17880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8"/>
          <p:cNvSpPr/>
          <p:nvPr/>
        </p:nvSpPr>
        <p:spPr>
          <a:xfrm>
            <a:off x="4978003" y="4640758"/>
            <a:ext cx="9525" cy="523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8"/>
          <p:cNvSpPr/>
          <p:nvPr/>
        </p:nvSpPr>
        <p:spPr>
          <a:xfrm>
            <a:off x="4987528" y="5155108"/>
            <a:ext cx="18737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8"/>
          <p:cNvSpPr/>
          <p:nvPr/>
        </p:nvSpPr>
        <p:spPr>
          <a:xfrm>
            <a:off x="6851749" y="4640758"/>
            <a:ext cx="9525" cy="523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8"/>
          <p:cNvSpPr/>
          <p:nvPr/>
        </p:nvSpPr>
        <p:spPr>
          <a:xfrm>
            <a:off x="6861274" y="5155108"/>
            <a:ext cx="189517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8"/>
          <p:cNvSpPr/>
          <p:nvPr/>
        </p:nvSpPr>
        <p:spPr>
          <a:xfrm>
            <a:off x="8746926" y="4640758"/>
            <a:ext cx="9525" cy="523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8"/>
          <p:cNvSpPr/>
          <p:nvPr/>
        </p:nvSpPr>
        <p:spPr>
          <a:xfrm>
            <a:off x="8756451" y="5155108"/>
            <a:ext cx="28592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8"/>
          <p:cNvSpPr/>
          <p:nvPr/>
        </p:nvSpPr>
        <p:spPr>
          <a:xfrm>
            <a:off x="11606212" y="4640758"/>
            <a:ext cx="9525" cy="523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" grpId="0"/>
      <p:bldP spid="214" grpId="0" animBg="1"/>
      <p:bldP spid="216" grpId="0"/>
      <p:bldP spid="218" grpId="0" animBg="1"/>
      <p:bldP spid="219" grpId="0" animBg="1"/>
      <p:bldP spid="220" grpId="0" animBg="1"/>
      <p:bldP spid="221" grpId="0" animBg="1"/>
      <p:bldP spid="222" grpId="0" animBg="1"/>
      <p:bldP spid="223" grpId="0" animBg="1"/>
      <p:bldP spid="224" grpId="0" animBg="1"/>
      <p:bldP spid="225" grpId="0" animBg="1"/>
      <p:bldP spid="226" grpId="0" animBg="1"/>
      <p:bldP spid="227" grpId="0" animBg="1"/>
      <p:bldP spid="228" grpId="0" animBg="1"/>
      <p:bldP spid="229" grpId="0" animBg="1"/>
      <p:bldP spid="230" grpId="0" animBg="1"/>
      <p:bldP spid="231" grpId="0" animBg="1"/>
      <p:bldP spid="232" grpId="0" animBg="1"/>
      <p:bldP spid="233" grpId="0" animBg="1"/>
      <p:bldP spid="234" grpId="0" animBg="1"/>
      <p:bldP spid="235" grpId="0" animBg="1"/>
      <p:bldP spid="236" grpId="0" animBg="1"/>
      <p:bldP spid="237" grpId="0" animBg="1"/>
      <p:bldP spid="238" grpId="0" animBg="1"/>
      <p:bldP spid="239" grpId="0" animBg="1"/>
      <p:bldP spid="240" grpId="0" animBg="1"/>
      <p:bldP spid="241" grpId="0" animBg="1"/>
      <p:bldP spid="242" grpId="0" animBg="1"/>
      <p:bldP spid="243" grpId="0" animBg="1"/>
      <p:bldP spid="244" grpId="0" animBg="1"/>
      <p:bldP spid="245" grpId="0" animBg="1"/>
      <p:bldP spid="246" grpId="0" animBg="1"/>
      <p:bldP spid="24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733925"/>
            <a:ext cx="11049000" cy="9179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24100"/>
            <a:ext cx="5334000" cy="212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324100"/>
            <a:ext cx="5334000" cy="212407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9"/>
          <p:cNvSpPr txBox="1"/>
          <p:nvPr/>
        </p:nvSpPr>
        <p:spPr>
          <a:xfrm>
            <a:off x="571500" y="47625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855"/>
                </a:solidFill>
                <a:latin typeface="Poppins"/>
                <a:ea typeface="Poppins"/>
                <a:cs typeface="Poppins"/>
                <a:sym typeface="Poppins"/>
              </a:rPr>
              <a:t>Plan de Variables y Lógica</a:t>
            </a:r>
            <a:endParaRPr/>
          </a:p>
        </p:txBody>
      </p:sp>
      <p:sp>
        <p:nvSpPr>
          <p:cNvPr id="256" name="Google Shape;256;p19"/>
          <p:cNvSpPr txBox="1"/>
          <p:nvPr/>
        </p:nvSpPr>
        <p:spPr>
          <a:xfrm>
            <a:off x="571500" y="1457325"/>
            <a:ext cx="11049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Traducimos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nuestro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análisis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un plan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concreto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variables,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definiendo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cómo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se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inicializan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cómo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se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actualizan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dentro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del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bucle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pic>
        <p:nvPicPr>
          <p:cNvPr id="257" name="Google Shape;257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3869" y="47625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9"/>
          <p:cNvSpPr txBox="1"/>
          <p:nvPr/>
        </p:nvSpPr>
        <p:spPr>
          <a:xfrm>
            <a:off x="819150" y="4933950"/>
            <a:ext cx="10601325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991B1B"/>
                </a:solidFill>
                <a:latin typeface="Lato"/>
                <a:ea typeface="Lato"/>
                <a:cs typeface="Lato"/>
                <a:sym typeface="Lato"/>
              </a:rPr>
              <a:t>¡Recordatorio Importante!</a:t>
            </a:r>
            <a:r>
              <a:rPr lang="en-US" sz="1275" b="0" i="0" u="none" strike="noStrike" cap="none">
                <a:solidFill>
                  <a:srgbClr val="991B1B"/>
                </a:solidFill>
                <a:latin typeface="Lato"/>
                <a:ea typeface="Lato"/>
                <a:cs typeface="Lato"/>
                <a:sym typeface="Lato"/>
              </a:rPr>
              <a:t> El cálculo del factorial puede generar números muy grandes. La variable para almacenar el resultado del factorial debe ser de tipo </a:t>
            </a:r>
            <a:r>
              <a:rPr lang="en-US" sz="1275" b="1" i="0" u="none" strike="noStrike" cap="none">
                <a:solidFill>
                  <a:srgbClr val="991B1B"/>
                </a:solidFill>
                <a:latin typeface="Lato"/>
                <a:ea typeface="Lato"/>
                <a:cs typeface="Lato"/>
                <a:sym typeface="Lato"/>
              </a:rPr>
              <a:t>real</a:t>
            </a:r>
            <a:r>
              <a:rPr lang="en-US" sz="1275" b="0" i="0" u="none" strike="noStrike" cap="none">
                <a:solidFill>
                  <a:srgbClr val="991B1B"/>
                </a:solidFill>
                <a:latin typeface="Lato"/>
                <a:ea typeface="Lato"/>
                <a:cs typeface="Lato"/>
                <a:sym typeface="Lato"/>
              </a:rPr>
              <a:t> para evitar el error de desbordamiento (overflow).</a:t>
            </a:r>
            <a:endParaRPr/>
          </a:p>
        </p:txBody>
      </p:sp>
      <p:sp>
        <p:nvSpPr>
          <p:cNvPr id="259" name="Google Shape;259;p19"/>
          <p:cNvSpPr txBox="1"/>
          <p:nvPr/>
        </p:nvSpPr>
        <p:spPr>
          <a:xfrm>
            <a:off x="698182" y="2571750"/>
            <a:ext cx="508063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Variable 1: Numerador</a:t>
            </a:r>
            <a:endParaRPr/>
          </a:p>
        </p:txBody>
      </p:sp>
      <p:sp>
        <p:nvSpPr>
          <p:cNvPr id="260" name="Google Shape;260;p19"/>
          <p:cNvSpPr txBox="1"/>
          <p:nvPr/>
        </p:nvSpPr>
        <p:spPr>
          <a:xfrm>
            <a:off x="819150" y="3000375"/>
            <a:ext cx="4838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Propósito: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Controlar el número al que se le calcula el factorial (1, 3, 5, ...).</a:t>
            </a:r>
            <a:endParaRPr/>
          </a:p>
        </p:txBody>
      </p:sp>
      <p:sp>
        <p:nvSpPr>
          <p:cNvPr id="261" name="Google Shape;261;p19"/>
          <p:cNvSpPr txBox="1"/>
          <p:nvPr/>
        </p:nvSpPr>
        <p:spPr>
          <a:xfrm>
            <a:off x="819150" y="3324225"/>
            <a:ext cx="4838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Nombre Sugerido: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`numFactorial`.</a:t>
            </a:r>
            <a:endParaRPr/>
          </a:p>
        </p:txBody>
      </p:sp>
      <p:sp>
        <p:nvSpPr>
          <p:cNvPr id="262" name="Google Shape;262;p19"/>
          <p:cNvSpPr txBox="1"/>
          <p:nvPr/>
        </p:nvSpPr>
        <p:spPr>
          <a:xfrm>
            <a:off x="819150" y="3648075"/>
            <a:ext cx="4838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Inicialización (fuera del bucle):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`entero numFactorial = 1;`.</a:t>
            </a:r>
            <a:endParaRPr/>
          </a:p>
        </p:txBody>
      </p:sp>
      <p:sp>
        <p:nvSpPr>
          <p:cNvPr id="263" name="Google Shape;263;p19"/>
          <p:cNvSpPr txBox="1"/>
          <p:nvPr/>
        </p:nvSpPr>
        <p:spPr>
          <a:xfrm>
            <a:off x="819150" y="3971925"/>
            <a:ext cx="4838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Actualización (dentro del bucle):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`numFactorial = numFactorial + 2;`.</a:t>
            </a:r>
            <a:endParaRPr/>
          </a:p>
        </p:txBody>
      </p:sp>
      <p:sp>
        <p:nvSpPr>
          <p:cNvPr id="264" name="Google Shape;264;p19"/>
          <p:cNvSpPr txBox="1"/>
          <p:nvPr/>
        </p:nvSpPr>
        <p:spPr>
          <a:xfrm>
            <a:off x="6413182" y="2571750"/>
            <a:ext cx="508063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Variable 2: Denominador</a:t>
            </a:r>
            <a:endParaRPr/>
          </a:p>
        </p:txBody>
      </p:sp>
      <p:sp>
        <p:nvSpPr>
          <p:cNvPr id="265" name="Google Shape;265;p19"/>
          <p:cNvSpPr txBox="1"/>
          <p:nvPr/>
        </p:nvSpPr>
        <p:spPr>
          <a:xfrm>
            <a:off x="6534150" y="3000375"/>
            <a:ext cx="4838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Propósito: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Controlar el exponente de la base 2 (2, 4, 6, ...).</a:t>
            </a:r>
            <a:endParaRPr/>
          </a:p>
        </p:txBody>
      </p:sp>
      <p:sp>
        <p:nvSpPr>
          <p:cNvPr id="266" name="Google Shape;266;p19"/>
          <p:cNvSpPr txBox="1"/>
          <p:nvPr/>
        </p:nvSpPr>
        <p:spPr>
          <a:xfrm>
            <a:off x="6534150" y="3324225"/>
            <a:ext cx="4838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Nombre Sugerido: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`exponente`.</a:t>
            </a:r>
            <a:endParaRPr/>
          </a:p>
        </p:txBody>
      </p:sp>
      <p:sp>
        <p:nvSpPr>
          <p:cNvPr id="267" name="Google Shape;267;p19"/>
          <p:cNvSpPr txBox="1"/>
          <p:nvPr/>
        </p:nvSpPr>
        <p:spPr>
          <a:xfrm>
            <a:off x="6534150" y="3648075"/>
            <a:ext cx="4838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Inicialización (fuera del bucle):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`entero exponente = 2;`.</a:t>
            </a:r>
            <a:endParaRPr/>
          </a:p>
        </p:txBody>
      </p:sp>
      <p:sp>
        <p:nvSpPr>
          <p:cNvPr id="268" name="Google Shape;268;p19"/>
          <p:cNvSpPr txBox="1"/>
          <p:nvPr/>
        </p:nvSpPr>
        <p:spPr>
          <a:xfrm>
            <a:off x="6534150" y="3971925"/>
            <a:ext cx="4838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Actualización (dentro del bucle):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`exponente = exponente + 2;`.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" grpId="0"/>
      <p:bldP spid="258" grpId="0"/>
      <p:bldP spid="259" grpId="0"/>
      <p:bldP spid="260" grpId="0"/>
      <p:bldP spid="261" grpId="0"/>
      <p:bldP spid="262" grpId="0"/>
      <p:bldP spid="263" grpId="0"/>
      <p:bldP spid="264" grpId="0"/>
      <p:bldP spid="265" grpId="0"/>
      <p:bldP spid="266" grpId="0"/>
      <p:bldP spid="267" grpId="0"/>
      <p:bldP spid="26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0"/>
          <p:cNvSpPr txBox="1"/>
          <p:nvPr/>
        </p:nvSpPr>
        <p:spPr>
          <a:xfrm>
            <a:off x="1333500" y="3371850"/>
            <a:ext cx="1310163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Tarea:</a:t>
            </a:r>
            <a:endParaRPr/>
          </a:p>
        </p:txBody>
      </p:sp>
      <p:sp>
        <p:nvSpPr>
          <p:cNvPr id="274" name="Google Shape;274;p20"/>
          <p:cNvSpPr txBox="1"/>
          <p:nvPr/>
        </p:nvSpPr>
        <p:spPr>
          <a:xfrm>
            <a:off x="1333500" y="4124325"/>
            <a:ext cx="21145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Sucesion</a:t>
            </a:r>
            <a:r>
              <a:rPr lang="en-US" sz="2100" b="0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 3</a:t>
            </a:r>
            <a:endParaRPr dirty="0"/>
          </a:p>
        </p:txBody>
      </p:sp>
      <p:sp>
        <p:nvSpPr>
          <p:cNvPr id="275" name="Google Shape;275;p20"/>
          <p:cNvSpPr txBox="1"/>
          <p:nvPr/>
        </p:nvSpPr>
        <p:spPr>
          <a:xfrm>
            <a:off x="1333500" y="4810125"/>
            <a:ext cx="22161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Sucesion</a:t>
            </a:r>
            <a:r>
              <a:rPr lang="en-US" sz="2100" b="0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 7</a:t>
            </a:r>
            <a:endParaRPr dirty="0"/>
          </a:p>
        </p:txBody>
      </p:sp>
      <p:pic>
        <p:nvPicPr>
          <p:cNvPr id="276" name="Google Shape;27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38250" y="368300"/>
            <a:ext cx="523875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0"/>
          <p:cNvSpPr txBox="1"/>
          <p:nvPr/>
        </p:nvSpPr>
        <p:spPr>
          <a:xfrm>
            <a:off x="1905000" y="339725"/>
            <a:ext cx="575945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001F5C"/>
                </a:solidFill>
                <a:latin typeface="Lato"/>
                <a:ea typeface="Lato"/>
                <a:cs typeface="Lato"/>
                <a:sym typeface="Lato"/>
              </a:rPr>
              <a:t>Institución</a:t>
            </a:r>
            <a:r>
              <a:rPr lang="en-US" sz="1200" b="1" i="0" u="none" strike="noStrike" cap="none" dirty="0">
                <a:solidFill>
                  <a:srgbClr val="001F5C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b="1" i="0" u="none" strike="noStrike" cap="none" dirty="0" err="1">
                <a:solidFill>
                  <a:srgbClr val="001F5C"/>
                </a:solidFill>
                <a:latin typeface="Lato"/>
                <a:ea typeface="Lato"/>
                <a:cs typeface="Lato"/>
                <a:sym typeface="Lato"/>
              </a:rPr>
              <a:t>Universitaria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b="0" i="0" u="none" strike="noStrike" cap="none" dirty="0" err="1">
                <a:solidFill>
                  <a:srgbClr val="003B80"/>
                </a:solidFill>
                <a:latin typeface="Lato"/>
                <a:ea typeface="Lato"/>
                <a:cs typeface="Lato"/>
                <a:sym typeface="Lato"/>
              </a:rPr>
              <a:t>Reacreditada</a:t>
            </a:r>
            <a:r>
              <a:rPr lang="en-US" sz="1200" b="0" i="0" u="none" strike="noStrike" cap="none" dirty="0">
                <a:solidFill>
                  <a:srgbClr val="003B8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b="0" i="0" u="none" strike="noStrike" cap="none" dirty="0" err="1">
                <a:solidFill>
                  <a:srgbClr val="003B80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1200" b="0" i="0" u="none" strike="noStrike" cap="none" dirty="0">
                <a:solidFill>
                  <a:srgbClr val="003B80"/>
                </a:solidFill>
                <a:latin typeface="Lato"/>
                <a:ea typeface="Lato"/>
                <a:cs typeface="Lato"/>
                <a:sym typeface="Lato"/>
              </a:rPr>
              <a:t> Alta Calidad</a:t>
            </a:r>
            <a:endParaRPr dirty="0"/>
          </a:p>
        </p:txBody>
      </p:sp>
      <p:sp>
        <p:nvSpPr>
          <p:cNvPr id="278" name="Google Shape;278;p20"/>
          <p:cNvSpPr txBox="1"/>
          <p:nvPr/>
        </p:nvSpPr>
        <p:spPr>
          <a:xfrm>
            <a:off x="5810250" y="238641"/>
            <a:ext cx="4762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1F5C"/>
                </a:solidFill>
                <a:latin typeface="Lato"/>
                <a:ea typeface="Lato"/>
                <a:cs typeface="Lato"/>
                <a:sym typeface="Lato"/>
              </a:rPr>
              <a:t>80</a:t>
            </a:r>
            <a:r>
              <a:rPr lang="en-US" sz="12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b="0" i="0" u="none" strike="noStrike" cap="none">
                <a:solidFill>
                  <a:srgbClr val="001F5C"/>
                </a:solidFill>
                <a:latin typeface="Lato"/>
                <a:ea typeface="Lato"/>
                <a:cs typeface="Lato"/>
                <a:sym typeface="Lato"/>
              </a:rPr>
              <a:t>Años</a:t>
            </a:r>
            <a:endParaRPr/>
          </a:p>
        </p:txBody>
      </p:sp>
      <p:sp>
        <p:nvSpPr>
          <p:cNvPr id="279" name="Google Shape;279;p20"/>
          <p:cNvSpPr/>
          <p:nvPr/>
        </p:nvSpPr>
        <p:spPr>
          <a:xfrm>
            <a:off x="5667375" y="238641"/>
            <a:ext cx="19050" cy="571500"/>
          </a:xfrm>
          <a:prstGeom prst="rect">
            <a:avLst/>
          </a:prstGeom>
          <a:solidFill>
            <a:srgbClr val="001F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3" grpId="0"/>
      <p:bldP spid="274" grpId="0"/>
      <p:bldP spid="27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1859</Words>
  <Application>Microsoft Office PowerPoint</Application>
  <PresentationFormat>Widescreen</PresentationFormat>
  <Paragraphs>201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Calibri</vt:lpstr>
      <vt:lpstr>Poppins SemiBold</vt:lpstr>
      <vt:lpstr>Lato</vt:lpstr>
      <vt:lpstr>Arial</vt:lpstr>
      <vt:lpstr>Poppins</vt:lpstr>
      <vt:lpstr>Fira Code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SEBASTIAN MONTOYA VILLADA</cp:lastModifiedBy>
  <cp:revision>1</cp:revision>
  <dcterms:modified xsi:type="dcterms:W3CDTF">2026-04-15T03:12:43Z</dcterms:modified>
</cp:coreProperties>
</file>